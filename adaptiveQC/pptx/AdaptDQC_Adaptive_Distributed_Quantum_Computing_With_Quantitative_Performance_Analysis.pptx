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4762" r:id="rId2"/>
    <p:sldId id="5226" r:id="rId3"/>
    <p:sldId id="4760" r:id="rId4"/>
    <p:sldId id="5245" r:id="rId5"/>
    <p:sldId id="4965" r:id="rId6"/>
    <p:sldId id="4765" r:id="rId7"/>
    <p:sldId id="4764" r:id="rId8"/>
    <p:sldId id="4761" r:id="rId9"/>
    <p:sldId id="5213" r:id="rId10"/>
    <p:sldId id="5229" r:id="rId11"/>
    <p:sldId id="5227" r:id="rId12"/>
    <p:sldId id="5208" r:id="rId13"/>
    <p:sldId id="5231" r:id="rId14"/>
    <p:sldId id="5209" r:id="rId15"/>
    <p:sldId id="5228" r:id="rId16"/>
    <p:sldId id="5236" r:id="rId17"/>
    <p:sldId id="5237" r:id="rId18"/>
    <p:sldId id="5238" r:id="rId19"/>
    <p:sldId id="5205" r:id="rId20"/>
    <p:sldId id="5232" r:id="rId21"/>
    <p:sldId id="5214" r:id="rId22"/>
    <p:sldId id="5215" r:id="rId23"/>
    <p:sldId id="5240" r:id="rId24"/>
    <p:sldId id="5241" r:id="rId25"/>
    <p:sldId id="5216" r:id="rId26"/>
    <p:sldId id="5225" r:id="rId27"/>
    <p:sldId id="5221" r:id="rId28"/>
    <p:sldId id="5222" r:id="rId29"/>
    <p:sldId id="5233" r:id="rId30"/>
    <p:sldId id="5235" r:id="rId31"/>
    <p:sldId id="5207" r:id="rId32"/>
    <p:sldId id="5243" r:id="rId33"/>
    <p:sldId id="5244"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61" userDrawn="1">
          <p15:clr>
            <a:srgbClr val="A4A3A4"/>
          </p15:clr>
        </p15:guide>
        <p15:guide id="2" pos="7265" userDrawn="1">
          <p15:clr>
            <a:srgbClr val="A4A3A4"/>
          </p15:clr>
        </p15:guide>
        <p15:guide id="3"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428A"/>
    <a:srgbClr val="4472C4"/>
    <a:srgbClr val="1E77B4"/>
    <a:srgbClr val="4F91C0"/>
    <a:srgbClr val="00061F"/>
    <a:srgbClr val="767171"/>
    <a:srgbClr val="FD201F"/>
    <a:srgbClr val="EF888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401"/>
    <p:restoredTop sz="85478"/>
  </p:normalViewPr>
  <p:slideViewPr>
    <p:cSldViewPr snapToGrid="0" snapToObjects="1">
      <p:cViewPr>
        <p:scale>
          <a:sx n="182" d="100"/>
          <a:sy n="182" d="100"/>
        </p:scale>
        <p:origin x="2680" y="400"/>
      </p:cViewPr>
      <p:guideLst>
        <p:guide pos="461"/>
        <p:guide pos="7265"/>
        <p:guide orient="horz" pos="2160"/>
      </p:guideLst>
    </p:cSldViewPr>
  </p:slideViewPr>
  <p:notesTextViewPr>
    <p:cViewPr>
      <p:scale>
        <a:sx n="180" d="100"/>
        <a:sy n="18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7676A-CDBA-A14B-A0E9-578F24BBF46E}" type="datetimeFigureOut">
              <a:rPr kumimoji="1" lang="zh-CN" altLang="en-US" smtClean="0"/>
              <a:t>2026/5/26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18D34-B274-1948-8431-CAA3B27C12DF}" type="slidenum">
              <a:rPr kumimoji="1" lang="zh-CN" altLang="en-US" smtClean="0"/>
              <a:t>‹#›</a:t>
            </a:fld>
            <a:endParaRPr kumimoji="1" lang="zh-CN" altLang="en-US"/>
          </a:p>
        </p:txBody>
      </p:sp>
    </p:spTree>
    <p:extLst>
      <p:ext uri="{BB962C8B-B14F-4D97-AF65-F5344CB8AC3E}">
        <p14:creationId xmlns:p14="http://schemas.microsoft.com/office/powerpoint/2010/main" val="2236668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Good morning, everyone. Today I will report our TC 2025 work, AdaptDQC: Adaptive Distributed Quantum Computing With Quantitative Performance Analysis. The core question is how to compile one quantum circuit for different distributed quantum computing architectures while optimizing the metric the user actually cares about.</a:t>
            </a:r>
            <a:endParaRPr lang="en-US" sz="1800"/>
          </a:p>
        </p:txBody>
      </p:sp>
      <p:sp>
        <p:nvSpPr>
          <p:cNvPr id="4" name="灯片编号占位符 3"/>
          <p:cNvSpPr>
            <a:spLocks noGrp="1"/>
          </p:cNvSpPr>
          <p:nvPr>
            <p:ph type="sldNum" sz="quarter" idx="5"/>
          </p:nvPr>
        </p:nvSpPr>
        <p:spPr/>
        <p:txBody>
          <a:bodyPr/>
          <a:lstStyle/>
          <a:p>
            <a:fld id="{7A518D34-B274-1948-8431-CAA3B27C12DF}"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Here is the structure of the talk. I will first explain why distributed quantum computing is needed and why existing compilers are limited. Then I will introduce the AdaptDQC framework, the spatial-temporal graph formulation, the adaptive compiler, the experimental results, and finally the code path in the tutorial notebook.</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a:t>
            </a:fld>
            <a:endParaRPr lang="zh-CN" altLang="en-US"/>
          </a:p>
        </p:txBody>
      </p:sp>
    </p:spTree>
    <p:extLst>
      <p:ext uri="{BB962C8B-B14F-4D97-AF65-F5344CB8AC3E}">
        <p14:creationId xmlns:p14="http://schemas.microsoft.com/office/powerpoint/2010/main" val="2905624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motivation starts from the NISQ limitation. A single large quantum chip suffers from noise, crosstalk, and limited coherent depth. Distributed quantum computing tries to divide a large circuit into smaller subcircuits, execute them on smaller QPUs, and reconstruct the global result. This creates a compiler problem, not only a hardware problem.</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3</a:t>
            </a:fld>
            <a:endParaRPr lang="zh-CN" altLang="en-US"/>
          </a:p>
        </p:txBody>
      </p:sp>
    </p:spTree>
    <p:extLst>
      <p:ext uri="{BB962C8B-B14F-4D97-AF65-F5344CB8AC3E}">
        <p14:creationId xmlns:p14="http://schemas.microsoft.com/office/powerpoint/2010/main" val="2801620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There are two major inter-chip communication mechanisms. QubitComm cuts qubit wires and reconstructs the probability distribution with multiple basis measurements and initializations. GateComm cuts remote gates and uses EPR resources and teleportation. They expose very different costs, so a compiler optimized for one mechanism is not automatically good for the other.</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5</a:t>
            </a:fld>
            <a:endParaRPr lang="zh-CN" altLang="en-US"/>
          </a:p>
        </p:txBody>
      </p:sp>
    </p:spTree>
    <p:extLst>
      <p:ext uri="{BB962C8B-B14F-4D97-AF65-F5344CB8AC3E}">
        <p14:creationId xmlns:p14="http://schemas.microsoft.com/office/powerpoint/2010/main" val="3578160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This slide shows the divide-and-conquer view. We start with a quantum circuit, split it into subcircuits, map those subcircuits to QPUs, communicate between them, and reconstruct the global result. The compiler must decide the partitioning, the mapping, and the communication mechanism together because these decisions interact.</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6</a:t>
            </a:fld>
            <a:endParaRPr lang="zh-CN" altLang="en-US"/>
          </a:p>
        </p:txBody>
      </p:sp>
    </p:spTree>
    <p:extLst>
      <p:ext uri="{BB962C8B-B14F-4D97-AF65-F5344CB8AC3E}">
        <p14:creationId xmlns:p14="http://schemas.microsoft.com/office/powerpoint/2010/main" val="630080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Prior systems each cover only part of this design space. CutQC supports QubitComm and communication optimization. HyperGraph and AutoComm support GateComm, and AutoComm also considers latency. AdaptDQC is designed to support both communication architectures and all three objectives: communication, latency, and topology.</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7</a:t>
            </a:fld>
            <a:endParaRPr lang="zh-CN" altLang="en-US"/>
          </a:p>
        </p:txBody>
      </p:sp>
    </p:spTree>
    <p:extLst>
      <p:ext uri="{BB962C8B-B14F-4D97-AF65-F5344CB8AC3E}">
        <p14:creationId xmlns:p14="http://schemas.microsoft.com/office/powerpoint/2010/main" val="1434216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HybridComm is the reason a unified compiler is useful. In the motivating example from the paper, QubitComm alone or GateComm alone requires at least four or five communication events, while the hybrid strategy needs only two partitions. The compiler therefore needs to choose not only where to cut but also which ICC mechanism to use.</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8</a:t>
            </a:fld>
            <a:endParaRPr lang="zh-CN" altLang="en-US"/>
          </a:p>
        </p:txBody>
      </p:sp>
    </p:spTree>
    <p:extLst>
      <p:ext uri="{BB962C8B-B14F-4D97-AF65-F5344CB8AC3E}">
        <p14:creationId xmlns:p14="http://schemas.microsoft.com/office/powerpoint/2010/main" val="647720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This concludes the background section. The three requirements are unified description, quantitative performance evaluation, and adaptive optimization. The rest of the talk explains how AdaptDQC implements these three requirements.</a:t>
                </a:r>
                <a:endParaRPr lang="en-US" sz="180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Arial" panose="020B0604020202020204" pitchFamily="34" charset="0"/>
                    <a:ea typeface="STKaiti" panose="02010600040101010101" pitchFamily="2" charset="-122"/>
                    <a:cs typeface="Arial" panose="020B0604020202020204" pitchFamily="34" charset="0"/>
                    <a:sym typeface="+mn-lt"/>
                  </a:rPr>
                  <a:t>第一个过程需要</a:t>
                </a:r>
                <a:r>
                  <a:rPr lang="en-US" altLang="zh-CN" b="1" i="0">
                    <a:solidFill>
                      <a:srgbClr val="05428A"/>
                    </a:solidFill>
                    <a:latin typeface="Cambria Math" panose="02040503050406030204" pitchFamily="18" charset="0"/>
                    <a:ea typeface="微软雅黑" panose="020B0503020204020204" pitchFamily="34" charset="-122"/>
                    <a:cs typeface="Times New Roman" panose="02020503050405090304" pitchFamily="18" charset="0"/>
                  </a:rPr>
                  <a:t>𝟐^𝑵  </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circuits</a:t>
                </a:r>
                <a:r>
                  <a:rPr lang="zh-CN" altLang="en-US" b="1" dirty="0">
                    <a:solidFill>
                      <a:srgbClr val="05428A"/>
                    </a:solidFill>
                    <a:latin typeface="Arial" panose="020B0604020202020204" pitchFamily="34" charset="0"/>
                    <a:cs typeface="Arial" panose="020B0604020202020204" pitchFamily="34" charset="0"/>
                  </a:rPr>
                  <a:t> are executed </a:t>
                </a:r>
                <a:r>
                  <a:rPr lang="en-US" altLang="zh-CN" b="1" dirty="0">
                    <a:solidFill>
                      <a:srgbClr val="05428A"/>
                    </a:solidFill>
                    <a:latin typeface="Arial" panose="020B0604020202020204" pitchFamily="34" charset="0"/>
                    <a:cs typeface="Arial" panose="020B0604020202020204" pitchFamily="34" charset="0"/>
                  </a:rPr>
                  <a:t>to</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measure</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qubits</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on</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all</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basis</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states</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05428A"/>
                    </a:solidFill>
                    <a:effectLst/>
                    <a:latin typeface="Arial" panose="020B0604020202020204" pitchFamily="34" charset="0"/>
                    <a:cs typeface="Arial" panose="020B0604020202020204" pitchFamily="34" charset="0"/>
                  </a:rPr>
                  <a:t>和</a:t>
                </a:r>
                <a:r>
                  <a:rPr lang="en-US" altLang="zh-CN" b="1" i="0">
                    <a:solidFill>
                      <a:srgbClr val="05428A"/>
                    </a:solidFill>
                    <a:latin typeface="Cambria Math" panose="02040503050406030204" pitchFamily="18" charset="0"/>
                    <a:ea typeface="Cambria Math" panose="02040503050406030204" pitchFamily="18" charset="0"/>
                    <a:cs typeface="Times New Roman" panose="02020503050405090304" pitchFamily="18" charset="0"/>
                  </a:rPr>
                  <a:t>𝓞(</a:t>
                </a:r>
                <a:r>
                  <a:rPr lang="en-US" altLang="zh-CN" b="1" i="0">
                    <a:solidFill>
                      <a:srgbClr val="05428A"/>
                    </a:solidFill>
                    <a:latin typeface="Cambria Math" panose="02040503050406030204" pitchFamily="18" charset="0"/>
                    <a:ea typeface="微软雅黑" panose="020B0503020204020204" pitchFamily="34" charset="-122"/>
                    <a:cs typeface="Times New Roman" panose="02020503050405090304" pitchFamily="18" charset="0"/>
                  </a:rPr>
                  <a:t>𝟒^𝑵)</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complexity</a:t>
                </a:r>
                <a:r>
                  <a:rPr lang="zh-CN" altLang="en-US" b="1" dirty="0">
                    <a:solidFill>
                      <a:srgbClr val="05428A"/>
                    </a:solidFill>
                    <a:latin typeface="Arial" panose="020B0604020202020204" pitchFamily="34" charset="0"/>
                    <a:cs typeface="Arial" panose="020B0604020202020204" pitchFamily="34" charset="0"/>
                  </a:rPr>
                  <a:t>的复杂度计算逆矩阵</a:t>
                </a:r>
                <a:endParaRPr lang="en-US" altLang="zh-CN" b="1" dirty="0">
                  <a:solidFill>
                    <a:srgbClr val="05428A"/>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latin typeface="Arial" panose="020B0604020202020204" pitchFamily="34" charset="0"/>
                    <a:ea typeface="STKaiti" panose="02010600040101010101" pitchFamily="2" charset="-122"/>
                    <a:cs typeface="Arial" panose="020B0604020202020204" pitchFamily="34" charset="0"/>
                    <a:sym typeface="+mn-lt"/>
                  </a:rPr>
                  <a:t>第一个过程需要</a:t>
                </a:r>
                <a:r>
                  <a:rPr lang="en-US" altLang="zh-CN" b="1" i="0">
                    <a:solidFill>
                      <a:srgbClr val="05428A"/>
                    </a:solidFill>
                    <a:latin typeface="Cambria Math" panose="02040503050406030204" pitchFamily="18" charset="0"/>
                    <a:ea typeface="Cambria Math" panose="02040503050406030204" pitchFamily="18" charset="0"/>
                    <a:cs typeface="Times New Roman" panose="02020503050405090304" pitchFamily="18" charset="0"/>
                  </a:rPr>
                  <a:t>𝓞(</a:t>
                </a:r>
                <a:r>
                  <a:rPr lang="en-US" altLang="zh-CN" b="1" i="0">
                    <a:solidFill>
                      <a:srgbClr val="05428A"/>
                    </a:solidFill>
                    <a:latin typeface="Cambria Math" panose="02040503050406030204" pitchFamily="18" charset="0"/>
                    <a:ea typeface="微软雅黑" panose="020B0503020204020204" pitchFamily="34" charset="-122"/>
                    <a:cs typeface="Times New Roman" panose="02020503050405090304" pitchFamily="18" charset="0"/>
                  </a:rPr>
                  <a:t>𝟒^𝑵)</a:t>
                </a:r>
                <a:r>
                  <a:rPr lang="zh-CN" altLang="en-US" b="1" dirty="0">
                    <a:solidFill>
                      <a:srgbClr val="05428A"/>
                    </a:solidFill>
                    <a:latin typeface="Arial" panose="020B0604020202020204" pitchFamily="34" charset="0"/>
                    <a:cs typeface="Arial" panose="020B0604020202020204" pitchFamily="34" charset="0"/>
                  </a:rPr>
                  <a:t> </a:t>
                </a:r>
                <a:r>
                  <a:rPr lang="en-US" altLang="zh-CN" b="1" dirty="0">
                    <a:solidFill>
                      <a:srgbClr val="05428A"/>
                    </a:solidFill>
                    <a:latin typeface="Arial" panose="020B0604020202020204" pitchFamily="34" charset="0"/>
                    <a:cs typeface="Arial" panose="020B0604020202020204" pitchFamily="34" charset="0"/>
                  </a:rPr>
                  <a:t>complexity</a:t>
                </a:r>
                <a:r>
                  <a:rPr lang="en-US" altLang="zh-CN" b="1" baseline="0" dirty="0">
                    <a:solidFill>
                      <a:srgbClr val="05428A"/>
                    </a:solidFill>
                    <a:latin typeface="Arial" panose="020B0604020202020204" pitchFamily="34" charset="0"/>
                    <a:cs typeface="Arial" panose="020B0604020202020204" pitchFamily="34" charset="0"/>
                  </a:rPr>
                  <a:t> </a:t>
                </a:r>
                <a:r>
                  <a:rPr lang="zh-CN" altLang="en-US" b="1" baseline="0" dirty="0">
                    <a:solidFill>
                      <a:srgbClr val="05428A"/>
                    </a:solidFill>
                    <a:latin typeface="Arial" panose="020B0604020202020204" pitchFamily="34" charset="0"/>
                    <a:cs typeface="Arial" panose="020B0604020202020204" pitchFamily="34" charset="0"/>
                  </a:rPr>
                  <a:t>的乘法计算</a:t>
                </a:r>
                <a:endParaRPr lang="en-US" altLang="zh-CN" b="1" baseline="0" dirty="0">
                  <a:solidFill>
                    <a:srgbClr val="05428A"/>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baseline="0" dirty="0">
                    <a:solidFill>
                      <a:srgbClr val="05428A"/>
                    </a:solidFill>
                    <a:effectLst/>
                    <a:latin typeface="Arial" panose="020B0604020202020204" pitchFamily="34" charset="0"/>
                    <a:cs typeface="Arial" panose="020B0604020202020204" pitchFamily="34" charset="0"/>
                  </a:rPr>
                  <a:t>该方法在时间和空间上被限制不能应用于更大规模的量子电路</a:t>
                </a:r>
                <a:endParaRPr lang="en-US" altLang="zh-CN" dirty="0">
                  <a:effectLst/>
                  <a:latin typeface="Microsoft YaHei" panose="020B0503020204020204" pitchFamily="34" charset="-122"/>
                </a:endParaRPr>
              </a:p>
            </p:txBody>
          </p:sp>
        </mc:Fallback>
      </mc:AlternateContent>
      <p:sp>
        <p:nvSpPr>
          <p:cNvPr id="4" name="灯片编号占位符 3"/>
          <p:cNvSpPr>
            <a:spLocks noGrp="1"/>
          </p:cNvSpPr>
          <p:nvPr>
            <p:ph type="sldNum" sz="quarter" idx="5"/>
          </p:nvPr>
        </p:nvSpPr>
        <p:spPr/>
        <p:txBody>
          <a:bodyPr/>
          <a:lstStyle/>
          <a:p>
            <a:fld id="{4BFA3C6E-C766-40A8-8C90-B12D9D8BB6EE}" type="slidenum">
              <a:rPr lang="zh-CN" altLang="en-US" smtClean="0"/>
              <a:t>9</a:t>
            </a:fld>
            <a:endParaRPr lang="zh-CN" altLang="en-US"/>
          </a:p>
        </p:txBody>
      </p:sp>
    </p:spTree>
    <p:extLst>
      <p:ext uri="{BB962C8B-B14F-4D97-AF65-F5344CB8AC3E}">
        <p14:creationId xmlns:p14="http://schemas.microsoft.com/office/powerpoint/2010/main" val="3082454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We now move to the overview of AdaptDQC. The main point is that AdaptDQC is not a single fixed partitioning heuristic. It is a framework that connects the circuit, the hardware, the communication architecture, and the optimization objective through one graph-based loop.</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10</a:t>
            </a:fld>
            <a:endParaRPr lang="zh-CN" altLang="en-US"/>
          </a:p>
        </p:txBody>
      </p:sp>
    </p:spTree>
    <p:extLst>
      <p:ext uri="{BB962C8B-B14F-4D97-AF65-F5344CB8AC3E}">
        <p14:creationId xmlns:p14="http://schemas.microsoft.com/office/powerpoint/2010/main" val="1536470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framework has three layers. First, DQC formulation converts the circuit and distributed system into SDHG, TDAG, and CG. Second, the performance analysis engine computes topology, latency, and communication metrics. Third, the compiler uses these metrics to guide partitioning and optimization, then outputs distributed circuits.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11</a:t>
            </a:fld>
            <a:endParaRPr lang="zh-CN" altLang="en-US"/>
          </a:p>
        </p:txBody>
      </p:sp>
    </p:spTree>
    <p:extLst>
      <p:ext uri="{BB962C8B-B14F-4D97-AF65-F5344CB8AC3E}">
        <p14:creationId xmlns:p14="http://schemas.microsoft.com/office/powerpoint/2010/main" val="40352403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key modeling decision is to separate space, time, and chips. SDHG represents spatial qubit relations, TDAG represents temporal gate dependencies, and CG represents chip-level communication. This separation allows the compiler to evaluate the same partition under different objectives.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12</a:t>
            </a:fld>
            <a:endParaRPr lang="zh-CN" altLang="en-US"/>
          </a:p>
        </p:txBody>
      </p:sp>
    </p:spTree>
    <p:extLst>
      <p:ext uri="{BB962C8B-B14F-4D97-AF65-F5344CB8AC3E}">
        <p14:creationId xmlns:p14="http://schemas.microsoft.com/office/powerpoint/2010/main" val="364930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SDHG focuses on qubits. Qubits are nodes, gates are edges, and communication constructs add nodes or edges. For QubitComm, a cut wire duplicates the qubit for reconstruction. For GateComm, remote gates introduce EPR-related qubit resources. This graph is also where topology compatibility with the physical chip is evaluated.</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13</a:t>
            </a:fld>
            <a:endParaRPr lang="zh-CN" altLang="en-US"/>
          </a:p>
        </p:txBody>
      </p:sp>
    </p:spTree>
    <p:extLst>
      <p:ext uri="{BB962C8B-B14F-4D97-AF65-F5344CB8AC3E}">
        <p14:creationId xmlns:p14="http://schemas.microsoft.com/office/powerpoint/2010/main" val="3495517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TDAG focuses on time. Gates become nodes and qubit wires become dependency edges. If the compiler inserts teleportation operations, they also appear in TDAG, which means the latency model can capture the critical path impact of remote communication.</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14</a:t>
            </a:fld>
            <a:endParaRPr lang="zh-CN" altLang="en-US"/>
          </a:p>
        </p:txBody>
      </p:sp>
    </p:spTree>
    <p:extLst>
      <p:ext uri="{BB962C8B-B14F-4D97-AF65-F5344CB8AC3E}">
        <p14:creationId xmlns:p14="http://schemas.microsoft.com/office/powerpoint/2010/main" val="2669445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CG abstracts the distributed system at chip level. Each node is a chip or partitioned subcircuit, and edges record whether communication is QubitComm or GateComm. This is the graph used to aggregate communication resources, including cut-wire workloads and EPR pairs.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15</a:t>
            </a:fld>
            <a:endParaRPr lang="zh-CN" altLang="en-US"/>
          </a:p>
        </p:txBody>
      </p:sp>
    </p:spTree>
    <p:extLst>
      <p:ext uri="{BB962C8B-B14F-4D97-AF65-F5344CB8AC3E}">
        <p14:creationId xmlns:p14="http://schemas.microsoft.com/office/powerpoint/2010/main" val="2861330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performance engine computes three families of metrics. Topology is a distance between the subcircuit graph and the physical chip graph. Latency is derived from TDAG, either as the critical path for GateComm or max subcircuit latency for QubitComm. Communication is computed from EPR resources or the exponential cut-wire reconstruction workload.</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16</a:t>
            </a:fld>
            <a:endParaRPr lang="zh-CN" altLang="en-US"/>
          </a:p>
        </p:txBody>
      </p:sp>
    </p:spTree>
    <p:extLst>
      <p:ext uri="{BB962C8B-B14F-4D97-AF65-F5344CB8AC3E}">
        <p14:creationId xmlns:p14="http://schemas.microsoft.com/office/powerpoint/2010/main" val="7721032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adaptive compiler has four steps. First it simplifies the graph by merging simple dependencies. Then it clusters the graph to create an initial distributed solution. Next it performs reverse tuning from coarse graphs back to fine graphs. Finally it reconstructs executable distributed subcircuits.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17</a:t>
            </a:fld>
            <a:endParaRPr lang="zh-CN" altLang="en-US"/>
          </a:p>
        </p:txBody>
      </p:sp>
    </p:spTree>
    <p:extLst>
      <p:ext uri="{BB962C8B-B14F-4D97-AF65-F5344CB8AC3E}">
        <p14:creationId xmlns:p14="http://schemas.microsoft.com/office/powerpoint/2010/main" val="1358725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Reverse tuning is the mechanism that turns a metric into compiler decisions. For each candidate move, the compiler computes whether moving a node to another cluster improves the selected objective. If it does, the move is accepted. This process repeats from coarse partitions to fine partitions.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18</a:t>
            </a:fld>
            <a:endParaRPr lang="zh-CN" altLang="en-US"/>
          </a:p>
        </p:txBody>
      </p:sp>
    </p:spTree>
    <p:extLst>
      <p:ext uri="{BB962C8B-B14F-4D97-AF65-F5344CB8AC3E}">
        <p14:creationId xmlns:p14="http://schemas.microsoft.com/office/powerpoint/2010/main" val="3491969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We now enter the detailed compiler section. I will explain how the abstract compiler maps to QubitComm, GateComm, HybridComm, adaptive objective selection, and topology-aware mapping.</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19</a:t>
            </a:fld>
            <a:endParaRPr lang="zh-CN" altLang="en-US"/>
          </a:p>
        </p:txBody>
      </p:sp>
    </p:spTree>
    <p:extLst>
      <p:ext uri="{BB962C8B-B14F-4D97-AF65-F5344CB8AC3E}">
        <p14:creationId xmlns:p14="http://schemas.microsoft.com/office/powerpoint/2010/main" val="1942067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For QubitComm, the compiler cuts wires so subcircuits fit the target QPU width. Around each cut, it evaluates basis measurement and initialization combinations, then uses classical tensor contraction to reconstruct the final distribution. The communication cost grows with the number of cuts, so the compiler tries to reduce cuts while respecting other metrics.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20</a:t>
            </a:fld>
            <a:endParaRPr lang="zh-CN" altLang="en-US"/>
          </a:p>
        </p:txBody>
      </p:sp>
    </p:spTree>
    <p:extLst>
      <p:ext uri="{BB962C8B-B14F-4D97-AF65-F5344CB8AC3E}">
        <p14:creationId xmlns:p14="http://schemas.microsoft.com/office/powerpoint/2010/main" val="2909515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For GateComm, the compiler handles remote gates. If the two qubits of a gate live on different chips, the gate is lowered using EPR resources and teleportation-style operations. The latency objective is especially important here because remote gates can sit on the TDAG critical path.</a:t>
                </a:r>
                <a:endParaRPr lang="en-US" sz="1800"/>
              </a:p>
            </p:txBody>
          </p:sp>
        </mc:Choice>
        <mc:Fallback xmlns="">
          <p:sp>
            <p:nvSpPr>
              <p:cNvPr id="3" name="备注占位符 2"/>
              <p:cNvSpPr>
                <a:spLocks noGrp="1"/>
              </p:cNvSpPr>
              <p:nvPr>
                <p:ph type="body" idx="1"/>
              </p:nvPr>
            </p:nvSpPr>
            <p:spPr/>
            <p:txBody>
              <a:bodyPr/>
              <a:lstStyle/>
              <a:p>
                <a:r>
                  <a:rPr lang="en-US" altLang="zh-CN" i="0" dirty="0"/>
                  <a:t>Janus-FEM</a:t>
                </a:r>
                <a:r>
                  <a:rPr lang="zh-CN" altLang="en-US" i="0" dirty="0"/>
                  <a:t> </a:t>
                </a:r>
                <a:r>
                  <a:rPr lang="en-US" altLang="zh-CN" i="0" dirty="0"/>
                  <a:t>involves</a:t>
                </a:r>
                <a:r>
                  <a:rPr lang="zh-CN" altLang="en-US" i="0" dirty="0"/>
                  <a:t> </a:t>
                </a:r>
                <a:r>
                  <a:rPr lang="en-US" altLang="zh-CN" i="0" dirty="0"/>
                  <a:t>two</a:t>
                </a:r>
                <a:r>
                  <a:rPr lang="zh-CN" altLang="en-US" i="0" dirty="0"/>
                  <a:t> </a:t>
                </a:r>
                <a:r>
                  <a:rPr lang="en-US" altLang="zh-CN" i="0" dirty="0"/>
                  <a:t>key</a:t>
                </a:r>
                <a:r>
                  <a:rPr lang="zh-CN" altLang="en-US" i="0" dirty="0"/>
                  <a:t> </a:t>
                </a:r>
                <a:r>
                  <a:rPr lang="en-US" altLang="zh-CN" i="0" dirty="0"/>
                  <a:t>techniques</a:t>
                </a:r>
                <a:r>
                  <a:rPr lang="zh-CN" altLang="en-US" i="0" dirty="0"/>
                  <a:t> </a:t>
                </a:r>
                <a:r>
                  <a:rPr lang="en-US" altLang="zh-CN" i="0" dirty="0"/>
                  <a:t>to</a:t>
                </a:r>
                <a:r>
                  <a:rPr lang="zh-CN" altLang="en-US" i="0" dirty="0"/>
                  <a:t> </a:t>
                </a:r>
                <a:r>
                  <a:rPr lang="en-US" altLang="zh-CN" i="0" dirty="0"/>
                  <a:t>deploy</a:t>
                </a:r>
                <a:r>
                  <a:rPr lang="zh-CN" altLang="en-US" i="0" dirty="0"/>
                  <a:t> </a:t>
                </a:r>
                <a:r>
                  <a:rPr lang="en-US" altLang="zh-CN" i="0" dirty="0"/>
                  <a:t>such</a:t>
                </a:r>
                <a:r>
                  <a:rPr lang="zh-CN" altLang="en-US" i="0" dirty="0"/>
                  <a:t> </a:t>
                </a:r>
                <a:r>
                  <a:rPr lang="en-US" altLang="zh-CN" i="0" dirty="0"/>
                  <a:t>calibration</a:t>
                </a:r>
                <a:r>
                  <a:rPr lang="zh-CN" altLang="en-US" i="0" dirty="0"/>
                  <a:t> </a:t>
                </a:r>
                <a:r>
                  <a:rPr lang="en-US" altLang="zh-CN" i="0" dirty="0"/>
                  <a:t>on</a:t>
                </a:r>
                <a:r>
                  <a:rPr lang="zh-CN" altLang="en-US" i="0" dirty="0"/>
                  <a:t> </a:t>
                </a:r>
                <a:r>
                  <a:rPr lang="en-US" altLang="zh-CN" i="0" dirty="0"/>
                  <a:t>specific</a:t>
                </a:r>
                <a:r>
                  <a:rPr lang="zh-CN" altLang="en-US" i="0" dirty="0"/>
                  <a:t> </a:t>
                </a:r>
                <a:r>
                  <a:rPr lang="en-US" altLang="zh-CN" i="0" dirty="0"/>
                  <a:t>quantum</a:t>
                </a:r>
                <a:r>
                  <a:rPr lang="zh-CN" altLang="en-US" i="0" dirty="0"/>
                  <a:t> </a:t>
                </a:r>
                <a:r>
                  <a:rPr lang="en-US" altLang="zh-CN" i="0" dirty="0"/>
                  <a:t>device,</a:t>
                </a:r>
                <a:r>
                  <a:rPr lang="zh-CN" altLang="en-US" i="0" dirty="0"/>
                  <a:t> </a:t>
                </a:r>
                <a:r>
                  <a:rPr lang="en-US" altLang="zh-CN" i="0" dirty="0"/>
                  <a:t>.</a:t>
                </a:r>
              </a:p>
              <a:p>
                <a:endParaRPr lang="en-US" altLang="zh-CN" i="0" dirty="0"/>
              </a:p>
              <a:p>
                <a:r>
                  <a:rPr lang="en-US" altLang="zh-CN" i="0" dirty="0"/>
                  <a:t>First,</a:t>
                </a:r>
                <a:r>
                  <a:rPr lang="zh-CN" altLang="en-US" i="0" dirty="0"/>
                  <a:t> </a:t>
                </a:r>
                <a:r>
                  <a:rPr lang="en-US" altLang="zh-CN" i="0" dirty="0"/>
                  <a:t>we</a:t>
                </a:r>
                <a:r>
                  <a:rPr lang="zh-CN" altLang="en-US" i="0" dirty="0"/>
                  <a:t> </a:t>
                </a:r>
                <a:r>
                  <a:rPr lang="en-US" altLang="zh-CN" i="0" dirty="0"/>
                  <a:t>need</a:t>
                </a:r>
                <a:r>
                  <a:rPr lang="zh-CN" altLang="en-US" i="0" dirty="0"/>
                  <a:t> </a:t>
                </a:r>
                <a:r>
                  <a:rPr lang="en-US" altLang="zh-CN" i="0" dirty="0"/>
                  <a:t>to</a:t>
                </a:r>
                <a:r>
                  <a:rPr lang="zh-CN" altLang="en-US" i="0" dirty="0"/>
                  <a:t> </a:t>
                </a:r>
                <a:r>
                  <a:rPr lang="en-US" altLang="zh-CN" i="0" dirty="0"/>
                  <a:t>partition</a:t>
                </a:r>
                <a:r>
                  <a:rPr lang="zh-CN" altLang="en-US" i="0" dirty="0"/>
                  <a:t> </a:t>
                </a:r>
                <a:r>
                  <a:rPr lang="en-US" altLang="zh-CN" i="0" dirty="0"/>
                  <a:t>qubits</a:t>
                </a:r>
                <a:r>
                  <a:rPr lang="zh-CN" altLang="en-US" i="0" dirty="0"/>
                  <a:t> </a:t>
                </a:r>
                <a:r>
                  <a:rPr lang="en-US" altLang="zh-CN" i="0" dirty="0"/>
                  <a:t>to</a:t>
                </a:r>
                <a:r>
                  <a:rPr lang="zh-CN" altLang="en-US" i="0" dirty="0"/>
                  <a:t> </a:t>
                </a:r>
                <a:r>
                  <a:rPr lang="en-US" altLang="zh-CN" i="0" dirty="0"/>
                  <a:t>determine</a:t>
                </a:r>
                <a:r>
                  <a:rPr lang="zh-CN" altLang="en-US" i="0" dirty="0"/>
                  <a:t> </a:t>
                </a:r>
                <a:r>
                  <a:rPr lang="en-US" altLang="zh-CN" i="0" dirty="0"/>
                  <a:t>the</a:t>
                </a:r>
                <a:r>
                  <a:rPr lang="zh-CN" altLang="en-US" i="0" dirty="0"/>
                  <a:t> </a:t>
                </a:r>
                <a:r>
                  <a:rPr lang="en-US" altLang="zh-CN" i="0" dirty="0"/>
                  <a:t>grouping</a:t>
                </a:r>
                <a:r>
                  <a:rPr lang="zh-CN" altLang="en-US" i="0" dirty="0"/>
                  <a:t> </a:t>
                </a:r>
                <a:r>
                  <a:rPr lang="en-US" altLang="zh-CN" i="0" dirty="0"/>
                  <a:t>schemes</a:t>
                </a:r>
                <a:r>
                  <a:rPr lang="zh-CN" altLang="en-US" i="0" dirty="0"/>
                  <a:t> </a:t>
                </a:r>
                <a:r>
                  <a:rPr lang="en-US" altLang="zh-CN" i="0" dirty="0"/>
                  <a:t>/</a:t>
                </a:r>
                <a:r>
                  <a:rPr lang="en-US" altLang="zh-CN" i="0" dirty="0" err="1"/>
                  <a:t>skiːm</a:t>
                </a:r>
                <a:r>
                  <a:rPr lang="en-US" altLang="zh-CN" i="0" dirty="0"/>
                  <a:t>/.</a:t>
                </a:r>
              </a:p>
              <a:p>
                <a:r>
                  <a:rPr lang="en-US" altLang="zh-CN" i="0" dirty="0"/>
                  <a:t>Second,</a:t>
                </a:r>
                <a:r>
                  <a:rPr lang="zh-CN" altLang="en-US" i="0" dirty="0"/>
                  <a:t> </a:t>
                </a:r>
                <a:r>
                  <a:rPr lang="en-US" altLang="zh-CN" i="0" dirty="0"/>
                  <a:t>we</a:t>
                </a:r>
                <a:r>
                  <a:rPr lang="zh-CN" altLang="en-US" i="0" dirty="0"/>
                  <a:t> </a:t>
                </a:r>
                <a:r>
                  <a:rPr lang="en-US" altLang="zh-CN" i="0" dirty="0"/>
                  <a:t>need</a:t>
                </a:r>
                <a:r>
                  <a:rPr lang="zh-CN" altLang="en-US" i="0" dirty="0"/>
                  <a:t> </a:t>
                </a:r>
                <a:r>
                  <a:rPr lang="en-US" altLang="zh-CN" i="0" dirty="0"/>
                  <a:t>to</a:t>
                </a:r>
                <a:r>
                  <a:rPr lang="zh-CN" altLang="en-US" i="0" dirty="0"/>
                  <a:t> </a:t>
                </a:r>
                <a:r>
                  <a:rPr lang="en-US" altLang="zh-CN" i="0" dirty="0"/>
                  <a:t>determine</a:t>
                </a:r>
                <a:r>
                  <a:rPr lang="zh-CN" altLang="en-US" i="0" dirty="0"/>
                  <a:t> </a:t>
                </a:r>
                <a:r>
                  <a:rPr lang="en-US" altLang="zh-CN" i="0" dirty="0"/>
                  <a:t>the</a:t>
                </a:r>
                <a:r>
                  <a:rPr lang="zh-CN" altLang="en-US" i="0" dirty="0"/>
                  <a:t> </a:t>
                </a:r>
                <a:r>
                  <a:rPr lang="en-US" altLang="zh-CN" i="0" dirty="0"/>
                  <a:t>sub-noise</a:t>
                </a:r>
                <a:r>
                  <a:rPr lang="zh-CN" altLang="en-US" i="0" dirty="0"/>
                  <a:t> </a:t>
                </a:r>
                <a:r>
                  <a:rPr lang="en-US" altLang="zh-CN" i="0" dirty="0"/>
                  <a:t>matrices</a:t>
                </a:r>
                <a:r>
                  <a:rPr lang="zh-CN" altLang="en-US" i="0" dirty="0"/>
                  <a:t> </a:t>
                </a:r>
                <a:r>
                  <a:rPr lang="en-US" altLang="zh-CN" i="0" dirty="0"/>
                  <a:t>for</a:t>
                </a:r>
                <a:r>
                  <a:rPr lang="zh-CN" altLang="en-US" i="0" dirty="0"/>
                  <a:t> </a:t>
                </a:r>
                <a:r>
                  <a:rPr lang="en-US" altLang="zh-CN" i="0" dirty="0"/>
                  <a:t>the</a:t>
                </a:r>
                <a:r>
                  <a:rPr lang="zh-CN" altLang="en-US" i="0" dirty="0"/>
                  <a:t> </a:t>
                </a:r>
                <a:r>
                  <a:rPr lang="en-US" altLang="zh-CN" i="0" dirty="0"/>
                  <a:t>measured</a:t>
                </a:r>
                <a:r>
                  <a:rPr lang="zh-CN" altLang="en-US" i="0" dirty="0"/>
                  <a:t> </a:t>
                </a:r>
                <a:r>
                  <a:rPr lang="en-US" altLang="zh-CN" i="0" dirty="0"/>
                  <a:t>qubits.</a:t>
                </a:r>
              </a:p>
              <a:p>
                <a:endParaRPr lang="en-US" altLang="zh-CN"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i="0" dirty="0"/>
                  <a:t>The</a:t>
                </a:r>
                <a:r>
                  <a:rPr lang="zh-CN" altLang="en-US" i="0" dirty="0"/>
                  <a:t> </a:t>
                </a:r>
                <a:r>
                  <a:rPr lang="en-US" altLang="zh-CN" i="0" dirty="0"/>
                  <a:t>qubit</a:t>
                </a:r>
                <a:r>
                  <a:rPr lang="zh-CN" altLang="en-US" i="0" dirty="0"/>
                  <a:t> </a:t>
                </a:r>
                <a:r>
                  <a:rPr lang="en-US" altLang="zh-CN" i="0" dirty="0"/>
                  <a:t>partition</a:t>
                </a:r>
                <a:r>
                  <a:rPr lang="zh-CN" altLang="en-US" i="0" dirty="0"/>
                  <a:t> </a:t>
                </a:r>
                <a:r>
                  <a:rPr lang="en-US" altLang="zh-CN" i="0" dirty="0"/>
                  <a:t>and</a:t>
                </a:r>
                <a:r>
                  <a:rPr lang="zh-CN" altLang="en-US" i="0" dirty="0"/>
                  <a:t> </a:t>
                </a:r>
                <a:r>
                  <a:rPr lang="en-US" altLang="zh-CN" i="0" dirty="0"/>
                  <a:t>matrix</a:t>
                </a:r>
                <a:r>
                  <a:rPr lang="zh-CN" altLang="en-US" i="0" dirty="0"/>
                  <a:t> </a:t>
                </a:r>
                <a:r>
                  <a:rPr lang="en-US" altLang="zh-CN" i="0" dirty="0"/>
                  <a:t>generation</a:t>
                </a:r>
                <a:r>
                  <a:rPr lang="zh-CN" altLang="en-US" i="0" dirty="0"/>
                  <a:t> </a:t>
                </a:r>
                <a:r>
                  <a:rPr lang="en-US" altLang="zh-CN" i="0" dirty="0"/>
                  <a:t>are</a:t>
                </a:r>
                <a:r>
                  <a:rPr lang="zh-CN" altLang="en-US" i="0" dirty="0"/>
                  <a:t> </a:t>
                </a:r>
                <a:r>
                  <a:rPr lang="en-US" altLang="zh-CN" i="0" dirty="0"/>
                  <a:t>both</a:t>
                </a:r>
                <a:r>
                  <a:rPr lang="zh-CN" altLang="en-US" i="0" dirty="0"/>
                  <a:t> </a:t>
                </a:r>
                <a:r>
                  <a:rPr lang="en-US" altLang="zh-CN" i="0" dirty="0"/>
                  <a:t>based</a:t>
                </a:r>
                <a:r>
                  <a:rPr lang="zh-CN" altLang="en-US" i="0" dirty="0"/>
                  <a:t> </a:t>
                </a:r>
                <a:r>
                  <a:rPr lang="en-US" altLang="zh-CN" i="0" dirty="0"/>
                  <a:t>on</a:t>
                </a:r>
                <a:r>
                  <a:rPr lang="zh-CN" altLang="en-US" i="0" dirty="0"/>
                  <a:t> </a:t>
                </a:r>
                <a:r>
                  <a:rPr lang="en-US" altLang="zh-CN" i="0" dirty="0"/>
                  <a:t>a</a:t>
                </a:r>
                <a:r>
                  <a:rPr lang="zh-CN" altLang="en-US" i="0" dirty="0"/>
                  <a:t> </a:t>
                </a:r>
                <a:r>
                  <a:rPr lang="en-US" altLang="zh-CN" i="0" dirty="0"/>
                  <a:t>dataset</a:t>
                </a:r>
                <a:r>
                  <a:rPr lang="zh-CN" altLang="en-US" i="0" dirty="0"/>
                  <a:t> </a:t>
                </a:r>
                <a:r>
                  <a:rPr lang="en-US" altLang="zh-CN" i="0" dirty="0"/>
                  <a:t>collected</a:t>
                </a:r>
                <a:r>
                  <a:rPr lang="zh-CN" altLang="en-US" i="0" dirty="0"/>
                  <a:t> </a:t>
                </a:r>
                <a:r>
                  <a:rPr lang="en-US" altLang="zh-CN" i="0" dirty="0"/>
                  <a:t>by</a:t>
                </a:r>
                <a:r>
                  <a:rPr lang="zh-CN" altLang="en-US" i="0" dirty="0"/>
                  <a:t> </a:t>
                </a:r>
                <a:r>
                  <a:rPr lang="en-US" altLang="zh-CN" i="0" dirty="0"/>
                  <a:t>running</a:t>
                </a:r>
                <a:r>
                  <a:rPr lang="zh-CN" altLang="en-US" i="0" dirty="0"/>
                  <a:t> </a:t>
                </a:r>
                <a:r>
                  <a:rPr lang="en-US" altLang="zh-CN" i="0" dirty="0"/>
                  <a:t>benchmarking</a:t>
                </a:r>
                <a:r>
                  <a:rPr lang="zh-CN" altLang="en-US" i="0" dirty="0"/>
                  <a:t> </a:t>
                </a:r>
                <a:r>
                  <a:rPr lang="en-US" altLang="zh-CN" i="0" dirty="0"/>
                  <a:t>circuits.</a:t>
                </a:r>
                <a:r>
                  <a:rPr lang="zh-CN" altLang="en-US" i="0" dirty="0"/>
                  <a:t> </a:t>
                </a:r>
                <a:endParaRPr lang="en-US" altLang="zh-CN" i="0" dirty="0"/>
              </a:p>
              <a:p>
                <a:pPr>
                  <a:lnSpc>
                    <a:spcPct val="150000"/>
                  </a:lnSpc>
                </a:pPr>
                <a:r>
                  <a:rPr lang="en-US" altLang="zh-CN" i="0" dirty="0"/>
                  <a:t>These</a:t>
                </a:r>
                <a:r>
                  <a:rPr lang="zh-CN" altLang="en-US" i="0" dirty="0"/>
                  <a:t> </a:t>
                </a:r>
                <a:r>
                  <a:rPr lang="en-US" altLang="zh-CN" i="0" dirty="0"/>
                  <a:t>circuits</a:t>
                </a:r>
                <a:r>
                  <a:rPr lang="zh-CN" altLang="en-US" i="0" dirty="0"/>
                  <a:t> </a:t>
                </a:r>
                <a:r>
                  <a:rPr lang="en-US" altLang="zh-CN" sz="1200" i="0" dirty="0">
                    <a:latin typeface="Arial" panose="020B0604020202020204" pitchFamily="34" charset="0"/>
                    <a:ea typeface="微软雅黑" panose="020B0503020204020204" pitchFamily="34" charset="-122"/>
                    <a:cs typeface="Arial" panose="020B0604020202020204" pitchFamily="34" charset="0"/>
                  </a:rPr>
                  <a:t>prepare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qubits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to</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different</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basis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states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and</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measure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them.</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There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are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three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possible</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operations</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on</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200" i="0" dirty="0">
                    <a:latin typeface="Arial" panose="020B0604020202020204" pitchFamily="34" charset="0"/>
                    <a:ea typeface="微软雅黑" panose="020B0503020204020204" pitchFamily="34" charset="-122"/>
                    <a:cs typeface="Arial" panose="020B0604020202020204" pitchFamily="34" charset="0"/>
                  </a:rPr>
                  <a:t>each</a:t>
                </a:r>
                <a:r>
                  <a:rPr lang="zh-CN" altLang="en-US" sz="1200" i="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in</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benchmarking</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circuit:</a:t>
                </a:r>
              </a:p>
              <a:p>
                <a:pPr marL="742950" lvl="1" indent="-285750">
                  <a:buFont typeface="Arial" panose="020B0604020202020204" pitchFamily="34" charset="0"/>
                  <a:buChar char="•"/>
                </a:pPr>
                <a:r>
                  <a:rPr lang="en-US" altLang="zh-CN" sz="1600" b="0" i="0">
                    <a:latin typeface="Cambria Math" panose="02040503050406030204" pitchFamily="18" charset="0"/>
                    <a:ea typeface="微软雅黑" panose="020B0503020204020204" pitchFamily="34" charset="-122"/>
                    <a:cs typeface="Arial" panose="020B0604020202020204" pitchFamily="34" charset="0"/>
                  </a:rPr>
                  <a:t>0</a:t>
                </a:r>
                <a:r>
                  <a:rPr lang="zh-CN" altLang="en-US" sz="1600" b="0" i="0">
                    <a:latin typeface="Cambria Math" panose="02040503050406030204" pitchFamily="18" charset="0"/>
                    <a:ea typeface="微软雅黑" panose="020B0503020204020204" pitchFamily="34" charset="-122"/>
                    <a:cs typeface="Arial" panose="020B0604020202020204" pitchFamily="34" charset="0"/>
                  </a:rPr>
                  <a:t> </a:t>
                </a:r>
                <a:r>
                  <a:rPr lang="en-US" altLang="zh-CN" sz="1600" b="0" i="0">
                    <a:latin typeface="Cambria Math" panose="02040503050406030204" pitchFamily="18" charset="0"/>
                    <a:ea typeface="微软雅黑" panose="020B0503020204020204" pitchFamily="34" charset="-122"/>
                    <a:cs typeface="Arial" panose="020B0604020202020204" pitchFamily="34" charset="0"/>
                  </a:rPr>
                  <a:t>means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set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0</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and</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measured</a:t>
                </a:r>
              </a:p>
              <a:p>
                <a:pPr marL="742950" lvl="1" indent="-285750">
                  <a:buFont typeface="Arial" panose="020B0604020202020204" pitchFamily="34" charset="0"/>
                  <a:buChar char="•"/>
                </a:pPr>
                <a:r>
                  <a:rPr lang="en-US" altLang="zh-CN" sz="1600" dirty="0">
                    <a:latin typeface="Arial" panose="020B0604020202020204" pitchFamily="34" charset="0"/>
                    <a:ea typeface="微软雅黑" panose="020B0503020204020204" pitchFamily="34" charset="-122"/>
                    <a:cs typeface="Arial" panose="020B0604020202020204" pitchFamily="34" charset="0"/>
                  </a:rPr>
                  <a:t>1</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means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set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1</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and</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measured</a:t>
                </a:r>
              </a:p>
              <a:p>
                <a:pPr marL="742950" lvl="1" indent="-285750">
                  <a:buFont typeface="Arial" panose="020B0604020202020204" pitchFamily="34" charset="0"/>
                  <a:buChar char="•"/>
                </a:pPr>
                <a:r>
                  <a:rPr lang="en-US" altLang="zh-CN" sz="1600" dirty="0">
                    <a:latin typeface="Arial" panose="020B0604020202020204" pitchFamily="34" charset="0"/>
                    <a:ea typeface="微软雅黑" panose="020B0503020204020204" pitchFamily="34" charset="-122"/>
                    <a:cs typeface="Arial" panose="020B0604020202020204" pitchFamily="34" charset="0"/>
                  </a:rPr>
                  <a:t>2</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means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qubit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is</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set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0</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or</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1</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and</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not</a:t>
                </a:r>
                <a:r>
                  <a:rPr lang="zh-CN" altLang="en-US" sz="1600" dirty="0">
                    <a:latin typeface="Arial" panose="020B0604020202020204" pitchFamily="34" charset="0"/>
                    <a:ea typeface="微软雅黑" panose="020B0503020204020204" pitchFamily="34" charset="-122"/>
                    <a:cs typeface="Arial" panose="020B0604020202020204" pitchFamily="34" charset="0"/>
                  </a:rPr>
                  <a:t> </a:t>
                </a:r>
                <a:r>
                  <a:rPr lang="en-US" altLang="zh-CN" sz="1600" dirty="0">
                    <a:latin typeface="Arial" panose="020B0604020202020204" pitchFamily="34" charset="0"/>
                    <a:ea typeface="微软雅黑" panose="020B0503020204020204" pitchFamily="34" charset="-122"/>
                    <a:cs typeface="Arial" panose="020B0604020202020204" pitchFamily="34" charset="0"/>
                  </a:rPr>
                  <a:t>measured</a:t>
                </a:r>
              </a:p>
              <a:p>
                <a:endParaRPr lang="en-US" altLang="zh-CN" i="0" dirty="0"/>
              </a:p>
              <a:p>
                <a:r>
                  <a:rPr lang="en-CN" altLang="zh-CN" i="0" dirty="0"/>
                  <a:t>The</a:t>
                </a:r>
                <a:r>
                  <a:rPr lang="zh-CN" altLang="en-US" i="0" dirty="0"/>
                  <a:t> </a:t>
                </a:r>
                <a:r>
                  <a:rPr lang="en-US" altLang="zh-CN" i="0" dirty="0"/>
                  <a:t>circuits</a:t>
                </a:r>
                <a:r>
                  <a:rPr lang="zh-CN" altLang="en-US" i="0" dirty="0"/>
                  <a:t> </a:t>
                </a:r>
                <a:r>
                  <a:rPr lang="en-US" altLang="zh-CN" i="0" dirty="0"/>
                  <a:t>allow</a:t>
                </a:r>
                <a:r>
                  <a:rPr lang="zh-CN" altLang="en-US" i="0" dirty="0"/>
                  <a:t> </a:t>
                </a:r>
                <a:r>
                  <a:rPr lang="en-US" altLang="zh-CN" i="0" dirty="0"/>
                  <a:t>some</a:t>
                </a:r>
                <a:r>
                  <a:rPr lang="zh-CN" altLang="en-US" i="0" dirty="0"/>
                  <a:t> </a:t>
                </a:r>
                <a:r>
                  <a:rPr lang="en-US" altLang="zh-CN" i="0" dirty="0"/>
                  <a:t>qubits</a:t>
                </a:r>
                <a:r>
                  <a:rPr lang="zh-CN" altLang="en-US" i="0" dirty="0"/>
                  <a:t> </a:t>
                </a:r>
                <a:r>
                  <a:rPr lang="en-US" altLang="zh-CN" i="0" dirty="0"/>
                  <a:t>being</a:t>
                </a:r>
                <a:r>
                  <a:rPr lang="zh-CN" altLang="en-US" i="0" dirty="0"/>
                  <a:t> </a:t>
                </a:r>
                <a:r>
                  <a:rPr lang="en-US" altLang="zh-CN" i="0" dirty="0"/>
                  <a:t>not</a:t>
                </a:r>
                <a:r>
                  <a:rPr lang="zh-CN" altLang="en-US" i="0" dirty="0"/>
                  <a:t> </a:t>
                </a:r>
                <a:r>
                  <a:rPr lang="en-US" altLang="zh-CN" i="0" dirty="0"/>
                  <a:t>measured,</a:t>
                </a:r>
                <a:r>
                  <a:rPr lang="zh-CN" altLang="en-US" i="0" dirty="0"/>
                  <a:t> </a:t>
                </a:r>
                <a:r>
                  <a:rPr lang="en-US" altLang="zh-CN" i="0" dirty="0"/>
                  <a:t>which</a:t>
                </a:r>
                <a:r>
                  <a:rPr lang="zh-CN" altLang="en-US" i="0" dirty="0"/>
                  <a:t> </a:t>
                </a:r>
                <a:r>
                  <a:rPr lang="en-US" altLang="zh-CN" i="0" dirty="0"/>
                  <a:t>aims</a:t>
                </a:r>
                <a:r>
                  <a:rPr lang="zh-CN" altLang="en-US" i="0" dirty="0"/>
                  <a:t> </a:t>
                </a:r>
                <a:r>
                  <a:rPr lang="en-US" altLang="zh-CN" i="0" dirty="0"/>
                  <a:t>to</a:t>
                </a:r>
                <a:r>
                  <a:rPr lang="zh-CN" altLang="en-US" i="0" dirty="0"/>
                  <a:t> </a:t>
                </a:r>
                <a:r>
                  <a:rPr lang="en-US" altLang="zh-CN" i="0" dirty="0"/>
                  <a:t>maximize</a:t>
                </a:r>
                <a:r>
                  <a:rPr lang="zh-CN" altLang="en-US" i="0" dirty="0"/>
                  <a:t> </a:t>
                </a:r>
                <a:r>
                  <a:rPr lang="en-US" altLang="zh-CN" i="0" dirty="0"/>
                  <a:t>the</a:t>
                </a:r>
                <a:r>
                  <a:rPr lang="zh-CN" altLang="en-US" i="0" dirty="0"/>
                  <a:t> </a:t>
                </a:r>
                <a:r>
                  <a:rPr lang="en-US" altLang="zh-CN" i="0" dirty="0"/>
                  <a:t>variety</a:t>
                </a:r>
                <a:r>
                  <a:rPr lang="zh-CN" altLang="en-US" i="0" dirty="0"/>
                  <a:t> </a:t>
                </a:r>
                <a:r>
                  <a:rPr lang="en-US" altLang="zh-CN" i="0" dirty="0"/>
                  <a:t>of</a:t>
                </a:r>
                <a:r>
                  <a:rPr lang="zh-CN" altLang="en-US" i="0" dirty="0"/>
                  <a:t> </a:t>
                </a:r>
                <a:r>
                  <a:rPr lang="en-US" altLang="zh-CN" i="0" dirty="0"/>
                  <a:t>the</a:t>
                </a:r>
                <a:r>
                  <a:rPr lang="zh-CN" altLang="en-US" i="0" dirty="0"/>
                  <a:t> </a:t>
                </a:r>
                <a:r>
                  <a:rPr lang="en-US" altLang="zh-CN" i="0" dirty="0"/>
                  <a:t>readout</a:t>
                </a:r>
                <a:r>
                  <a:rPr lang="zh-CN" altLang="en-US" i="0" dirty="0"/>
                  <a:t> </a:t>
                </a:r>
                <a:r>
                  <a:rPr lang="en-US" altLang="zh-CN" i="0" dirty="0"/>
                  <a:t>error.</a:t>
                </a:r>
              </a:p>
              <a:p>
                <a:endParaRPr lang="en-US" altLang="zh-CN" i="0" dirty="0"/>
              </a:p>
              <a:p>
                <a:endParaRPr lang="zh-CN" altLang="en-US" i="0" dirty="0"/>
              </a:p>
            </p:txBody>
          </p:sp>
        </mc:Fallback>
      </mc:AlternateContent>
      <p:sp>
        <p:nvSpPr>
          <p:cNvPr id="4" name="灯片编号占位符 3"/>
          <p:cNvSpPr>
            <a:spLocks noGrp="1"/>
          </p:cNvSpPr>
          <p:nvPr>
            <p:ph type="sldNum" sz="quarter" idx="5"/>
          </p:nvPr>
        </p:nvSpPr>
        <p:spPr/>
        <p:txBody>
          <a:bodyPr/>
          <a:lstStyle/>
          <a:p>
            <a:fld id="{4BFA3C6E-C766-40A8-8C90-B12D9D8BB6EE}" type="slidenum">
              <a:rPr lang="zh-CN" altLang="en-US" smtClean="0"/>
              <a:t>21</a:t>
            </a:fld>
            <a:endParaRPr lang="zh-CN" altLang="en-US"/>
          </a:p>
        </p:txBody>
      </p:sp>
    </p:spTree>
    <p:extLst>
      <p:ext uri="{BB962C8B-B14F-4D97-AF65-F5344CB8AC3E}">
        <p14:creationId xmlns:p14="http://schemas.microsoft.com/office/powerpoint/2010/main" val="3908771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HybridComm composes the two mechanisms. It first uses wire cutting to divide the global circuit into medium-size subcircuits. If one subcircuit is still too wide for the physical chip, GateComm is used inside that subcircuit. This hybrid architecture is what gives AdaptDQC stronger average results.</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22</a:t>
            </a:fld>
            <a:endParaRPr lang="zh-CN" altLang="en-US"/>
          </a:p>
        </p:txBody>
      </p:sp>
    </p:spTree>
    <p:extLst>
      <p:ext uri="{BB962C8B-B14F-4D97-AF65-F5344CB8AC3E}">
        <p14:creationId xmlns:p14="http://schemas.microsoft.com/office/powerpoint/2010/main" val="4434838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This slide illustrates adaptive objective selection. The same candidate allocations can be evaluated by EPR-pair count or by compiled depth. When the objective changes from communication to latency, the chosen allocation can change. This is the behavior reproduced in the tutorial notebook.</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23</a:t>
            </a:fld>
            <a:endParaRPr lang="zh-CN" altLang="en-US"/>
          </a:p>
        </p:txBody>
      </p:sp>
    </p:spTree>
    <p:extLst>
      <p:ext uri="{BB962C8B-B14F-4D97-AF65-F5344CB8AC3E}">
        <p14:creationId xmlns:p14="http://schemas.microsoft.com/office/powerpoint/2010/main" val="4183801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Topology awareness is another part of the AdaptDQC contribution. A partition with a low communication count may still map poorly to hardware and require SWAP gates. By comparing the subcircuit topology against the chip topology, AdaptDQC can prefer partitions that are easier to execute on real hardware.</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24</a:t>
            </a:fld>
            <a:endParaRPr lang="zh-CN" altLang="en-US"/>
          </a:p>
        </p:txBody>
      </p:sp>
    </p:spTree>
    <p:extLst>
      <p:ext uri="{BB962C8B-B14F-4D97-AF65-F5344CB8AC3E}">
        <p14:creationId xmlns:p14="http://schemas.microsoft.com/office/powerpoint/2010/main" val="23183622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evaluation covers multiple benchmark circuits, including AE, DJ, GHZ, graph-state, QAOA, QNN, routing, VQE, and W-state. The comparisons are organized by architecture: CutQC for QubitComm and HyperGraph plus AutoComm for GateComm. The paper evaluates communication, latency, topology, compilation time, and real-machine behavior.</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25</a:t>
            </a:fld>
            <a:endParaRPr lang="zh-CN" altLang="en-US"/>
          </a:p>
        </p:txBody>
      </p:sp>
    </p:spTree>
    <p:extLst>
      <p:ext uri="{BB962C8B-B14F-4D97-AF65-F5344CB8AC3E}">
        <p14:creationId xmlns:p14="http://schemas.microsoft.com/office/powerpoint/2010/main" val="1658057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Now we move to the experimental results. The main thing to watch is that AdaptDQC improves both single-architecture settings and the hybrid setting, but the strongest message is that hybrid communication benefits from the unified model.</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26</a:t>
            </a:fld>
            <a:endParaRPr lang="zh-CN" altLang="en-US"/>
          </a:p>
        </p:txBody>
      </p:sp>
    </p:spTree>
    <p:extLst>
      <p:ext uri="{BB962C8B-B14F-4D97-AF65-F5344CB8AC3E}">
        <p14:creationId xmlns:p14="http://schemas.microsoft.com/office/powerpoint/2010/main" val="41202771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Under single-architecture comparisons, AdaptDQC reduces latency by 42.5 percent and communication by 15.4 times in QubitComm compared with CutQC. For GateComm, it reduces communication by 26.3 percent and latency by 18.2 percent compared with HyperGraph plus AutoComm.</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27</a:t>
            </a:fld>
            <a:endParaRPr lang="zh-CN" altLang="en-US"/>
          </a:p>
        </p:txBody>
      </p:sp>
    </p:spTree>
    <p:extLst>
      <p:ext uri="{BB962C8B-B14F-4D97-AF65-F5344CB8AC3E}">
        <p14:creationId xmlns:p14="http://schemas.microsoft.com/office/powerpoint/2010/main" val="22214476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HybridComm gives the largest average end-to-end gains. The paper reports a 35.4 percent communication reduction and a 38.4 percent latency reduction compared with single ICC architectures. The reason is that HybridComm can avoid both excessive wire cuts and excessive remote-gate teleportation.</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28</a:t>
            </a:fld>
            <a:endParaRPr lang="zh-CN" altLang="en-US"/>
          </a:p>
        </p:txBody>
      </p:sp>
    </p:spTree>
    <p:extLst>
      <p:ext uri="{BB962C8B-B14F-4D97-AF65-F5344CB8AC3E}">
        <p14:creationId xmlns:p14="http://schemas.microsoft.com/office/powerpoint/2010/main" val="1840749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real-world experiment uses IBM quantum hardware in a time-division way to emulate distributed execution. The key observation is that the reconstruction path remains practical and that the dominant error comes from quantum execution noise rather than classical tensor reconstruction.</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29</a:t>
            </a:fld>
            <a:endParaRPr lang="zh-CN" altLang="en-US"/>
          </a:p>
        </p:txBody>
      </p:sp>
    </p:spTree>
    <p:extLst>
      <p:ext uri="{BB962C8B-B14F-4D97-AF65-F5344CB8AC3E}">
        <p14:creationId xmlns:p14="http://schemas.microsoft.com/office/powerpoint/2010/main" val="23360998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overhead analysis adds nuance. AdaptDQC compiles more smoothly than CutQC for larger QubitComm cases, and post-processing time is comparable overall. The ablation also shows that reverse tuning is important: it reduces communication by 98.5 percent and latency by 56.4 percent on average in the reported setting.</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30</a:t>
            </a:fld>
            <a:endParaRPr lang="zh-CN" altLang="en-US"/>
          </a:p>
        </p:txBody>
      </p:sp>
    </p:spTree>
    <p:extLst>
      <p:ext uri="{BB962C8B-B14F-4D97-AF65-F5344CB8AC3E}">
        <p14:creationId xmlns:p14="http://schemas.microsoft.com/office/powerpoint/2010/main" val="2918227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To summarize, AdaptDQC contributes a unified model, an adaptive compiler, and experimental evidence across architectures and objectives. The takeaway is that distributed quantum computing compilation should be metric-aware and architecture-aware at the same time.</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31</a:t>
            </a:fld>
            <a:endParaRPr lang="zh-CN" altLang="en-US"/>
          </a:p>
        </p:txBody>
      </p:sp>
    </p:spTree>
    <p:extLst>
      <p:ext uri="{BB962C8B-B14F-4D97-AF65-F5344CB8AC3E}">
        <p14:creationId xmlns:p14="http://schemas.microsoft.com/office/powerpoint/2010/main" val="27664358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last two slides connect the paper to the tutorial notebook. This first code slide follows the QubitComm path. It builds a small hardware-compatible circuit, sets QPU width to two, uses CutWire to partition the circuit, generates the compute graph, executes subcircuits with statevector simulation, and compares the reconstructed distribution with the full-circuit reference.</a:t>
            </a:r>
            <a:endParaRPr lang="en-US" sz="1800"/>
          </a:p>
        </p:txBody>
      </p:sp>
      <p:sp>
        <p:nvSpPr>
          <p:cNvPr id="4" name="灯片编号占位符 3"/>
          <p:cNvSpPr>
            <a:spLocks noGrp="1"/>
          </p:cNvSpPr>
          <p:nvPr>
            <p:ph type="sldNum" sz="quarter" idx="5"/>
          </p:nvPr>
        </p:nvSpPr>
        <p:spPr/>
        <p:txBody>
          <a:bodyPr/>
          <a:lstStyle/>
          <a:p>
            <a:fld id="{4BFA3C6E-C766-40A8-8C90-B12D9D8BB6EE}" type="slidenum">
              <a:rPr lang="zh-CN" altLang="en-US" smtClean="0"/>
              <a:t>32</a:t>
            </a:fld>
            <a:endParaRPr lang="zh-CN" altLang="en-US"/>
          </a:p>
        </p:txBody>
      </p:sp>
    </p:spTree>
    <p:extLst>
      <p:ext uri="{BB962C8B-B14F-4D97-AF65-F5344CB8AC3E}">
        <p14:creationId xmlns:p14="http://schemas.microsoft.com/office/powerpoint/2010/main" val="1814235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sz="1800">
                <a:latin typeface="Times New Roman"/>
                <a:ea typeface="Times New Roman"/>
                <a:cs typeface="Times New Roman"/>
              </a:rPr>
              <a:t>The second code slide covers GateComm, adaptive objective selection, and HybridComm. Partcompile exposes EPR-pair cost and teleportation compilation. The notebook then evaluates candidate allocations under communication and latency objectives, and finally demonstrates a hybrid flow where wire cutting is followed by GateComm inside a wide subcircuit.</a:t>
            </a:r>
            <a:endParaRPr lang="en-US" sz="1800"/>
          </a:p>
        </p:txBody>
      </p:sp>
      <p:sp>
        <p:nvSpPr>
          <p:cNvPr id="4" name="灯片编号占位符 3"/>
          <p:cNvSpPr>
            <a:spLocks noGrp="1"/>
          </p:cNvSpPr>
          <p:nvPr>
            <p:ph type="sldNum" sz="quarter" idx="5"/>
          </p:nvPr>
        </p:nvSpPr>
        <p:spPr/>
        <p:txBody>
          <a:bodyPr/>
          <a:lstStyle/>
          <a:p>
            <a:fld id="{7A518D34-B274-1948-8431-CAA3B27C12DF}" type="slidenum">
              <a:rPr kumimoji="1" lang="zh-CN" altLang="en-US" smtClean="0"/>
              <a:t>33</a:t>
            </a:fld>
            <a:endParaRPr kumimoji="1" lang="zh-CN" altLang="en-US"/>
          </a:p>
        </p:txBody>
      </p:sp>
    </p:spTree>
    <p:extLst>
      <p:ext uri="{BB962C8B-B14F-4D97-AF65-F5344CB8AC3E}">
        <p14:creationId xmlns:p14="http://schemas.microsoft.com/office/powerpoint/2010/main" val="3612909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0C7F13-F4A9-DA3B-F0C4-0197239F69AA}"/>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A63948BA-D01A-974F-ACEE-85AC37E66E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8AB67EC-B8C4-6C0B-F887-E9F58A8A6ECA}"/>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5" name="页脚占位符 4">
            <a:extLst>
              <a:ext uri="{FF2B5EF4-FFF2-40B4-BE49-F238E27FC236}">
                <a16:creationId xmlns:a16="http://schemas.microsoft.com/office/drawing/2014/main" id="{844B40ED-2631-744D-8F16-C4A83CE4F34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6040C2E-BEF5-5C44-F759-C634B3DF8318}"/>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7373857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185DBF-D2A6-6099-42E5-CB8FE552F07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240022F-70D6-7919-586A-54F5E94178C5}"/>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5E4EC51-A02B-B8E9-9605-961148D44E8D}"/>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5" name="页脚占位符 4">
            <a:extLst>
              <a:ext uri="{FF2B5EF4-FFF2-40B4-BE49-F238E27FC236}">
                <a16:creationId xmlns:a16="http://schemas.microsoft.com/office/drawing/2014/main" id="{695CDFAE-63D8-B8C0-998B-4F2348C41CA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BD87E89-575F-A4C3-C926-92614C61F88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618979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F1E832-78F7-45BB-AC78-6622FF6E2C0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1506475-37D4-249C-8FEA-02BB476F2F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158423D6-CD18-189D-9CD4-5D673CCC2DDE}"/>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5" name="页脚占位符 4">
            <a:extLst>
              <a:ext uri="{FF2B5EF4-FFF2-40B4-BE49-F238E27FC236}">
                <a16:creationId xmlns:a16="http://schemas.microsoft.com/office/drawing/2014/main" id="{C5DDA7BA-A5DD-4E47-6987-95C6B9C14BD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3EC3E3E-A121-5506-3E7D-5D07E540A5C6}"/>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4050923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98CB1D-BECA-F3CD-4C1D-267C9158BD6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9E667E95-14FC-F433-83BA-EB30AA01BF82}"/>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73DA1266-A6F7-49CD-38AC-F3436F3A128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85961CB5-FE36-0336-DA0F-4A73184EB87F}"/>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6" name="页脚占位符 5">
            <a:extLst>
              <a:ext uri="{FF2B5EF4-FFF2-40B4-BE49-F238E27FC236}">
                <a16:creationId xmlns:a16="http://schemas.microsoft.com/office/drawing/2014/main" id="{CE9B6F3E-509C-08A3-FA5E-99371CA4157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9230F4E-5D8A-0AF0-B3DF-8F311B7677E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45598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74FA8E-7207-FE9F-F23E-040AE7D88491}"/>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D691EC1-001A-BC3C-C1D7-9B6EF15500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FF71DE8F-ACB3-6885-BBF1-7EF42A045ED9}"/>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757919BE-CFF7-F037-A8A1-26BB26B9AA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E1D0885-2414-F7ED-F33E-1ECCD84991E3}"/>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C4A86B55-07E2-C130-A091-AB4036958CEF}"/>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8" name="页脚占位符 7">
            <a:extLst>
              <a:ext uri="{FF2B5EF4-FFF2-40B4-BE49-F238E27FC236}">
                <a16:creationId xmlns:a16="http://schemas.microsoft.com/office/drawing/2014/main" id="{D559EF2A-B2DE-714A-279B-6B77900238A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48CBA43D-F588-8FBC-1A09-2B6F93EF4856}"/>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300188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776A38-DB20-9DFD-78C4-2A7ABBA8D277}"/>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CB02DEB-3B50-94BD-5013-2B910E881306}"/>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4" name="页脚占位符 3">
            <a:extLst>
              <a:ext uri="{FF2B5EF4-FFF2-40B4-BE49-F238E27FC236}">
                <a16:creationId xmlns:a16="http://schemas.microsoft.com/office/drawing/2014/main" id="{61A3A61A-C9DB-A85D-B583-AC69C600478B}"/>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CB364398-4A6F-6132-53B1-3C3E679A9BA7}"/>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355133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3B5100-AD00-A635-BB8C-6CB22EA290F4}"/>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3" name="页脚占位符 2">
            <a:extLst>
              <a:ext uri="{FF2B5EF4-FFF2-40B4-BE49-F238E27FC236}">
                <a16:creationId xmlns:a16="http://schemas.microsoft.com/office/drawing/2014/main" id="{CE350792-F453-F548-14C9-D4824B804A0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1CEB3FE-D5F7-6670-2DBA-4BDC103BBE3E}"/>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5524874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150C9-4743-AFAD-0904-96EE0B44DFD4}"/>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67DE599B-CDD3-1F23-1BA0-36A14C1BE5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6342F32-67EF-1753-61B8-72A769A534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717B7E1-62BD-CB08-7E4B-D5D80B53DF80}"/>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6" name="页脚占位符 5">
            <a:extLst>
              <a:ext uri="{FF2B5EF4-FFF2-40B4-BE49-F238E27FC236}">
                <a16:creationId xmlns:a16="http://schemas.microsoft.com/office/drawing/2014/main" id="{4178673A-158F-FD82-33DD-08AD368A7E7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07FCDF5-A7EA-7529-4555-46F8452D385C}"/>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688232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145AA-8C51-D4E7-6068-D040F10506B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661B120D-D17F-3198-D9C4-429F353EB2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310A1AC-8C17-5428-1DDD-622E31A2F4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AAC5B39-017F-90A0-ACB2-EE11AF21766B}"/>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6" name="页脚占位符 5">
            <a:extLst>
              <a:ext uri="{FF2B5EF4-FFF2-40B4-BE49-F238E27FC236}">
                <a16:creationId xmlns:a16="http://schemas.microsoft.com/office/drawing/2014/main" id="{9D827743-EEC4-67CA-18AD-A987F9DAFC9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991EC72-21F7-D6EA-742A-5BBC2A8498BD}"/>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285081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6A76C6-8F2B-9453-83B8-2D8C553D196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E4489FC-6932-8C41-F3ED-B822761C8D4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293763D-0BEF-5770-4E1D-BA8FC395D09A}"/>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5" name="页脚占位符 4">
            <a:extLst>
              <a:ext uri="{FF2B5EF4-FFF2-40B4-BE49-F238E27FC236}">
                <a16:creationId xmlns:a16="http://schemas.microsoft.com/office/drawing/2014/main" id="{6083EAF2-0002-1960-604D-5BEB5D35D5E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12A961-10DD-0C5A-B045-F6BCF4B48CE0}"/>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446496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6058DD-5D4E-11F2-282D-F6717206DE9C}"/>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C5FE864F-06CF-835F-F326-77BCD828EAE8}"/>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FB2676C-2AD7-F3C3-26A4-FD437BFB3F11}"/>
              </a:ext>
            </a:extLst>
          </p:cNvPr>
          <p:cNvSpPr>
            <a:spLocks noGrp="1"/>
          </p:cNvSpPr>
          <p:nvPr>
            <p:ph type="dt" sz="half" idx="10"/>
          </p:nvPr>
        </p:nvSpPr>
        <p:spPr/>
        <p:txBody>
          <a:bodyPr/>
          <a:lstStyle/>
          <a:p>
            <a:fld id="{07DFF6D9-E824-1143-9169-42F75C7B5F18}" type="datetimeFigureOut">
              <a:rPr kumimoji="1" lang="zh-CN" altLang="en-US" smtClean="0"/>
              <a:t>2026/5/26</a:t>
            </a:fld>
            <a:endParaRPr kumimoji="1" lang="zh-CN" altLang="en-US"/>
          </a:p>
        </p:txBody>
      </p:sp>
      <p:sp>
        <p:nvSpPr>
          <p:cNvPr id="5" name="页脚占位符 4">
            <a:extLst>
              <a:ext uri="{FF2B5EF4-FFF2-40B4-BE49-F238E27FC236}">
                <a16:creationId xmlns:a16="http://schemas.microsoft.com/office/drawing/2014/main" id="{0CC3A8BB-BAC4-332A-9952-32A2255AD89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D9A177D-5EE0-0DFD-BE88-56669768A429}"/>
              </a:ext>
            </a:extLst>
          </p:cNvPr>
          <p:cNvSpPr>
            <a:spLocks noGrp="1"/>
          </p:cNvSpPr>
          <p:nvPr>
            <p:ph type="sldNum" sz="quarter" idx="12"/>
          </p:nvPr>
        </p:nvSpPr>
        <p:spPr/>
        <p:txBody>
          <a:body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28287716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8218" y="124618"/>
            <a:ext cx="8821198" cy="678468"/>
          </a:xfrm>
          <a:prstGeom prst="rect">
            <a:avLst/>
          </a:prstGeom>
        </p:spPr>
        <p:txBody>
          <a:bodyPr lIns="0" rIns="0" anchor="ctr">
            <a:normAutofit/>
          </a:bodyPr>
          <a:lstStyle>
            <a:lvl1pPr>
              <a:defRPr sz="3600" b="1">
                <a:latin typeface="Arial" panose="020B0604020202020204" pitchFamily="34" charset="0"/>
                <a:ea typeface="微软雅黑" panose="020B0503020204020204" pitchFamily="34" charset="-122"/>
                <a:cs typeface="Arial" panose="020B0604020202020204" pitchFamily="34" charset="0"/>
              </a:defRPr>
            </a:lvl1pPr>
          </a:lstStyle>
          <a:p>
            <a:r>
              <a:rPr lang="en-US" altLang="zh-CN" dirty="0"/>
              <a:t>Title</a:t>
            </a:r>
            <a:endParaRPr lang="zh-CN" altLang="en-US" dirty="0"/>
          </a:p>
        </p:txBody>
      </p:sp>
      <p:cxnSp>
        <p:nvCxnSpPr>
          <p:cNvPr id="76" name="直接连接符 75"/>
          <p:cNvCxnSpPr/>
          <p:nvPr userDrawn="1"/>
        </p:nvCxnSpPr>
        <p:spPr>
          <a:xfrm>
            <a:off x="719833" y="803088"/>
            <a:ext cx="10790378" cy="0"/>
          </a:xfrm>
          <a:prstGeom prst="line">
            <a:avLst/>
          </a:prstGeom>
          <a:ln w="38100">
            <a:solidFill>
              <a:srgbClr val="04428A"/>
            </a:solidFill>
          </a:ln>
        </p:spPr>
        <p:style>
          <a:lnRef idx="1">
            <a:schemeClr val="accent1"/>
          </a:lnRef>
          <a:fillRef idx="0">
            <a:schemeClr val="accent1"/>
          </a:fillRef>
          <a:effectRef idx="0">
            <a:schemeClr val="accent1"/>
          </a:effectRef>
          <a:fontRef idx="minor">
            <a:schemeClr val="tx1"/>
          </a:fontRef>
        </p:style>
      </p:cxnSp>
      <p:sp>
        <p:nvSpPr>
          <p:cNvPr id="77" name="矩形 76"/>
          <p:cNvSpPr/>
          <p:nvPr userDrawn="1"/>
        </p:nvSpPr>
        <p:spPr>
          <a:xfrm>
            <a:off x="304647" y="-5194"/>
            <a:ext cx="236852" cy="808281"/>
          </a:xfrm>
          <a:prstGeom prst="rect">
            <a:avLst/>
          </a:prstGeom>
          <a:solidFill>
            <a:srgbClr val="0442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0DE3C065-E686-0CF9-7EAB-02D14C43B11E}"/>
              </a:ext>
            </a:extLst>
          </p:cNvPr>
          <p:cNvSpPr txBox="1"/>
          <p:nvPr userDrawn="1"/>
        </p:nvSpPr>
        <p:spPr>
          <a:xfrm>
            <a:off x="3437681" y="1481559"/>
            <a:ext cx="184731" cy="369332"/>
          </a:xfrm>
          <a:prstGeom prst="rect">
            <a:avLst/>
          </a:prstGeom>
          <a:noFill/>
        </p:spPr>
        <p:txBody>
          <a:bodyPr wrap="none" rtlCol="0">
            <a:spAutoFit/>
          </a:bodyPr>
          <a:lstStyle/>
          <a:p>
            <a:endParaRPr kumimoji="1" lang="zh-CN" altLang="en-US"/>
          </a:p>
        </p:txBody>
      </p:sp>
      <p:pic>
        <p:nvPicPr>
          <p:cNvPr id="4" name="图片 3">
            <a:extLst>
              <a:ext uri="{FF2B5EF4-FFF2-40B4-BE49-F238E27FC236}">
                <a16:creationId xmlns:a16="http://schemas.microsoft.com/office/drawing/2014/main" id="{AB5BFCB5-4693-A970-6EBA-7A46AEAC7CDB}"/>
              </a:ext>
            </a:extLst>
          </p:cNvPr>
          <p:cNvPicPr>
            <a:picLocks noChangeAspect="1"/>
          </p:cNvPicPr>
          <p:nvPr userDrawn="1"/>
        </p:nvPicPr>
        <p:blipFill>
          <a:blip r:embed="rId2"/>
          <a:stretch>
            <a:fillRect/>
          </a:stretch>
        </p:blipFill>
        <p:spPr>
          <a:xfrm>
            <a:off x="9398605" y="70093"/>
            <a:ext cx="2693189" cy="787517"/>
          </a:xfrm>
          <a:prstGeom prst="rect">
            <a:avLst/>
          </a:prstGeom>
        </p:spPr>
      </p:pic>
      <p:sp>
        <p:nvSpPr>
          <p:cNvPr id="8" name="灯片编号占位符 13">
            <a:extLst>
              <a:ext uri="{FF2B5EF4-FFF2-40B4-BE49-F238E27FC236}">
                <a16:creationId xmlns:a16="http://schemas.microsoft.com/office/drawing/2014/main" id="{D3908038-96DA-BBF9-3FAC-37E238D1CB7A}"/>
              </a:ext>
            </a:extLst>
          </p:cNvPr>
          <p:cNvSpPr txBox="1">
            <a:spLocks/>
          </p:cNvSpPr>
          <p:nvPr userDrawn="1"/>
        </p:nvSpPr>
        <p:spPr>
          <a:xfrm>
            <a:off x="11414249" y="6317272"/>
            <a:ext cx="548591" cy="404203"/>
          </a:xfrm>
          <a:prstGeom prst="rect">
            <a:avLst/>
          </a:prstGeom>
          <a:solidFill>
            <a:srgbClr val="03428A"/>
          </a:solid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6E190E77-D57C-49F8-ADC2-FB99C50EBC2E}" type="slidenum">
              <a:rPr lang="zh-CN" altLang="en-US" sz="1600" b="1" smtClean="0">
                <a:solidFill>
                  <a:schemeClr val="bg1"/>
                </a:solidFill>
                <a:latin typeface="STKaiti" panose="02010600040101010101" pitchFamily="2" charset="-122"/>
                <a:ea typeface="STKaiti" panose="02010600040101010101" pitchFamily="2" charset="-122"/>
              </a:rPr>
              <a:pPr algn="ctr"/>
              <a:t>‹#›</a:t>
            </a:fld>
            <a:endParaRPr lang="zh-CN" altLang="en-US" sz="1600" b="1">
              <a:solidFill>
                <a:schemeClr val="bg1"/>
              </a:solidFill>
              <a:latin typeface="STKaiti" panose="02010600040101010101" pitchFamily="2" charset="-122"/>
              <a:ea typeface="STKaiti" panose="02010600040101010101" pitchFamily="2" charset="-122"/>
            </a:endParaRPr>
          </a:p>
        </p:txBody>
      </p:sp>
      <p:sp>
        <p:nvSpPr>
          <p:cNvPr id="11" name="文本框 10">
            <a:extLst>
              <a:ext uri="{FF2B5EF4-FFF2-40B4-BE49-F238E27FC236}">
                <a16:creationId xmlns:a16="http://schemas.microsoft.com/office/drawing/2014/main" id="{317A96BB-AD0E-942E-30DB-A1348E475D45}"/>
              </a:ext>
            </a:extLst>
          </p:cNvPr>
          <p:cNvSpPr txBox="1"/>
          <p:nvPr userDrawn="1"/>
        </p:nvSpPr>
        <p:spPr>
          <a:xfrm>
            <a:off x="304647" y="6533560"/>
            <a:ext cx="939681" cy="276999"/>
          </a:xfrm>
          <a:prstGeom prst="rect">
            <a:avLst/>
          </a:prstGeom>
          <a:noFill/>
        </p:spPr>
        <p:txBody>
          <a:bodyPr wrap="none" rtlCol="0">
            <a:spAutoFit/>
          </a:bodyPr>
          <a:lstStyle/>
          <a:p>
            <a:r>
              <a:rPr kumimoji="1" lang="en-US" altLang="zh-CN" sz="1200" dirty="0">
                <a:solidFill>
                  <a:schemeClr val="accent3"/>
                </a:solidFill>
              </a:rPr>
              <a:t>HPCA 2025</a:t>
            </a:r>
            <a:endParaRPr kumimoji="1" lang="zh-CN" altLang="en-US" sz="1200" dirty="0">
              <a:solidFill>
                <a:schemeClr val="accent3"/>
              </a:solidFill>
            </a:endParaRPr>
          </a:p>
        </p:txBody>
      </p:sp>
    </p:spTree>
    <p:extLst>
      <p:ext uri="{BB962C8B-B14F-4D97-AF65-F5344CB8AC3E}">
        <p14:creationId xmlns:p14="http://schemas.microsoft.com/office/powerpoint/2010/main" val="12493196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30C1008-89A6-A095-2611-34ACDB27F9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3C5C6341-2A8A-4B83-5D98-6541DDA630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61D99AE-FE4D-318F-592B-7CB84482EC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DFF6D9-E824-1143-9169-42F75C7B5F18}" type="datetimeFigureOut">
              <a:rPr kumimoji="1" lang="zh-CN" altLang="en-US" smtClean="0"/>
              <a:t>2026/5/26</a:t>
            </a:fld>
            <a:endParaRPr kumimoji="1" lang="zh-CN" altLang="en-US"/>
          </a:p>
        </p:txBody>
      </p:sp>
      <p:sp>
        <p:nvSpPr>
          <p:cNvPr id="5" name="页脚占位符 4">
            <a:extLst>
              <a:ext uri="{FF2B5EF4-FFF2-40B4-BE49-F238E27FC236}">
                <a16:creationId xmlns:a16="http://schemas.microsoft.com/office/drawing/2014/main" id="{FC72E9E8-EAC4-DA8F-3DEF-C19DFFCD1C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C6320359-5CF0-B9DB-F751-17615E666A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12DDB0-8C3A-E745-9B7F-528667F5CDCB}" type="slidenum">
              <a:rPr kumimoji="1" lang="zh-CN" altLang="en-US" smtClean="0"/>
              <a:t>‹#›</a:t>
            </a:fld>
            <a:endParaRPr kumimoji="1" lang="zh-CN" altLang="en-US"/>
          </a:p>
        </p:txBody>
      </p:sp>
    </p:spTree>
    <p:extLst>
      <p:ext uri="{BB962C8B-B14F-4D97-AF65-F5344CB8AC3E}">
        <p14:creationId xmlns:p14="http://schemas.microsoft.com/office/powerpoint/2010/main" val="109718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janusq.github.io/HPCA_2025_Tutoria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0.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1.png"/><Relationship Id="rId4" Type="http://schemas.openxmlformats.org/officeDocument/2006/relationships/image" Target="../media/image29.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TextBox 3"/>
          <p:cNvSpPr txBox="1"/>
          <p:nvPr/>
        </p:nvSpPr>
        <p:spPr>
          <a:xfrm>
            <a:off x="4579289" y="540730"/>
            <a:ext cx="4063613" cy="765274"/>
          </a:xfrm>
          <a:prstGeom prst="rect">
            <a:avLst/>
          </a:prstGeom>
          <a:noFill/>
        </p:spPr>
        <p:txBody>
          <a:bodyPr wrap="none" lIns="18288" tIns="18288" rIns="18288" bIns="18288">
            <a:spAutoFit/>
          </a:bodyPr>
          <a:lstStyle/>
          <a:p>
            <a:pPr lvl="0">
              <a:lnSpc>
                <a:spcPct val="150000"/>
              </a:lnSpc>
              <a:spcBef>
                <a:spcPct val="20000"/>
              </a:spcBef>
              <a:buSzPct val="120000"/>
              <a:defRPr/>
            </a:pPr>
            <a:r>
              <a:rPr lang="en-US" altLang="zh-CN" sz="3600" b="1" dirty="0">
                <a:solidFill>
                  <a:srgbClr val="000000"/>
                </a:solidFill>
                <a:latin typeface="Arial" panose="020B0604020202090204" pitchFamily="34" charset="0"/>
                <a:cs typeface="Arial" panose="020B0604020202090204" pitchFamily="34" charset="0"/>
              </a:rPr>
              <a:t>ISCA 2026</a:t>
            </a:r>
            <a:r>
              <a:rPr lang="zh-CN" altLang="en-US" sz="3600" b="1" dirty="0">
                <a:solidFill>
                  <a:srgbClr val="000000"/>
                </a:solidFill>
                <a:latin typeface="Arial" panose="020B0604020202090204" pitchFamily="34" charset="0"/>
                <a:cs typeface="Arial" panose="020B0604020202090204" pitchFamily="34" charset="0"/>
              </a:rPr>
              <a:t> </a:t>
            </a:r>
            <a:r>
              <a:rPr lang="en-US" altLang="zh-CN" sz="3600" b="1" dirty="0">
                <a:solidFill>
                  <a:srgbClr val="000000"/>
                </a:solidFill>
                <a:latin typeface="Arial" panose="020B0604020202090204" pitchFamily="34" charset="0"/>
                <a:cs typeface="Arial" panose="020B0604020202090204" pitchFamily="34" charset="0"/>
              </a:rPr>
              <a:t>Tutorial</a:t>
            </a:r>
            <a:endParaRPr lang="en-US" altLang="en-US" sz="7200" kern="0" dirty="0">
              <a:solidFill>
                <a:srgbClr val="000000"/>
              </a:solidFill>
              <a:latin typeface="Arial" panose="020B0604020202090204" pitchFamily="34" charset="0"/>
              <a:ea typeface="STKaiti" panose="02010600040101010101" pitchFamily="2" charset="-122"/>
              <a:cs typeface="Arial" panose="020B0604020202090204" pitchFamily="34" charset="0"/>
            </a:endParaRPr>
          </a:p>
        </p:txBody>
      </p:sp>
      <p:sp>
        <p:nvSpPr>
          <p:cNvPr id="5" name="TextBox 4"/>
          <p:cNvSpPr txBox="1"/>
          <p:nvPr/>
        </p:nvSpPr>
        <p:spPr>
          <a:xfrm>
            <a:off x="1130078" y="1261872"/>
            <a:ext cx="9901365" cy="467820"/>
          </a:xfrm>
          <a:prstGeom prst="rect">
            <a:avLst/>
          </a:prstGeom>
          <a:noFill/>
        </p:spPr>
        <p:txBody>
          <a:bodyPr wrap="none" lIns="18288" tIns="18288" rIns="18288" bIns="18288">
            <a:spAutoFit/>
          </a:bodyPr>
          <a:lstStyle/>
          <a:p>
            <a:pPr algn="ctr"/>
            <a:r>
              <a:rPr lang="en-US" sz="2800" b="1" i="0" dirty="0">
                <a:solidFill>
                  <a:srgbClr val="000000"/>
                </a:solidFill>
                <a:latin typeface="Times New Roman"/>
              </a:rPr>
              <a:t>Topic 5. </a:t>
            </a:r>
            <a:r>
              <a:rPr sz="2800" b="1" i="0" dirty="0" err="1">
                <a:solidFill>
                  <a:srgbClr val="000000"/>
                </a:solidFill>
                <a:latin typeface="Times New Roman"/>
              </a:rPr>
              <a:t>AdaptDQC</a:t>
            </a:r>
            <a:r>
              <a:rPr sz="2800" b="1" i="0" dirty="0">
                <a:solidFill>
                  <a:srgbClr val="000000"/>
                </a:solidFill>
                <a:latin typeface="Times New Roman"/>
              </a:rPr>
              <a:t>: Adaptive Distributed Quantum Computing</a:t>
            </a:r>
          </a:p>
        </p:txBody>
      </p:sp>
      <p:sp>
        <p:nvSpPr>
          <p:cNvPr id="6" name="TextBox 5"/>
          <p:cNvSpPr txBox="1"/>
          <p:nvPr/>
        </p:nvSpPr>
        <p:spPr>
          <a:xfrm>
            <a:off x="914400" y="1691640"/>
            <a:ext cx="10332720" cy="420624"/>
          </a:xfrm>
          <a:prstGeom prst="rect">
            <a:avLst/>
          </a:prstGeom>
          <a:noFill/>
        </p:spPr>
        <p:txBody>
          <a:bodyPr wrap="none" lIns="18288" tIns="18288" rIns="18288" bIns="18288">
            <a:spAutoFit/>
          </a:bodyPr>
          <a:lstStyle/>
          <a:p>
            <a:pPr algn="ctr"/>
            <a:r>
              <a:rPr sz="2800" b="1" i="0" dirty="0">
                <a:solidFill>
                  <a:srgbClr val="000000"/>
                </a:solidFill>
                <a:latin typeface="Times New Roman"/>
              </a:rPr>
              <a:t>With Quantitative Performance Analysis</a:t>
            </a:r>
          </a:p>
        </p:txBody>
      </p:sp>
      <p:grpSp>
        <p:nvGrpSpPr>
          <p:cNvPr id="17" name="组合 16">
            <a:extLst>
              <a:ext uri="{FF2B5EF4-FFF2-40B4-BE49-F238E27FC236}">
                <a16:creationId xmlns:a16="http://schemas.microsoft.com/office/drawing/2014/main" id="{2BED1173-A6F2-8CCA-E3FA-9BD24C20D5CA}"/>
              </a:ext>
            </a:extLst>
          </p:cNvPr>
          <p:cNvGrpSpPr/>
          <p:nvPr/>
        </p:nvGrpSpPr>
        <p:grpSpPr>
          <a:xfrm>
            <a:off x="985187" y="2745261"/>
            <a:ext cx="10221626" cy="1408226"/>
            <a:chOff x="966137" y="2794981"/>
            <a:chExt cx="10221626" cy="1408226"/>
          </a:xfrm>
        </p:grpSpPr>
        <p:grpSp>
          <p:nvGrpSpPr>
            <p:cNvPr id="18" name="组合 17">
              <a:extLst>
                <a:ext uri="{FF2B5EF4-FFF2-40B4-BE49-F238E27FC236}">
                  <a16:creationId xmlns:a16="http://schemas.microsoft.com/office/drawing/2014/main" id="{40D7E7AC-9C8A-29D9-A885-49DDFD19781E}"/>
                </a:ext>
              </a:extLst>
            </p:cNvPr>
            <p:cNvGrpSpPr/>
            <p:nvPr/>
          </p:nvGrpSpPr>
          <p:grpSpPr>
            <a:xfrm>
              <a:off x="4947109" y="3097551"/>
              <a:ext cx="3133984" cy="803086"/>
              <a:chOff x="781718" y="1247492"/>
              <a:chExt cx="3133984" cy="803086"/>
            </a:xfrm>
          </p:grpSpPr>
          <p:pic>
            <p:nvPicPr>
              <p:cNvPr id="25" name="图片 24">
                <a:extLst>
                  <a:ext uri="{FF2B5EF4-FFF2-40B4-BE49-F238E27FC236}">
                    <a16:creationId xmlns:a16="http://schemas.microsoft.com/office/drawing/2014/main" id="{53AF4264-9D34-9ECE-BC97-E6BB7B927AD2}"/>
                  </a:ext>
                </a:extLst>
              </p:cNvPr>
              <p:cNvPicPr>
                <a:picLocks noChangeAspect="1"/>
              </p:cNvPicPr>
              <p:nvPr/>
            </p:nvPicPr>
            <p:blipFill rotWithShape="1">
              <a:blip r:embed="rId4"/>
              <a:srcRect t="30839" b="28332"/>
              <a:stretch>
                <a:fillRect/>
              </a:stretch>
            </p:blipFill>
            <p:spPr>
              <a:xfrm>
                <a:off x="781718" y="1247492"/>
                <a:ext cx="1966932" cy="803086"/>
              </a:xfrm>
              <a:prstGeom prst="rect">
                <a:avLst/>
              </a:prstGeom>
            </p:spPr>
          </p:pic>
          <p:sp>
            <p:nvSpPr>
              <p:cNvPr id="26" name="标题 1">
                <a:extLst>
                  <a:ext uri="{FF2B5EF4-FFF2-40B4-BE49-F238E27FC236}">
                    <a16:creationId xmlns:a16="http://schemas.microsoft.com/office/drawing/2014/main" id="{B5F3B2F1-739D-8C7E-2258-299D555FBF7A}"/>
                  </a:ext>
                </a:extLst>
              </p:cNvPr>
              <p:cNvSpPr txBox="1"/>
              <p:nvPr/>
            </p:nvSpPr>
            <p:spPr>
              <a:xfrm>
                <a:off x="2808983" y="1272892"/>
                <a:ext cx="1106719" cy="583222"/>
              </a:xfrm>
              <a:prstGeom prst="rect">
                <a:avLst/>
              </a:prstGeom>
            </p:spPr>
            <p:txBody>
              <a:bodyPr vert="horz" lIns="0" tIns="45720" rIns="0" bIns="45720" rtlCol="0" anchor="ctr">
                <a:noAutofit/>
              </a:bodyPr>
              <a:lstStyle>
                <a:lvl1pPr algn="l" defTabSz="914400" rtl="0" eaLnBrk="1" latinLnBrk="0" hangingPunct="1">
                  <a:lnSpc>
                    <a:spcPct val="90000"/>
                  </a:lnSpc>
                  <a:spcBef>
                    <a:spcPct val="0"/>
                  </a:spcBef>
                  <a:buNone/>
                  <a:defRPr sz="3600" b="1" kern="1200">
                    <a:solidFill>
                      <a:schemeClr val="tx1"/>
                    </a:solidFill>
                    <a:latin typeface="Arial" panose="020B0604020202090204" pitchFamily="34" charset="0"/>
                    <a:ea typeface="微软雅黑" panose="020B0503020204020204" pitchFamily="34" charset="-122"/>
                    <a:cs typeface="Arial" panose="020B0604020202090204" pitchFamily="34" charset="0"/>
                  </a:defRPr>
                </a:lvl1pPr>
              </a:lstStyle>
              <a:p>
                <a:pPr algn="ctr" hangingPunct="0">
                  <a:lnSpc>
                    <a:spcPct val="100000"/>
                  </a:lnSpc>
                </a:pPr>
                <a:r>
                  <a:rPr lang="en-US" altLang="zh-CN" sz="4800" dirty="0">
                    <a:solidFill>
                      <a:srgbClr val="221715"/>
                    </a:solidFill>
                    <a:ea typeface="STKaiti" panose="02010600040101010101" pitchFamily="2" charset="-122"/>
                    <a:sym typeface="+mn-lt"/>
                  </a:rPr>
                  <a:t>Lab</a:t>
                </a:r>
                <a:endParaRPr lang="zh-CN" altLang="en-US" sz="4800" dirty="0">
                  <a:solidFill>
                    <a:srgbClr val="221715"/>
                  </a:solidFill>
                  <a:ea typeface="STKaiti" panose="02010600040101010101" pitchFamily="2" charset="-122"/>
                  <a:sym typeface="+mn-lt"/>
                </a:endParaRPr>
              </a:p>
            </p:txBody>
          </p:sp>
        </p:grpSp>
        <p:grpSp>
          <p:nvGrpSpPr>
            <p:cNvPr id="19" name="组合 18">
              <a:extLst>
                <a:ext uri="{FF2B5EF4-FFF2-40B4-BE49-F238E27FC236}">
                  <a16:creationId xmlns:a16="http://schemas.microsoft.com/office/drawing/2014/main" id="{01A72C67-BC8D-020E-C320-10A84060474A}"/>
                </a:ext>
              </a:extLst>
            </p:cNvPr>
            <p:cNvGrpSpPr/>
            <p:nvPr/>
          </p:nvGrpSpPr>
          <p:grpSpPr>
            <a:xfrm>
              <a:off x="8559841" y="2794981"/>
              <a:ext cx="2627922" cy="1408226"/>
              <a:chOff x="4762155" y="2766163"/>
              <a:chExt cx="2627922" cy="1408226"/>
            </a:xfrm>
          </p:grpSpPr>
          <p:pic>
            <p:nvPicPr>
              <p:cNvPr id="23" name="图片 22">
                <a:extLst>
                  <a:ext uri="{FF2B5EF4-FFF2-40B4-BE49-F238E27FC236}">
                    <a16:creationId xmlns:a16="http://schemas.microsoft.com/office/drawing/2014/main" id="{E3FE412A-55E9-07C4-8BB6-0C7677C2DF04}"/>
                  </a:ext>
                </a:extLst>
              </p:cNvPr>
              <p:cNvPicPr>
                <a:picLocks noChangeAspect="1"/>
              </p:cNvPicPr>
              <p:nvPr/>
            </p:nvPicPr>
            <p:blipFill>
              <a:blip r:embed="rId5"/>
              <a:stretch>
                <a:fillRect/>
              </a:stretch>
            </p:blipFill>
            <p:spPr>
              <a:xfrm>
                <a:off x="4762155" y="2766163"/>
                <a:ext cx="1501363" cy="1408226"/>
              </a:xfrm>
              <a:prstGeom prst="rect">
                <a:avLst/>
              </a:prstGeom>
            </p:spPr>
          </p:pic>
          <p:sp>
            <p:nvSpPr>
              <p:cNvPr id="24" name="文本框 23">
                <a:extLst>
                  <a:ext uri="{FF2B5EF4-FFF2-40B4-BE49-F238E27FC236}">
                    <a16:creationId xmlns:a16="http://schemas.microsoft.com/office/drawing/2014/main" id="{9CC1D849-CC46-0E47-03FE-67EE85FE213E}"/>
                  </a:ext>
                </a:extLst>
              </p:cNvPr>
              <p:cNvSpPr txBox="1"/>
              <p:nvPr/>
            </p:nvSpPr>
            <p:spPr>
              <a:xfrm>
                <a:off x="6190626" y="3116333"/>
                <a:ext cx="1199451" cy="707886"/>
              </a:xfrm>
              <a:prstGeom prst="rect">
                <a:avLst/>
              </a:prstGeom>
              <a:noFill/>
            </p:spPr>
            <p:txBody>
              <a:bodyPr wrap="square">
                <a:spAutoFit/>
              </a:bodyPr>
              <a:lstStyle/>
              <a:p>
                <a:pPr algn="ctr"/>
                <a:r>
                  <a:rPr lang="en-GB" altLang="zh-CN" sz="2000" b="1" dirty="0" err="1">
                    <a:solidFill>
                      <a:srgbClr val="3D77D7"/>
                    </a:solidFill>
                    <a:latin typeface="Arial" panose="020B0604020202090204" pitchFamily="34" charset="0"/>
                    <a:ea typeface="STKaiti" panose="02010600040101010101" pitchFamily="2" charset="-122"/>
                    <a:cs typeface="Arial" panose="020B0604020202090204" pitchFamily="34" charset="0"/>
                  </a:rPr>
                  <a:t>JanusQ</a:t>
                </a:r>
                <a:endParaRPr lang="en-US" altLang="zh-CN" sz="2000" b="1" dirty="0">
                  <a:solidFill>
                    <a:srgbClr val="3D77D7"/>
                  </a:solidFill>
                  <a:latin typeface="Arial" panose="020B0604020202090204" pitchFamily="34" charset="0"/>
                  <a:ea typeface="STKaiti" panose="02010600040101010101" pitchFamily="2" charset="-122"/>
                  <a:cs typeface="Arial" panose="020B0604020202090204" pitchFamily="34" charset="0"/>
                </a:endParaRPr>
              </a:p>
              <a:p>
                <a:pPr algn="ctr"/>
                <a:r>
                  <a:rPr lang="en-US" altLang="zh-CN" sz="2000" b="1" dirty="0">
                    <a:solidFill>
                      <a:srgbClr val="3D77D7"/>
                    </a:solidFill>
                    <a:latin typeface="Arial" panose="020B0604020202090204" pitchFamily="34" charset="0"/>
                    <a:ea typeface="STKaiti" panose="02010600040101010101" pitchFamily="2" charset="-122"/>
                    <a:cs typeface="Arial" panose="020B0604020202090204" pitchFamily="34" charset="0"/>
                  </a:rPr>
                  <a:t>Cloud</a:t>
                </a:r>
                <a:endParaRPr lang="zh-CN" altLang="en-US" sz="2000" dirty="0">
                  <a:solidFill>
                    <a:srgbClr val="3D77D7"/>
                  </a:solidFill>
                  <a:latin typeface="Arial" panose="020B0604020202090204" pitchFamily="34" charset="0"/>
                  <a:cs typeface="Arial" panose="020B0604020202090204" pitchFamily="34" charset="0"/>
                </a:endParaRPr>
              </a:p>
            </p:txBody>
          </p:sp>
        </p:grpSp>
        <p:grpSp>
          <p:nvGrpSpPr>
            <p:cNvPr id="20" name="组合 19">
              <a:extLst>
                <a:ext uri="{FF2B5EF4-FFF2-40B4-BE49-F238E27FC236}">
                  <a16:creationId xmlns:a16="http://schemas.microsoft.com/office/drawing/2014/main" id="{C3C314E0-0C9C-A101-9E09-F249FE3013F3}"/>
                </a:ext>
              </a:extLst>
            </p:cNvPr>
            <p:cNvGrpSpPr/>
            <p:nvPr/>
          </p:nvGrpSpPr>
          <p:grpSpPr>
            <a:xfrm>
              <a:off x="966137" y="3044944"/>
              <a:ext cx="3502225" cy="908300"/>
              <a:chOff x="8080175" y="3500683"/>
              <a:chExt cx="3502225" cy="908300"/>
            </a:xfrm>
          </p:grpSpPr>
          <p:sp>
            <p:nvSpPr>
              <p:cNvPr id="21" name="矩形 20">
                <a:extLst>
                  <a:ext uri="{FF2B5EF4-FFF2-40B4-BE49-F238E27FC236}">
                    <a16:creationId xmlns:a16="http://schemas.microsoft.com/office/drawing/2014/main" id="{179BF2FF-E2FD-4DB1-CA3B-441CA7DBEE7A}"/>
                  </a:ext>
                </a:extLst>
              </p:cNvPr>
              <p:cNvSpPr/>
              <p:nvPr/>
            </p:nvSpPr>
            <p:spPr>
              <a:xfrm>
                <a:off x="8080175" y="3500683"/>
                <a:ext cx="3502225" cy="908300"/>
              </a:xfrm>
              <a:prstGeom prst="rect">
                <a:avLst/>
              </a:prstGeom>
              <a:solidFill>
                <a:srgbClr val="05428A"/>
              </a:solidFill>
              <a:ln>
                <a:solidFill>
                  <a:srgbClr val="05428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90204" pitchFamily="34" charset="0"/>
                  <a:cs typeface="Arial" panose="020B0604020202090204" pitchFamily="34" charset="0"/>
                </a:endParaRPr>
              </a:p>
            </p:txBody>
          </p:sp>
          <p:pic>
            <p:nvPicPr>
              <p:cNvPr id="22" name="Picture 2">
                <a:extLst>
                  <a:ext uri="{FF2B5EF4-FFF2-40B4-BE49-F238E27FC236}">
                    <a16:creationId xmlns:a16="http://schemas.microsoft.com/office/drawing/2014/main" id="{0A88F071-10B8-18D3-7243-39D95874B2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88365" y="3676016"/>
                <a:ext cx="3285844" cy="55763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27" name="组合 26">
            <a:extLst>
              <a:ext uri="{FF2B5EF4-FFF2-40B4-BE49-F238E27FC236}">
                <a16:creationId xmlns:a16="http://schemas.microsoft.com/office/drawing/2014/main" id="{18837F7C-2812-1519-06B0-4D83586E5752}"/>
              </a:ext>
            </a:extLst>
          </p:cNvPr>
          <p:cNvGrpSpPr/>
          <p:nvPr/>
        </p:nvGrpSpPr>
        <p:grpSpPr>
          <a:xfrm>
            <a:off x="1984827" y="4339240"/>
            <a:ext cx="8222347" cy="1750487"/>
            <a:chOff x="1984826" y="4339240"/>
            <a:chExt cx="8222347" cy="1750487"/>
          </a:xfrm>
        </p:grpSpPr>
        <p:sp>
          <p:nvSpPr>
            <p:cNvPr id="28" name="文本框 27">
              <a:extLst>
                <a:ext uri="{FF2B5EF4-FFF2-40B4-BE49-F238E27FC236}">
                  <a16:creationId xmlns:a16="http://schemas.microsoft.com/office/drawing/2014/main" id="{827E2E28-5CA8-AF1B-C140-77C3C643DFD5}"/>
                </a:ext>
              </a:extLst>
            </p:cNvPr>
            <p:cNvSpPr txBox="1"/>
            <p:nvPr/>
          </p:nvSpPr>
          <p:spPr>
            <a:xfrm>
              <a:off x="1984826" y="4860541"/>
              <a:ext cx="8222347" cy="707886"/>
            </a:xfrm>
            <a:prstGeom prst="rect">
              <a:avLst/>
            </a:prstGeom>
            <a:noFill/>
          </p:spPr>
          <p:txBody>
            <a:bodyPr wrap="square" rtlCol="0">
              <a:spAutoFit/>
            </a:bodyPr>
            <a:lstStyle/>
            <a:p>
              <a:pPr algn="ctr"/>
              <a:r>
                <a:rPr lang="en-GB" altLang="zh-CN" sz="2000" dirty="0">
                  <a:latin typeface="Arial" panose="020B0604020202090204" pitchFamily="34" charset="0"/>
                  <a:ea typeface="STKaiti" panose="02010600040101010101" pitchFamily="2" charset="-122"/>
                  <a:cs typeface="Arial" panose="020B0604020202090204" pitchFamily="34" charset="0"/>
                </a:rPr>
                <a:t>College of Computer Science and Technology</a:t>
              </a:r>
              <a:endParaRPr lang="en-US" altLang="zh-CN" sz="2000" dirty="0">
                <a:latin typeface="Arial" panose="020B0604020202090204" pitchFamily="34" charset="0"/>
                <a:ea typeface="STKaiti" panose="02010600040101010101" pitchFamily="2" charset="-122"/>
                <a:cs typeface="Arial" panose="020B0604020202090204" pitchFamily="34" charset="0"/>
                <a:sym typeface="+mn-lt"/>
              </a:endParaRPr>
            </a:p>
            <a:p>
              <a:pPr algn="ctr"/>
              <a:r>
                <a:rPr lang="en-US" altLang="zh-CN" sz="2000" dirty="0">
                  <a:latin typeface="Arial" panose="020B0604020202090204" pitchFamily="34" charset="0"/>
                  <a:ea typeface="STKaiti" panose="02010600040101010101" pitchFamily="2" charset="-122"/>
                  <a:cs typeface="Arial" panose="020B0604020202090204" pitchFamily="34" charset="0"/>
                  <a:sym typeface="+mn-lt"/>
                </a:rPr>
                <a:t>Zhejiang</a:t>
              </a:r>
              <a:r>
                <a:rPr lang="zh-CN" altLang="en-US" sz="2000" dirty="0">
                  <a:latin typeface="Arial" panose="020B0604020202090204" pitchFamily="34" charset="0"/>
                  <a:ea typeface="STKaiti" panose="02010600040101010101" pitchFamily="2" charset="-122"/>
                  <a:cs typeface="Arial" panose="020B0604020202090204" pitchFamily="34" charset="0"/>
                  <a:sym typeface="+mn-lt"/>
                </a:rPr>
                <a:t> </a:t>
              </a:r>
              <a:r>
                <a:rPr lang="en-US" altLang="zh-CN" sz="2000" dirty="0">
                  <a:latin typeface="Arial" panose="020B0604020202090204" pitchFamily="34" charset="0"/>
                  <a:ea typeface="STKaiti" panose="02010600040101010101" pitchFamily="2" charset="-122"/>
                  <a:cs typeface="Arial" panose="020B0604020202090204" pitchFamily="34" charset="0"/>
                  <a:sym typeface="+mn-lt"/>
                </a:rPr>
                <a:t>University</a:t>
              </a:r>
              <a:r>
                <a:rPr lang="zh-CN" altLang="en-US" sz="2000" dirty="0">
                  <a:latin typeface="Arial" panose="020B0604020202090204" pitchFamily="34" charset="0"/>
                  <a:ea typeface="STKaiti" panose="02010600040101010101" pitchFamily="2" charset="-122"/>
                  <a:cs typeface="Arial" panose="020B0604020202090204" pitchFamily="34" charset="0"/>
                  <a:sym typeface="+mn-lt"/>
                </a:rPr>
                <a:t> </a:t>
              </a:r>
              <a:r>
                <a:rPr lang="en-US" altLang="zh-CN" sz="2000" dirty="0">
                  <a:latin typeface="Arial" panose="020B0604020202090204" pitchFamily="34" charset="0"/>
                  <a:ea typeface="STKaiti" panose="02010600040101010101" pitchFamily="2" charset="-122"/>
                  <a:cs typeface="Arial" panose="020B0604020202090204" pitchFamily="34" charset="0"/>
                  <a:sym typeface="+mn-lt"/>
                </a:rPr>
                <a:t>(ZJU)</a:t>
              </a:r>
              <a:endParaRPr lang="zh-CN" altLang="en-US" sz="2000" dirty="0">
                <a:latin typeface="Arial" panose="020B0604020202090204" pitchFamily="34" charset="0"/>
                <a:ea typeface="STKaiti" panose="02010600040101010101" pitchFamily="2" charset="-122"/>
                <a:cs typeface="Arial" panose="020B0604020202090204" pitchFamily="34" charset="0"/>
                <a:sym typeface="+mn-lt"/>
              </a:endParaRPr>
            </a:p>
          </p:txBody>
        </p:sp>
        <p:sp>
          <p:nvSpPr>
            <p:cNvPr id="29" name="文本框 28">
              <a:extLst>
                <a:ext uri="{FF2B5EF4-FFF2-40B4-BE49-F238E27FC236}">
                  <a16:creationId xmlns:a16="http://schemas.microsoft.com/office/drawing/2014/main" id="{2973A484-E0D9-4A99-FD71-82107E1CD676}"/>
                </a:ext>
              </a:extLst>
            </p:cNvPr>
            <p:cNvSpPr txBox="1"/>
            <p:nvPr/>
          </p:nvSpPr>
          <p:spPr>
            <a:xfrm>
              <a:off x="3398597" y="5689617"/>
              <a:ext cx="5394807" cy="400110"/>
            </a:xfrm>
            <a:prstGeom prst="rect">
              <a:avLst/>
            </a:prstGeom>
            <a:noFill/>
          </p:spPr>
          <p:txBody>
            <a:bodyPr wrap="square">
              <a:spAutoFit/>
            </a:bodyPr>
            <a:lstStyle/>
            <a:p>
              <a:pPr algn="ctr"/>
              <a:r>
                <a:rPr lang="en-US" altLang="zh-CN" sz="2000" dirty="0">
                  <a:latin typeface="Arial" panose="020B0604020202090204" pitchFamily="34" charset="0"/>
                  <a:cs typeface="Arial" panose="020B0604020202090204" pitchFamily="34" charset="0"/>
                  <a:hlinkClick r:id="rId7"/>
                </a:rPr>
                <a:t>https://janusq.github.io/Janus4/</a:t>
              </a:r>
              <a:endParaRPr lang="zh-CN" altLang="en-US" sz="2000" dirty="0">
                <a:latin typeface="Arial" panose="020B0604020202090204" pitchFamily="34" charset="0"/>
                <a:cs typeface="Arial" panose="020B0604020202090204" pitchFamily="34" charset="0"/>
              </a:endParaRPr>
            </a:p>
          </p:txBody>
        </p:sp>
        <p:sp>
          <p:nvSpPr>
            <p:cNvPr id="30" name="文本框 29">
              <a:extLst>
                <a:ext uri="{FF2B5EF4-FFF2-40B4-BE49-F238E27FC236}">
                  <a16:creationId xmlns:a16="http://schemas.microsoft.com/office/drawing/2014/main" id="{E9FFE434-BDE1-5443-94B1-902DF1C649F9}"/>
                </a:ext>
              </a:extLst>
            </p:cNvPr>
            <p:cNvSpPr txBox="1"/>
            <p:nvPr/>
          </p:nvSpPr>
          <p:spPr>
            <a:xfrm>
              <a:off x="3266507" y="4339240"/>
              <a:ext cx="5755227" cy="400110"/>
            </a:xfrm>
            <a:prstGeom prst="rect">
              <a:avLst/>
            </a:prstGeom>
            <a:noFill/>
          </p:spPr>
          <p:txBody>
            <a:bodyPr wrap="square" rtlCol="0">
              <a:spAutoFit/>
            </a:bodyPr>
            <a:lstStyle/>
            <a:p>
              <a:pPr algn="ctr"/>
              <a:r>
                <a:rPr lang="en-US" altLang="zh-CN" sz="2000" dirty="0">
                  <a:latin typeface="Arial" panose="020B0604020202090204" pitchFamily="34" charset="0"/>
                  <a:ea typeface="STKaiti" panose="02010600040101010101" pitchFamily="2" charset="-122"/>
                  <a:cs typeface="Arial" panose="020B0604020202090204" pitchFamily="34" charset="0"/>
                </a:rPr>
                <a:t>Speaker: </a:t>
              </a:r>
              <a:r>
                <a:rPr lang="en-US" altLang="zh-CN" sz="2000" dirty="0" err="1">
                  <a:latin typeface="Arial" panose="020B0604020202090204" pitchFamily="34" charset="0"/>
                  <a:ea typeface="STKaiti" panose="02010600040101010101" pitchFamily="2" charset="-122"/>
                  <a:cs typeface="Arial" panose="020B0604020202090204" pitchFamily="34" charset="0"/>
                </a:rPr>
                <a:t>Liqiang</a:t>
              </a:r>
              <a:r>
                <a:rPr lang="en-US" altLang="zh-CN" sz="2000" dirty="0">
                  <a:latin typeface="Arial" panose="020B0604020202090204" pitchFamily="34" charset="0"/>
                  <a:ea typeface="STKaiti" panose="02010600040101010101" pitchFamily="2" charset="-122"/>
                  <a:cs typeface="Arial" panose="020B0604020202090204" pitchFamily="34" charset="0"/>
                </a:rPr>
                <a:t> Lu</a:t>
              </a:r>
              <a:endParaRPr lang="zh-CN" altLang="en-US" sz="2000" dirty="0">
                <a:latin typeface="Arial" panose="020B0604020202090204" pitchFamily="34" charset="0"/>
                <a:ea typeface="STKaiti" panose="02010600040101010101" pitchFamily="2" charset="-122"/>
                <a:cs typeface="Arial" panose="020B0604020202090204" pitchFamily="34" charset="0"/>
                <a:sym typeface="+mn-lt"/>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39633"/>
    </mc:Choice>
    <mc:Fallback xmlns="">
      <p:transition spd="slow" advTm="396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1" i="0">
                <a:solidFill>
                  <a:srgbClr val="000000"/>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Overview of AdaptDQC</a:t>
            </a:r>
          </a:p>
        </p:txBody>
      </p:sp>
      <p:sp>
        <p:nvSpPr>
          <p:cNvPr id="10" name="TextBox 9"/>
          <p:cNvSpPr txBox="1"/>
          <p:nvPr/>
        </p:nvSpPr>
        <p:spPr>
          <a:xfrm>
            <a:off x="777240" y="2221992"/>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Graph formulation and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Experimental evaluation</a:t>
            </a:r>
          </a:p>
        </p:txBody>
      </p:sp>
      <p:sp>
        <p:nvSpPr>
          <p:cNvPr id="12" name="TextBox 11"/>
          <p:cNvSpPr txBox="1"/>
          <p:nvPr/>
        </p:nvSpPr>
        <p:spPr>
          <a:xfrm>
            <a:off x="777240" y="3209544"/>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Code walkthrough</a:t>
            </a:r>
          </a:p>
        </p:txBody>
      </p:sp>
    </p:spTree>
    <p:extLst>
      <p:ext uri="{BB962C8B-B14F-4D97-AF65-F5344CB8AC3E}">
        <p14:creationId xmlns:p14="http://schemas.microsoft.com/office/powerpoint/2010/main" val="1708856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dirty="0">
                <a:solidFill>
                  <a:srgbClr val="000000"/>
                </a:solidFill>
                <a:latin typeface="Times New Roman"/>
              </a:rPr>
              <a:t>Why Distributed Quantum Computing?</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 y="1870179"/>
            <a:ext cx="4892040" cy="4306455"/>
          </a:xfrm>
          <a:prstGeom prst="roundRect">
            <a:avLst>
              <a:gd name="adj" fmla="val 4359"/>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57145" y="1208746"/>
            <a:ext cx="46725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dirty="0">
                <a:solidFill>
                  <a:srgbClr val="000000"/>
                </a:solidFill>
                <a:latin typeface="Times New Roman"/>
              </a:rPr>
              <a:t>DQC Motivation</a:t>
            </a:r>
          </a:p>
        </p:txBody>
      </p:sp>
      <p:sp>
        <p:nvSpPr>
          <p:cNvPr id="11" name="Rounded Rectangle 10"/>
          <p:cNvSpPr/>
          <p:nvPr/>
        </p:nvSpPr>
        <p:spPr>
          <a:xfrm>
            <a:off x="1437130" y="3255742"/>
            <a:ext cx="96012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dirty="0">
                <a:solidFill>
                  <a:srgbClr val="000000"/>
                </a:solidFill>
                <a:latin typeface="Times New Roman"/>
              </a:rPr>
              <a:t>Width</a:t>
            </a:r>
          </a:p>
        </p:txBody>
      </p:sp>
      <p:sp>
        <p:nvSpPr>
          <p:cNvPr id="12" name="Rounded Rectangle 11"/>
          <p:cNvSpPr/>
          <p:nvPr/>
        </p:nvSpPr>
        <p:spPr>
          <a:xfrm>
            <a:off x="2594093" y="2528445"/>
            <a:ext cx="960120" cy="43891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dirty="0">
                <a:solidFill>
                  <a:srgbClr val="000000"/>
                </a:solidFill>
                <a:latin typeface="Times New Roman"/>
              </a:rPr>
              <a:t>Depth</a:t>
            </a:r>
          </a:p>
        </p:txBody>
      </p:sp>
      <p:sp>
        <p:nvSpPr>
          <p:cNvPr id="13" name="Rounded Rectangle 12"/>
          <p:cNvSpPr/>
          <p:nvPr/>
        </p:nvSpPr>
        <p:spPr>
          <a:xfrm>
            <a:off x="3773422" y="3258345"/>
            <a:ext cx="96012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dirty="0">
                <a:solidFill>
                  <a:srgbClr val="000000"/>
                </a:solidFill>
                <a:latin typeface="Times New Roman"/>
              </a:rPr>
              <a:t>Noise</a:t>
            </a:r>
          </a:p>
        </p:txBody>
      </p:sp>
      <p:cxnSp>
        <p:nvCxnSpPr>
          <p:cNvPr id="14" name="Connector 13"/>
          <p:cNvCxnSpPr>
            <a:cxnSpLocks/>
            <a:stCxn id="11" idx="3"/>
            <a:endCxn id="12" idx="2"/>
          </p:cNvCxnSpPr>
          <p:nvPr/>
        </p:nvCxnSpPr>
        <p:spPr>
          <a:xfrm flipV="1">
            <a:off x="2397250" y="2967357"/>
            <a:ext cx="676903" cy="507841"/>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a:cxnSpLocks/>
            <a:stCxn id="12" idx="2"/>
            <a:endCxn id="13" idx="1"/>
          </p:cNvCxnSpPr>
          <p:nvPr/>
        </p:nvCxnSpPr>
        <p:spPr>
          <a:xfrm>
            <a:off x="3074153" y="2967357"/>
            <a:ext cx="699269" cy="510444"/>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a:cxnSpLocks/>
            <a:stCxn id="13" idx="1"/>
            <a:endCxn id="11" idx="3"/>
          </p:cNvCxnSpPr>
          <p:nvPr/>
        </p:nvCxnSpPr>
        <p:spPr>
          <a:xfrm flipH="1" flipV="1">
            <a:off x="2397250" y="3475198"/>
            <a:ext cx="1376172" cy="2603"/>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331186" y="2004496"/>
            <a:ext cx="3495047" cy="421433"/>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Single-chip</a:t>
            </a:r>
            <a:r>
              <a:rPr lang="zh-CN" altLang="en-US" sz="1700" b="1" i="0" dirty="0">
                <a:solidFill>
                  <a:srgbClr val="000000"/>
                </a:solidFill>
                <a:latin typeface="Times New Roman"/>
              </a:rPr>
              <a:t> </a:t>
            </a:r>
            <a:r>
              <a:rPr sz="1700" b="1" i="0" dirty="0">
                <a:solidFill>
                  <a:srgbClr val="000000"/>
                </a:solidFill>
                <a:latin typeface="Times New Roman"/>
              </a:rPr>
              <a:t>bottleneck</a:t>
            </a:r>
          </a:p>
        </p:txBody>
      </p:sp>
      <p:cxnSp>
        <p:nvCxnSpPr>
          <p:cNvPr id="18" name="Connector 17"/>
          <p:cNvCxnSpPr/>
          <p:nvPr/>
        </p:nvCxnSpPr>
        <p:spPr>
          <a:xfrm>
            <a:off x="1083564" y="5011625"/>
            <a:ext cx="1508760"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83564" y="5258513"/>
            <a:ext cx="1508760"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83564" y="5505401"/>
            <a:ext cx="1508760"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367026" y="4874464"/>
            <a:ext cx="841248" cy="758945"/>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dirty="0">
                <a:solidFill>
                  <a:srgbClr val="000000"/>
                </a:solidFill>
                <a:latin typeface="Times New Roman"/>
              </a:rPr>
              <a:t>circuit</a:t>
            </a:r>
          </a:p>
        </p:txBody>
      </p:sp>
      <p:cxnSp>
        <p:nvCxnSpPr>
          <p:cNvPr id="22" name="Connector 21"/>
          <p:cNvCxnSpPr>
            <a:cxnSpLocks/>
          </p:cNvCxnSpPr>
          <p:nvPr/>
        </p:nvCxnSpPr>
        <p:spPr>
          <a:xfrm>
            <a:off x="2610841" y="5253937"/>
            <a:ext cx="163168"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859022" y="4760161"/>
            <a:ext cx="914400" cy="25603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100" b="1" i="0">
                <a:solidFill>
                  <a:srgbClr val="000000"/>
                </a:solidFill>
                <a:latin typeface="Times New Roman"/>
              </a:rPr>
              <a:t>QPU A</a:t>
            </a:r>
          </a:p>
        </p:txBody>
      </p:sp>
      <p:sp>
        <p:nvSpPr>
          <p:cNvPr id="24" name="Rounded Rectangle 23"/>
          <p:cNvSpPr/>
          <p:nvPr/>
        </p:nvSpPr>
        <p:spPr>
          <a:xfrm>
            <a:off x="2859022" y="5162497"/>
            <a:ext cx="914400" cy="25603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100" b="1" i="0">
                <a:solidFill>
                  <a:srgbClr val="000000"/>
                </a:solidFill>
                <a:latin typeface="Times New Roman"/>
              </a:rPr>
              <a:t>QPU B</a:t>
            </a:r>
          </a:p>
        </p:txBody>
      </p:sp>
      <p:sp>
        <p:nvSpPr>
          <p:cNvPr id="25" name="Rounded Rectangle 24"/>
          <p:cNvSpPr/>
          <p:nvPr/>
        </p:nvSpPr>
        <p:spPr>
          <a:xfrm>
            <a:off x="2859022" y="5564833"/>
            <a:ext cx="914400" cy="25603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100" b="1" i="0">
                <a:solidFill>
                  <a:srgbClr val="000000"/>
                </a:solidFill>
                <a:latin typeface="Times New Roman"/>
              </a:rPr>
              <a:t>QPU C</a:t>
            </a:r>
          </a:p>
        </p:txBody>
      </p:sp>
      <p:cxnSp>
        <p:nvCxnSpPr>
          <p:cNvPr id="26" name="Connector 25"/>
          <p:cNvCxnSpPr>
            <a:cxnSpLocks/>
          </p:cNvCxnSpPr>
          <p:nvPr/>
        </p:nvCxnSpPr>
        <p:spPr>
          <a:xfrm>
            <a:off x="3883151" y="5253937"/>
            <a:ext cx="149815"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142695" y="5029584"/>
            <a:ext cx="914400" cy="43891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dirty="0">
                <a:solidFill>
                  <a:srgbClr val="000000"/>
                </a:solidFill>
                <a:latin typeface="Times New Roman"/>
              </a:rPr>
              <a:t>global
result</a:t>
            </a:r>
          </a:p>
        </p:txBody>
      </p:sp>
      <p:sp>
        <p:nvSpPr>
          <p:cNvPr id="28" name="TextBox 27"/>
          <p:cNvSpPr txBox="1"/>
          <p:nvPr/>
        </p:nvSpPr>
        <p:spPr>
          <a:xfrm>
            <a:off x="5897879" y="1078992"/>
            <a:ext cx="5578503" cy="375487"/>
          </a:xfrm>
          <a:prstGeom prst="rect">
            <a:avLst/>
          </a:prstGeom>
          <a:noFill/>
        </p:spPr>
        <p:txBody>
          <a:bodyPr wrap="square" lIns="18288" tIns="18288" rIns="18288" bIns="18288">
            <a:spAutoFit/>
          </a:bodyPr>
          <a:lstStyle/>
          <a:p>
            <a:pPr algn="l"/>
            <a:r>
              <a:rPr sz="2200" b="1" i="0" dirty="0">
                <a:solidFill>
                  <a:srgbClr val="000000"/>
                </a:solidFill>
                <a:latin typeface="Times New Roman"/>
              </a:rPr>
              <a:t>DQC targets coupled width-depth-noise limits</a:t>
            </a:r>
          </a:p>
        </p:txBody>
      </p:sp>
      <p:sp>
        <p:nvSpPr>
          <p:cNvPr id="29" name="Rounded Rectangle 28"/>
          <p:cNvSpPr/>
          <p:nvPr/>
        </p:nvSpPr>
        <p:spPr>
          <a:xfrm>
            <a:off x="6912864" y="1758443"/>
            <a:ext cx="201168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A. Single chip</a:t>
            </a:r>
          </a:p>
        </p:txBody>
      </p:sp>
      <p:sp>
        <p:nvSpPr>
          <p:cNvPr id="30" name="TextBox 29"/>
          <p:cNvSpPr txBox="1"/>
          <p:nvPr/>
        </p:nvSpPr>
        <p:spPr>
          <a:xfrm>
            <a:off x="9071180" y="1825784"/>
            <a:ext cx="1865376" cy="384048"/>
          </a:xfrm>
          <a:prstGeom prst="rect">
            <a:avLst/>
          </a:prstGeom>
          <a:noFill/>
        </p:spPr>
        <p:txBody>
          <a:bodyPr wrap="none" lIns="18288" tIns="18288" rIns="18288" bIns="18288">
            <a:spAutoFit/>
          </a:bodyPr>
          <a:lstStyle/>
          <a:p>
            <a:pPr algn="ctr"/>
            <a:r>
              <a:rPr sz="1600" b="0" i="0" dirty="0">
                <a:solidFill>
                  <a:srgbClr val="585858"/>
                </a:solidFill>
                <a:latin typeface="Times New Roman"/>
              </a:rPr>
              <a:t>limited width and depth</a:t>
            </a:r>
          </a:p>
        </p:txBody>
      </p:sp>
      <p:sp>
        <p:nvSpPr>
          <p:cNvPr id="31" name="Rounded Rectangle 30"/>
          <p:cNvSpPr/>
          <p:nvPr/>
        </p:nvSpPr>
        <p:spPr>
          <a:xfrm>
            <a:off x="6912864" y="2764284"/>
            <a:ext cx="2011680" cy="50292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B. Partition</a:t>
            </a:r>
          </a:p>
        </p:txBody>
      </p:sp>
      <p:sp>
        <p:nvSpPr>
          <p:cNvPr id="32" name="TextBox 31"/>
          <p:cNvSpPr txBox="1"/>
          <p:nvPr/>
        </p:nvSpPr>
        <p:spPr>
          <a:xfrm>
            <a:off x="9272016" y="2846287"/>
            <a:ext cx="1865376" cy="384048"/>
          </a:xfrm>
          <a:prstGeom prst="rect">
            <a:avLst/>
          </a:prstGeom>
          <a:noFill/>
        </p:spPr>
        <p:txBody>
          <a:bodyPr wrap="none" lIns="18288" tIns="18288" rIns="18288" bIns="18288">
            <a:spAutoFit/>
          </a:bodyPr>
          <a:lstStyle/>
          <a:p>
            <a:pPr algn="ctr"/>
            <a:r>
              <a:rPr sz="1600" b="0" i="0" dirty="0">
                <a:solidFill>
                  <a:srgbClr val="585858"/>
                </a:solidFill>
                <a:latin typeface="Times New Roman"/>
              </a:rPr>
              <a:t>subcircuits fit smaller QPUs</a:t>
            </a:r>
          </a:p>
        </p:txBody>
      </p:sp>
      <p:cxnSp>
        <p:nvCxnSpPr>
          <p:cNvPr id="33" name="Connector 32"/>
          <p:cNvCxnSpPr>
            <a:cxnSpLocks/>
          </p:cNvCxnSpPr>
          <p:nvPr/>
        </p:nvCxnSpPr>
        <p:spPr>
          <a:xfrm>
            <a:off x="7918704" y="2261363"/>
            <a:ext cx="0" cy="502921"/>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912864" y="3628392"/>
            <a:ext cx="201168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 Execute</a:t>
            </a:r>
          </a:p>
        </p:txBody>
      </p:sp>
      <p:sp>
        <p:nvSpPr>
          <p:cNvPr id="35" name="TextBox 34"/>
          <p:cNvSpPr txBox="1"/>
          <p:nvPr/>
        </p:nvSpPr>
        <p:spPr>
          <a:xfrm>
            <a:off x="8919972" y="3747264"/>
            <a:ext cx="1865376" cy="384048"/>
          </a:xfrm>
          <a:prstGeom prst="rect">
            <a:avLst/>
          </a:prstGeom>
          <a:noFill/>
        </p:spPr>
        <p:txBody>
          <a:bodyPr wrap="none" lIns="18288" tIns="18288" rIns="18288" bIns="18288">
            <a:spAutoFit/>
          </a:bodyPr>
          <a:lstStyle/>
          <a:p>
            <a:pPr algn="ctr"/>
            <a:r>
              <a:rPr sz="1600" b="0" i="0" dirty="0">
                <a:solidFill>
                  <a:srgbClr val="585858"/>
                </a:solidFill>
                <a:latin typeface="Times New Roman"/>
              </a:rPr>
              <a:t>higher local fidelity</a:t>
            </a:r>
          </a:p>
        </p:txBody>
      </p:sp>
      <p:sp>
        <p:nvSpPr>
          <p:cNvPr id="36" name="Rounded Rectangle 35"/>
          <p:cNvSpPr/>
          <p:nvPr/>
        </p:nvSpPr>
        <p:spPr>
          <a:xfrm>
            <a:off x="6912864" y="4611371"/>
            <a:ext cx="201168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D. Reconstruct</a:t>
            </a:r>
          </a:p>
        </p:txBody>
      </p:sp>
      <p:sp>
        <p:nvSpPr>
          <p:cNvPr id="37" name="TextBox 36"/>
          <p:cNvSpPr txBox="1"/>
          <p:nvPr/>
        </p:nvSpPr>
        <p:spPr>
          <a:xfrm>
            <a:off x="8974836" y="4730243"/>
            <a:ext cx="1865376" cy="384048"/>
          </a:xfrm>
          <a:prstGeom prst="rect">
            <a:avLst/>
          </a:prstGeom>
          <a:noFill/>
        </p:spPr>
        <p:txBody>
          <a:bodyPr wrap="none" lIns="18288" tIns="18288" rIns="18288" bIns="18288">
            <a:spAutoFit/>
          </a:bodyPr>
          <a:lstStyle/>
          <a:p>
            <a:pPr algn="ctr"/>
            <a:r>
              <a:rPr sz="1600" b="0" i="0" dirty="0">
                <a:solidFill>
                  <a:srgbClr val="585858"/>
                </a:solidFill>
                <a:latin typeface="Times New Roman"/>
              </a:rPr>
              <a:t>recover global result</a:t>
            </a:r>
          </a:p>
        </p:txBody>
      </p:sp>
      <p:cxnSp>
        <p:nvCxnSpPr>
          <p:cNvPr id="38" name="Connector 37"/>
          <p:cNvCxnSpPr>
            <a:cxnSpLocks/>
          </p:cNvCxnSpPr>
          <p:nvPr/>
        </p:nvCxnSpPr>
        <p:spPr>
          <a:xfrm>
            <a:off x="7918704" y="4131312"/>
            <a:ext cx="0" cy="480059"/>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955130" y="5567310"/>
            <a:ext cx="5578502" cy="735296"/>
          </a:xfrm>
          <a:prstGeom prst="roundRect">
            <a:avLst/>
          </a:prstGeom>
          <a:ln/>
        </p:spPr>
        <p:style>
          <a:lnRef idx="2">
            <a:schemeClr val="accent5"/>
          </a:lnRef>
          <a:fillRef idx="1">
            <a:schemeClr val="lt1"/>
          </a:fillRef>
          <a:effectRef idx="0">
            <a:schemeClr val="accent5"/>
          </a:effectRef>
          <a:fontRef idx="minor">
            <a:schemeClr val="dk1"/>
          </a:fontRef>
        </p:style>
        <p:txBody>
          <a:bodyPr wrap="square" tIns="54864" bIns="36576" rtlCol="0" anchor="ctr"/>
          <a:lstStyle/>
          <a:p>
            <a:pPr algn="ctr"/>
            <a:r>
              <a:rPr sz="1800" b="1" i="0" dirty="0">
                <a:solidFill>
                  <a:schemeClr val="accent2"/>
                </a:solidFill>
                <a:latin typeface="Times New Roman"/>
              </a:rPr>
              <a:t>Compiler quality decides whether DQC reduces the bottleneck.</a:t>
            </a:r>
          </a:p>
        </p:txBody>
      </p:sp>
      <p:cxnSp>
        <p:nvCxnSpPr>
          <p:cNvPr id="66" name="Connector 32">
            <a:extLst>
              <a:ext uri="{FF2B5EF4-FFF2-40B4-BE49-F238E27FC236}">
                <a16:creationId xmlns:a16="http://schemas.microsoft.com/office/drawing/2014/main" id="{5A85B146-C264-BB93-05E9-F40602CA631F}"/>
              </a:ext>
            </a:extLst>
          </p:cNvPr>
          <p:cNvCxnSpPr>
            <a:cxnSpLocks/>
          </p:cNvCxnSpPr>
          <p:nvPr/>
        </p:nvCxnSpPr>
        <p:spPr>
          <a:xfrm>
            <a:off x="7918704" y="3267204"/>
            <a:ext cx="0" cy="361188"/>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69" name="Rounded Rectangle 16">
            <a:extLst>
              <a:ext uri="{FF2B5EF4-FFF2-40B4-BE49-F238E27FC236}">
                <a16:creationId xmlns:a16="http://schemas.microsoft.com/office/drawing/2014/main" id="{1982A330-E504-7E22-D8AD-7A5B2006B53D}"/>
              </a:ext>
            </a:extLst>
          </p:cNvPr>
          <p:cNvSpPr/>
          <p:nvPr/>
        </p:nvSpPr>
        <p:spPr>
          <a:xfrm>
            <a:off x="1331186" y="4088929"/>
            <a:ext cx="3495047" cy="421433"/>
          </a:xfrm>
          <a:prstGeom prst="roundRect">
            <a:avLst/>
          </a:prstGeom>
          <a:solidFill>
            <a:schemeClr val="accent6">
              <a:lumMod val="40000"/>
              <a:lumOff val="60000"/>
            </a:schemeClr>
          </a:solidFill>
          <a:ln/>
        </p:spPr>
        <p:style>
          <a:lnRef idx="2">
            <a:schemeClr val="accent6"/>
          </a:lnRef>
          <a:fillRef idx="1">
            <a:schemeClr val="lt1"/>
          </a:fillRef>
          <a:effectRef idx="0">
            <a:schemeClr val="accent6"/>
          </a:effectRef>
          <a:fontRef idx="minor">
            <a:schemeClr val="dk1"/>
          </a:fontRef>
        </p:style>
        <p:txBody>
          <a:bodyPr wrap="square" tIns="54864" bIns="36576" rtlCol="0" anchor="ctr"/>
          <a:lstStyle/>
          <a:p>
            <a:pPr algn="ctr"/>
            <a:r>
              <a:rPr lang="en-US" altLang="zh-CN" sz="1700" b="1" i="0" dirty="0">
                <a:solidFill>
                  <a:srgbClr val="000000"/>
                </a:solidFill>
                <a:latin typeface="Times New Roman"/>
              </a:rPr>
              <a:t>Large</a:t>
            </a:r>
            <a:r>
              <a:rPr lang="zh-CN" altLang="en-US" sz="1700" b="1" i="0" dirty="0">
                <a:solidFill>
                  <a:srgbClr val="000000"/>
                </a:solidFill>
                <a:latin typeface="Times New Roman"/>
              </a:rPr>
              <a:t> </a:t>
            </a:r>
            <a:r>
              <a:rPr lang="en-US" altLang="zh-CN" sz="1700" b="1" i="0" dirty="0">
                <a:solidFill>
                  <a:srgbClr val="000000"/>
                </a:solidFill>
                <a:latin typeface="Times New Roman"/>
              </a:rPr>
              <a:t>task</a:t>
            </a:r>
            <a:r>
              <a:rPr lang="zh-CN" altLang="en-US" sz="1700" b="1" i="0" dirty="0">
                <a:solidFill>
                  <a:srgbClr val="000000"/>
                </a:solidFill>
                <a:latin typeface="Times New Roman"/>
              </a:rPr>
              <a:t> </a:t>
            </a:r>
            <a:r>
              <a:rPr lang="en-US" altLang="zh-CN" sz="1700" b="1" i="0" dirty="0">
                <a:solidFill>
                  <a:srgbClr val="000000"/>
                </a:solidFill>
                <a:latin typeface="Times New Roman"/>
              </a:rPr>
              <a:t>must</a:t>
            </a:r>
            <a:r>
              <a:rPr lang="zh-CN" altLang="en-US" sz="1700" b="1" i="0" dirty="0">
                <a:solidFill>
                  <a:srgbClr val="000000"/>
                </a:solidFill>
                <a:latin typeface="Times New Roman"/>
              </a:rPr>
              <a:t> </a:t>
            </a:r>
            <a:r>
              <a:rPr lang="en-US" altLang="zh-CN" sz="1700" b="1" i="0" dirty="0">
                <a:solidFill>
                  <a:srgbClr val="000000"/>
                </a:solidFill>
                <a:latin typeface="Times New Roman"/>
              </a:rPr>
              <a:t>be</a:t>
            </a:r>
            <a:r>
              <a:rPr lang="zh-CN" altLang="en-US" sz="1700" b="1" i="0" dirty="0">
                <a:solidFill>
                  <a:srgbClr val="000000"/>
                </a:solidFill>
                <a:latin typeface="Times New Roman"/>
              </a:rPr>
              <a:t> </a:t>
            </a:r>
            <a:r>
              <a:rPr lang="en-US" altLang="zh-CN" sz="1700" b="1" i="0" dirty="0">
                <a:solidFill>
                  <a:srgbClr val="000000"/>
                </a:solidFill>
                <a:latin typeface="Times New Roman"/>
              </a:rPr>
              <a:t>partitioned</a:t>
            </a:r>
            <a:endParaRPr sz="1700" b="1" i="0" dirty="0">
              <a:solidFill>
                <a:srgbClr val="000000"/>
              </a:solidFill>
              <a:latin typeface="Times New Roman"/>
            </a:endParaRPr>
          </a:p>
        </p:txBody>
      </p:sp>
      <p:sp>
        <p:nvSpPr>
          <p:cNvPr id="70" name="矩形 69">
            <a:extLst>
              <a:ext uri="{FF2B5EF4-FFF2-40B4-BE49-F238E27FC236}">
                <a16:creationId xmlns:a16="http://schemas.microsoft.com/office/drawing/2014/main" id="{1FB320C8-4E08-E98B-73A6-68A954288ACB}"/>
              </a:ext>
            </a:extLst>
          </p:cNvPr>
          <p:cNvSpPr/>
          <p:nvPr/>
        </p:nvSpPr>
        <p:spPr>
          <a:xfrm>
            <a:off x="6641594" y="2548828"/>
            <a:ext cx="4956622" cy="919353"/>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p>
        </p:txBody>
      </p:sp>
      <p:sp>
        <p:nvSpPr>
          <p:cNvPr id="71" name="圆角右箭头 70">
            <a:extLst>
              <a:ext uri="{FF2B5EF4-FFF2-40B4-BE49-F238E27FC236}">
                <a16:creationId xmlns:a16="http://schemas.microsoft.com/office/drawing/2014/main" id="{397A06D4-16B7-F4B9-C71F-345043BD1F15}"/>
              </a:ext>
            </a:extLst>
          </p:cNvPr>
          <p:cNvSpPr/>
          <p:nvPr/>
        </p:nvSpPr>
        <p:spPr>
          <a:xfrm>
            <a:off x="6095998" y="2890477"/>
            <a:ext cx="545596" cy="2674356"/>
          </a:xfrm>
          <a:prstGeom prst="ben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653586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2CEF1-553D-3D2A-F1D9-34EE979F03D8}"/>
              </a:ext>
            </a:extLst>
          </p:cNvPr>
          <p:cNvSpPr>
            <a:spLocks noGrp="1"/>
          </p:cNvSpPr>
          <p:nvPr>
            <p:ph type="title"/>
          </p:nvPr>
        </p:nvSpPr>
        <p:spPr>
          <a:xfrm>
            <a:off x="718218" y="251486"/>
            <a:ext cx="7500195" cy="424732"/>
          </a:xfrm>
          <a:noFill/>
        </p:spPr>
        <p:txBody>
          <a:bodyPr wrap="none" lIns="18288" tIns="18288" rIns="18288" bIns="18288">
            <a:spAutoFit/>
          </a:bodyPr>
          <a:lstStyle/>
          <a:p>
            <a:r>
              <a:rPr lang="en-US" altLang="zh-CN" sz="2800" dirty="0">
                <a:solidFill>
                  <a:srgbClr val="000000"/>
                </a:solidFill>
                <a:latin typeface="Times New Roman"/>
                <a:ea typeface="+mn-ea"/>
                <a:cs typeface="+mn-cs"/>
              </a:rPr>
              <a:t>There</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are</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different</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communication</a:t>
            </a:r>
            <a:r>
              <a:rPr lang="zh-CN" altLang="en-US" sz="2800" dirty="0">
                <a:solidFill>
                  <a:srgbClr val="000000"/>
                </a:solidFill>
                <a:latin typeface="Times New Roman"/>
                <a:ea typeface="+mn-ea"/>
                <a:cs typeface="+mn-cs"/>
              </a:rPr>
              <a:t> </a:t>
            </a:r>
            <a:r>
              <a:rPr lang="en-US" altLang="zh-CN" sz="2800" dirty="0">
                <a:solidFill>
                  <a:srgbClr val="000000"/>
                </a:solidFill>
                <a:latin typeface="Times New Roman"/>
                <a:ea typeface="+mn-ea"/>
                <a:cs typeface="+mn-cs"/>
              </a:rPr>
              <a:t>architectures</a:t>
            </a:r>
            <a:endParaRPr lang="zh-CN" altLang="en-US" sz="2800" dirty="0">
              <a:solidFill>
                <a:srgbClr val="000000"/>
              </a:solidFill>
              <a:latin typeface="Times New Roman"/>
              <a:ea typeface="+mn-ea"/>
              <a:cs typeface="+mn-cs"/>
            </a:endParaRPr>
          </a:p>
        </p:txBody>
      </p:sp>
      <p:sp>
        <p:nvSpPr>
          <p:cNvPr id="3" name="矩形: 圆角 4">
            <a:extLst>
              <a:ext uri="{FF2B5EF4-FFF2-40B4-BE49-F238E27FC236}">
                <a16:creationId xmlns:a16="http://schemas.microsoft.com/office/drawing/2014/main" id="{9DC5C7FA-EB2B-0C88-DA07-2AC0CD3F9613}"/>
              </a:ext>
            </a:extLst>
          </p:cNvPr>
          <p:cNvSpPr/>
          <p:nvPr/>
        </p:nvSpPr>
        <p:spPr>
          <a:xfrm>
            <a:off x="1480878" y="1106379"/>
            <a:ext cx="3740066" cy="526868"/>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文本框 3">
            <a:extLst>
              <a:ext uri="{FF2B5EF4-FFF2-40B4-BE49-F238E27FC236}">
                <a16:creationId xmlns:a16="http://schemas.microsoft.com/office/drawing/2014/main" id="{1643C90D-362B-F4A7-ECAF-34452BCB366F}"/>
              </a:ext>
            </a:extLst>
          </p:cNvPr>
          <p:cNvSpPr txBox="1"/>
          <p:nvPr/>
        </p:nvSpPr>
        <p:spPr>
          <a:xfrm>
            <a:off x="2036691" y="1185147"/>
            <a:ext cx="2684100" cy="369332"/>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Classical</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communication</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sp>
        <p:nvSpPr>
          <p:cNvPr id="5" name="矩形: 圆角 11">
            <a:extLst>
              <a:ext uri="{FF2B5EF4-FFF2-40B4-BE49-F238E27FC236}">
                <a16:creationId xmlns:a16="http://schemas.microsoft.com/office/drawing/2014/main" id="{B1CA7DE2-747E-DAC5-399C-B189B048EEA8}"/>
              </a:ext>
            </a:extLst>
          </p:cNvPr>
          <p:cNvSpPr/>
          <p:nvPr/>
        </p:nvSpPr>
        <p:spPr>
          <a:xfrm>
            <a:off x="6943343" y="1106379"/>
            <a:ext cx="3740066" cy="526868"/>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文本框 5">
            <a:extLst>
              <a:ext uri="{FF2B5EF4-FFF2-40B4-BE49-F238E27FC236}">
                <a16:creationId xmlns:a16="http://schemas.microsoft.com/office/drawing/2014/main" id="{7DCD8DB2-E168-725E-E3DF-8768C094997E}"/>
              </a:ext>
            </a:extLst>
          </p:cNvPr>
          <p:cNvSpPr txBox="1"/>
          <p:nvPr/>
        </p:nvSpPr>
        <p:spPr>
          <a:xfrm>
            <a:off x="7223605" y="1185147"/>
            <a:ext cx="2812972" cy="369332"/>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Quantum</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Link</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cxnSp>
        <p:nvCxnSpPr>
          <p:cNvPr id="7" name="直线连接符 6">
            <a:extLst>
              <a:ext uri="{FF2B5EF4-FFF2-40B4-BE49-F238E27FC236}">
                <a16:creationId xmlns:a16="http://schemas.microsoft.com/office/drawing/2014/main" id="{25379B6D-A4A1-95EB-58AF-BACCB181CBB1}"/>
              </a:ext>
            </a:extLst>
          </p:cNvPr>
          <p:cNvCxnSpPr/>
          <p:nvPr/>
        </p:nvCxnSpPr>
        <p:spPr>
          <a:xfrm>
            <a:off x="6096000" y="874528"/>
            <a:ext cx="0" cy="5062038"/>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0A3DCE29-17BD-66F4-9181-9D7AC90F40BD}"/>
              </a:ext>
            </a:extLst>
          </p:cNvPr>
          <p:cNvCxnSpPr>
            <a:cxnSpLocks/>
          </p:cNvCxnSpPr>
          <p:nvPr/>
        </p:nvCxnSpPr>
        <p:spPr>
          <a:xfrm>
            <a:off x="1257424" y="3435927"/>
            <a:ext cx="9785714" cy="0"/>
          </a:xfrm>
          <a:prstGeom prst="line">
            <a:avLst/>
          </a:prstGeom>
          <a:ln w="1270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 name="矩形: 圆角 4">
            <a:extLst>
              <a:ext uri="{FF2B5EF4-FFF2-40B4-BE49-F238E27FC236}">
                <a16:creationId xmlns:a16="http://schemas.microsoft.com/office/drawing/2014/main" id="{15170F54-5331-7A0F-4DEC-58C789744116}"/>
              </a:ext>
            </a:extLst>
          </p:cNvPr>
          <p:cNvSpPr/>
          <p:nvPr/>
        </p:nvSpPr>
        <p:spPr>
          <a:xfrm rot="16200000">
            <a:off x="-35513" y="2238567"/>
            <a:ext cx="1737483" cy="478946"/>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文本框 9">
            <a:extLst>
              <a:ext uri="{FF2B5EF4-FFF2-40B4-BE49-F238E27FC236}">
                <a16:creationId xmlns:a16="http://schemas.microsoft.com/office/drawing/2014/main" id="{48AA01B0-1B48-42DA-D893-2ACEEB40EC31}"/>
              </a:ext>
            </a:extLst>
          </p:cNvPr>
          <p:cNvSpPr txBox="1"/>
          <p:nvPr/>
        </p:nvSpPr>
        <p:spPr>
          <a:xfrm rot="16200000">
            <a:off x="49449" y="2227324"/>
            <a:ext cx="1473509" cy="369332"/>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Qubit</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Comm</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sp>
        <p:nvSpPr>
          <p:cNvPr id="11" name="矩形: 圆角 4">
            <a:extLst>
              <a:ext uri="{FF2B5EF4-FFF2-40B4-BE49-F238E27FC236}">
                <a16:creationId xmlns:a16="http://schemas.microsoft.com/office/drawing/2014/main" id="{355A893B-17CB-3983-526F-8E5AAFF3B328}"/>
              </a:ext>
            </a:extLst>
          </p:cNvPr>
          <p:cNvSpPr/>
          <p:nvPr/>
        </p:nvSpPr>
        <p:spPr>
          <a:xfrm rot="16200000">
            <a:off x="-35513" y="4311668"/>
            <a:ext cx="1737483" cy="478946"/>
          </a:xfrm>
          <a:prstGeom prst="roundRect">
            <a:avLst>
              <a:gd name="adj" fmla="val 50000"/>
            </a:avLst>
          </a:prstGeom>
          <a:solidFill>
            <a:schemeClr val="accent1">
              <a:lumMod val="20000"/>
              <a:lumOff val="8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文本框 11">
            <a:extLst>
              <a:ext uri="{FF2B5EF4-FFF2-40B4-BE49-F238E27FC236}">
                <a16:creationId xmlns:a16="http://schemas.microsoft.com/office/drawing/2014/main" id="{7CC5354B-A608-A3C7-CBE8-9359B5E6C6BA}"/>
              </a:ext>
            </a:extLst>
          </p:cNvPr>
          <p:cNvSpPr txBox="1"/>
          <p:nvPr/>
        </p:nvSpPr>
        <p:spPr>
          <a:xfrm rot="16200000">
            <a:off x="109098" y="4395833"/>
            <a:ext cx="1373449" cy="369315"/>
          </a:xfrm>
          <a:prstGeom prst="rect">
            <a:avLst/>
          </a:prstGeom>
          <a:noFill/>
        </p:spPr>
        <p:txBody>
          <a:bodyPr wrap="square" rtlCol="0">
            <a:spAutoFit/>
          </a:bodyPr>
          <a:lstStyle/>
          <a:p>
            <a:pPr algn="ct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Gate</a:t>
            </a:r>
            <a:r>
              <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rPr>
              <a:t> </a:t>
            </a:r>
            <a:r>
              <a:rPr lang="en-US" altLang="zh-CN" dirty="0">
                <a:ea typeface="FangSong" panose="02010609060101010101" pitchFamily="49" charset="-122"/>
                <a:cs typeface="阿里巴巴普惠体 2.0 55 Regular" panose="00020600040101010101" pitchFamily="18" charset="-122"/>
                <a:sym typeface="HarmonyOS Sans SC Light" panose="00000400000000000000" pitchFamily="2" charset="-122"/>
              </a:rPr>
              <a:t>Comm</a:t>
            </a:r>
            <a:endParaRPr lang="zh-CN" altLang="en-US" dirty="0">
              <a:ea typeface="FangSong" panose="02010609060101010101" pitchFamily="49" charset="-122"/>
              <a:cs typeface="阿里巴巴普惠体 2.0 55 Regular" panose="00020600040101010101" pitchFamily="18" charset="-122"/>
              <a:sym typeface="HarmonyOS Sans SC Light" panose="00000400000000000000" pitchFamily="2" charset="-122"/>
            </a:endParaRPr>
          </a:p>
        </p:txBody>
      </p:sp>
      <p:cxnSp>
        <p:nvCxnSpPr>
          <p:cNvPr id="13" name="直线箭头连接符 12">
            <a:extLst>
              <a:ext uri="{FF2B5EF4-FFF2-40B4-BE49-F238E27FC236}">
                <a16:creationId xmlns:a16="http://schemas.microsoft.com/office/drawing/2014/main" id="{F84CFB97-3E7C-51C1-AAEB-D5F3C23BFAEB}"/>
              </a:ext>
            </a:extLst>
          </p:cNvPr>
          <p:cNvCxnSpPr>
            <a:cxnSpLocks/>
          </p:cNvCxnSpPr>
          <p:nvPr/>
        </p:nvCxnSpPr>
        <p:spPr>
          <a:xfrm>
            <a:off x="5203413" y="1965012"/>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95E64BCD-E82D-6EE4-6FAB-65B58AE8F618}"/>
              </a:ext>
            </a:extLst>
          </p:cNvPr>
          <p:cNvCxnSpPr>
            <a:cxnSpLocks/>
          </p:cNvCxnSpPr>
          <p:nvPr/>
        </p:nvCxnSpPr>
        <p:spPr>
          <a:xfrm>
            <a:off x="4858290" y="2622411"/>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5A9241A8-206E-F3A3-3CB9-EE46F13BF39B}"/>
              </a:ext>
            </a:extLst>
          </p:cNvPr>
          <p:cNvCxnSpPr>
            <a:cxnSpLocks/>
          </p:cNvCxnSpPr>
          <p:nvPr/>
        </p:nvCxnSpPr>
        <p:spPr>
          <a:xfrm>
            <a:off x="4858290" y="2726408"/>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048F5002-862F-2B09-A71B-E245280C1CCB}"/>
              </a:ext>
            </a:extLst>
          </p:cNvPr>
          <p:cNvCxnSpPr>
            <a:cxnSpLocks/>
          </p:cNvCxnSpPr>
          <p:nvPr/>
        </p:nvCxnSpPr>
        <p:spPr>
          <a:xfrm>
            <a:off x="4858290" y="2830405"/>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776C901B-8DA2-8A69-8B2D-092566001E0F}"/>
              </a:ext>
            </a:extLst>
          </p:cNvPr>
          <p:cNvCxnSpPr>
            <a:cxnSpLocks/>
          </p:cNvCxnSpPr>
          <p:nvPr/>
        </p:nvCxnSpPr>
        <p:spPr>
          <a:xfrm>
            <a:off x="4858290" y="2934402"/>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线箭头连接符 17">
            <a:extLst>
              <a:ext uri="{FF2B5EF4-FFF2-40B4-BE49-F238E27FC236}">
                <a16:creationId xmlns:a16="http://schemas.microsoft.com/office/drawing/2014/main" id="{5145156E-C1EC-9B02-A61F-231FD19836BD}"/>
              </a:ext>
            </a:extLst>
          </p:cNvPr>
          <p:cNvCxnSpPr>
            <a:cxnSpLocks/>
          </p:cNvCxnSpPr>
          <p:nvPr/>
        </p:nvCxnSpPr>
        <p:spPr>
          <a:xfrm>
            <a:off x="3578593" y="2784636"/>
            <a:ext cx="127375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线箭头连接符 18">
            <a:extLst>
              <a:ext uri="{FF2B5EF4-FFF2-40B4-BE49-F238E27FC236}">
                <a16:creationId xmlns:a16="http://schemas.microsoft.com/office/drawing/2014/main" id="{365EA040-E999-13EA-CD87-566D69CE8016}"/>
              </a:ext>
            </a:extLst>
          </p:cNvPr>
          <p:cNvCxnSpPr>
            <a:cxnSpLocks/>
          </p:cNvCxnSpPr>
          <p:nvPr/>
        </p:nvCxnSpPr>
        <p:spPr>
          <a:xfrm>
            <a:off x="1933109" y="2371257"/>
            <a:ext cx="3118675" cy="47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a:extLst>
              <a:ext uri="{FF2B5EF4-FFF2-40B4-BE49-F238E27FC236}">
                <a16:creationId xmlns:a16="http://schemas.microsoft.com/office/drawing/2014/main" id="{69BA377A-E08C-90E9-A424-D4E7895832DD}"/>
              </a:ext>
            </a:extLst>
          </p:cNvPr>
          <p:cNvCxnSpPr>
            <a:cxnSpLocks/>
          </p:cNvCxnSpPr>
          <p:nvPr/>
        </p:nvCxnSpPr>
        <p:spPr>
          <a:xfrm>
            <a:off x="1933109" y="1965012"/>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id="{B32B4E85-425E-AFCA-F5AA-2AF6C8703896}"/>
              </a:ext>
            </a:extLst>
          </p:cNvPr>
          <p:cNvSpPr/>
          <p:nvPr/>
        </p:nvSpPr>
        <p:spPr>
          <a:xfrm>
            <a:off x="2212861" y="184260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22" name="矩形 21">
            <a:extLst>
              <a:ext uri="{FF2B5EF4-FFF2-40B4-BE49-F238E27FC236}">
                <a16:creationId xmlns:a16="http://schemas.microsoft.com/office/drawing/2014/main" id="{EF67D07D-598D-04C1-F3B3-82064FB452A8}"/>
              </a:ext>
            </a:extLst>
          </p:cNvPr>
          <p:cNvSpPr>
            <a:spLocks/>
          </p:cNvSpPr>
          <p:nvPr/>
        </p:nvSpPr>
        <p:spPr>
          <a:xfrm>
            <a:off x="2212860" y="22605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pic>
        <p:nvPicPr>
          <p:cNvPr id="23" name="图片 22">
            <a:extLst>
              <a:ext uri="{FF2B5EF4-FFF2-40B4-BE49-F238E27FC236}">
                <a16:creationId xmlns:a16="http://schemas.microsoft.com/office/drawing/2014/main" id="{FE2B3089-51BC-950A-C489-D1FC29116726}"/>
              </a:ext>
            </a:extLst>
          </p:cNvPr>
          <p:cNvPicPr>
            <a:picLocks noChangeAspect="1"/>
          </p:cNvPicPr>
          <p:nvPr/>
        </p:nvPicPr>
        <p:blipFill>
          <a:blip r:embed="rId2"/>
          <a:stretch>
            <a:fillRect/>
          </a:stretch>
        </p:blipFill>
        <p:spPr>
          <a:xfrm>
            <a:off x="1717914" y="1930024"/>
            <a:ext cx="117978" cy="101518"/>
          </a:xfrm>
          <a:prstGeom prst="rect">
            <a:avLst/>
          </a:prstGeom>
        </p:spPr>
      </p:pic>
      <p:pic>
        <p:nvPicPr>
          <p:cNvPr id="24" name="图片 23">
            <a:extLst>
              <a:ext uri="{FF2B5EF4-FFF2-40B4-BE49-F238E27FC236}">
                <a16:creationId xmlns:a16="http://schemas.microsoft.com/office/drawing/2014/main" id="{F65DC44C-1F70-AA2A-CFAA-51504937470E}"/>
              </a:ext>
            </a:extLst>
          </p:cNvPr>
          <p:cNvPicPr>
            <a:picLocks noChangeAspect="1"/>
          </p:cNvPicPr>
          <p:nvPr/>
        </p:nvPicPr>
        <p:blipFill>
          <a:blip r:embed="rId3"/>
          <a:stretch>
            <a:fillRect/>
          </a:stretch>
        </p:blipFill>
        <p:spPr>
          <a:xfrm>
            <a:off x="1716464" y="2338323"/>
            <a:ext cx="119428" cy="100695"/>
          </a:xfrm>
          <a:prstGeom prst="rect">
            <a:avLst/>
          </a:prstGeom>
        </p:spPr>
      </p:pic>
      <p:sp>
        <p:nvSpPr>
          <p:cNvPr id="25" name="矩形 24">
            <a:extLst>
              <a:ext uri="{FF2B5EF4-FFF2-40B4-BE49-F238E27FC236}">
                <a16:creationId xmlns:a16="http://schemas.microsoft.com/office/drawing/2014/main" id="{DCDA4C9E-42AE-0085-2D81-9DE79F687353}"/>
              </a:ext>
            </a:extLst>
          </p:cNvPr>
          <p:cNvSpPr>
            <a:spLocks/>
          </p:cNvSpPr>
          <p:nvPr/>
        </p:nvSpPr>
        <p:spPr>
          <a:xfrm>
            <a:off x="3318809" y="185361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26" name="矩形 25">
            <a:extLst>
              <a:ext uri="{FF2B5EF4-FFF2-40B4-BE49-F238E27FC236}">
                <a16:creationId xmlns:a16="http://schemas.microsoft.com/office/drawing/2014/main" id="{D6A2CD85-1DB2-74CF-F29A-E856B65B1CB8}"/>
              </a:ext>
            </a:extLst>
          </p:cNvPr>
          <p:cNvSpPr>
            <a:spLocks/>
          </p:cNvSpPr>
          <p:nvPr/>
        </p:nvSpPr>
        <p:spPr>
          <a:xfrm>
            <a:off x="3323204" y="225839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cxnSp>
        <p:nvCxnSpPr>
          <p:cNvPr id="27" name="直线连接符 26">
            <a:extLst>
              <a:ext uri="{FF2B5EF4-FFF2-40B4-BE49-F238E27FC236}">
                <a16:creationId xmlns:a16="http://schemas.microsoft.com/office/drawing/2014/main" id="{C3C2D544-552A-7B86-11C9-34BB1E62DEA0}"/>
              </a:ext>
            </a:extLst>
          </p:cNvPr>
          <p:cNvCxnSpPr>
            <a:cxnSpLocks/>
          </p:cNvCxnSpPr>
          <p:nvPr/>
        </p:nvCxnSpPr>
        <p:spPr>
          <a:xfrm>
            <a:off x="4003924" y="2778428"/>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43D73B11-6641-F559-C0C5-E0459E47AB2E}"/>
              </a:ext>
            </a:extLst>
          </p:cNvPr>
          <p:cNvCxnSpPr>
            <a:cxnSpLocks/>
          </p:cNvCxnSpPr>
          <p:nvPr/>
        </p:nvCxnSpPr>
        <p:spPr>
          <a:xfrm>
            <a:off x="1934311" y="3194027"/>
            <a:ext cx="3117473"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9522889B-8C91-9B89-538E-BE6BE24A1EF0}"/>
              </a:ext>
            </a:extLst>
          </p:cNvPr>
          <p:cNvSpPr>
            <a:spLocks/>
          </p:cNvSpPr>
          <p:nvPr/>
        </p:nvSpPr>
        <p:spPr>
          <a:xfrm>
            <a:off x="2214061"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pic>
        <p:nvPicPr>
          <p:cNvPr id="30" name="图片 29">
            <a:extLst>
              <a:ext uri="{FF2B5EF4-FFF2-40B4-BE49-F238E27FC236}">
                <a16:creationId xmlns:a16="http://schemas.microsoft.com/office/drawing/2014/main" id="{84E93D45-A481-D3C5-F068-33B9735AFDF6}"/>
              </a:ext>
            </a:extLst>
          </p:cNvPr>
          <p:cNvPicPr>
            <a:picLocks noChangeAspect="1"/>
          </p:cNvPicPr>
          <p:nvPr/>
        </p:nvPicPr>
        <p:blipFill>
          <a:blip r:embed="rId4"/>
          <a:stretch>
            <a:fillRect/>
          </a:stretch>
        </p:blipFill>
        <p:spPr>
          <a:xfrm>
            <a:off x="1717666" y="3143615"/>
            <a:ext cx="119428" cy="99920"/>
          </a:xfrm>
          <a:prstGeom prst="rect">
            <a:avLst/>
          </a:prstGeom>
        </p:spPr>
      </p:pic>
      <p:sp>
        <p:nvSpPr>
          <p:cNvPr id="31" name="矩形 30">
            <a:extLst>
              <a:ext uri="{FF2B5EF4-FFF2-40B4-BE49-F238E27FC236}">
                <a16:creationId xmlns:a16="http://schemas.microsoft.com/office/drawing/2014/main" id="{86BE44B7-3805-4FD3-76C9-60082BA54539}"/>
              </a:ext>
            </a:extLst>
          </p:cNvPr>
          <p:cNvSpPr>
            <a:spLocks/>
          </p:cNvSpPr>
          <p:nvPr/>
        </p:nvSpPr>
        <p:spPr>
          <a:xfrm>
            <a:off x="2766211"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32" name="矩形 31">
            <a:extLst>
              <a:ext uri="{FF2B5EF4-FFF2-40B4-BE49-F238E27FC236}">
                <a16:creationId xmlns:a16="http://schemas.microsoft.com/office/drawing/2014/main" id="{EE2934F4-B590-DAE7-1CF5-0E8B0BF0E9B9}"/>
              </a:ext>
            </a:extLst>
          </p:cNvPr>
          <p:cNvSpPr>
            <a:spLocks/>
          </p:cNvSpPr>
          <p:nvPr/>
        </p:nvSpPr>
        <p:spPr>
          <a:xfrm>
            <a:off x="3318361"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cxnSp>
        <p:nvCxnSpPr>
          <p:cNvPr id="33" name="直线连接符 32">
            <a:extLst>
              <a:ext uri="{FF2B5EF4-FFF2-40B4-BE49-F238E27FC236}">
                <a16:creationId xmlns:a16="http://schemas.microsoft.com/office/drawing/2014/main" id="{411AF6A1-4EC4-6170-348C-189E234CE59D}"/>
              </a:ext>
            </a:extLst>
          </p:cNvPr>
          <p:cNvCxnSpPr>
            <a:cxnSpLocks/>
          </p:cNvCxnSpPr>
          <p:nvPr/>
        </p:nvCxnSpPr>
        <p:spPr>
          <a:xfrm>
            <a:off x="2895126" y="1965012"/>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pic>
        <p:nvPicPr>
          <p:cNvPr id="34" name="图片 33">
            <a:extLst>
              <a:ext uri="{FF2B5EF4-FFF2-40B4-BE49-F238E27FC236}">
                <a16:creationId xmlns:a16="http://schemas.microsoft.com/office/drawing/2014/main" id="{47494421-2192-0494-8DB9-27BB6903DA9E}"/>
              </a:ext>
            </a:extLst>
          </p:cNvPr>
          <p:cNvPicPr>
            <a:picLocks/>
          </p:cNvPicPr>
          <p:nvPr/>
        </p:nvPicPr>
        <p:blipFill>
          <a:blip r:embed="rId5"/>
          <a:stretch>
            <a:fillRect/>
          </a:stretch>
        </p:blipFill>
        <p:spPr>
          <a:xfrm>
            <a:off x="1709649" y="2668797"/>
            <a:ext cx="119428" cy="170533"/>
          </a:xfrm>
          <a:prstGeom prst="rect">
            <a:avLst/>
          </a:prstGeom>
        </p:spPr>
      </p:pic>
      <p:pic>
        <p:nvPicPr>
          <p:cNvPr id="35" name="图片 34">
            <a:extLst>
              <a:ext uri="{FF2B5EF4-FFF2-40B4-BE49-F238E27FC236}">
                <a16:creationId xmlns:a16="http://schemas.microsoft.com/office/drawing/2014/main" id="{6F923190-A2BB-36CD-3539-2418D0BE2385}"/>
              </a:ext>
            </a:extLst>
          </p:cNvPr>
          <p:cNvPicPr>
            <a:picLocks/>
          </p:cNvPicPr>
          <p:nvPr/>
        </p:nvPicPr>
        <p:blipFill>
          <a:blip r:embed="rId6"/>
          <a:stretch>
            <a:fillRect/>
          </a:stretch>
        </p:blipFill>
        <p:spPr>
          <a:xfrm>
            <a:off x="3320206" y="2874855"/>
            <a:ext cx="119428" cy="100695"/>
          </a:xfrm>
          <a:prstGeom prst="rect">
            <a:avLst/>
          </a:prstGeom>
        </p:spPr>
      </p:pic>
      <p:pic>
        <p:nvPicPr>
          <p:cNvPr id="36" name="图片 35">
            <a:extLst>
              <a:ext uri="{FF2B5EF4-FFF2-40B4-BE49-F238E27FC236}">
                <a16:creationId xmlns:a16="http://schemas.microsoft.com/office/drawing/2014/main" id="{CECD4453-5FC3-6BF2-F891-AF49E99582FC}"/>
              </a:ext>
            </a:extLst>
          </p:cNvPr>
          <p:cNvPicPr>
            <a:picLocks/>
          </p:cNvPicPr>
          <p:nvPr/>
        </p:nvPicPr>
        <p:blipFill>
          <a:blip r:embed="rId7"/>
          <a:stretch>
            <a:fillRect/>
          </a:stretch>
        </p:blipFill>
        <p:spPr>
          <a:xfrm>
            <a:off x="3320206" y="2771400"/>
            <a:ext cx="119428" cy="100695"/>
          </a:xfrm>
          <a:prstGeom prst="rect">
            <a:avLst/>
          </a:prstGeom>
        </p:spPr>
      </p:pic>
      <p:pic>
        <p:nvPicPr>
          <p:cNvPr id="37" name="图片 36">
            <a:extLst>
              <a:ext uri="{FF2B5EF4-FFF2-40B4-BE49-F238E27FC236}">
                <a16:creationId xmlns:a16="http://schemas.microsoft.com/office/drawing/2014/main" id="{0738C484-8264-B2E5-BC4D-82750EFDDCC5}"/>
              </a:ext>
            </a:extLst>
          </p:cNvPr>
          <p:cNvPicPr>
            <a:picLocks/>
          </p:cNvPicPr>
          <p:nvPr/>
        </p:nvPicPr>
        <p:blipFill>
          <a:blip r:embed="rId8"/>
          <a:stretch>
            <a:fillRect/>
          </a:stretch>
        </p:blipFill>
        <p:spPr>
          <a:xfrm>
            <a:off x="3314360" y="2667075"/>
            <a:ext cx="119428" cy="100695"/>
          </a:xfrm>
          <a:prstGeom prst="rect">
            <a:avLst/>
          </a:prstGeom>
        </p:spPr>
      </p:pic>
      <p:pic>
        <p:nvPicPr>
          <p:cNvPr id="38" name="图片 37">
            <a:extLst>
              <a:ext uri="{FF2B5EF4-FFF2-40B4-BE49-F238E27FC236}">
                <a16:creationId xmlns:a16="http://schemas.microsoft.com/office/drawing/2014/main" id="{C5CF036F-2D2B-F4CC-2059-0B5A3BE45A3A}"/>
              </a:ext>
            </a:extLst>
          </p:cNvPr>
          <p:cNvPicPr>
            <a:picLocks/>
          </p:cNvPicPr>
          <p:nvPr/>
        </p:nvPicPr>
        <p:blipFill>
          <a:blip r:embed="rId9"/>
          <a:stretch>
            <a:fillRect/>
          </a:stretch>
        </p:blipFill>
        <p:spPr>
          <a:xfrm>
            <a:off x="3314360" y="2562787"/>
            <a:ext cx="119428" cy="100695"/>
          </a:xfrm>
          <a:prstGeom prst="rect">
            <a:avLst/>
          </a:prstGeom>
        </p:spPr>
      </p:pic>
      <p:cxnSp>
        <p:nvCxnSpPr>
          <p:cNvPr id="39" name="直线连接符 38">
            <a:extLst>
              <a:ext uri="{FF2B5EF4-FFF2-40B4-BE49-F238E27FC236}">
                <a16:creationId xmlns:a16="http://schemas.microsoft.com/office/drawing/2014/main" id="{9676C8DA-D317-09F6-D57C-C2A385E35CC0}"/>
              </a:ext>
            </a:extLst>
          </p:cNvPr>
          <p:cNvCxnSpPr>
            <a:cxnSpLocks/>
            <a:stCxn id="38" idx="3"/>
          </p:cNvCxnSpPr>
          <p:nvPr/>
        </p:nvCxnSpPr>
        <p:spPr>
          <a:xfrm>
            <a:off x="3433788" y="2613135"/>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ADC2601-0248-8F58-7983-DF5C8283B623}"/>
              </a:ext>
            </a:extLst>
          </p:cNvPr>
          <p:cNvCxnSpPr>
            <a:cxnSpLocks/>
          </p:cNvCxnSpPr>
          <p:nvPr/>
        </p:nvCxnSpPr>
        <p:spPr>
          <a:xfrm>
            <a:off x="3433788" y="2717132"/>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线连接符 40">
            <a:extLst>
              <a:ext uri="{FF2B5EF4-FFF2-40B4-BE49-F238E27FC236}">
                <a16:creationId xmlns:a16="http://schemas.microsoft.com/office/drawing/2014/main" id="{A3A06B72-C92A-0A5D-97C5-AC0965061BC8}"/>
              </a:ext>
            </a:extLst>
          </p:cNvPr>
          <p:cNvCxnSpPr>
            <a:cxnSpLocks/>
          </p:cNvCxnSpPr>
          <p:nvPr/>
        </p:nvCxnSpPr>
        <p:spPr>
          <a:xfrm>
            <a:off x="3433788" y="2821128"/>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线连接符 41">
            <a:extLst>
              <a:ext uri="{FF2B5EF4-FFF2-40B4-BE49-F238E27FC236}">
                <a16:creationId xmlns:a16="http://schemas.microsoft.com/office/drawing/2014/main" id="{921C7F3C-06EA-7061-0A2E-BAD8A0BF55C8}"/>
              </a:ext>
            </a:extLst>
          </p:cNvPr>
          <p:cNvCxnSpPr>
            <a:cxnSpLocks/>
          </p:cNvCxnSpPr>
          <p:nvPr/>
        </p:nvCxnSpPr>
        <p:spPr>
          <a:xfrm>
            <a:off x="3433788" y="2925125"/>
            <a:ext cx="14480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7B5306CA-DA20-32B0-A9BE-24C453C6EB20}"/>
              </a:ext>
            </a:extLst>
          </p:cNvPr>
          <p:cNvCxnSpPr>
            <a:cxnSpLocks/>
          </p:cNvCxnSpPr>
          <p:nvPr/>
        </p:nvCxnSpPr>
        <p:spPr>
          <a:xfrm>
            <a:off x="3578593" y="2613135"/>
            <a:ext cx="0" cy="3181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44" name="图片 43">
            <a:extLst>
              <a:ext uri="{FF2B5EF4-FFF2-40B4-BE49-F238E27FC236}">
                <a16:creationId xmlns:a16="http://schemas.microsoft.com/office/drawing/2014/main" id="{898A4EE4-8536-B2C5-A908-A0839E86611A}"/>
              </a:ext>
            </a:extLst>
          </p:cNvPr>
          <p:cNvPicPr>
            <a:picLocks/>
          </p:cNvPicPr>
          <p:nvPr/>
        </p:nvPicPr>
        <p:blipFill>
          <a:blip r:embed="rId10"/>
          <a:stretch>
            <a:fillRect/>
          </a:stretch>
        </p:blipFill>
        <p:spPr>
          <a:xfrm>
            <a:off x="4976421" y="2251996"/>
            <a:ext cx="260233" cy="244810"/>
          </a:xfrm>
          <a:prstGeom prst="rect">
            <a:avLst/>
          </a:prstGeom>
        </p:spPr>
      </p:pic>
      <p:sp>
        <p:nvSpPr>
          <p:cNvPr id="45" name="文本框 44">
            <a:extLst>
              <a:ext uri="{FF2B5EF4-FFF2-40B4-BE49-F238E27FC236}">
                <a16:creationId xmlns:a16="http://schemas.microsoft.com/office/drawing/2014/main" id="{94229FF1-6DE0-309C-447D-EC63B46E757A}"/>
              </a:ext>
            </a:extLst>
          </p:cNvPr>
          <p:cNvSpPr txBox="1"/>
          <p:nvPr/>
        </p:nvSpPr>
        <p:spPr>
          <a:xfrm>
            <a:off x="4857836" y="2092497"/>
            <a:ext cx="625290" cy="248658"/>
          </a:xfrm>
          <a:prstGeom prst="rect">
            <a:avLst/>
          </a:prstGeom>
          <a:noFill/>
        </p:spPr>
        <p:txBody>
          <a:bodyPr wrap="square" rtlCol="0">
            <a:spAutoFit/>
          </a:bodyPr>
          <a:lstStyle/>
          <a:p>
            <a:r>
              <a:rPr kumimoji="1" lang="en-US" altLang="zh-CN" sz="1016" b="1" dirty="0"/>
              <a:t>X,Y,Z,I</a:t>
            </a:r>
            <a:endParaRPr kumimoji="1" lang="zh-CN" altLang="en-US" sz="1016" b="1" dirty="0"/>
          </a:p>
        </p:txBody>
      </p:sp>
      <p:cxnSp>
        <p:nvCxnSpPr>
          <p:cNvPr id="46" name="直线箭头连接符 45">
            <a:extLst>
              <a:ext uri="{FF2B5EF4-FFF2-40B4-BE49-F238E27FC236}">
                <a16:creationId xmlns:a16="http://schemas.microsoft.com/office/drawing/2014/main" id="{4A53743D-093C-D168-52D6-86F0F6F71AA0}"/>
              </a:ext>
            </a:extLst>
          </p:cNvPr>
          <p:cNvCxnSpPr>
            <a:cxnSpLocks/>
          </p:cNvCxnSpPr>
          <p:nvPr/>
        </p:nvCxnSpPr>
        <p:spPr>
          <a:xfrm>
            <a:off x="5236654" y="2287061"/>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线箭头连接符 46">
            <a:extLst>
              <a:ext uri="{FF2B5EF4-FFF2-40B4-BE49-F238E27FC236}">
                <a16:creationId xmlns:a16="http://schemas.microsoft.com/office/drawing/2014/main" id="{AED379C7-BA4D-128D-DD4A-CF217F8FA466}"/>
              </a:ext>
            </a:extLst>
          </p:cNvPr>
          <p:cNvCxnSpPr>
            <a:cxnSpLocks/>
          </p:cNvCxnSpPr>
          <p:nvPr/>
        </p:nvCxnSpPr>
        <p:spPr>
          <a:xfrm>
            <a:off x="5236654" y="2346123"/>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线箭头连接符 47">
            <a:extLst>
              <a:ext uri="{FF2B5EF4-FFF2-40B4-BE49-F238E27FC236}">
                <a16:creationId xmlns:a16="http://schemas.microsoft.com/office/drawing/2014/main" id="{A744EF47-DB54-62EF-EB7B-5C8D4661031B}"/>
              </a:ext>
            </a:extLst>
          </p:cNvPr>
          <p:cNvCxnSpPr>
            <a:cxnSpLocks/>
          </p:cNvCxnSpPr>
          <p:nvPr/>
        </p:nvCxnSpPr>
        <p:spPr>
          <a:xfrm>
            <a:off x="5236654" y="2405184"/>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线箭头连接符 48">
            <a:extLst>
              <a:ext uri="{FF2B5EF4-FFF2-40B4-BE49-F238E27FC236}">
                <a16:creationId xmlns:a16="http://schemas.microsoft.com/office/drawing/2014/main" id="{68A03D1F-9688-DA98-2E37-E1F98B0DEF22}"/>
              </a:ext>
            </a:extLst>
          </p:cNvPr>
          <p:cNvCxnSpPr>
            <a:cxnSpLocks/>
          </p:cNvCxnSpPr>
          <p:nvPr/>
        </p:nvCxnSpPr>
        <p:spPr>
          <a:xfrm>
            <a:off x="5236654" y="2464246"/>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0" name="图片 49">
            <a:extLst>
              <a:ext uri="{FF2B5EF4-FFF2-40B4-BE49-F238E27FC236}">
                <a16:creationId xmlns:a16="http://schemas.microsoft.com/office/drawing/2014/main" id="{5ED1A8B5-E6A7-16DC-2367-185FA848F532}"/>
              </a:ext>
            </a:extLst>
          </p:cNvPr>
          <p:cNvPicPr>
            <a:picLocks/>
          </p:cNvPicPr>
          <p:nvPr/>
        </p:nvPicPr>
        <p:blipFill>
          <a:blip r:embed="rId10"/>
          <a:stretch>
            <a:fillRect/>
          </a:stretch>
        </p:blipFill>
        <p:spPr>
          <a:xfrm>
            <a:off x="4976421" y="1836450"/>
            <a:ext cx="260233" cy="244810"/>
          </a:xfrm>
          <a:prstGeom prst="rect">
            <a:avLst/>
          </a:prstGeom>
        </p:spPr>
      </p:pic>
      <p:pic>
        <p:nvPicPr>
          <p:cNvPr id="51" name="图片 50">
            <a:extLst>
              <a:ext uri="{FF2B5EF4-FFF2-40B4-BE49-F238E27FC236}">
                <a16:creationId xmlns:a16="http://schemas.microsoft.com/office/drawing/2014/main" id="{E06FA445-4F3E-B8E8-EC1B-555359DFB812}"/>
              </a:ext>
            </a:extLst>
          </p:cNvPr>
          <p:cNvPicPr>
            <a:picLocks/>
          </p:cNvPicPr>
          <p:nvPr/>
        </p:nvPicPr>
        <p:blipFill>
          <a:blip r:embed="rId10"/>
          <a:stretch>
            <a:fillRect/>
          </a:stretch>
        </p:blipFill>
        <p:spPr>
          <a:xfrm>
            <a:off x="4988352" y="2562788"/>
            <a:ext cx="215060" cy="94729"/>
          </a:xfrm>
          <a:prstGeom prst="rect">
            <a:avLst/>
          </a:prstGeom>
        </p:spPr>
      </p:pic>
      <p:cxnSp>
        <p:nvCxnSpPr>
          <p:cNvPr id="52" name="直线连接符 51">
            <a:extLst>
              <a:ext uri="{FF2B5EF4-FFF2-40B4-BE49-F238E27FC236}">
                <a16:creationId xmlns:a16="http://schemas.microsoft.com/office/drawing/2014/main" id="{3CA9D8C4-D026-2D65-9B50-0E61A85754DE}"/>
              </a:ext>
            </a:extLst>
          </p:cNvPr>
          <p:cNvCxnSpPr>
            <a:cxnSpLocks/>
          </p:cNvCxnSpPr>
          <p:nvPr/>
        </p:nvCxnSpPr>
        <p:spPr>
          <a:xfrm>
            <a:off x="4858290" y="2619337"/>
            <a:ext cx="0" cy="31818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图片 52">
            <a:extLst>
              <a:ext uri="{FF2B5EF4-FFF2-40B4-BE49-F238E27FC236}">
                <a16:creationId xmlns:a16="http://schemas.microsoft.com/office/drawing/2014/main" id="{F5F06C81-AC65-5BE8-26B3-741A73422C3A}"/>
              </a:ext>
            </a:extLst>
          </p:cNvPr>
          <p:cNvPicPr>
            <a:picLocks/>
          </p:cNvPicPr>
          <p:nvPr/>
        </p:nvPicPr>
        <p:blipFill>
          <a:blip r:embed="rId10"/>
          <a:stretch>
            <a:fillRect/>
          </a:stretch>
        </p:blipFill>
        <p:spPr>
          <a:xfrm>
            <a:off x="4988352" y="2674957"/>
            <a:ext cx="215060" cy="94729"/>
          </a:xfrm>
          <a:prstGeom prst="rect">
            <a:avLst/>
          </a:prstGeom>
        </p:spPr>
      </p:pic>
      <p:pic>
        <p:nvPicPr>
          <p:cNvPr id="54" name="图片 53">
            <a:extLst>
              <a:ext uri="{FF2B5EF4-FFF2-40B4-BE49-F238E27FC236}">
                <a16:creationId xmlns:a16="http://schemas.microsoft.com/office/drawing/2014/main" id="{6116DAB4-11F9-E50D-CA61-F0F932BDB761}"/>
              </a:ext>
            </a:extLst>
          </p:cNvPr>
          <p:cNvPicPr>
            <a:picLocks/>
          </p:cNvPicPr>
          <p:nvPr/>
        </p:nvPicPr>
        <p:blipFill>
          <a:blip r:embed="rId10"/>
          <a:stretch>
            <a:fillRect/>
          </a:stretch>
        </p:blipFill>
        <p:spPr>
          <a:xfrm>
            <a:off x="4988352" y="2787126"/>
            <a:ext cx="215060" cy="94729"/>
          </a:xfrm>
          <a:prstGeom prst="rect">
            <a:avLst/>
          </a:prstGeom>
        </p:spPr>
      </p:pic>
      <p:pic>
        <p:nvPicPr>
          <p:cNvPr id="55" name="图片 54">
            <a:extLst>
              <a:ext uri="{FF2B5EF4-FFF2-40B4-BE49-F238E27FC236}">
                <a16:creationId xmlns:a16="http://schemas.microsoft.com/office/drawing/2014/main" id="{1516568C-3CA1-66EF-1D79-0AB23C1F6E3D}"/>
              </a:ext>
            </a:extLst>
          </p:cNvPr>
          <p:cNvPicPr>
            <a:picLocks/>
          </p:cNvPicPr>
          <p:nvPr/>
        </p:nvPicPr>
        <p:blipFill>
          <a:blip r:embed="rId10"/>
          <a:stretch>
            <a:fillRect/>
          </a:stretch>
        </p:blipFill>
        <p:spPr>
          <a:xfrm>
            <a:off x="4988352" y="2899294"/>
            <a:ext cx="215060" cy="94729"/>
          </a:xfrm>
          <a:prstGeom prst="rect">
            <a:avLst/>
          </a:prstGeom>
        </p:spPr>
      </p:pic>
      <p:cxnSp>
        <p:nvCxnSpPr>
          <p:cNvPr id="56" name="直线箭头连接符 55">
            <a:extLst>
              <a:ext uri="{FF2B5EF4-FFF2-40B4-BE49-F238E27FC236}">
                <a16:creationId xmlns:a16="http://schemas.microsoft.com/office/drawing/2014/main" id="{34112503-1CFC-8229-1DF9-0E05D62F2A7A}"/>
              </a:ext>
            </a:extLst>
          </p:cNvPr>
          <p:cNvCxnSpPr>
            <a:cxnSpLocks/>
          </p:cNvCxnSpPr>
          <p:nvPr/>
        </p:nvCxnSpPr>
        <p:spPr>
          <a:xfrm>
            <a:off x="5203413" y="2619337"/>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56">
            <a:extLst>
              <a:ext uri="{FF2B5EF4-FFF2-40B4-BE49-F238E27FC236}">
                <a16:creationId xmlns:a16="http://schemas.microsoft.com/office/drawing/2014/main" id="{6AAA98A7-BA2C-107D-307C-6C493A236C0E}"/>
              </a:ext>
            </a:extLst>
          </p:cNvPr>
          <p:cNvCxnSpPr>
            <a:cxnSpLocks/>
          </p:cNvCxnSpPr>
          <p:nvPr/>
        </p:nvCxnSpPr>
        <p:spPr>
          <a:xfrm>
            <a:off x="5203413" y="2726408"/>
            <a:ext cx="388126" cy="4033"/>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线箭头连接符 57">
            <a:extLst>
              <a:ext uri="{FF2B5EF4-FFF2-40B4-BE49-F238E27FC236}">
                <a16:creationId xmlns:a16="http://schemas.microsoft.com/office/drawing/2014/main" id="{BEA8C14F-0952-5C29-E967-04B316FD9A9A}"/>
              </a:ext>
            </a:extLst>
          </p:cNvPr>
          <p:cNvCxnSpPr>
            <a:cxnSpLocks/>
          </p:cNvCxnSpPr>
          <p:nvPr/>
        </p:nvCxnSpPr>
        <p:spPr>
          <a:xfrm>
            <a:off x="5203413" y="2830405"/>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线箭头连接符 58">
            <a:extLst>
              <a:ext uri="{FF2B5EF4-FFF2-40B4-BE49-F238E27FC236}">
                <a16:creationId xmlns:a16="http://schemas.microsoft.com/office/drawing/2014/main" id="{E97A1E54-509B-B702-2366-1CF853F5A9E5}"/>
              </a:ext>
            </a:extLst>
          </p:cNvPr>
          <p:cNvCxnSpPr>
            <a:cxnSpLocks/>
          </p:cNvCxnSpPr>
          <p:nvPr/>
        </p:nvCxnSpPr>
        <p:spPr>
          <a:xfrm>
            <a:off x="5203413" y="2937517"/>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线箭头连接符 59">
            <a:extLst>
              <a:ext uri="{FF2B5EF4-FFF2-40B4-BE49-F238E27FC236}">
                <a16:creationId xmlns:a16="http://schemas.microsoft.com/office/drawing/2014/main" id="{70A3AAA1-2517-7DFF-1EDC-0A637695557B}"/>
              </a:ext>
            </a:extLst>
          </p:cNvPr>
          <p:cNvCxnSpPr>
            <a:cxnSpLocks/>
          </p:cNvCxnSpPr>
          <p:nvPr/>
        </p:nvCxnSpPr>
        <p:spPr>
          <a:xfrm>
            <a:off x="5009349" y="3203112"/>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1" name="图片 60">
            <a:extLst>
              <a:ext uri="{FF2B5EF4-FFF2-40B4-BE49-F238E27FC236}">
                <a16:creationId xmlns:a16="http://schemas.microsoft.com/office/drawing/2014/main" id="{5B28F682-78BE-9E08-C593-9936C7D1EFD1}"/>
              </a:ext>
            </a:extLst>
          </p:cNvPr>
          <p:cNvPicPr>
            <a:picLocks/>
          </p:cNvPicPr>
          <p:nvPr/>
        </p:nvPicPr>
        <p:blipFill>
          <a:blip r:embed="rId10"/>
          <a:stretch>
            <a:fillRect/>
          </a:stretch>
        </p:blipFill>
        <p:spPr>
          <a:xfrm>
            <a:off x="4973839" y="3082285"/>
            <a:ext cx="260233" cy="244810"/>
          </a:xfrm>
          <a:prstGeom prst="rect">
            <a:avLst/>
          </a:prstGeom>
        </p:spPr>
      </p:pic>
      <p:sp>
        <p:nvSpPr>
          <p:cNvPr id="62" name="圆角矩形 61">
            <a:extLst>
              <a:ext uri="{FF2B5EF4-FFF2-40B4-BE49-F238E27FC236}">
                <a16:creationId xmlns:a16="http://schemas.microsoft.com/office/drawing/2014/main" id="{07887D43-4366-4B3F-FADD-F2CC12B3E6B1}"/>
              </a:ext>
            </a:extLst>
          </p:cNvPr>
          <p:cNvSpPr/>
          <p:nvPr/>
        </p:nvSpPr>
        <p:spPr>
          <a:xfrm>
            <a:off x="5591539" y="1679202"/>
            <a:ext cx="395983" cy="177077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6" dirty="0"/>
          </a:p>
        </p:txBody>
      </p:sp>
      <p:sp>
        <p:nvSpPr>
          <p:cNvPr id="63" name="文本框 62">
            <a:extLst>
              <a:ext uri="{FF2B5EF4-FFF2-40B4-BE49-F238E27FC236}">
                <a16:creationId xmlns:a16="http://schemas.microsoft.com/office/drawing/2014/main" id="{74EEB875-9462-59E0-3187-6F90DEF2113C}"/>
              </a:ext>
            </a:extLst>
          </p:cNvPr>
          <p:cNvSpPr txBox="1"/>
          <p:nvPr/>
        </p:nvSpPr>
        <p:spPr>
          <a:xfrm>
            <a:off x="5597372" y="1773883"/>
            <a:ext cx="461665" cy="1617042"/>
          </a:xfrm>
          <a:prstGeom prst="rect">
            <a:avLst/>
          </a:prstGeom>
          <a:noFill/>
        </p:spPr>
        <p:txBody>
          <a:bodyPr vert="eaVert" wrap="square" rtlCol="0">
            <a:spAutoFit/>
          </a:bodyPr>
          <a:lstStyle/>
          <a:p>
            <a:r>
              <a:rPr kumimoji="1" lang="en-US" altLang="zh-CN" dirty="0">
                <a:solidFill>
                  <a:schemeClr val="bg1"/>
                </a:solidFill>
              </a:rPr>
              <a:t>Tensor</a:t>
            </a:r>
            <a:r>
              <a:rPr kumimoji="1" lang="zh-CN" altLang="en-US" dirty="0">
                <a:solidFill>
                  <a:schemeClr val="bg1"/>
                </a:solidFill>
              </a:rPr>
              <a:t> </a:t>
            </a:r>
            <a:r>
              <a:rPr kumimoji="1" lang="en-US" altLang="zh-CN" dirty="0">
                <a:solidFill>
                  <a:schemeClr val="bg1"/>
                </a:solidFill>
              </a:rPr>
              <a:t>compute</a:t>
            </a:r>
            <a:endParaRPr kumimoji="1" lang="zh-CN" altLang="en-US" dirty="0">
              <a:solidFill>
                <a:schemeClr val="bg1"/>
              </a:solidFill>
            </a:endParaRPr>
          </a:p>
        </p:txBody>
      </p:sp>
      <p:sp>
        <p:nvSpPr>
          <p:cNvPr id="64" name="圆角矩形 63">
            <a:extLst>
              <a:ext uri="{FF2B5EF4-FFF2-40B4-BE49-F238E27FC236}">
                <a16:creationId xmlns:a16="http://schemas.microsoft.com/office/drawing/2014/main" id="{1E2C308F-BD24-7763-AA22-23602A9A7448}"/>
              </a:ext>
            </a:extLst>
          </p:cNvPr>
          <p:cNvSpPr/>
          <p:nvPr/>
        </p:nvSpPr>
        <p:spPr>
          <a:xfrm>
            <a:off x="1272047" y="1772132"/>
            <a:ext cx="608562"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65" name="圆角矩形 64">
            <a:extLst>
              <a:ext uri="{FF2B5EF4-FFF2-40B4-BE49-F238E27FC236}">
                <a16:creationId xmlns:a16="http://schemas.microsoft.com/office/drawing/2014/main" id="{ECBC6666-0214-179F-48B1-66AF097752CC}"/>
              </a:ext>
            </a:extLst>
          </p:cNvPr>
          <p:cNvSpPr/>
          <p:nvPr/>
        </p:nvSpPr>
        <p:spPr>
          <a:xfrm>
            <a:off x="1266771" y="2582404"/>
            <a:ext cx="608562"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66" name="文本框 65">
            <a:extLst>
              <a:ext uri="{FF2B5EF4-FFF2-40B4-BE49-F238E27FC236}">
                <a16:creationId xmlns:a16="http://schemas.microsoft.com/office/drawing/2014/main" id="{83DD8FF7-D78D-373D-DB2E-A113A85A8948}"/>
              </a:ext>
            </a:extLst>
          </p:cNvPr>
          <p:cNvSpPr txBox="1"/>
          <p:nvPr/>
        </p:nvSpPr>
        <p:spPr>
          <a:xfrm>
            <a:off x="1305715" y="2094076"/>
            <a:ext cx="597980"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67" name="文本框 66">
            <a:extLst>
              <a:ext uri="{FF2B5EF4-FFF2-40B4-BE49-F238E27FC236}">
                <a16:creationId xmlns:a16="http://schemas.microsoft.com/office/drawing/2014/main" id="{3A905A82-B5D1-E911-CB7A-E75180CE52DA}"/>
              </a:ext>
            </a:extLst>
          </p:cNvPr>
          <p:cNvSpPr txBox="1"/>
          <p:nvPr/>
        </p:nvSpPr>
        <p:spPr>
          <a:xfrm>
            <a:off x="1312468" y="2841888"/>
            <a:ext cx="597980"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68" name="直线箭头连接符 67">
            <a:extLst>
              <a:ext uri="{FF2B5EF4-FFF2-40B4-BE49-F238E27FC236}">
                <a16:creationId xmlns:a16="http://schemas.microsoft.com/office/drawing/2014/main" id="{0D966369-D760-FD5F-EA35-961484D6692A}"/>
              </a:ext>
            </a:extLst>
          </p:cNvPr>
          <p:cNvCxnSpPr>
            <a:cxnSpLocks/>
            <a:endCxn id="87" idx="3"/>
          </p:cNvCxnSpPr>
          <p:nvPr/>
        </p:nvCxnSpPr>
        <p:spPr>
          <a:xfrm>
            <a:off x="8748178" y="2777917"/>
            <a:ext cx="1418515" cy="62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线箭头连接符 68">
            <a:extLst>
              <a:ext uri="{FF2B5EF4-FFF2-40B4-BE49-F238E27FC236}">
                <a16:creationId xmlns:a16="http://schemas.microsoft.com/office/drawing/2014/main" id="{B99381DA-418F-D357-CA46-4BC70828C62D}"/>
              </a:ext>
            </a:extLst>
          </p:cNvPr>
          <p:cNvCxnSpPr>
            <a:cxnSpLocks/>
          </p:cNvCxnSpPr>
          <p:nvPr/>
        </p:nvCxnSpPr>
        <p:spPr>
          <a:xfrm>
            <a:off x="6865732" y="2373094"/>
            <a:ext cx="1732624" cy="9353"/>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直线箭头连接符 69">
            <a:extLst>
              <a:ext uri="{FF2B5EF4-FFF2-40B4-BE49-F238E27FC236}">
                <a16:creationId xmlns:a16="http://schemas.microsoft.com/office/drawing/2014/main" id="{7235096A-1AA4-8D7F-C67C-A0B77FB5C8A7}"/>
              </a:ext>
            </a:extLst>
          </p:cNvPr>
          <p:cNvCxnSpPr>
            <a:cxnSpLocks/>
          </p:cNvCxnSpPr>
          <p:nvPr/>
        </p:nvCxnSpPr>
        <p:spPr>
          <a:xfrm>
            <a:off x="6865732" y="1966849"/>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线连接符 70">
            <a:extLst>
              <a:ext uri="{FF2B5EF4-FFF2-40B4-BE49-F238E27FC236}">
                <a16:creationId xmlns:a16="http://schemas.microsoft.com/office/drawing/2014/main" id="{C45C21A7-60A1-AAFD-BC29-F72CBF422B67}"/>
              </a:ext>
            </a:extLst>
          </p:cNvPr>
          <p:cNvCxnSpPr>
            <a:cxnSpLocks/>
          </p:cNvCxnSpPr>
          <p:nvPr/>
        </p:nvCxnSpPr>
        <p:spPr>
          <a:xfrm>
            <a:off x="8936546" y="2780265"/>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cxnSp>
        <p:nvCxnSpPr>
          <p:cNvPr id="72" name="直线箭头连接符 71">
            <a:extLst>
              <a:ext uri="{FF2B5EF4-FFF2-40B4-BE49-F238E27FC236}">
                <a16:creationId xmlns:a16="http://schemas.microsoft.com/office/drawing/2014/main" id="{FB3CC12C-2B3F-C0E5-F211-2749AB205C02}"/>
              </a:ext>
            </a:extLst>
          </p:cNvPr>
          <p:cNvCxnSpPr>
            <a:cxnSpLocks/>
          </p:cNvCxnSpPr>
          <p:nvPr/>
        </p:nvCxnSpPr>
        <p:spPr>
          <a:xfrm>
            <a:off x="6866933" y="3195864"/>
            <a:ext cx="3117474"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线连接符 72">
            <a:extLst>
              <a:ext uri="{FF2B5EF4-FFF2-40B4-BE49-F238E27FC236}">
                <a16:creationId xmlns:a16="http://schemas.microsoft.com/office/drawing/2014/main" id="{936E1555-88C1-3912-0E25-75A3CFCBAA59}"/>
              </a:ext>
            </a:extLst>
          </p:cNvPr>
          <p:cNvCxnSpPr>
            <a:cxnSpLocks/>
          </p:cNvCxnSpPr>
          <p:nvPr/>
        </p:nvCxnSpPr>
        <p:spPr>
          <a:xfrm>
            <a:off x="7827748" y="1966849"/>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pic>
        <p:nvPicPr>
          <p:cNvPr id="74" name="图片 73">
            <a:extLst>
              <a:ext uri="{FF2B5EF4-FFF2-40B4-BE49-F238E27FC236}">
                <a16:creationId xmlns:a16="http://schemas.microsoft.com/office/drawing/2014/main" id="{9043424A-7216-E530-374E-EA31AACDE4AA}"/>
              </a:ext>
            </a:extLst>
          </p:cNvPr>
          <p:cNvPicPr>
            <a:picLocks/>
          </p:cNvPicPr>
          <p:nvPr/>
        </p:nvPicPr>
        <p:blipFill>
          <a:blip r:embed="rId10"/>
          <a:stretch>
            <a:fillRect/>
          </a:stretch>
        </p:blipFill>
        <p:spPr>
          <a:xfrm>
            <a:off x="9909044" y="1838288"/>
            <a:ext cx="260233" cy="244810"/>
          </a:xfrm>
          <a:prstGeom prst="rect">
            <a:avLst/>
          </a:prstGeom>
        </p:spPr>
      </p:pic>
      <p:pic>
        <p:nvPicPr>
          <p:cNvPr id="75" name="图片 74">
            <a:extLst>
              <a:ext uri="{FF2B5EF4-FFF2-40B4-BE49-F238E27FC236}">
                <a16:creationId xmlns:a16="http://schemas.microsoft.com/office/drawing/2014/main" id="{C1EC16F7-1CF7-65C5-DC5E-3B6949F06A5E}"/>
              </a:ext>
            </a:extLst>
          </p:cNvPr>
          <p:cNvPicPr>
            <a:picLocks/>
          </p:cNvPicPr>
          <p:nvPr/>
        </p:nvPicPr>
        <p:blipFill>
          <a:blip r:embed="rId10"/>
          <a:stretch>
            <a:fillRect/>
          </a:stretch>
        </p:blipFill>
        <p:spPr>
          <a:xfrm>
            <a:off x="9906461" y="3084122"/>
            <a:ext cx="260233" cy="244810"/>
          </a:xfrm>
          <a:prstGeom prst="rect">
            <a:avLst/>
          </a:prstGeom>
        </p:spPr>
      </p:pic>
      <p:pic>
        <p:nvPicPr>
          <p:cNvPr id="76" name="图片 75">
            <a:extLst>
              <a:ext uri="{FF2B5EF4-FFF2-40B4-BE49-F238E27FC236}">
                <a16:creationId xmlns:a16="http://schemas.microsoft.com/office/drawing/2014/main" id="{E076F983-EDFB-4F89-EE63-9FD9904BF95B}"/>
              </a:ext>
            </a:extLst>
          </p:cNvPr>
          <p:cNvPicPr>
            <a:picLocks noChangeAspect="1"/>
          </p:cNvPicPr>
          <p:nvPr/>
        </p:nvPicPr>
        <p:blipFill>
          <a:blip r:embed="rId2"/>
          <a:stretch>
            <a:fillRect/>
          </a:stretch>
        </p:blipFill>
        <p:spPr>
          <a:xfrm>
            <a:off x="6652274" y="1914448"/>
            <a:ext cx="117978" cy="101518"/>
          </a:xfrm>
          <a:prstGeom prst="rect">
            <a:avLst/>
          </a:prstGeom>
        </p:spPr>
      </p:pic>
      <p:pic>
        <p:nvPicPr>
          <p:cNvPr id="77" name="图片 76">
            <a:extLst>
              <a:ext uri="{FF2B5EF4-FFF2-40B4-BE49-F238E27FC236}">
                <a16:creationId xmlns:a16="http://schemas.microsoft.com/office/drawing/2014/main" id="{D9CC2D8B-EB29-0B88-28EB-4084B5423FD1}"/>
              </a:ext>
            </a:extLst>
          </p:cNvPr>
          <p:cNvPicPr>
            <a:picLocks noChangeAspect="1"/>
          </p:cNvPicPr>
          <p:nvPr/>
        </p:nvPicPr>
        <p:blipFill>
          <a:blip r:embed="rId3"/>
          <a:stretch>
            <a:fillRect/>
          </a:stretch>
        </p:blipFill>
        <p:spPr>
          <a:xfrm>
            <a:off x="6650824" y="2322747"/>
            <a:ext cx="119428" cy="100695"/>
          </a:xfrm>
          <a:prstGeom prst="rect">
            <a:avLst/>
          </a:prstGeom>
        </p:spPr>
      </p:pic>
      <p:pic>
        <p:nvPicPr>
          <p:cNvPr id="78" name="图片 77">
            <a:extLst>
              <a:ext uri="{FF2B5EF4-FFF2-40B4-BE49-F238E27FC236}">
                <a16:creationId xmlns:a16="http://schemas.microsoft.com/office/drawing/2014/main" id="{9E14DA11-FE1C-44C2-FBD4-53D6977D024D}"/>
              </a:ext>
            </a:extLst>
          </p:cNvPr>
          <p:cNvPicPr>
            <a:picLocks noChangeAspect="1"/>
          </p:cNvPicPr>
          <p:nvPr/>
        </p:nvPicPr>
        <p:blipFill>
          <a:blip r:embed="rId4"/>
          <a:stretch>
            <a:fillRect/>
          </a:stretch>
        </p:blipFill>
        <p:spPr>
          <a:xfrm>
            <a:off x="6652025" y="3128039"/>
            <a:ext cx="119428" cy="99920"/>
          </a:xfrm>
          <a:prstGeom prst="rect">
            <a:avLst/>
          </a:prstGeom>
        </p:spPr>
      </p:pic>
      <p:pic>
        <p:nvPicPr>
          <p:cNvPr id="79" name="图片 78">
            <a:extLst>
              <a:ext uri="{FF2B5EF4-FFF2-40B4-BE49-F238E27FC236}">
                <a16:creationId xmlns:a16="http://schemas.microsoft.com/office/drawing/2014/main" id="{6BF86964-E3E4-B940-FE73-44EEF45C27F7}"/>
              </a:ext>
            </a:extLst>
          </p:cNvPr>
          <p:cNvPicPr>
            <a:picLocks/>
          </p:cNvPicPr>
          <p:nvPr/>
        </p:nvPicPr>
        <p:blipFill>
          <a:blip r:embed="rId5"/>
          <a:stretch>
            <a:fillRect/>
          </a:stretch>
        </p:blipFill>
        <p:spPr>
          <a:xfrm>
            <a:off x="6644009" y="2653221"/>
            <a:ext cx="119428" cy="170533"/>
          </a:xfrm>
          <a:prstGeom prst="rect">
            <a:avLst/>
          </a:prstGeom>
        </p:spPr>
      </p:pic>
      <p:sp>
        <p:nvSpPr>
          <p:cNvPr id="80" name="圆角矩形 79">
            <a:extLst>
              <a:ext uri="{FF2B5EF4-FFF2-40B4-BE49-F238E27FC236}">
                <a16:creationId xmlns:a16="http://schemas.microsoft.com/office/drawing/2014/main" id="{715042C6-0B39-1171-DF84-95E48BD0F774}"/>
              </a:ext>
            </a:extLst>
          </p:cNvPr>
          <p:cNvSpPr/>
          <p:nvPr/>
        </p:nvSpPr>
        <p:spPr>
          <a:xfrm>
            <a:off x="6201834" y="1793176"/>
            <a:ext cx="608562"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81" name="圆角矩形 80">
            <a:extLst>
              <a:ext uri="{FF2B5EF4-FFF2-40B4-BE49-F238E27FC236}">
                <a16:creationId xmlns:a16="http://schemas.microsoft.com/office/drawing/2014/main" id="{DC2A9447-CFF1-EDAD-776E-5C8875857069}"/>
              </a:ext>
            </a:extLst>
          </p:cNvPr>
          <p:cNvSpPr/>
          <p:nvPr/>
        </p:nvSpPr>
        <p:spPr>
          <a:xfrm>
            <a:off x="6192922" y="2640209"/>
            <a:ext cx="622890" cy="780787"/>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82" name="文本框 81">
            <a:extLst>
              <a:ext uri="{FF2B5EF4-FFF2-40B4-BE49-F238E27FC236}">
                <a16:creationId xmlns:a16="http://schemas.microsoft.com/office/drawing/2014/main" id="{CBBE389B-4126-1E7A-91AC-093BE4B7CA1C}"/>
              </a:ext>
            </a:extLst>
          </p:cNvPr>
          <p:cNvSpPr txBox="1"/>
          <p:nvPr/>
        </p:nvSpPr>
        <p:spPr>
          <a:xfrm>
            <a:off x="6217524" y="2053595"/>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83" name="文本框 82">
            <a:extLst>
              <a:ext uri="{FF2B5EF4-FFF2-40B4-BE49-F238E27FC236}">
                <a16:creationId xmlns:a16="http://schemas.microsoft.com/office/drawing/2014/main" id="{221F7A5B-2484-F79B-99F9-888193537F64}"/>
              </a:ext>
            </a:extLst>
          </p:cNvPr>
          <p:cNvSpPr txBox="1"/>
          <p:nvPr/>
        </p:nvSpPr>
        <p:spPr>
          <a:xfrm>
            <a:off x="6255380" y="2878247"/>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84" name="曲线连接符 83">
            <a:extLst>
              <a:ext uri="{FF2B5EF4-FFF2-40B4-BE49-F238E27FC236}">
                <a16:creationId xmlns:a16="http://schemas.microsoft.com/office/drawing/2014/main" id="{6EE97A9C-FEE9-CFD5-FC24-65773C0EB034}"/>
              </a:ext>
            </a:extLst>
          </p:cNvPr>
          <p:cNvCxnSpPr>
            <a:cxnSpLocks/>
          </p:cNvCxnSpPr>
          <p:nvPr/>
        </p:nvCxnSpPr>
        <p:spPr>
          <a:xfrm rot="16200000" flipH="1">
            <a:off x="8473601" y="2505561"/>
            <a:ext cx="399331" cy="149823"/>
          </a:xfrm>
          <a:prstGeom prst="curvedConnector3">
            <a:avLst/>
          </a:prstGeom>
          <a:ln w="38100" cmpd="thickThi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50B69F2D-DB3E-3C8B-D878-9772E8AB67ED}"/>
              </a:ext>
            </a:extLst>
          </p:cNvPr>
          <p:cNvSpPr txBox="1"/>
          <p:nvPr/>
        </p:nvSpPr>
        <p:spPr>
          <a:xfrm>
            <a:off x="8630091" y="2312498"/>
            <a:ext cx="1781891" cy="268215"/>
          </a:xfrm>
          <a:prstGeom prst="rect">
            <a:avLst/>
          </a:prstGeom>
          <a:noFill/>
        </p:spPr>
        <p:txBody>
          <a:bodyPr wrap="square" rtlCol="0">
            <a:spAutoFit/>
          </a:bodyPr>
          <a:lstStyle/>
          <a:p>
            <a:r>
              <a:rPr kumimoji="1" lang="en-US" altLang="zh-CN" sz="1143" dirty="0">
                <a:cs typeface="Times New Roman" panose="02020603050405020304" pitchFamily="18" charset="0"/>
              </a:rPr>
              <a:t>Quantum</a:t>
            </a:r>
            <a:r>
              <a:rPr kumimoji="1" lang="zh-CN" altLang="en-US" sz="1143" dirty="0">
                <a:cs typeface="Times New Roman" panose="02020603050405020304" pitchFamily="18" charset="0"/>
              </a:rPr>
              <a:t> </a:t>
            </a:r>
            <a:r>
              <a:rPr kumimoji="1" lang="en-US" altLang="zh-CN" sz="1143" dirty="0">
                <a:cs typeface="Times New Roman" panose="02020603050405020304" pitchFamily="18" charset="0"/>
              </a:rPr>
              <a:t>teleportation</a:t>
            </a:r>
            <a:endParaRPr kumimoji="1" lang="zh-CN" altLang="en-US" sz="1143" dirty="0">
              <a:cs typeface="Times New Roman" panose="02020603050405020304" pitchFamily="18" charset="0"/>
            </a:endParaRPr>
          </a:p>
        </p:txBody>
      </p:sp>
      <p:cxnSp>
        <p:nvCxnSpPr>
          <p:cNvPr id="86" name="直线箭头连接符 85">
            <a:extLst>
              <a:ext uri="{FF2B5EF4-FFF2-40B4-BE49-F238E27FC236}">
                <a16:creationId xmlns:a16="http://schemas.microsoft.com/office/drawing/2014/main" id="{7BFCD245-F91F-3B1C-8CDA-88BD5A68009C}"/>
              </a:ext>
            </a:extLst>
          </p:cNvPr>
          <p:cNvCxnSpPr>
            <a:cxnSpLocks/>
          </p:cNvCxnSpPr>
          <p:nvPr/>
        </p:nvCxnSpPr>
        <p:spPr>
          <a:xfrm>
            <a:off x="10166694" y="1966849"/>
            <a:ext cx="364161"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87" name="图片 86">
            <a:extLst>
              <a:ext uri="{FF2B5EF4-FFF2-40B4-BE49-F238E27FC236}">
                <a16:creationId xmlns:a16="http://schemas.microsoft.com/office/drawing/2014/main" id="{D4B779DE-452C-9E59-6798-5860471B129D}"/>
              </a:ext>
            </a:extLst>
          </p:cNvPr>
          <p:cNvPicPr>
            <a:picLocks/>
          </p:cNvPicPr>
          <p:nvPr/>
        </p:nvPicPr>
        <p:blipFill>
          <a:blip r:embed="rId10"/>
          <a:stretch>
            <a:fillRect/>
          </a:stretch>
        </p:blipFill>
        <p:spPr>
          <a:xfrm>
            <a:off x="9906461" y="2661808"/>
            <a:ext cx="260233" cy="244810"/>
          </a:xfrm>
          <a:prstGeom prst="rect">
            <a:avLst/>
          </a:prstGeom>
        </p:spPr>
      </p:pic>
      <p:cxnSp>
        <p:nvCxnSpPr>
          <p:cNvPr id="88" name="直线箭头连接符 87">
            <a:extLst>
              <a:ext uri="{FF2B5EF4-FFF2-40B4-BE49-F238E27FC236}">
                <a16:creationId xmlns:a16="http://schemas.microsoft.com/office/drawing/2014/main" id="{57ACFE74-687C-EEF9-E322-34C6B27CEC4B}"/>
              </a:ext>
            </a:extLst>
          </p:cNvPr>
          <p:cNvCxnSpPr>
            <a:cxnSpLocks/>
          </p:cNvCxnSpPr>
          <p:nvPr/>
        </p:nvCxnSpPr>
        <p:spPr>
          <a:xfrm>
            <a:off x="10164111" y="2790369"/>
            <a:ext cx="366744"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直线箭头连接符 88">
            <a:extLst>
              <a:ext uri="{FF2B5EF4-FFF2-40B4-BE49-F238E27FC236}">
                <a16:creationId xmlns:a16="http://schemas.microsoft.com/office/drawing/2014/main" id="{448E850A-DC3D-821E-D55E-7A7EFC4711BA}"/>
              </a:ext>
            </a:extLst>
          </p:cNvPr>
          <p:cNvCxnSpPr>
            <a:cxnSpLocks/>
          </p:cNvCxnSpPr>
          <p:nvPr/>
        </p:nvCxnSpPr>
        <p:spPr>
          <a:xfrm>
            <a:off x="10169276" y="3204825"/>
            <a:ext cx="361579"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线箭头连接符 89">
            <a:extLst>
              <a:ext uri="{FF2B5EF4-FFF2-40B4-BE49-F238E27FC236}">
                <a16:creationId xmlns:a16="http://schemas.microsoft.com/office/drawing/2014/main" id="{2894BDF5-CD77-E7A2-69AB-68D02D9BDB72}"/>
              </a:ext>
            </a:extLst>
          </p:cNvPr>
          <p:cNvCxnSpPr>
            <a:cxnSpLocks/>
          </p:cNvCxnSpPr>
          <p:nvPr/>
        </p:nvCxnSpPr>
        <p:spPr>
          <a:xfrm>
            <a:off x="10136226" y="3731288"/>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线箭头连接符 90">
            <a:extLst>
              <a:ext uri="{FF2B5EF4-FFF2-40B4-BE49-F238E27FC236}">
                <a16:creationId xmlns:a16="http://schemas.microsoft.com/office/drawing/2014/main" id="{B595029B-3AB4-8F66-3E75-F386C1268985}"/>
              </a:ext>
            </a:extLst>
          </p:cNvPr>
          <p:cNvCxnSpPr>
            <a:cxnSpLocks/>
          </p:cNvCxnSpPr>
          <p:nvPr/>
        </p:nvCxnSpPr>
        <p:spPr>
          <a:xfrm>
            <a:off x="6865221" y="5061502"/>
            <a:ext cx="2069613" cy="474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线箭头连接符 91">
            <a:extLst>
              <a:ext uri="{FF2B5EF4-FFF2-40B4-BE49-F238E27FC236}">
                <a16:creationId xmlns:a16="http://schemas.microsoft.com/office/drawing/2014/main" id="{A9833C35-897E-E4CF-8B32-84BAE6790B78}"/>
              </a:ext>
            </a:extLst>
          </p:cNvPr>
          <p:cNvCxnSpPr>
            <a:cxnSpLocks/>
          </p:cNvCxnSpPr>
          <p:nvPr/>
        </p:nvCxnSpPr>
        <p:spPr>
          <a:xfrm>
            <a:off x="6865922" y="4137534"/>
            <a:ext cx="3118675" cy="47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线箭头连接符 92">
            <a:extLst>
              <a:ext uri="{FF2B5EF4-FFF2-40B4-BE49-F238E27FC236}">
                <a16:creationId xmlns:a16="http://schemas.microsoft.com/office/drawing/2014/main" id="{D3C46780-E2C9-DF6B-DCEF-698DEC6BAC2F}"/>
              </a:ext>
            </a:extLst>
          </p:cNvPr>
          <p:cNvCxnSpPr>
            <a:cxnSpLocks/>
          </p:cNvCxnSpPr>
          <p:nvPr/>
        </p:nvCxnSpPr>
        <p:spPr>
          <a:xfrm>
            <a:off x="6865922" y="3731288"/>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4" name="图片 93">
            <a:extLst>
              <a:ext uri="{FF2B5EF4-FFF2-40B4-BE49-F238E27FC236}">
                <a16:creationId xmlns:a16="http://schemas.microsoft.com/office/drawing/2014/main" id="{1B7A1C7D-AC86-355E-01F1-7718607ED5DB}"/>
              </a:ext>
            </a:extLst>
          </p:cNvPr>
          <p:cNvPicPr>
            <a:picLocks noChangeAspect="1"/>
          </p:cNvPicPr>
          <p:nvPr/>
        </p:nvPicPr>
        <p:blipFill>
          <a:blip r:embed="rId2"/>
          <a:stretch>
            <a:fillRect/>
          </a:stretch>
        </p:blipFill>
        <p:spPr>
          <a:xfrm>
            <a:off x="6674784" y="3678070"/>
            <a:ext cx="117978" cy="101518"/>
          </a:xfrm>
          <a:prstGeom prst="rect">
            <a:avLst/>
          </a:prstGeom>
        </p:spPr>
      </p:pic>
      <p:pic>
        <p:nvPicPr>
          <p:cNvPr id="95" name="图片 94">
            <a:extLst>
              <a:ext uri="{FF2B5EF4-FFF2-40B4-BE49-F238E27FC236}">
                <a16:creationId xmlns:a16="http://schemas.microsoft.com/office/drawing/2014/main" id="{8C05DB9E-9364-7040-ABC8-103F059BCDCE}"/>
              </a:ext>
            </a:extLst>
          </p:cNvPr>
          <p:cNvPicPr>
            <a:picLocks noChangeAspect="1"/>
          </p:cNvPicPr>
          <p:nvPr/>
        </p:nvPicPr>
        <p:blipFill>
          <a:blip r:embed="rId3"/>
          <a:stretch>
            <a:fillRect/>
          </a:stretch>
        </p:blipFill>
        <p:spPr>
          <a:xfrm>
            <a:off x="6673334" y="4086369"/>
            <a:ext cx="119428" cy="100695"/>
          </a:xfrm>
          <a:prstGeom prst="rect">
            <a:avLst/>
          </a:prstGeom>
        </p:spPr>
      </p:pic>
      <p:cxnSp>
        <p:nvCxnSpPr>
          <p:cNvPr id="96" name="直线连接符 95">
            <a:extLst>
              <a:ext uri="{FF2B5EF4-FFF2-40B4-BE49-F238E27FC236}">
                <a16:creationId xmlns:a16="http://schemas.microsoft.com/office/drawing/2014/main" id="{BA738A94-6FF2-54CE-C9B5-EF81BCBF49B1}"/>
              </a:ext>
            </a:extLst>
          </p:cNvPr>
          <p:cNvCxnSpPr>
            <a:cxnSpLocks/>
          </p:cNvCxnSpPr>
          <p:nvPr/>
        </p:nvCxnSpPr>
        <p:spPr>
          <a:xfrm>
            <a:off x="8934835" y="5061622"/>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cxnSp>
        <p:nvCxnSpPr>
          <p:cNvPr id="97" name="直线箭头连接符 96">
            <a:extLst>
              <a:ext uri="{FF2B5EF4-FFF2-40B4-BE49-F238E27FC236}">
                <a16:creationId xmlns:a16="http://schemas.microsoft.com/office/drawing/2014/main" id="{C263ED1E-99E7-29A3-A737-14A4A77EC24B}"/>
              </a:ext>
            </a:extLst>
          </p:cNvPr>
          <p:cNvCxnSpPr>
            <a:cxnSpLocks/>
          </p:cNvCxnSpPr>
          <p:nvPr/>
        </p:nvCxnSpPr>
        <p:spPr>
          <a:xfrm>
            <a:off x="6865221" y="5477221"/>
            <a:ext cx="3117474"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98" name="图片 97">
            <a:extLst>
              <a:ext uri="{FF2B5EF4-FFF2-40B4-BE49-F238E27FC236}">
                <a16:creationId xmlns:a16="http://schemas.microsoft.com/office/drawing/2014/main" id="{AF8E99B9-D279-32CA-80CD-3EE63FF2EFCC}"/>
              </a:ext>
            </a:extLst>
          </p:cNvPr>
          <p:cNvPicPr>
            <a:picLocks noChangeAspect="1"/>
          </p:cNvPicPr>
          <p:nvPr/>
        </p:nvPicPr>
        <p:blipFill>
          <a:blip r:embed="rId4"/>
          <a:stretch>
            <a:fillRect/>
          </a:stretch>
        </p:blipFill>
        <p:spPr>
          <a:xfrm>
            <a:off x="6672634" y="5408578"/>
            <a:ext cx="119428" cy="99920"/>
          </a:xfrm>
          <a:prstGeom prst="rect">
            <a:avLst/>
          </a:prstGeom>
        </p:spPr>
      </p:pic>
      <p:pic>
        <p:nvPicPr>
          <p:cNvPr id="99" name="图片 98">
            <a:extLst>
              <a:ext uri="{FF2B5EF4-FFF2-40B4-BE49-F238E27FC236}">
                <a16:creationId xmlns:a16="http://schemas.microsoft.com/office/drawing/2014/main" id="{E41E2FBC-AECC-7844-F92F-FFE545C01910}"/>
              </a:ext>
            </a:extLst>
          </p:cNvPr>
          <p:cNvPicPr>
            <a:picLocks/>
          </p:cNvPicPr>
          <p:nvPr/>
        </p:nvPicPr>
        <p:blipFill>
          <a:blip r:embed="rId5"/>
          <a:stretch>
            <a:fillRect/>
          </a:stretch>
        </p:blipFill>
        <p:spPr>
          <a:xfrm>
            <a:off x="6664618" y="4933761"/>
            <a:ext cx="119428" cy="170533"/>
          </a:xfrm>
          <a:prstGeom prst="rect">
            <a:avLst/>
          </a:prstGeom>
        </p:spPr>
      </p:pic>
      <p:pic>
        <p:nvPicPr>
          <p:cNvPr id="100" name="图片 99">
            <a:extLst>
              <a:ext uri="{FF2B5EF4-FFF2-40B4-BE49-F238E27FC236}">
                <a16:creationId xmlns:a16="http://schemas.microsoft.com/office/drawing/2014/main" id="{DCAA8829-AD0A-2D47-144A-13A014330E1B}"/>
              </a:ext>
            </a:extLst>
          </p:cNvPr>
          <p:cNvPicPr>
            <a:picLocks/>
          </p:cNvPicPr>
          <p:nvPr/>
        </p:nvPicPr>
        <p:blipFill>
          <a:blip r:embed="rId10"/>
          <a:stretch>
            <a:fillRect/>
          </a:stretch>
        </p:blipFill>
        <p:spPr>
          <a:xfrm>
            <a:off x="9909234" y="4018273"/>
            <a:ext cx="260233" cy="244810"/>
          </a:xfrm>
          <a:prstGeom prst="rect">
            <a:avLst/>
          </a:prstGeom>
        </p:spPr>
      </p:pic>
      <p:cxnSp>
        <p:nvCxnSpPr>
          <p:cNvPr id="101" name="直线箭头连接符 100">
            <a:extLst>
              <a:ext uri="{FF2B5EF4-FFF2-40B4-BE49-F238E27FC236}">
                <a16:creationId xmlns:a16="http://schemas.microsoft.com/office/drawing/2014/main" id="{78F3BFCA-49B6-D47C-73FE-946B8FDBA165}"/>
              </a:ext>
            </a:extLst>
          </p:cNvPr>
          <p:cNvCxnSpPr>
            <a:cxnSpLocks/>
          </p:cNvCxnSpPr>
          <p:nvPr/>
        </p:nvCxnSpPr>
        <p:spPr>
          <a:xfrm>
            <a:off x="10162692" y="4142262"/>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2" name="图片 101">
            <a:extLst>
              <a:ext uri="{FF2B5EF4-FFF2-40B4-BE49-F238E27FC236}">
                <a16:creationId xmlns:a16="http://schemas.microsoft.com/office/drawing/2014/main" id="{DAAD9778-1739-688F-0E49-E5B6EFEB4AE2}"/>
              </a:ext>
            </a:extLst>
          </p:cNvPr>
          <p:cNvPicPr>
            <a:picLocks/>
          </p:cNvPicPr>
          <p:nvPr/>
        </p:nvPicPr>
        <p:blipFill>
          <a:blip r:embed="rId10"/>
          <a:stretch>
            <a:fillRect/>
          </a:stretch>
        </p:blipFill>
        <p:spPr>
          <a:xfrm>
            <a:off x="9909234" y="3602727"/>
            <a:ext cx="260233" cy="244810"/>
          </a:xfrm>
          <a:prstGeom prst="rect">
            <a:avLst/>
          </a:prstGeom>
        </p:spPr>
      </p:pic>
      <p:cxnSp>
        <p:nvCxnSpPr>
          <p:cNvPr id="103" name="直线箭头连接符 102">
            <a:extLst>
              <a:ext uri="{FF2B5EF4-FFF2-40B4-BE49-F238E27FC236}">
                <a16:creationId xmlns:a16="http://schemas.microsoft.com/office/drawing/2014/main" id="{BF2B2757-B8B5-3039-E5D6-7E71CE823C28}"/>
              </a:ext>
            </a:extLst>
          </p:cNvPr>
          <p:cNvCxnSpPr>
            <a:cxnSpLocks/>
          </p:cNvCxnSpPr>
          <p:nvPr/>
        </p:nvCxnSpPr>
        <p:spPr>
          <a:xfrm>
            <a:off x="9940260" y="5486306"/>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4" name="图片 103">
            <a:extLst>
              <a:ext uri="{FF2B5EF4-FFF2-40B4-BE49-F238E27FC236}">
                <a16:creationId xmlns:a16="http://schemas.microsoft.com/office/drawing/2014/main" id="{58DDA48B-3B76-727E-A72D-62226098C55C}"/>
              </a:ext>
            </a:extLst>
          </p:cNvPr>
          <p:cNvPicPr>
            <a:picLocks/>
          </p:cNvPicPr>
          <p:nvPr/>
        </p:nvPicPr>
        <p:blipFill>
          <a:blip r:embed="rId10"/>
          <a:stretch>
            <a:fillRect/>
          </a:stretch>
        </p:blipFill>
        <p:spPr>
          <a:xfrm>
            <a:off x="9904750" y="5365479"/>
            <a:ext cx="260233" cy="244810"/>
          </a:xfrm>
          <a:prstGeom prst="rect">
            <a:avLst/>
          </a:prstGeom>
        </p:spPr>
      </p:pic>
      <p:sp>
        <p:nvSpPr>
          <p:cNvPr id="105" name="圆角矩形 104">
            <a:extLst>
              <a:ext uri="{FF2B5EF4-FFF2-40B4-BE49-F238E27FC236}">
                <a16:creationId xmlns:a16="http://schemas.microsoft.com/office/drawing/2014/main" id="{DA675BC0-DE7B-EC33-6808-5E3705865BE7}"/>
              </a:ext>
            </a:extLst>
          </p:cNvPr>
          <p:cNvSpPr/>
          <p:nvPr/>
        </p:nvSpPr>
        <p:spPr>
          <a:xfrm>
            <a:off x="6184517" y="3530937"/>
            <a:ext cx="612079" cy="1038774"/>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106" name="圆角矩形 105">
            <a:extLst>
              <a:ext uri="{FF2B5EF4-FFF2-40B4-BE49-F238E27FC236}">
                <a16:creationId xmlns:a16="http://schemas.microsoft.com/office/drawing/2014/main" id="{D5C4BCF8-BF27-0877-F54F-21B4D002FA83}"/>
              </a:ext>
            </a:extLst>
          </p:cNvPr>
          <p:cNvSpPr/>
          <p:nvPr/>
        </p:nvSpPr>
        <p:spPr>
          <a:xfrm>
            <a:off x="6184517" y="4928151"/>
            <a:ext cx="599528" cy="718220"/>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dirty="0"/>
          </a:p>
        </p:txBody>
      </p:sp>
      <p:sp>
        <p:nvSpPr>
          <p:cNvPr id="107" name="文本框 106">
            <a:extLst>
              <a:ext uri="{FF2B5EF4-FFF2-40B4-BE49-F238E27FC236}">
                <a16:creationId xmlns:a16="http://schemas.microsoft.com/office/drawing/2014/main" id="{656A1265-0432-628D-03A9-83D7D780F368}"/>
              </a:ext>
            </a:extLst>
          </p:cNvPr>
          <p:cNvSpPr txBox="1"/>
          <p:nvPr/>
        </p:nvSpPr>
        <p:spPr>
          <a:xfrm>
            <a:off x="6184517" y="3969971"/>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108" name="文本框 107">
            <a:extLst>
              <a:ext uri="{FF2B5EF4-FFF2-40B4-BE49-F238E27FC236}">
                <a16:creationId xmlns:a16="http://schemas.microsoft.com/office/drawing/2014/main" id="{59B10D0C-C0C6-A9A1-419D-E36DCD9D26C3}"/>
              </a:ext>
            </a:extLst>
          </p:cNvPr>
          <p:cNvSpPr txBox="1"/>
          <p:nvPr/>
        </p:nvSpPr>
        <p:spPr>
          <a:xfrm>
            <a:off x="6194594" y="5143902"/>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109" name="直线箭头连接符 108">
            <a:extLst>
              <a:ext uri="{FF2B5EF4-FFF2-40B4-BE49-F238E27FC236}">
                <a16:creationId xmlns:a16="http://schemas.microsoft.com/office/drawing/2014/main" id="{000A02A6-B973-807E-28EB-13176C83A54C}"/>
              </a:ext>
            </a:extLst>
          </p:cNvPr>
          <p:cNvCxnSpPr>
            <a:cxnSpLocks/>
          </p:cNvCxnSpPr>
          <p:nvPr/>
        </p:nvCxnSpPr>
        <p:spPr>
          <a:xfrm flipV="1">
            <a:off x="6858528" y="4489071"/>
            <a:ext cx="2141486" cy="33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10" name="图片 109">
            <a:extLst>
              <a:ext uri="{FF2B5EF4-FFF2-40B4-BE49-F238E27FC236}">
                <a16:creationId xmlns:a16="http://schemas.microsoft.com/office/drawing/2014/main" id="{EFD9561F-B17D-6F50-6166-44427FC5E225}"/>
              </a:ext>
            </a:extLst>
          </p:cNvPr>
          <p:cNvPicPr>
            <a:picLocks/>
          </p:cNvPicPr>
          <p:nvPr/>
        </p:nvPicPr>
        <p:blipFill>
          <a:blip r:embed="rId11"/>
          <a:stretch>
            <a:fillRect/>
          </a:stretch>
        </p:blipFill>
        <p:spPr>
          <a:xfrm>
            <a:off x="6664618" y="4401496"/>
            <a:ext cx="119427" cy="147367"/>
          </a:xfrm>
          <a:prstGeom prst="rect">
            <a:avLst/>
          </a:prstGeom>
        </p:spPr>
      </p:pic>
      <p:cxnSp>
        <p:nvCxnSpPr>
          <p:cNvPr id="111" name="直线连接符 110">
            <a:extLst>
              <a:ext uri="{FF2B5EF4-FFF2-40B4-BE49-F238E27FC236}">
                <a16:creationId xmlns:a16="http://schemas.microsoft.com/office/drawing/2014/main" id="{51641383-1B18-529B-1508-02693F97D2EE}"/>
              </a:ext>
            </a:extLst>
          </p:cNvPr>
          <p:cNvCxnSpPr>
            <a:cxnSpLocks/>
          </p:cNvCxnSpPr>
          <p:nvPr/>
        </p:nvCxnSpPr>
        <p:spPr>
          <a:xfrm>
            <a:off x="8925109" y="4128587"/>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sp>
        <p:nvSpPr>
          <p:cNvPr id="112" name="矩形 111">
            <a:extLst>
              <a:ext uri="{FF2B5EF4-FFF2-40B4-BE49-F238E27FC236}">
                <a16:creationId xmlns:a16="http://schemas.microsoft.com/office/drawing/2014/main" id="{B38990B0-B1EB-F5D0-8158-86D476B360BD}"/>
              </a:ext>
            </a:extLst>
          </p:cNvPr>
          <p:cNvSpPr>
            <a:spLocks/>
          </p:cNvSpPr>
          <p:nvPr/>
        </p:nvSpPr>
        <p:spPr>
          <a:xfrm>
            <a:off x="8794728" y="4357324"/>
            <a:ext cx="260233" cy="24481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6" dirty="0"/>
          </a:p>
        </p:txBody>
      </p:sp>
      <p:sp>
        <p:nvSpPr>
          <p:cNvPr id="113" name="圆角矩形 112">
            <a:extLst>
              <a:ext uri="{FF2B5EF4-FFF2-40B4-BE49-F238E27FC236}">
                <a16:creationId xmlns:a16="http://schemas.microsoft.com/office/drawing/2014/main" id="{0B014C0B-70A6-9898-0B79-09D25124ABC7}"/>
              </a:ext>
            </a:extLst>
          </p:cNvPr>
          <p:cNvSpPr/>
          <p:nvPr/>
        </p:nvSpPr>
        <p:spPr>
          <a:xfrm>
            <a:off x="8598356" y="4649770"/>
            <a:ext cx="1676418" cy="277685"/>
          </a:xfrm>
          <a:prstGeom prst="roundRect">
            <a:avLst/>
          </a:prstGeom>
          <a:solidFill>
            <a:schemeClr val="bg1">
              <a:lumMod val="95000"/>
            </a:schemeClr>
          </a:solid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143" dirty="0">
                <a:solidFill>
                  <a:schemeClr val="tx1"/>
                </a:solidFill>
                <a:cs typeface="Arial" panose="020B0604020202020204" pitchFamily="34" charset="0"/>
              </a:rPr>
              <a:t>classical</a:t>
            </a:r>
            <a:r>
              <a:rPr kumimoji="1" lang="zh-CN" altLang="en-US" sz="1143" dirty="0">
                <a:solidFill>
                  <a:schemeClr val="tx1"/>
                </a:solidFill>
                <a:cs typeface="Arial" panose="020B0604020202020204" pitchFamily="34" charset="0"/>
              </a:rPr>
              <a:t> </a:t>
            </a:r>
            <a:r>
              <a:rPr kumimoji="1" lang="en-US" altLang="zh-CN" sz="1143" dirty="0">
                <a:solidFill>
                  <a:schemeClr val="tx1"/>
                </a:solidFill>
                <a:cs typeface="Arial" panose="020B0604020202020204" pitchFamily="34" charset="0"/>
              </a:rPr>
              <a:t>communication</a:t>
            </a:r>
            <a:r>
              <a:rPr kumimoji="1" lang="zh-CN" altLang="en-US" sz="1143" dirty="0">
                <a:solidFill>
                  <a:schemeClr val="tx1"/>
                </a:solidFill>
                <a:cs typeface="Arial" panose="020B0604020202020204" pitchFamily="34" charset="0"/>
              </a:rPr>
              <a:t> </a:t>
            </a:r>
          </a:p>
        </p:txBody>
      </p:sp>
      <p:sp>
        <p:nvSpPr>
          <p:cNvPr id="114" name="左右箭头 113">
            <a:extLst>
              <a:ext uri="{FF2B5EF4-FFF2-40B4-BE49-F238E27FC236}">
                <a16:creationId xmlns:a16="http://schemas.microsoft.com/office/drawing/2014/main" id="{4E2FCDDF-96F4-BD80-6D27-BC0C4A500C8E}"/>
              </a:ext>
            </a:extLst>
          </p:cNvPr>
          <p:cNvSpPr/>
          <p:nvPr/>
        </p:nvSpPr>
        <p:spPr>
          <a:xfrm rot="5400000">
            <a:off x="8243428" y="4672669"/>
            <a:ext cx="574429" cy="197379"/>
          </a:xfrm>
          <a:prstGeom prst="leftRightArrow">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115" name="矩形 114">
            <a:extLst>
              <a:ext uri="{FF2B5EF4-FFF2-40B4-BE49-F238E27FC236}">
                <a16:creationId xmlns:a16="http://schemas.microsoft.com/office/drawing/2014/main" id="{30DF8868-1DF8-3A51-30C9-AF7EFE4C6C66}"/>
              </a:ext>
            </a:extLst>
          </p:cNvPr>
          <p:cNvSpPr>
            <a:spLocks/>
          </p:cNvSpPr>
          <p:nvPr/>
        </p:nvSpPr>
        <p:spPr>
          <a:xfrm>
            <a:off x="2733100" y="22605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16" name="矩形 115">
            <a:extLst>
              <a:ext uri="{FF2B5EF4-FFF2-40B4-BE49-F238E27FC236}">
                <a16:creationId xmlns:a16="http://schemas.microsoft.com/office/drawing/2014/main" id="{6335DFC3-6C4A-D74C-EE23-EA23B6663691}"/>
              </a:ext>
            </a:extLst>
          </p:cNvPr>
          <p:cNvSpPr>
            <a:spLocks/>
          </p:cNvSpPr>
          <p:nvPr/>
        </p:nvSpPr>
        <p:spPr>
          <a:xfrm>
            <a:off x="3842209"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17" name="矩形 116">
            <a:extLst>
              <a:ext uri="{FF2B5EF4-FFF2-40B4-BE49-F238E27FC236}">
                <a16:creationId xmlns:a16="http://schemas.microsoft.com/office/drawing/2014/main" id="{375F6590-E92D-2162-19D0-136C208F24FA}"/>
              </a:ext>
            </a:extLst>
          </p:cNvPr>
          <p:cNvSpPr>
            <a:spLocks/>
          </p:cNvSpPr>
          <p:nvPr/>
        </p:nvSpPr>
        <p:spPr>
          <a:xfrm>
            <a:off x="3856661" y="184542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18" name="矩形 117">
            <a:extLst>
              <a:ext uri="{FF2B5EF4-FFF2-40B4-BE49-F238E27FC236}">
                <a16:creationId xmlns:a16="http://schemas.microsoft.com/office/drawing/2014/main" id="{365FD0E7-FE0F-7095-BA43-7C7816C086C7}"/>
              </a:ext>
            </a:extLst>
          </p:cNvPr>
          <p:cNvSpPr>
            <a:spLocks/>
          </p:cNvSpPr>
          <p:nvPr/>
        </p:nvSpPr>
        <p:spPr>
          <a:xfrm>
            <a:off x="4362042" y="30881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19" name="矩形 118">
            <a:extLst>
              <a:ext uri="{FF2B5EF4-FFF2-40B4-BE49-F238E27FC236}">
                <a16:creationId xmlns:a16="http://schemas.microsoft.com/office/drawing/2014/main" id="{3149D9BB-5D8C-50E5-EC57-65EA61D358F9}"/>
              </a:ext>
            </a:extLst>
          </p:cNvPr>
          <p:cNvSpPr/>
          <p:nvPr/>
        </p:nvSpPr>
        <p:spPr>
          <a:xfrm>
            <a:off x="7120217" y="183286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120" name="矩形 119">
            <a:extLst>
              <a:ext uri="{FF2B5EF4-FFF2-40B4-BE49-F238E27FC236}">
                <a16:creationId xmlns:a16="http://schemas.microsoft.com/office/drawing/2014/main" id="{75A0285D-0DDF-616E-D63F-19CE650D4F27}"/>
              </a:ext>
            </a:extLst>
          </p:cNvPr>
          <p:cNvSpPr>
            <a:spLocks/>
          </p:cNvSpPr>
          <p:nvPr/>
        </p:nvSpPr>
        <p:spPr>
          <a:xfrm>
            <a:off x="7120216" y="225081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21" name="矩形 120">
            <a:extLst>
              <a:ext uri="{FF2B5EF4-FFF2-40B4-BE49-F238E27FC236}">
                <a16:creationId xmlns:a16="http://schemas.microsoft.com/office/drawing/2014/main" id="{8F5074BF-63C1-BC07-4E65-E94E775A2E45}"/>
              </a:ext>
            </a:extLst>
          </p:cNvPr>
          <p:cNvSpPr>
            <a:spLocks/>
          </p:cNvSpPr>
          <p:nvPr/>
        </p:nvSpPr>
        <p:spPr>
          <a:xfrm>
            <a:off x="7121417" y="30787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22" name="矩形 121">
            <a:extLst>
              <a:ext uri="{FF2B5EF4-FFF2-40B4-BE49-F238E27FC236}">
                <a16:creationId xmlns:a16="http://schemas.microsoft.com/office/drawing/2014/main" id="{43921096-C6E4-F845-8F7B-D3612BD89F3D}"/>
              </a:ext>
            </a:extLst>
          </p:cNvPr>
          <p:cNvSpPr>
            <a:spLocks/>
          </p:cNvSpPr>
          <p:nvPr/>
        </p:nvSpPr>
        <p:spPr>
          <a:xfrm>
            <a:off x="7672384" y="30787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123" name="矩形 122">
            <a:extLst>
              <a:ext uri="{FF2B5EF4-FFF2-40B4-BE49-F238E27FC236}">
                <a16:creationId xmlns:a16="http://schemas.microsoft.com/office/drawing/2014/main" id="{778139FF-BC9F-16D9-C855-B3660AC0CF7F}"/>
              </a:ext>
            </a:extLst>
          </p:cNvPr>
          <p:cNvSpPr>
            <a:spLocks/>
          </p:cNvSpPr>
          <p:nvPr/>
        </p:nvSpPr>
        <p:spPr>
          <a:xfrm>
            <a:off x="8223351" y="30787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24" name="矩形 123">
            <a:extLst>
              <a:ext uri="{FF2B5EF4-FFF2-40B4-BE49-F238E27FC236}">
                <a16:creationId xmlns:a16="http://schemas.microsoft.com/office/drawing/2014/main" id="{BA081CE8-2530-44CC-20AC-BDD4839731DB}"/>
              </a:ext>
            </a:extLst>
          </p:cNvPr>
          <p:cNvSpPr>
            <a:spLocks/>
          </p:cNvSpPr>
          <p:nvPr/>
        </p:nvSpPr>
        <p:spPr>
          <a:xfrm>
            <a:off x="8774318" y="30787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25" name="矩形 124">
            <a:extLst>
              <a:ext uri="{FF2B5EF4-FFF2-40B4-BE49-F238E27FC236}">
                <a16:creationId xmlns:a16="http://schemas.microsoft.com/office/drawing/2014/main" id="{579A9EDB-4C7B-765E-6CA7-C083DF1142FD}"/>
              </a:ext>
            </a:extLst>
          </p:cNvPr>
          <p:cNvSpPr>
            <a:spLocks/>
          </p:cNvSpPr>
          <p:nvPr/>
        </p:nvSpPr>
        <p:spPr>
          <a:xfrm>
            <a:off x="9325286" y="307955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26" name="矩形 125">
            <a:extLst>
              <a:ext uri="{FF2B5EF4-FFF2-40B4-BE49-F238E27FC236}">
                <a16:creationId xmlns:a16="http://schemas.microsoft.com/office/drawing/2014/main" id="{CC2CE918-03C4-8423-93DD-1D19E8CA9904}"/>
              </a:ext>
            </a:extLst>
          </p:cNvPr>
          <p:cNvSpPr>
            <a:spLocks/>
          </p:cNvSpPr>
          <p:nvPr/>
        </p:nvSpPr>
        <p:spPr>
          <a:xfrm>
            <a:off x="7666186" y="224282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27" name="矩形 126">
            <a:extLst>
              <a:ext uri="{FF2B5EF4-FFF2-40B4-BE49-F238E27FC236}">
                <a16:creationId xmlns:a16="http://schemas.microsoft.com/office/drawing/2014/main" id="{4A1C3AB3-BA4C-204F-9243-34C9DD05A7FD}"/>
              </a:ext>
            </a:extLst>
          </p:cNvPr>
          <p:cNvSpPr>
            <a:spLocks/>
          </p:cNvSpPr>
          <p:nvPr/>
        </p:nvSpPr>
        <p:spPr>
          <a:xfrm>
            <a:off x="8219608" y="1834709"/>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128" name="矩形 127">
            <a:extLst>
              <a:ext uri="{FF2B5EF4-FFF2-40B4-BE49-F238E27FC236}">
                <a16:creationId xmlns:a16="http://schemas.microsoft.com/office/drawing/2014/main" id="{4B125EB1-A8BA-2964-DD5C-6B3F3D40A23D}"/>
              </a:ext>
            </a:extLst>
          </p:cNvPr>
          <p:cNvSpPr>
            <a:spLocks/>
          </p:cNvSpPr>
          <p:nvPr/>
        </p:nvSpPr>
        <p:spPr>
          <a:xfrm>
            <a:off x="8224003" y="223948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29" name="矩形 128">
            <a:extLst>
              <a:ext uri="{FF2B5EF4-FFF2-40B4-BE49-F238E27FC236}">
                <a16:creationId xmlns:a16="http://schemas.microsoft.com/office/drawing/2014/main" id="{74A6086A-907A-DD90-D222-7D3708224891}"/>
              </a:ext>
            </a:extLst>
          </p:cNvPr>
          <p:cNvSpPr>
            <a:spLocks/>
          </p:cNvSpPr>
          <p:nvPr/>
        </p:nvSpPr>
        <p:spPr>
          <a:xfrm>
            <a:off x="8776228" y="1838790"/>
            <a:ext cx="320635" cy="248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cxnSp>
        <p:nvCxnSpPr>
          <p:cNvPr id="130" name="直线连接符 129">
            <a:extLst>
              <a:ext uri="{FF2B5EF4-FFF2-40B4-BE49-F238E27FC236}">
                <a16:creationId xmlns:a16="http://schemas.microsoft.com/office/drawing/2014/main" id="{57AF7607-DCBE-47A6-62D9-B5B01F8E1609}"/>
              </a:ext>
            </a:extLst>
          </p:cNvPr>
          <p:cNvCxnSpPr>
            <a:cxnSpLocks/>
          </p:cNvCxnSpPr>
          <p:nvPr/>
        </p:nvCxnSpPr>
        <p:spPr>
          <a:xfrm>
            <a:off x="7828034" y="3721778"/>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sp>
        <p:nvSpPr>
          <p:cNvPr id="131" name="矩形 130">
            <a:extLst>
              <a:ext uri="{FF2B5EF4-FFF2-40B4-BE49-F238E27FC236}">
                <a16:creationId xmlns:a16="http://schemas.microsoft.com/office/drawing/2014/main" id="{7DEB9E73-318B-A27E-77CC-B96F3416409F}"/>
              </a:ext>
            </a:extLst>
          </p:cNvPr>
          <p:cNvSpPr/>
          <p:nvPr/>
        </p:nvSpPr>
        <p:spPr>
          <a:xfrm>
            <a:off x="7120503" y="358779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132" name="矩形 131">
            <a:extLst>
              <a:ext uri="{FF2B5EF4-FFF2-40B4-BE49-F238E27FC236}">
                <a16:creationId xmlns:a16="http://schemas.microsoft.com/office/drawing/2014/main" id="{E717AE4C-04B5-C87B-16B7-1C2AAB5C10E6}"/>
              </a:ext>
            </a:extLst>
          </p:cNvPr>
          <p:cNvSpPr>
            <a:spLocks/>
          </p:cNvSpPr>
          <p:nvPr/>
        </p:nvSpPr>
        <p:spPr>
          <a:xfrm>
            <a:off x="7120502" y="4005740"/>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33" name="矩形 132">
            <a:extLst>
              <a:ext uri="{FF2B5EF4-FFF2-40B4-BE49-F238E27FC236}">
                <a16:creationId xmlns:a16="http://schemas.microsoft.com/office/drawing/2014/main" id="{E68BE5A6-DA39-7F5A-319D-08DC8DE386CF}"/>
              </a:ext>
            </a:extLst>
          </p:cNvPr>
          <p:cNvSpPr>
            <a:spLocks/>
          </p:cNvSpPr>
          <p:nvPr/>
        </p:nvSpPr>
        <p:spPr>
          <a:xfrm>
            <a:off x="7666472" y="399775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34" name="矩形 133">
            <a:extLst>
              <a:ext uri="{FF2B5EF4-FFF2-40B4-BE49-F238E27FC236}">
                <a16:creationId xmlns:a16="http://schemas.microsoft.com/office/drawing/2014/main" id="{8FB570B4-7C59-6A68-3808-4883EC1F10E2}"/>
              </a:ext>
            </a:extLst>
          </p:cNvPr>
          <p:cNvSpPr>
            <a:spLocks/>
          </p:cNvSpPr>
          <p:nvPr/>
        </p:nvSpPr>
        <p:spPr>
          <a:xfrm>
            <a:off x="8219894" y="3589638"/>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135" name="矩形 134">
            <a:extLst>
              <a:ext uri="{FF2B5EF4-FFF2-40B4-BE49-F238E27FC236}">
                <a16:creationId xmlns:a16="http://schemas.microsoft.com/office/drawing/2014/main" id="{D69DECBD-4ADA-0CFC-5B18-6C51F113D98E}"/>
              </a:ext>
            </a:extLst>
          </p:cNvPr>
          <p:cNvSpPr>
            <a:spLocks/>
          </p:cNvSpPr>
          <p:nvPr/>
        </p:nvSpPr>
        <p:spPr>
          <a:xfrm>
            <a:off x="8224289" y="3994412"/>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36" name="矩形 135">
            <a:extLst>
              <a:ext uri="{FF2B5EF4-FFF2-40B4-BE49-F238E27FC236}">
                <a16:creationId xmlns:a16="http://schemas.microsoft.com/office/drawing/2014/main" id="{7010D91E-8F4E-8BF5-00C1-D22C035321C8}"/>
              </a:ext>
            </a:extLst>
          </p:cNvPr>
          <p:cNvSpPr>
            <a:spLocks/>
          </p:cNvSpPr>
          <p:nvPr/>
        </p:nvSpPr>
        <p:spPr>
          <a:xfrm>
            <a:off x="8771219" y="3590918"/>
            <a:ext cx="320635" cy="248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37" name="矩形 136">
            <a:extLst>
              <a:ext uri="{FF2B5EF4-FFF2-40B4-BE49-F238E27FC236}">
                <a16:creationId xmlns:a16="http://schemas.microsoft.com/office/drawing/2014/main" id="{E79C29C3-DD8B-BE62-2787-3503764F3C3B}"/>
              </a:ext>
            </a:extLst>
          </p:cNvPr>
          <p:cNvSpPr>
            <a:spLocks/>
          </p:cNvSpPr>
          <p:nvPr/>
        </p:nvSpPr>
        <p:spPr>
          <a:xfrm>
            <a:off x="7156372"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38" name="矩形 137">
            <a:extLst>
              <a:ext uri="{FF2B5EF4-FFF2-40B4-BE49-F238E27FC236}">
                <a16:creationId xmlns:a16="http://schemas.microsoft.com/office/drawing/2014/main" id="{26D53312-0508-7149-AC31-E59197600D12}"/>
              </a:ext>
            </a:extLst>
          </p:cNvPr>
          <p:cNvSpPr>
            <a:spLocks/>
          </p:cNvSpPr>
          <p:nvPr/>
        </p:nvSpPr>
        <p:spPr>
          <a:xfrm>
            <a:off x="7708522"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139" name="矩形 138">
            <a:extLst>
              <a:ext uri="{FF2B5EF4-FFF2-40B4-BE49-F238E27FC236}">
                <a16:creationId xmlns:a16="http://schemas.microsoft.com/office/drawing/2014/main" id="{F60BC9F7-AB20-E6E7-C09D-20973383194B}"/>
              </a:ext>
            </a:extLst>
          </p:cNvPr>
          <p:cNvSpPr>
            <a:spLocks/>
          </p:cNvSpPr>
          <p:nvPr/>
        </p:nvSpPr>
        <p:spPr>
          <a:xfrm>
            <a:off x="8260672"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40" name="矩形 139">
            <a:extLst>
              <a:ext uri="{FF2B5EF4-FFF2-40B4-BE49-F238E27FC236}">
                <a16:creationId xmlns:a16="http://schemas.microsoft.com/office/drawing/2014/main" id="{C0A65108-7332-BC7A-E312-513269774364}"/>
              </a:ext>
            </a:extLst>
          </p:cNvPr>
          <p:cNvSpPr>
            <a:spLocks/>
          </p:cNvSpPr>
          <p:nvPr/>
        </p:nvSpPr>
        <p:spPr>
          <a:xfrm>
            <a:off x="8784520"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41" name="矩形 140">
            <a:extLst>
              <a:ext uri="{FF2B5EF4-FFF2-40B4-BE49-F238E27FC236}">
                <a16:creationId xmlns:a16="http://schemas.microsoft.com/office/drawing/2014/main" id="{D1DB297C-A3A7-7D9C-3674-554AF52A8C74}"/>
              </a:ext>
            </a:extLst>
          </p:cNvPr>
          <p:cNvSpPr>
            <a:spLocks/>
          </p:cNvSpPr>
          <p:nvPr/>
        </p:nvSpPr>
        <p:spPr>
          <a:xfrm>
            <a:off x="9304353" y="5334503"/>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cxnSp>
        <p:nvCxnSpPr>
          <p:cNvPr id="142" name="直线箭头连接符 141">
            <a:extLst>
              <a:ext uri="{FF2B5EF4-FFF2-40B4-BE49-F238E27FC236}">
                <a16:creationId xmlns:a16="http://schemas.microsoft.com/office/drawing/2014/main" id="{8694F9FE-B97A-68FF-FE5B-FBA64CA7D490}"/>
              </a:ext>
            </a:extLst>
          </p:cNvPr>
          <p:cNvCxnSpPr>
            <a:cxnSpLocks/>
          </p:cNvCxnSpPr>
          <p:nvPr/>
        </p:nvCxnSpPr>
        <p:spPr>
          <a:xfrm>
            <a:off x="5234693" y="3904926"/>
            <a:ext cx="388126"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线箭头连接符 142">
            <a:extLst>
              <a:ext uri="{FF2B5EF4-FFF2-40B4-BE49-F238E27FC236}">
                <a16:creationId xmlns:a16="http://schemas.microsoft.com/office/drawing/2014/main" id="{6D6884A8-CDA0-665B-E30B-BAE0953A947A}"/>
              </a:ext>
            </a:extLst>
          </p:cNvPr>
          <p:cNvCxnSpPr>
            <a:cxnSpLocks/>
          </p:cNvCxnSpPr>
          <p:nvPr/>
        </p:nvCxnSpPr>
        <p:spPr>
          <a:xfrm>
            <a:off x="1976939" y="4815353"/>
            <a:ext cx="311894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线箭头连接符 143">
            <a:extLst>
              <a:ext uri="{FF2B5EF4-FFF2-40B4-BE49-F238E27FC236}">
                <a16:creationId xmlns:a16="http://schemas.microsoft.com/office/drawing/2014/main" id="{FF2D3EE5-9D68-3A50-8A72-AEA6AA66CB60}"/>
              </a:ext>
            </a:extLst>
          </p:cNvPr>
          <p:cNvCxnSpPr>
            <a:cxnSpLocks/>
          </p:cNvCxnSpPr>
          <p:nvPr/>
        </p:nvCxnSpPr>
        <p:spPr>
          <a:xfrm>
            <a:off x="1964389" y="4311172"/>
            <a:ext cx="3118675" cy="47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线箭头连接符 144">
            <a:extLst>
              <a:ext uri="{FF2B5EF4-FFF2-40B4-BE49-F238E27FC236}">
                <a16:creationId xmlns:a16="http://schemas.microsoft.com/office/drawing/2014/main" id="{7A56E29C-92EA-FFDE-2E25-6E126C334448}"/>
              </a:ext>
            </a:extLst>
          </p:cNvPr>
          <p:cNvCxnSpPr>
            <a:cxnSpLocks/>
          </p:cNvCxnSpPr>
          <p:nvPr/>
        </p:nvCxnSpPr>
        <p:spPr>
          <a:xfrm>
            <a:off x="1964389" y="3904926"/>
            <a:ext cx="311867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6" name="图片 145">
            <a:extLst>
              <a:ext uri="{FF2B5EF4-FFF2-40B4-BE49-F238E27FC236}">
                <a16:creationId xmlns:a16="http://schemas.microsoft.com/office/drawing/2014/main" id="{3EF6CECA-1FFF-EF9C-8329-E65E592BA2F2}"/>
              </a:ext>
            </a:extLst>
          </p:cNvPr>
          <p:cNvPicPr>
            <a:picLocks noChangeAspect="1"/>
          </p:cNvPicPr>
          <p:nvPr/>
        </p:nvPicPr>
        <p:blipFill>
          <a:blip r:embed="rId2"/>
          <a:stretch>
            <a:fillRect/>
          </a:stretch>
        </p:blipFill>
        <p:spPr>
          <a:xfrm>
            <a:off x="1773251" y="3851708"/>
            <a:ext cx="117978" cy="101518"/>
          </a:xfrm>
          <a:prstGeom prst="rect">
            <a:avLst/>
          </a:prstGeom>
        </p:spPr>
      </p:pic>
      <p:pic>
        <p:nvPicPr>
          <p:cNvPr id="147" name="图片 146">
            <a:extLst>
              <a:ext uri="{FF2B5EF4-FFF2-40B4-BE49-F238E27FC236}">
                <a16:creationId xmlns:a16="http://schemas.microsoft.com/office/drawing/2014/main" id="{72CC62EE-2E1A-C986-70AB-F0948A0A9C68}"/>
              </a:ext>
            </a:extLst>
          </p:cNvPr>
          <p:cNvPicPr>
            <a:picLocks noChangeAspect="1"/>
          </p:cNvPicPr>
          <p:nvPr/>
        </p:nvPicPr>
        <p:blipFill>
          <a:blip r:embed="rId3"/>
          <a:stretch>
            <a:fillRect/>
          </a:stretch>
        </p:blipFill>
        <p:spPr>
          <a:xfrm>
            <a:off x="1771801" y="4260007"/>
            <a:ext cx="119428" cy="100695"/>
          </a:xfrm>
          <a:prstGeom prst="rect">
            <a:avLst/>
          </a:prstGeom>
        </p:spPr>
      </p:pic>
      <p:cxnSp>
        <p:nvCxnSpPr>
          <p:cNvPr id="148" name="直线箭头连接符 147">
            <a:extLst>
              <a:ext uri="{FF2B5EF4-FFF2-40B4-BE49-F238E27FC236}">
                <a16:creationId xmlns:a16="http://schemas.microsoft.com/office/drawing/2014/main" id="{D39E4CC7-C877-8D8B-4998-CE10AEE6110D}"/>
              </a:ext>
            </a:extLst>
          </p:cNvPr>
          <p:cNvCxnSpPr>
            <a:cxnSpLocks/>
          </p:cNvCxnSpPr>
          <p:nvPr/>
        </p:nvCxnSpPr>
        <p:spPr>
          <a:xfrm>
            <a:off x="1976939" y="5231072"/>
            <a:ext cx="3117474" cy="106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9" name="图片 148">
            <a:extLst>
              <a:ext uri="{FF2B5EF4-FFF2-40B4-BE49-F238E27FC236}">
                <a16:creationId xmlns:a16="http://schemas.microsoft.com/office/drawing/2014/main" id="{4042D41E-1527-68D7-4456-B5CCEF95773D}"/>
              </a:ext>
            </a:extLst>
          </p:cNvPr>
          <p:cNvPicPr>
            <a:picLocks noChangeAspect="1"/>
          </p:cNvPicPr>
          <p:nvPr/>
        </p:nvPicPr>
        <p:blipFill>
          <a:blip r:embed="rId4"/>
          <a:stretch>
            <a:fillRect/>
          </a:stretch>
        </p:blipFill>
        <p:spPr>
          <a:xfrm>
            <a:off x="1784352" y="5162429"/>
            <a:ext cx="119428" cy="99920"/>
          </a:xfrm>
          <a:prstGeom prst="rect">
            <a:avLst/>
          </a:prstGeom>
        </p:spPr>
      </p:pic>
      <p:pic>
        <p:nvPicPr>
          <p:cNvPr id="150" name="图片 149">
            <a:extLst>
              <a:ext uri="{FF2B5EF4-FFF2-40B4-BE49-F238E27FC236}">
                <a16:creationId xmlns:a16="http://schemas.microsoft.com/office/drawing/2014/main" id="{4DB2F5FA-9866-2C37-D7FD-77A0981550C3}"/>
              </a:ext>
            </a:extLst>
          </p:cNvPr>
          <p:cNvPicPr>
            <a:picLocks/>
          </p:cNvPicPr>
          <p:nvPr/>
        </p:nvPicPr>
        <p:blipFill>
          <a:blip r:embed="rId5"/>
          <a:stretch>
            <a:fillRect/>
          </a:stretch>
        </p:blipFill>
        <p:spPr>
          <a:xfrm>
            <a:off x="1776336" y="4687612"/>
            <a:ext cx="119428" cy="170533"/>
          </a:xfrm>
          <a:prstGeom prst="rect">
            <a:avLst/>
          </a:prstGeom>
        </p:spPr>
      </p:pic>
      <p:pic>
        <p:nvPicPr>
          <p:cNvPr id="151" name="图片 150">
            <a:extLst>
              <a:ext uri="{FF2B5EF4-FFF2-40B4-BE49-F238E27FC236}">
                <a16:creationId xmlns:a16="http://schemas.microsoft.com/office/drawing/2014/main" id="{E9686E45-75DB-0D9D-96B4-A55E4C8AFC17}"/>
              </a:ext>
            </a:extLst>
          </p:cNvPr>
          <p:cNvPicPr>
            <a:picLocks/>
          </p:cNvPicPr>
          <p:nvPr/>
        </p:nvPicPr>
        <p:blipFill>
          <a:blip r:embed="rId10"/>
          <a:stretch>
            <a:fillRect/>
          </a:stretch>
        </p:blipFill>
        <p:spPr>
          <a:xfrm>
            <a:off x="5007701" y="4191911"/>
            <a:ext cx="260233" cy="244810"/>
          </a:xfrm>
          <a:prstGeom prst="rect">
            <a:avLst/>
          </a:prstGeom>
        </p:spPr>
      </p:pic>
      <p:cxnSp>
        <p:nvCxnSpPr>
          <p:cNvPr id="152" name="直线箭头连接符 151">
            <a:extLst>
              <a:ext uri="{FF2B5EF4-FFF2-40B4-BE49-F238E27FC236}">
                <a16:creationId xmlns:a16="http://schemas.microsoft.com/office/drawing/2014/main" id="{EF226433-4D4A-BA15-4010-94925555C2F3}"/>
              </a:ext>
            </a:extLst>
          </p:cNvPr>
          <p:cNvCxnSpPr>
            <a:cxnSpLocks/>
          </p:cNvCxnSpPr>
          <p:nvPr/>
        </p:nvCxnSpPr>
        <p:spPr>
          <a:xfrm>
            <a:off x="5261159" y="4315900"/>
            <a:ext cx="354885"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3" name="图片 152">
            <a:extLst>
              <a:ext uri="{FF2B5EF4-FFF2-40B4-BE49-F238E27FC236}">
                <a16:creationId xmlns:a16="http://schemas.microsoft.com/office/drawing/2014/main" id="{E2982A3C-B5F4-60D1-3C36-98E24E5BB183}"/>
              </a:ext>
            </a:extLst>
          </p:cNvPr>
          <p:cNvPicPr>
            <a:picLocks/>
          </p:cNvPicPr>
          <p:nvPr/>
        </p:nvPicPr>
        <p:blipFill>
          <a:blip r:embed="rId10"/>
          <a:stretch>
            <a:fillRect/>
          </a:stretch>
        </p:blipFill>
        <p:spPr>
          <a:xfrm>
            <a:off x="5007701" y="3776365"/>
            <a:ext cx="260233" cy="244810"/>
          </a:xfrm>
          <a:prstGeom prst="rect">
            <a:avLst/>
          </a:prstGeom>
        </p:spPr>
      </p:pic>
      <p:cxnSp>
        <p:nvCxnSpPr>
          <p:cNvPr id="154" name="直线箭头连接符 153">
            <a:extLst>
              <a:ext uri="{FF2B5EF4-FFF2-40B4-BE49-F238E27FC236}">
                <a16:creationId xmlns:a16="http://schemas.microsoft.com/office/drawing/2014/main" id="{2BF90C46-17FA-7BD9-A958-9F5BEE19052C}"/>
              </a:ext>
            </a:extLst>
          </p:cNvPr>
          <p:cNvCxnSpPr>
            <a:cxnSpLocks/>
          </p:cNvCxnSpPr>
          <p:nvPr/>
        </p:nvCxnSpPr>
        <p:spPr>
          <a:xfrm>
            <a:off x="5051978" y="5240157"/>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55" name="图片 154">
            <a:extLst>
              <a:ext uri="{FF2B5EF4-FFF2-40B4-BE49-F238E27FC236}">
                <a16:creationId xmlns:a16="http://schemas.microsoft.com/office/drawing/2014/main" id="{C2F1E240-4F9B-4D17-1C6D-815304FD99E2}"/>
              </a:ext>
            </a:extLst>
          </p:cNvPr>
          <p:cNvPicPr>
            <a:picLocks/>
          </p:cNvPicPr>
          <p:nvPr/>
        </p:nvPicPr>
        <p:blipFill>
          <a:blip r:embed="rId10"/>
          <a:stretch>
            <a:fillRect/>
          </a:stretch>
        </p:blipFill>
        <p:spPr>
          <a:xfrm>
            <a:off x="5016468" y="5119330"/>
            <a:ext cx="260233" cy="244810"/>
          </a:xfrm>
          <a:prstGeom prst="rect">
            <a:avLst/>
          </a:prstGeom>
        </p:spPr>
      </p:pic>
      <p:sp>
        <p:nvSpPr>
          <p:cNvPr id="156" name="圆角矩形 155">
            <a:extLst>
              <a:ext uri="{FF2B5EF4-FFF2-40B4-BE49-F238E27FC236}">
                <a16:creationId xmlns:a16="http://schemas.microsoft.com/office/drawing/2014/main" id="{62DB5FD2-DE26-1A67-791E-3D5F2117521C}"/>
              </a:ext>
            </a:extLst>
          </p:cNvPr>
          <p:cNvSpPr/>
          <p:nvPr/>
        </p:nvSpPr>
        <p:spPr>
          <a:xfrm>
            <a:off x="1282984" y="3704575"/>
            <a:ext cx="612079" cy="800682"/>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a:p>
        </p:txBody>
      </p:sp>
      <p:sp>
        <p:nvSpPr>
          <p:cNvPr id="157" name="圆角矩形 156">
            <a:extLst>
              <a:ext uri="{FF2B5EF4-FFF2-40B4-BE49-F238E27FC236}">
                <a16:creationId xmlns:a16="http://schemas.microsoft.com/office/drawing/2014/main" id="{75E77482-642C-FEAD-6FAF-6ABD710AB865}"/>
              </a:ext>
            </a:extLst>
          </p:cNvPr>
          <p:cNvSpPr/>
          <p:nvPr/>
        </p:nvSpPr>
        <p:spPr>
          <a:xfrm>
            <a:off x="1296235" y="4682002"/>
            <a:ext cx="599528" cy="718220"/>
          </a:xfrm>
          <a:prstGeom prst="roundRect">
            <a:avLst/>
          </a:prstGeom>
          <a:solidFill>
            <a:schemeClr val="accent2">
              <a:alpha val="28156"/>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143" dirty="0"/>
          </a:p>
        </p:txBody>
      </p:sp>
      <p:sp>
        <p:nvSpPr>
          <p:cNvPr id="158" name="文本框 157">
            <a:extLst>
              <a:ext uri="{FF2B5EF4-FFF2-40B4-BE49-F238E27FC236}">
                <a16:creationId xmlns:a16="http://schemas.microsoft.com/office/drawing/2014/main" id="{4DCC92FA-4AD7-1D81-8B7B-3B903921D47D}"/>
              </a:ext>
            </a:extLst>
          </p:cNvPr>
          <p:cNvSpPr txBox="1"/>
          <p:nvPr/>
        </p:nvSpPr>
        <p:spPr>
          <a:xfrm>
            <a:off x="1271479" y="3968616"/>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1</a:t>
            </a:r>
            <a:r>
              <a:rPr kumimoji="1" lang="en-US" altLang="zh-CN" sz="1143" dirty="0"/>
              <a:t> </a:t>
            </a:r>
            <a:endParaRPr kumimoji="1" lang="zh-CN" altLang="en-US" sz="1143" dirty="0"/>
          </a:p>
        </p:txBody>
      </p:sp>
      <p:sp>
        <p:nvSpPr>
          <p:cNvPr id="159" name="文本框 158">
            <a:extLst>
              <a:ext uri="{FF2B5EF4-FFF2-40B4-BE49-F238E27FC236}">
                <a16:creationId xmlns:a16="http://schemas.microsoft.com/office/drawing/2014/main" id="{C168BAAE-C44B-85DB-BACC-9AFAC92496C6}"/>
              </a:ext>
            </a:extLst>
          </p:cNvPr>
          <p:cNvSpPr txBox="1"/>
          <p:nvPr/>
        </p:nvSpPr>
        <p:spPr>
          <a:xfrm>
            <a:off x="1306312" y="4897753"/>
            <a:ext cx="597981" cy="268215"/>
          </a:xfrm>
          <a:prstGeom prst="rect">
            <a:avLst/>
          </a:prstGeom>
          <a:noFill/>
        </p:spPr>
        <p:txBody>
          <a:bodyPr wrap="square" rtlCol="0">
            <a:spAutoFit/>
          </a:bodyPr>
          <a:lstStyle/>
          <a:p>
            <a:r>
              <a:rPr kumimoji="1" lang="en-US" altLang="zh-CN" sz="1143" dirty="0"/>
              <a:t>QPU</a:t>
            </a:r>
            <a:r>
              <a:rPr kumimoji="1" lang="en-US" altLang="zh-CN" sz="1143" baseline="-25000" dirty="0"/>
              <a:t>2</a:t>
            </a:r>
            <a:r>
              <a:rPr kumimoji="1" lang="en-US" altLang="zh-CN" sz="1143" dirty="0"/>
              <a:t> </a:t>
            </a:r>
            <a:endParaRPr kumimoji="1" lang="zh-CN" altLang="en-US" sz="1143" dirty="0"/>
          </a:p>
        </p:txBody>
      </p:sp>
      <p:cxnSp>
        <p:nvCxnSpPr>
          <p:cNvPr id="160" name="直线连接符 159">
            <a:extLst>
              <a:ext uri="{FF2B5EF4-FFF2-40B4-BE49-F238E27FC236}">
                <a16:creationId xmlns:a16="http://schemas.microsoft.com/office/drawing/2014/main" id="{A576603E-4F4E-E102-19CE-6D2E346C034E}"/>
              </a:ext>
            </a:extLst>
          </p:cNvPr>
          <p:cNvCxnSpPr>
            <a:cxnSpLocks/>
          </p:cNvCxnSpPr>
          <p:nvPr/>
        </p:nvCxnSpPr>
        <p:spPr>
          <a:xfrm>
            <a:off x="2926501" y="3895416"/>
            <a:ext cx="0" cy="390465"/>
          </a:xfrm>
          <a:prstGeom prst="line">
            <a:avLst/>
          </a:prstGeom>
          <a:ln w="38100">
            <a:solidFill>
              <a:schemeClr val="accent3"/>
            </a:solidFill>
            <a:headEnd type="oval" w="lg" len="lg"/>
          </a:ln>
        </p:spPr>
        <p:style>
          <a:lnRef idx="1">
            <a:schemeClr val="accent1"/>
          </a:lnRef>
          <a:fillRef idx="0">
            <a:schemeClr val="accent1"/>
          </a:fillRef>
          <a:effectRef idx="0">
            <a:schemeClr val="accent1"/>
          </a:effectRef>
          <a:fontRef idx="minor">
            <a:schemeClr val="tx1"/>
          </a:fontRef>
        </p:style>
      </p:cxnSp>
      <p:sp>
        <p:nvSpPr>
          <p:cNvPr id="161" name="矩形 160">
            <a:extLst>
              <a:ext uri="{FF2B5EF4-FFF2-40B4-BE49-F238E27FC236}">
                <a16:creationId xmlns:a16="http://schemas.microsoft.com/office/drawing/2014/main" id="{2DC6CACD-616C-F021-6D55-0A91FD4D4D0E}"/>
              </a:ext>
            </a:extLst>
          </p:cNvPr>
          <p:cNvSpPr/>
          <p:nvPr/>
        </p:nvSpPr>
        <p:spPr>
          <a:xfrm>
            <a:off x="2218970" y="376143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R</a:t>
            </a:r>
            <a:r>
              <a:rPr kumimoji="1" lang="en-US" altLang="zh-CN" sz="1000" baseline="-25000" dirty="0"/>
              <a:t>x</a:t>
            </a:r>
            <a:endParaRPr kumimoji="1" lang="zh-CN" altLang="en-US" sz="1000" dirty="0"/>
          </a:p>
        </p:txBody>
      </p:sp>
      <p:sp>
        <p:nvSpPr>
          <p:cNvPr id="162" name="矩形 161">
            <a:extLst>
              <a:ext uri="{FF2B5EF4-FFF2-40B4-BE49-F238E27FC236}">
                <a16:creationId xmlns:a16="http://schemas.microsoft.com/office/drawing/2014/main" id="{1778ACF9-1A1B-9140-B7E3-F10534579F6C}"/>
              </a:ext>
            </a:extLst>
          </p:cNvPr>
          <p:cNvSpPr>
            <a:spLocks/>
          </p:cNvSpPr>
          <p:nvPr/>
        </p:nvSpPr>
        <p:spPr>
          <a:xfrm>
            <a:off x="2218969" y="4179378"/>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63" name="矩形 162">
            <a:extLst>
              <a:ext uri="{FF2B5EF4-FFF2-40B4-BE49-F238E27FC236}">
                <a16:creationId xmlns:a16="http://schemas.microsoft.com/office/drawing/2014/main" id="{1D95FC05-B329-DEA5-40A9-96F8D99544F5}"/>
              </a:ext>
            </a:extLst>
          </p:cNvPr>
          <p:cNvSpPr>
            <a:spLocks/>
          </p:cNvSpPr>
          <p:nvPr/>
        </p:nvSpPr>
        <p:spPr>
          <a:xfrm>
            <a:off x="2764939" y="4171391"/>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X</a:t>
            </a:r>
            <a:endParaRPr kumimoji="1" lang="zh-CN" altLang="en-US" sz="1000" dirty="0"/>
          </a:p>
        </p:txBody>
      </p:sp>
      <p:sp>
        <p:nvSpPr>
          <p:cNvPr id="164" name="矩形 163">
            <a:extLst>
              <a:ext uri="{FF2B5EF4-FFF2-40B4-BE49-F238E27FC236}">
                <a16:creationId xmlns:a16="http://schemas.microsoft.com/office/drawing/2014/main" id="{B10E7CAB-0D00-CED7-D1D1-0773B0CD48E2}"/>
              </a:ext>
            </a:extLst>
          </p:cNvPr>
          <p:cNvSpPr>
            <a:spLocks/>
          </p:cNvSpPr>
          <p:nvPr/>
        </p:nvSpPr>
        <p:spPr>
          <a:xfrm>
            <a:off x="3318361" y="3763276"/>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T</a:t>
            </a:r>
            <a:endParaRPr kumimoji="1" lang="zh-CN" altLang="en-US" sz="1016" dirty="0"/>
          </a:p>
        </p:txBody>
      </p:sp>
      <p:sp>
        <p:nvSpPr>
          <p:cNvPr id="165" name="矩形 164">
            <a:extLst>
              <a:ext uri="{FF2B5EF4-FFF2-40B4-BE49-F238E27FC236}">
                <a16:creationId xmlns:a16="http://schemas.microsoft.com/office/drawing/2014/main" id="{A82F65E9-EEE6-C87D-A0A9-5176DD50CE4D}"/>
              </a:ext>
            </a:extLst>
          </p:cNvPr>
          <p:cNvSpPr>
            <a:spLocks/>
          </p:cNvSpPr>
          <p:nvPr/>
        </p:nvSpPr>
        <p:spPr>
          <a:xfrm>
            <a:off x="3322756" y="4168050"/>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66" name="矩形 165">
            <a:extLst>
              <a:ext uri="{FF2B5EF4-FFF2-40B4-BE49-F238E27FC236}">
                <a16:creationId xmlns:a16="http://schemas.microsoft.com/office/drawing/2014/main" id="{C99938C4-6C0C-A560-79F7-DBB6B2CA15C8}"/>
              </a:ext>
            </a:extLst>
          </p:cNvPr>
          <p:cNvSpPr>
            <a:spLocks/>
          </p:cNvSpPr>
          <p:nvPr/>
        </p:nvSpPr>
        <p:spPr>
          <a:xfrm>
            <a:off x="4362042" y="3788141"/>
            <a:ext cx="320635" cy="24886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67" name="矩形 166">
            <a:extLst>
              <a:ext uri="{FF2B5EF4-FFF2-40B4-BE49-F238E27FC236}">
                <a16:creationId xmlns:a16="http://schemas.microsoft.com/office/drawing/2014/main" id="{ED1E39A3-F77A-4E2B-3CE2-78B0B6952019}"/>
              </a:ext>
            </a:extLst>
          </p:cNvPr>
          <p:cNvSpPr>
            <a:spLocks/>
          </p:cNvSpPr>
          <p:nvPr/>
        </p:nvSpPr>
        <p:spPr>
          <a:xfrm>
            <a:off x="2268090" y="50883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S</a:t>
            </a:r>
            <a:endParaRPr kumimoji="1" lang="zh-CN" altLang="en-US" sz="1016" dirty="0"/>
          </a:p>
        </p:txBody>
      </p:sp>
      <p:sp>
        <p:nvSpPr>
          <p:cNvPr id="168" name="矩形 167">
            <a:extLst>
              <a:ext uri="{FF2B5EF4-FFF2-40B4-BE49-F238E27FC236}">
                <a16:creationId xmlns:a16="http://schemas.microsoft.com/office/drawing/2014/main" id="{36E8EE8B-EE60-97CC-AF1D-B0B8EFD2826A}"/>
              </a:ext>
            </a:extLst>
          </p:cNvPr>
          <p:cNvSpPr>
            <a:spLocks/>
          </p:cNvSpPr>
          <p:nvPr/>
        </p:nvSpPr>
        <p:spPr>
          <a:xfrm>
            <a:off x="2820240" y="50883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Z</a:t>
            </a:r>
            <a:endParaRPr kumimoji="1" lang="zh-CN" altLang="en-US" sz="1016" dirty="0"/>
          </a:p>
        </p:txBody>
      </p:sp>
      <p:sp>
        <p:nvSpPr>
          <p:cNvPr id="169" name="矩形 168">
            <a:extLst>
              <a:ext uri="{FF2B5EF4-FFF2-40B4-BE49-F238E27FC236}">
                <a16:creationId xmlns:a16="http://schemas.microsoft.com/office/drawing/2014/main" id="{5A33B7D7-71D1-7DC5-87D7-5121FB58EB4E}"/>
              </a:ext>
            </a:extLst>
          </p:cNvPr>
          <p:cNvSpPr>
            <a:spLocks/>
          </p:cNvSpPr>
          <p:nvPr/>
        </p:nvSpPr>
        <p:spPr>
          <a:xfrm>
            <a:off x="3372390" y="5088354"/>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16" dirty="0"/>
              <a:t>R</a:t>
            </a:r>
            <a:r>
              <a:rPr kumimoji="1" lang="en-US" altLang="zh-CN" sz="1016" baseline="-25000" dirty="0"/>
              <a:t>x</a:t>
            </a:r>
            <a:endParaRPr kumimoji="1" lang="zh-CN" altLang="en-US" sz="1016" baseline="-25000" dirty="0"/>
          </a:p>
        </p:txBody>
      </p:sp>
      <p:sp>
        <p:nvSpPr>
          <p:cNvPr id="170" name="矩形 169">
            <a:extLst>
              <a:ext uri="{FF2B5EF4-FFF2-40B4-BE49-F238E27FC236}">
                <a16:creationId xmlns:a16="http://schemas.microsoft.com/office/drawing/2014/main" id="{CEA9B031-C127-7ED3-BA07-BAE279D6E3B8}"/>
              </a:ext>
            </a:extLst>
          </p:cNvPr>
          <p:cNvSpPr>
            <a:spLocks/>
          </p:cNvSpPr>
          <p:nvPr/>
        </p:nvSpPr>
        <p:spPr>
          <a:xfrm>
            <a:off x="4362041" y="5078037"/>
            <a:ext cx="320635" cy="2605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H</a:t>
            </a:r>
            <a:endParaRPr kumimoji="1" lang="zh-CN" altLang="en-US" sz="1000" dirty="0"/>
          </a:p>
        </p:txBody>
      </p:sp>
      <p:sp>
        <p:nvSpPr>
          <p:cNvPr id="171" name="任意形状 170">
            <a:extLst>
              <a:ext uri="{FF2B5EF4-FFF2-40B4-BE49-F238E27FC236}">
                <a16:creationId xmlns:a16="http://schemas.microsoft.com/office/drawing/2014/main" id="{09A9F459-AE8F-A591-C827-663E5E3354E1}"/>
              </a:ext>
            </a:extLst>
          </p:cNvPr>
          <p:cNvSpPr/>
          <p:nvPr/>
        </p:nvSpPr>
        <p:spPr>
          <a:xfrm>
            <a:off x="6666287" y="4569711"/>
            <a:ext cx="125775" cy="358440"/>
          </a:xfrm>
          <a:custGeom>
            <a:avLst/>
            <a:gdLst>
              <a:gd name="connsiteX0" fmla="*/ 0 w 256035"/>
              <a:gd name="connsiteY0" fmla="*/ 0 h 1074420"/>
              <a:gd name="connsiteX1" fmla="*/ 233172 w 256035"/>
              <a:gd name="connsiteY1" fmla="*/ 205740 h 1074420"/>
              <a:gd name="connsiteX2" fmla="*/ 22860 w 256035"/>
              <a:gd name="connsiteY2" fmla="*/ 420624 h 1074420"/>
              <a:gd name="connsiteX3" fmla="*/ 256032 w 256035"/>
              <a:gd name="connsiteY3" fmla="*/ 608076 h 1074420"/>
              <a:gd name="connsiteX4" fmla="*/ 27432 w 256035"/>
              <a:gd name="connsiteY4" fmla="*/ 768096 h 1074420"/>
              <a:gd name="connsiteX5" fmla="*/ 256032 w 256035"/>
              <a:gd name="connsiteY5" fmla="*/ 923544 h 1074420"/>
              <a:gd name="connsiteX6" fmla="*/ 32004 w 256035"/>
              <a:gd name="connsiteY6" fmla="*/ 1074420 h 1074420"/>
              <a:gd name="connsiteX0" fmla="*/ 64061 w 233228"/>
              <a:gd name="connsiteY0" fmla="*/ 0 h 1046531"/>
              <a:gd name="connsiteX1" fmla="*/ 210365 w 233228"/>
              <a:gd name="connsiteY1" fmla="*/ 177851 h 1046531"/>
              <a:gd name="connsiteX2" fmla="*/ 53 w 233228"/>
              <a:gd name="connsiteY2" fmla="*/ 392735 h 1046531"/>
              <a:gd name="connsiteX3" fmla="*/ 233225 w 233228"/>
              <a:gd name="connsiteY3" fmla="*/ 580187 h 1046531"/>
              <a:gd name="connsiteX4" fmla="*/ 4625 w 233228"/>
              <a:gd name="connsiteY4" fmla="*/ 740207 h 1046531"/>
              <a:gd name="connsiteX5" fmla="*/ 233225 w 233228"/>
              <a:gd name="connsiteY5" fmla="*/ 895655 h 1046531"/>
              <a:gd name="connsiteX6" fmla="*/ 9197 w 233228"/>
              <a:gd name="connsiteY6" fmla="*/ 1046531 h 1046531"/>
              <a:gd name="connsiteX0" fmla="*/ 13767 w 233226"/>
              <a:gd name="connsiteY0" fmla="*/ 0 h 1037235"/>
              <a:gd name="connsiteX1" fmla="*/ 210363 w 233226"/>
              <a:gd name="connsiteY1" fmla="*/ 168555 h 1037235"/>
              <a:gd name="connsiteX2" fmla="*/ 51 w 233226"/>
              <a:gd name="connsiteY2" fmla="*/ 383439 h 1037235"/>
              <a:gd name="connsiteX3" fmla="*/ 233223 w 233226"/>
              <a:gd name="connsiteY3" fmla="*/ 570891 h 1037235"/>
              <a:gd name="connsiteX4" fmla="*/ 4623 w 233226"/>
              <a:gd name="connsiteY4" fmla="*/ 730911 h 1037235"/>
              <a:gd name="connsiteX5" fmla="*/ 233223 w 233226"/>
              <a:gd name="connsiteY5" fmla="*/ 886359 h 1037235"/>
              <a:gd name="connsiteX6" fmla="*/ 9195 w 233226"/>
              <a:gd name="connsiteY6" fmla="*/ 1037235 h 1037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226" h="1037235">
                <a:moveTo>
                  <a:pt x="13767" y="0"/>
                </a:moveTo>
                <a:cubicBezTo>
                  <a:pt x="128448" y="67818"/>
                  <a:pt x="212649" y="104649"/>
                  <a:pt x="210363" y="168555"/>
                </a:cubicBezTo>
                <a:cubicBezTo>
                  <a:pt x="208077" y="232461"/>
                  <a:pt x="-3759" y="316383"/>
                  <a:pt x="51" y="383439"/>
                </a:cubicBezTo>
                <a:cubicBezTo>
                  <a:pt x="3861" y="450495"/>
                  <a:pt x="232461" y="512979"/>
                  <a:pt x="233223" y="570891"/>
                </a:cubicBezTo>
                <a:cubicBezTo>
                  <a:pt x="233985" y="628803"/>
                  <a:pt x="4623" y="678333"/>
                  <a:pt x="4623" y="730911"/>
                </a:cubicBezTo>
                <a:cubicBezTo>
                  <a:pt x="4623" y="783489"/>
                  <a:pt x="232461" y="835305"/>
                  <a:pt x="233223" y="886359"/>
                </a:cubicBezTo>
                <a:cubicBezTo>
                  <a:pt x="233985" y="937413"/>
                  <a:pt x="121590" y="987324"/>
                  <a:pt x="9195" y="1037235"/>
                </a:cubicBezTo>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2" name="矩形 171">
            <a:extLst>
              <a:ext uri="{FF2B5EF4-FFF2-40B4-BE49-F238E27FC236}">
                <a16:creationId xmlns:a16="http://schemas.microsoft.com/office/drawing/2014/main" id="{255F5541-F221-B13D-7609-B81BE19C57C5}"/>
              </a:ext>
            </a:extLst>
          </p:cNvPr>
          <p:cNvSpPr>
            <a:spLocks/>
          </p:cNvSpPr>
          <p:nvPr/>
        </p:nvSpPr>
        <p:spPr>
          <a:xfrm>
            <a:off x="3842209" y="4667383"/>
            <a:ext cx="320635" cy="6728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U</a:t>
            </a:r>
            <a:endParaRPr kumimoji="1" lang="zh-CN" altLang="en-US" sz="1000" dirty="0"/>
          </a:p>
        </p:txBody>
      </p:sp>
      <p:sp>
        <p:nvSpPr>
          <p:cNvPr id="173" name="矩形 172">
            <a:extLst>
              <a:ext uri="{FF2B5EF4-FFF2-40B4-BE49-F238E27FC236}">
                <a16:creationId xmlns:a16="http://schemas.microsoft.com/office/drawing/2014/main" id="{7171B8AD-BD86-D1FC-97BD-D56F63718120}"/>
              </a:ext>
            </a:extLst>
          </p:cNvPr>
          <p:cNvSpPr>
            <a:spLocks/>
          </p:cNvSpPr>
          <p:nvPr/>
        </p:nvSpPr>
        <p:spPr>
          <a:xfrm>
            <a:off x="3847897" y="3763831"/>
            <a:ext cx="320635" cy="6728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V</a:t>
            </a:r>
            <a:endParaRPr kumimoji="1" lang="zh-CN" altLang="en-US" sz="1000" dirty="0"/>
          </a:p>
        </p:txBody>
      </p:sp>
      <p:cxnSp>
        <p:nvCxnSpPr>
          <p:cNvPr id="174" name="直线箭头连接符 173">
            <a:extLst>
              <a:ext uri="{FF2B5EF4-FFF2-40B4-BE49-F238E27FC236}">
                <a16:creationId xmlns:a16="http://schemas.microsoft.com/office/drawing/2014/main" id="{EA7C8DC5-0CF6-A09C-A1D9-D5C937441441}"/>
              </a:ext>
            </a:extLst>
          </p:cNvPr>
          <p:cNvCxnSpPr>
            <a:cxnSpLocks/>
          </p:cNvCxnSpPr>
          <p:nvPr/>
        </p:nvCxnSpPr>
        <p:spPr>
          <a:xfrm>
            <a:off x="5035871" y="4796172"/>
            <a:ext cx="582190" cy="0"/>
          </a:xfrm>
          <a:prstGeom prst="straightConnector1">
            <a:avLst/>
          </a:prstGeom>
          <a:ln w="38100" cmpd="dbl">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5" name="图片 174">
            <a:extLst>
              <a:ext uri="{FF2B5EF4-FFF2-40B4-BE49-F238E27FC236}">
                <a16:creationId xmlns:a16="http://schemas.microsoft.com/office/drawing/2014/main" id="{89B0D339-7723-6409-BF6F-9EA1C6149DFA}"/>
              </a:ext>
            </a:extLst>
          </p:cNvPr>
          <p:cNvPicPr>
            <a:picLocks/>
          </p:cNvPicPr>
          <p:nvPr/>
        </p:nvPicPr>
        <p:blipFill>
          <a:blip r:embed="rId10"/>
          <a:stretch>
            <a:fillRect/>
          </a:stretch>
        </p:blipFill>
        <p:spPr>
          <a:xfrm>
            <a:off x="5000361" y="4675345"/>
            <a:ext cx="260233" cy="244810"/>
          </a:xfrm>
          <a:prstGeom prst="rect">
            <a:avLst/>
          </a:prstGeom>
        </p:spPr>
      </p:pic>
      <p:sp>
        <p:nvSpPr>
          <p:cNvPr id="176" name="圆角矩形 175">
            <a:extLst>
              <a:ext uri="{FF2B5EF4-FFF2-40B4-BE49-F238E27FC236}">
                <a16:creationId xmlns:a16="http://schemas.microsoft.com/office/drawing/2014/main" id="{9542931A-630E-1260-5210-13C56326CD0D}"/>
              </a:ext>
            </a:extLst>
          </p:cNvPr>
          <p:cNvSpPr/>
          <p:nvPr/>
        </p:nvSpPr>
        <p:spPr>
          <a:xfrm>
            <a:off x="5620976" y="3660417"/>
            <a:ext cx="395983" cy="1770770"/>
          </a:xfrm>
          <a:prstGeom prst="round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6" dirty="0"/>
          </a:p>
        </p:txBody>
      </p:sp>
      <p:sp>
        <p:nvSpPr>
          <p:cNvPr id="178" name="文本框 177">
            <a:extLst>
              <a:ext uri="{FF2B5EF4-FFF2-40B4-BE49-F238E27FC236}">
                <a16:creationId xmlns:a16="http://schemas.microsoft.com/office/drawing/2014/main" id="{3EFD5341-C9BB-94A3-9DD9-6D8CE136611B}"/>
              </a:ext>
            </a:extLst>
          </p:cNvPr>
          <p:cNvSpPr txBox="1"/>
          <p:nvPr/>
        </p:nvSpPr>
        <p:spPr>
          <a:xfrm>
            <a:off x="7120520" y="5627995"/>
            <a:ext cx="2785941" cy="369332"/>
          </a:xfrm>
          <a:prstGeom prst="rect">
            <a:avLst/>
          </a:prstGeom>
          <a:noFill/>
        </p:spPr>
        <p:txBody>
          <a:bodyPr wrap="square" rtlCol="0">
            <a:spAutoFit/>
          </a:bodyPr>
          <a:lstStyle/>
          <a:p>
            <a:r>
              <a:rPr kumimoji="1" lang="en-US" altLang="zh-CN" dirty="0"/>
              <a:t>Quantum</a:t>
            </a:r>
            <a:r>
              <a:rPr kumimoji="1" lang="zh-CN" altLang="en-US" dirty="0"/>
              <a:t> </a:t>
            </a:r>
            <a:r>
              <a:rPr kumimoji="1" lang="en-US" altLang="zh-CN" dirty="0"/>
              <a:t>network</a:t>
            </a:r>
            <a:endParaRPr kumimoji="1" lang="zh-CN" altLang="en-US" dirty="0"/>
          </a:p>
        </p:txBody>
      </p:sp>
      <p:sp>
        <p:nvSpPr>
          <p:cNvPr id="179" name="文本框 178">
            <a:extLst>
              <a:ext uri="{FF2B5EF4-FFF2-40B4-BE49-F238E27FC236}">
                <a16:creationId xmlns:a16="http://schemas.microsoft.com/office/drawing/2014/main" id="{C5DD2E61-BC6D-C7ED-8C93-68CC63906650}"/>
              </a:ext>
            </a:extLst>
          </p:cNvPr>
          <p:cNvSpPr txBox="1"/>
          <p:nvPr/>
        </p:nvSpPr>
        <p:spPr>
          <a:xfrm>
            <a:off x="5597371" y="3739448"/>
            <a:ext cx="461665" cy="1617042"/>
          </a:xfrm>
          <a:prstGeom prst="rect">
            <a:avLst/>
          </a:prstGeom>
          <a:noFill/>
        </p:spPr>
        <p:txBody>
          <a:bodyPr vert="eaVert" wrap="square" rtlCol="0">
            <a:spAutoFit/>
          </a:bodyPr>
          <a:lstStyle/>
          <a:p>
            <a:r>
              <a:rPr kumimoji="1" lang="en-US" altLang="zh-CN" dirty="0">
                <a:solidFill>
                  <a:schemeClr val="bg1"/>
                </a:solidFill>
              </a:rPr>
              <a:t>Tensor</a:t>
            </a:r>
            <a:r>
              <a:rPr kumimoji="1" lang="zh-CN" altLang="en-US" dirty="0">
                <a:solidFill>
                  <a:schemeClr val="bg1"/>
                </a:solidFill>
              </a:rPr>
              <a:t> </a:t>
            </a:r>
            <a:r>
              <a:rPr kumimoji="1" lang="en-US" altLang="zh-CN" dirty="0">
                <a:solidFill>
                  <a:schemeClr val="bg1"/>
                </a:solidFill>
              </a:rPr>
              <a:t>compute</a:t>
            </a:r>
            <a:endParaRPr kumimoji="1" lang="zh-CN" altLang="en-US" dirty="0">
              <a:solidFill>
                <a:schemeClr val="bg1"/>
              </a:solidFill>
            </a:endParaRPr>
          </a:p>
        </p:txBody>
      </p:sp>
    </p:spTree>
    <p:extLst>
      <p:ext uri="{BB962C8B-B14F-4D97-AF65-F5344CB8AC3E}">
        <p14:creationId xmlns:p14="http://schemas.microsoft.com/office/powerpoint/2010/main" val="37945807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Picture 203" descr="image.png"/>
          <p:cNvPicPr>
            <a:picLocks noChangeAspect="1"/>
          </p:cNvPicPr>
          <p:nvPr/>
        </p:nvPicPr>
        <p:blipFill>
          <a:blip r:embed="rId3"/>
          <a:stretch>
            <a:fillRect/>
          </a:stretch>
        </p:blipFill>
        <p:spPr>
          <a:xfrm>
            <a:off x="9372600" y="73152"/>
            <a:ext cx="2514600" cy="735296"/>
          </a:xfrm>
          <a:prstGeom prst="rect">
            <a:avLst/>
          </a:prstGeom>
        </p:spPr>
      </p:pic>
      <p:sp>
        <p:nvSpPr>
          <p:cNvPr id="205" name="Rectangle 204"/>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Two ICC Mechanisms Create Different Cost Surfaces</a:t>
            </a:r>
          </a:p>
        </p:txBody>
      </p:sp>
      <p:sp>
        <p:nvSpPr>
          <p:cNvPr id="207" name="Rectangle 206"/>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0" name="Picture 209" descr="fig1_icc.png"/>
          <p:cNvPicPr>
            <a:picLocks noChangeAspect="1"/>
          </p:cNvPicPr>
          <p:nvPr/>
        </p:nvPicPr>
        <p:blipFill>
          <a:blip r:embed="rId4"/>
          <a:srcRect b="14447"/>
          <a:stretch>
            <a:fillRect/>
          </a:stretch>
        </p:blipFill>
        <p:spPr>
          <a:xfrm>
            <a:off x="1047705" y="1148313"/>
            <a:ext cx="10179139" cy="1808334"/>
          </a:xfrm>
          <a:prstGeom prst="rect">
            <a:avLst/>
          </a:prstGeom>
        </p:spPr>
      </p:pic>
      <p:sp>
        <p:nvSpPr>
          <p:cNvPr id="211" name="Rounded Rectangle 210"/>
          <p:cNvSpPr/>
          <p:nvPr/>
        </p:nvSpPr>
        <p:spPr>
          <a:xfrm>
            <a:off x="355016" y="3401568"/>
            <a:ext cx="5919368" cy="4754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400" b="1" i="0">
                <a:solidFill>
                  <a:srgbClr val="000000"/>
                </a:solidFill>
                <a:latin typeface="Times New Roman"/>
              </a:rPr>
              <a:t>QubitComm</a:t>
            </a:r>
          </a:p>
        </p:txBody>
      </p:sp>
      <p:sp>
        <p:nvSpPr>
          <p:cNvPr id="212" name="Rounded Rectangle 211"/>
          <p:cNvSpPr/>
          <p:nvPr/>
        </p:nvSpPr>
        <p:spPr>
          <a:xfrm>
            <a:off x="985495" y="4160520"/>
            <a:ext cx="1604315" cy="50292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1. wire partition</a:t>
            </a:r>
          </a:p>
        </p:txBody>
      </p:sp>
      <p:sp>
        <p:nvSpPr>
          <p:cNvPr id="213" name="TextBox 212"/>
          <p:cNvSpPr txBox="1"/>
          <p:nvPr/>
        </p:nvSpPr>
        <p:spPr>
          <a:xfrm>
            <a:off x="1032127" y="4764024"/>
            <a:ext cx="1511051" cy="313932"/>
          </a:xfrm>
          <a:prstGeom prst="rect">
            <a:avLst/>
          </a:prstGeom>
          <a:noFill/>
        </p:spPr>
        <p:txBody>
          <a:bodyPr wrap="square" lIns="18288" tIns="18288" rIns="18288" bIns="18288">
            <a:spAutoFit/>
          </a:bodyPr>
          <a:lstStyle/>
          <a:p>
            <a:pPr algn="ctr"/>
            <a:r>
              <a:rPr b="0" i="0">
                <a:solidFill>
                  <a:srgbClr val="585858"/>
                </a:solidFill>
                <a:latin typeface="Times New Roman"/>
              </a:rPr>
              <a:t>partition axis</a:t>
            </a:r>
          </a:p>
        </p:txBody>
      </p:sp>
      <p:sp>
        <p:nvSpPr>
          <p:cNvPr id="214" name="Rounded Rectangle 213"/>
          <p:cNvSpPr/>
          <p:nvPr/>
        </p:nvSpPr>
        <p:spPr>
          <a:xfrm>
            <a:off x="2493340" y="4160520"/>
            <a:ext cx="1825600" cy="50292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dirty="0">
                <a:solidFill>
                  <a:srgbClr val="000000"/>
                </a:solidFill>
                <a:latin typeface="Times New Roman"/>
              </a:rPr>
              <a:t>2. basis sampling + tensor reconstruction</a:t>
            </a:r>
          </a:p>
        </p:txBody>
      </p:sp>
      <p:sp>
        <p:nvSpPr>
          <p:cNvPr id="215" name="TextBox 214"/>
          <p:cNvSpPr txBox="1"/>
          <p:nvPr/>
        </p:nvSpPr>
        <p:spPr>
          <a:xfrm>
            <a:off x="1967863" y="4764024"/>
            <a:ext cx="2876555" cy="313932"/>
          </a:xfrm>
          <a:prstGeom prst="rect">
            <a:avLst/>
          </a:prstGeom>
          <a:noFill/>
        </p:spPr>
        <p:txBody>
          <a:bodyPr wrap="square" lIns="18288" tIns="18288" rIns="18288" bIns="18288">
            <a:spAutoFit/>
          </a:bodyPr>
          <a:lstStyle/>
          <a:p>
            <a:pPr algn="ctr"/>
            <a:r>
              <a:rPr b="0" i="0">
                <a:solidFill>
                  <a:srgbClr val="585858"/>
                </a:solidFill>
                <a:latin typeface="Times New Roman"/>
              </a:rPr>
              <a:t>communication primitive</a:t>
            </a:r>
          </a:p>
        </p:txBody>
      </p:sp>
      <p:sp>
        <p:nvSpPr>
          <p:cNvPr id="216" name="Rounded Rectangle 215"/>
          <p:cNvSpPr/>
          <p:nvPr/>
        </p:nvSpPr>
        <p:spPr>
          <a:xfrm>
            <a:off x="4232072" y="4160520"/>
            <a:ext cx="1493672" cy="50292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3. cut count drives 4^K workload</a:t>
            </a:r>
          </a:p>
        </p:txBody>
      </p:sp>
      <p:sp>
        <p:nvSpPr>
          <p:cNvPr id="217" name="TextBox 216"/>
          <p:cNvSpPr txBox="1"/>
          <p:nvPr/>
        </p:nvSpPr>
        <p:spPr>
          <a:xfrm>
            <a:off x="3536751" y="4764024"/>
            <a:ext cx="2884314" cy="313932"/>
          </a:xfrm>
          <a:prstGeom prst="rect">
            <a:avLst/>
          </a:prstGeom>
          <a:noFill/>
        </p:spPr>
        <p:txBody>
          <a:bodyPr wrap="none" lIns="18288" tIns="18288" rIns="18288" bIns="18288">
            <a:spAutoFit/>
          </a:bodyPr>
          <a:lstStyle/>
          <a:p>
            <a:pPr algn="ctr"/>
            <a:r>
              <a:rPr b="0" i="0">
                <a:solidFill>
                  <a:srgbClr val="585858"/>
                </a:solidFill>
                <a:latin typeface="Times New Roman"/>
              </a:rPr>
              <a:t>dominant metric pressure</a:t>
            </a:r>
          </a:p>
        </p:txBody>
      </p:sp>
      <p:sp>
        <p:nvSpPr>
          <p:cNvPr id="218" name="Rounded Rectangle 217"/>
          <p:cNvSpPr/>
          <p:nvPr/>
        </p:nvSpPr>
        <p:spPr>
          <a:xfrm>
            <a:off x="5795696" y="3401568"/>
            <a:ext cx="5919368" cy="47548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400" b="1" i="0">
                <a:solidFill>
                  <a:srgbClr val="000000"/>
                </a:solidFill>
                <a:latin typeface="Times New Roman"/>
              </a:rPr>
              <a:t>GateComm</a:t>
            </a:r>
          </a:p>
        </p:txBody>
      </p:sp>
      <p:sp>
        <p:nvSpPr>
          <p:cNvPr id="219" name="Rounded Rectangle 218"/>
          <p:cNvSpPr/>
          <p:nvPr/>
        </p:nvSpPr>
        <p:spPr>
          <a:xfrm>
            <a:off x="6426175" y="4160520"/>
            <a:ext cx="1604315" cy="50292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1. gate partition</a:t>
            </a:r>
          </a:p>
        </p:txBody>
      </p:sp>
      <p:sp>
        <p:nvSpPr>
          <p:cNvPr id="220" name="TextBox 219"/>
          <p:cNvSpPr txBox="1"/>
          <p:nvPr/>
        </p:nvSpPr>
        <p:spPr>
          <a:xfrm>
            <a:off x="6472807" y="4764024"/>
            <a:ext cx="1511051" cy="313932"/>
          </a:xfrm>
          <a:prstGeom prst="rect">
            <a:avLst/>
          </a:prstGeom>
          <a:noFill/>
        </p:spPr>
        <p:txBody>
          <a:bodyPr wrap="none" lIns="18288" tIns="18288" rIns="18288" bIns="18288">
            <a:spAutoFit/>
          </a:bodyPr>
          <a:lstStyle/>
          <a:p>
            <a:pPr algn="ctr"/>
            <a:r>
              <a:rPr b="0" i="0">
                <a:solidFill>
                  <a:srgbClr val="585858"/>
                </a:solidFill>
                <a:latin typeface="Times New Roman"/>
              </a:rPr>
              <a:t>partition axis</a:t>
            </a:r>
          </a:p>
        </p:txBody>
      </p:sp>
      <p:sp>
        <p:nvSpPr>
          <p:cNvPr id="221" name="Rounded Rectangle 220"/>
          <p:cNvSpPr/>
          <p:nvPr/>
        </p:nvSpPr>
        <p:spPr>
          <a:xfrm>
            <a:off x="7934020" y="4160520"/>
            <a:ext cx="1825600" cy="50292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2. EPR pair + teleportation</a:t>
            </a:r>
          </a:p>
        </p:txBody>
      </p:sp>
      <p:sp>
        <p:nvSpPr>
          <p:cNvPr id="222" name="TextBox 221"/>
          <p:cNvSpPr txBox="1"/>
          <p:nvPr/>
        </p:nvSpPr>
        <p:spPr>
          <a:xfrm>
            <a:off x="7408543" y="4764024"/>
            <a:ext cx="2876555" cy="313932"/>
          </a:xfrm>
          <a:prstGeom prst="rect">
            <a:avLst/>
          </a:prstGeom>
          <a:noFill/>
        </p:spPr>
        <p:txBody>
          <a:bodyPr wrap="none" lIns="18288" tIns="18288" rIns="18288" bIns="18288">
            <a:spAutoFit/>
          </a:bodyPr>
          <a:lstStyle/>
          <a:p>
            <a:pPr algn="ctr"/>
            <a:r>
              <a:rPr b="0" i="0">
                <a:solidFill>
                  <a:srgbClr val="585858"/>
                </a:solidFill>
                <a:latin typeface="Times New Roman"/>
              </a:rPr>
              <a:t>communication primitive</a:t>
            </a:r>
          </a:p>
        </p:txBody>
      </p:sp>
      <p:sp>
        <p:nvSpPr>
          <p:cNvPr id="223" name="Rounded Rectangle 222"/>
          <p:cNvSpPr/>
          <p:nvPr/>
        </p:nvSpPr>
        <p:spPr>
          <a:xfrm>
            <a:off x="9672752" y="4160520"/>
            <a:ext cx="1493672" cy="50292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3. remote gates drive EPR and latency</a:t>
            </a:r>
          </a:p>
        </p:txBody>
      </p:sp>
      <p:sp>
        <p:nvSpPr>
          <p:cNvPr id="224" name="TextBox 223"/>
          <p:cNvSpPr txBox="1"/>
          <p:nvPr/>
        </p:nvSpPr>
        <p:spPr>
          <a:xfrm>
            <a:off x="8977431" y="4764024"/>
            <a:ext cx="2884314" cy="313932"/>
          </a:xfrm>
          <a:prstGeom prst="rect">
            <a:avLst/>
          </a:prstGeom>
          <a:noFill/>
        </p:spPr>
        <p:txBody>
          <a:bodyPr wrap="none" lIns="18288" tIns="18288" rIns="18288" bIns="18288">
            <a:spAutoFit/>
          </a:bodyPr>
          <a:lstStyle/>
          <a:p>
            <a:pPr algn="ctr"/>
            <a:r>
              <a:rPr b="0" i="0">
                <a:solidFill>
                  <a:srgbClr val="585858"/>
                </a:solidFill>
                <a:latin typeface="Times New Roman"/>
              </a:rPr>
              <a:t>dominant metric pressure</a:t>
            </a:r>
          </a:p>
        </p:txBody>
      </p:sp>
      <p:sp>
        <p:nvSpPr>
          <p:cNvPr id="225" name="TextBox 224"/>
          <p:cNvSpPr txBox="1"/>
          <p:nvPr/>
        </p:nvSpPr>
        <p:spPr>
          <a:xfrm>
            <a:off x="428310" y="6284803"/>
            <a:ext cx="3800784" cy="175433"/>
          </a:xfrm>
          <a:prstGeom prst="rect">
            <a:avLst/>
          </a:prstGeom>
          <a:noFill/>
        </p:spPr>
        <p:txBody>
          <a:bodyPr wrap="none" lIns="18288" tIns="18288" rIns="18288" bIns="18288">
            <a:spAutoFit/>
          </a:bodyPr>
          <a:lstStyle/>
          <a:p>
            <a:pPr algn="l"/>
            <a:r>
              <a:rPr sz="900" b="0" i="0" dirty="0">
                <a:solidFill>
                  <a:srgbClr val="5A5A5A"/>
                </a:solidFill>
                <a:latin typeface="Times New Roman"/>
              </a:rPr>
              <a:t>Source: Peng et al., PRL 2020 [15]; Lago-Rivera et al., Nat. Commun. 2023 [18].</a:t>
            </a:r>
          </a:p>
        </p:txBody>
      </p:sp>
    </p:spTree>
    <p:extLst>
      <p:ext uri="{BB962C8B-B14F-4D97-AF65-F5344CB8AC3E}">
        <p14:creationId xmlns:p14="http://schemas.microsoft.com/office/powerpoint/2010/main" val="31576263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DQC Is a System Pipeline, Not a Single Cut</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30352" y="2082712"/>
            <a:ext cx="5129784" cy="3298466"/>
          </a:xfrm>
          <a:prstGeom prst="roundRect">
            <a:avLst>
              <a:gd name="adj" fmla="val 4615"/>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68096" y="1069848"/>
            <a:ext cx="462686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Distribution Pipeline Redrawn</a:t>
            </a:r>
          </a:p>
        </p:txBody>
      </p:sp>
      <p:sp>
        <p:nvSpPr>
          <p:cNvPr id="11" name="Rounded Rectangle 10"/>
          <p:cNvSpPr/>
          <p:nvPr/>
        </p:nvSpPr>
        <p:spPr>
          <a:xfrm>
            <a:off x="807721" y="2782228"/>
            <a:ext cx="1280160" cy="34747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logical layer</a:t>
            </a:r>
          </a:p>
        </p:txBody>
      </p:sp>
      <p:sp>
        <p:nvSpPr>
          <p:cNvPr id="12" name="Rounded Rectangle 11"/>
          <p:cNvSpPr/>
          <p:nvPr/>
        </p:nvSpPr>
        <p:spPr>
          <a:xfrm>
            <a:off x="807721" y="3696628"/>
            <a:ext cx="1280160" cy="347472"/>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compiler decisions</a:t>
            </a:r>
          </a:p>
        </p:txBody>
      </p:sp>
      <p:sp>
        <p:nvSpPr>
          <p:cNvPr id="13" name="Rounded Rectangle 12"/>
          <p:cNvSpPr/>
          <p:nvPr/>
        </p:nvSpPr>
        <p:spPr>
          <a:xfrm>
            <a:off x="807721" y="4611028"/>
            <a:ext cx="1280160" cy="34747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physical layer</a:t>
            </a:r>
          </a:p>
        </p:txBody>
      </p:sp>
      <p:sp>
        <p:nvSpPr>
          <p:cNvPr id="14" name="Rounded Rectangle 13"/>
          <p:cNvSpPr/>
          <p:nvPr/>
        </p:nvSpPr>
        <p:spPr>
          <a:xfrm>
            <a:off x="2033017" y="2745652"/>
            <a:ext cx="1078992" cy="420624"/>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000000"/>
                </a:solidFill>
                <a:latin typeface="Times New Roman"/>
              </a:rPr>
              <a:t>Circuit</a:t>
            </a:r>
          </a:p>
        </p:txBody>
      </p:sp>
      <p:sp>
        <p:nvSpPr>
          <p:cNvPr id="15" name="Rounded Rectangle 14"/>
          <p:cNvSpPr/>
          <p:nvPr/>
        </p:nvSpPr>
        <p:spPr>
          <a:xfrm>
            <a:off x="3221736" y="2745652"/>
            <a:ext cx="1078992" cy="420624"/>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000000"/>
                </a:solidFill>
                <a:latin typeface="Times New Roman"/>
              </a:rPr>
              <a:t>Subcircuits</a:t>
            </a:r>
          </a:p>
        </p:txBody>
      </p:sp>
      <p:sp>
        <p:nvSpPr>
          <p:cNvPr id="16" name="Rounded Rectangle 15"/>
          <p:cNvSpPr/>
          <p:nvPr/>
        </p:nvSpPr>
        <p:spPr>
          <a:xfrm>
            <a:off x="4410457" y="2745652"/>
            <a:ext cx="1078992" cy="420624"/>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000000"/>
                </a:solidFill>
                <a:latin typeface="Times New Roman"/>
              </a:rPr>
              <a:t>Result</a:t>
            </a:r>
          </a:p>
        </p:txBody>
      </p:sp>
      <p:cxnSp>
        <p:nvCxnSpPr>
          <p:cNvPr id="17" name="Connector 16"/>
          <p:cNvCxnSpPr/>
          <p:nvPr/>
        </p:nvCxnSpPr>
        <p:spPr>
          <a:xfrm>
            <a:off x="3112008" y="2955964"/>
            <a:ext cx="73152"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300728" y="2955964"/>
            <a:ext cx="73152"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033017" y="3660052"/>
            <a:ext cx="1078992" cy="49377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300" b="1" i="0">
                <a:solidFill>
                  <a:srgbClr val="000000"/>
                </a:solidFill>
                <a:latin typeface="Times New Roman"/>
              </a:rPr>
              <a:t>where
to cut</a:t>
            </a:r>
          </a:p>
        </p:txBody>
      </p:sp>
      <p:sp>
        <p:nvSpPr>
          <p:cNvPr id="20" name="Rounded Rectangle 19"/>
          <p:cNvSpPr/>
          <p:nvPr/>
        </p:nvSpPr>
        <p:spPr>
          <a:xfrm>
            <a:off x="3221736" y="3660052"/>
            <a:ext cx="1078992" cy="49377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300" b="1" i="0">
                <a:solidFill>
                  <a:srgbClr val="000000"/>
                </a:solidFill>
                <a:latin typeface="Times New Roman"/>
              </a:rPr>
              <a:t>which
ICC</a:t>
            </a:r>
          </a:p>
        </p:txBody>
      </p:sp>
      <p:sp>
        <p:nvSpPr>
          <p:cNvPr id="21" name="Rounded Rectangle 20"/>
          <p:cNvSpPr/>
          <p:nvPr/>
        </p:nvSpPr>
        <p:spPr>
          <a:xfrm>
            <a:off x="4410457" y="3660052"/>
            <a:ext cx="1078992" cy="49377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300" b="1" i="0">
                <a:solidFill>
                  <a:srgbClr val="000000"/>
                </a:solidFill>
                <a:latin typeface="Times New Roman"/>
              </a:rPr>
              <a:t>which
map</a:t>
            </a:r>
          </a:p>
        </p:txBody>
      </p:sp>
      <p:cxnSp>
        <p:nvCxnSpPr>
          <p:cNvPr id="22" name="Connector 21"/>
          <p:cNvCxnSpPr/>
          <p:nvPr/>
        </p:nvCxnSpPr>
        <p:spPr>
          <a:xfrm>
            <a:off x="2563369" y="3184564"/>
            <a:ext cx="0" cy="438912"/>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52089" y="3184564"/>
            <a:ext cx="0" cy="438912"/>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940809" y="3184564"/>
            <a:ext cx="0" cy="438912"/>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2033017" y="4720755"/>
            <a:ext cx="1078992" cy="420624"/>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000000"/>
                </a:solidFill>
                <a:latin typeface="Times New Roman"/>
              </a:rPr>
              <a:t>QPU 1</a:t>
            </a:r>
          </a:p>
        </p:txBody>
      </p:sp>
      <p:sp>
        <p:nvSpPr>
          <p:cNvPr id="26" name="Rounded Rectangle 25"/>
          <p:cNvSpPr/>
          <p:nvPr/>
        </p:nvSpPr>
        <p:spPr>
          <a:xfrm>
            <a:off x="3221736" y="4720755"/>
            <a:ext cx="1078992" cy="420624"/>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000000"/>
                </a:solidFill>
                <a:latin typeface="Times New Roman"/>
              </a:rPr>
              <a:t>QPU 2</a:t>
            </a:r>
          </a:p>
        </p:txBody>
      </p:sp>
      <p:sp>
        <p:nvSpPr>
          <p:cNvPr id="27" name="Rounded Rectangle 26"/>
          <p:cNvSpPr/>
          <p:nvPr/>
        </p:nvSpPr>
        <p:spPr>
          <a:xfrm>
            <a:off x="4410457" y="4720755"/>
            <a:ext cx="1078992" cy="420624"/>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000000"/>
                </a:solidFill>
                <a:latin typeface="Times New Roman"/>
              </a:rPr>
              <a:t>EPR/cuts</a:t>
            </a:r>
          </a:p>
        </p:txBody>
      </p:sp>
      <p:cxnSp>
        <p:nvCxnSpPr>
          <p:cNvPr id="28" name="Connector 27"/>
          <p:cNvCxnSpPr/>
          <p:nvPr/>
        </p:nvCxnSpPr>
        <p:spPr>
          <a:xfrm>
            <a:off x="2563369" y="4172116"/>
            <a:ext cx="0" cy="512063"/>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752089" y="4172116"/>
            <a:ext cx="0" cy="512063"/>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940809" y="4172116"/>
            <a:ext cx="0" cy="512063"/>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312409" y="2142148"/>
            <a:ext cx="987552"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Input</a:t>
            </a:r>
          </a:p>
        </p:txBody>
      </p:sp>
      <p:sp>
        <p:nvSpPr>
          <p:cNvPr id="32" name="TextBox 31"/>
          <p:cNvSpPr txBox="1"/>
          <p:nvPr/>
        </p:nvSpPr>
        <p:spPr>
          <a:xfrm>
            <a:off x="6312409" y="2754796"/>
            <a:ext cx="1078992" cy="201168"/>
          </a:xfrm>
          <a:prstGeom prst="rect">
            <a:avLst/>
          </a:prstGeom>
          <a:noFill/>
        </p:spPr>
        <p:txBody>
          <a:bodyPr wrap="none" lIns="18288" tIns="18288" rIns="18288" bIns="18288">
            <a:spAutoFit/>
          </a:bodyPr>
          <a:lstStyle/>
          <a:p>
            <a:pPr algn="ctr"/>
            <a:r>
              <a:rPr sz="1400" b="0" i="0">
                <a:solidFill>
                  <a:srgbClr val="585858"/>
                </a:solidFill>
                <a:latin typeface="Times New Roman"/>
              </a:rPr>
              <a:t>circuit</a:t>
            </a:r>
          </a:p>
        </p:txBody>
      </p:sp>
      <p:cxnSp>
        <p:nvCxnSpPr>
          <p:cNvPr id="33" name="Connector 32"/>
          <p:cNvCxnSpPr/>
          <p:nvPr/>
        </p:nvCxnSpPr>
        <p:spPr>
          <a:xfrm>
            <a:off x="7318249" y="2398180"/>
            <a:ext cx="146304"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501129" y="2142148"/>
            <a:ext cx="987552" cy="50292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Partition</a:t>
            </a:r>
          </a:p>
        </p:txBody>
      </p:sp>
      <p:sp>
        <p:nvSpPr>
          <p:cNvPr id="35" name="TextBox 34"/>
          <p:cNvSpPr txBox="1"/>
          <p:nvPr/>
        </p:nvSpPr>
        <p:spPr>
          <a:xfrm>
            <a:off x="7501129" y="2754796"/>
            <a:ext cx="1078992" cy="201168"/>
          </a:xfrm>
          <a:prstGeom prst="rect">
            <a:avLst/>
          </a:prstGeom>
          <a:noFill/>
        </p:spPr>
        <p:txBody>
          <a:bodyPr wrap="none" lIns="18288" tIns="18288" rIns="18288" bIns="18288">
            <a:spAutoFit/>
          </a:bodyPr>
          <a:lstStyle/>
          <a:p>
            <a:pPr algn="ctr"/>
            <a:r>
              <a:rPr sz="1400" b="0" i="0">
                <a:solidFill>
                  <a:srgbClr val="585858"/>
                </a:solidFill>
                <a:latin typeface="Times New Roman"/>
              </a:rPr>
              <a:t>subcircuits</a:t>
            </a:r>
          </a:p>
        </p:txBody>
      </p:sp>
      <p:cxnSp>
        <p:nvCxnSpPr>
          <p:cNvPr id="36" name="Connector 35"/>
          <p:cNvCxnSpPr/>
          <p:nvPr/>
        </p:nvCxnSpPr>
        <p:spPr>
          <a:xfrm>
            <a:off x="8506969" y="2398180"/>
            <a:ext cx="146304"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689849" y="2142148"/>
            <a:ext cx="987552"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Map</a:t>
            </a:r>
          </a:p>
        </p:txBody>
      </p:sp>
      <p:sp>
        <p:nvSpPr>
          <p:cNvPr id="38" name="TextBox 37"/>
          <p:cNvSpPr txBox="1"/>
          <p:nvPr/>
        </p:nvSpPr>
        <p:spPr>
          <a:xfrm>
            <a:off x="8689849" y="2754796"/>
            <a:ext cx="1078992" cy="201168"/>
          </a:xfrm>
          <a:prstGeom prst="rect">
            <a:avLst/>
          </a:prstGeom>
          <a:noFill/>
        </p:spPr>
        <p:txBody>
          <a:bodyPr wrap="none" lIns="18288" tIns="18288" rIns="18288" bIns="18288">
            <a:spAutoFit/>
          </a:bodyPr>
          <a:lstStyle/>
          <a:p>
            <a:pPr algn="ctr"/>
            <a:r>
              <a:rPr sz="1400" b="0" i="0">
                <a:solidFill>
                  <a:srgbClr val="585858"/>
                </a:solidFill>
                <a:latin typeface="Times New Roman"/>
              </a:rPr>
              <a:t>QPU layout</a:t>
            </a:r>
          </a:p>
        </p:txBody>
      </p:sp>
      <p:cxnSp>
        <p:nvCxnSpPr>
          <p:cNvPr id="39" name="Connector 38"/>
          <p:cNvCxnSpPr/>
          <p:nvPr/>
        </p:nvCxnSpPr>
        <p:spPr>
          <a:xfrm>
            <a:off x="9695689" y="2398180"/>
            <a:ext cx="146304"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878569" y="2142148"/>
            <a:ext cx="987552" cy="50292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Run</a:t>
            </a:r>
          </a:p>
        </p:txBody>
      </p:sp>
      <p:sp>
        <p:nvSpPr>
          <p:cNvPr id="41" name="TextBox 40"/>
          <p:cNvSpPr txBox="1"/>
          <p:nvPr/>
        </p:nvSpPr>
        <p:spPr>
          <a:xfrm>
            <a:off x="9878569" y="2754796"/>
            <a:ext cx="1078992" cy="201168"/>
          </a:xfrm>
          <a:prstGeom prst="rect">
            <a:avLst/>
          </a:prstGeom>
          <a:noFill/>
        </p:spPr>
        <p:txBody>
          <a:bodyPr wrap="none" lIns="18288" tIns="18288" rIns="18288" bIns="18288">
            <a:spAutoFit/>
          </a:bodyPr>
          <a:lstStyle/>
          <a:p>
            <a:pPr algn="ctr"/>
            <a:r>
              <a:rPr sz="1400" b="0" i="0">
                <a:solidFill>
                  <a:srgbClr val="585858"/>
                </a:solidFill>
                <a:latin typeface="Times New Roman"/>
              </a:rPr>
              <a:t>rebuild</a:t>
            </a:r>
          </a:p>
        </p:txBody>
      </p:sp>
      <p:sp>
        <p:nvSpPr>
          <p:cNvPr id="42" name="Rounded Rectangle 41"/>
          <p:cNvSpPr/>
          <p:nvPr/>
        </p:nvSpPr>
        <p:spPr>
          <a:xfrm>
            <a:off x="6129529" y="3696628"/>
            <a:ext cx="4892040" cy="45720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Three decisions are coupled</a:t>
            </a:r>
          </a:p>
        </p:txBody>
      </p:sp>
      <p:sp>
        <p:nvSpPr>
          <p:cNvPr id="43" name="Rounded Rectangle 42"/>
          <p:cNvSpPr/>
          <p:nvPr/>
        </p:nvSpPr>
        <p:spPr>
          <a:xfrm>
            <a:off x="6312409" y="4519588"/>
            <a:ext cx="1325880" cy="62179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where to split</a:t>
            </a:r>
          </a:p>
        </p:txBody>
      </p:sp>
      <p:sp>
        <p:nvSpPr>
          <p:cNvPr id="44" name="Rounded Rectangle 43"/>
          <p:cNvSpPr/>
          <p:nvPr/>
        </p:nvSpPr>
        <p:spPr>
          <a:xfrm>
            <a:off x="7885177" y="4519588"/>
            <a:ext cx="1325880" cy="62179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which ICC</a:t>
            </a:r>
          </a:p>
        </p:txBody>
      </p:sp>
      <p:sp>
        <p:nvSpPr>
          <p:cNvPr id="45" name="Rounded Rectangle 44"/>
          <p:cNvSpPr/>
          <p:nvPr/>
        </p:nvSpPr>
        <p:spPr>
          <a:xfrm>
            <a:off x="9457945" y="4519588"/>
            <a:ext cx="1325880" cy="62179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which hardware map</a:t>
            </a:r>
          </a:p>
        </p:txBody>
      </p:sp>
    </p:spTree>
    <p:extLst>
      <p:ext uri="{BB962C8B-B14F-4D97-AF65-F5344CB8AC3E}">
        <p14:creationId xmlns:p14="http://schemas.microsoft.com/office/powerpoint/2010/main" val="31818103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Existing Compilers Cover Only Slices of the Design Space</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30352" y="1165860"/>
            <a:ext cx="5883700" cy="4370832"/>
          </a:xfrm>
          <a:prstGeom prst="roundRect">
            <a:avLst>
              <a:gd name="adj" fmla="val 3933"/>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08304" y="1364742"/>
            <a:ext cx="47640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Prior Work Coverage Redrawn</a:t>
            </a:r>
          </a:p>
        </p:txBody>
      </p:sp>
      <p:sp>
        <p:nvSpPr>
          <p:cNvPr id="11" name="TextBox 10"/>
          <p:cNvSpPr txBox="1"/>
          <p:nvPr/>
        </p:nvSpPr>
        <p:spPr>
          <a:xfrm>
            <a:off x="3706921" y="1774921"/>
            <a:ext cx="1915653" cy="313932"/>
          </a:xfrm>
          <a:prstGeom prst="rect">
            <a:avLst/>
          </a:prstGeom>
          <a:noFill/>
        </p:spPr>
        <p:txBody>
          <a:bodyPr wrap="none" lIns="18288" tIns="18288" rIns="18288" bIns="18288">
            <a:spAutoFit/>
          </a:bodyPr>
          <a:lstStyle/>
          <a:p>
            <a:pPr algn="ctr"/>
            <a:r>
              <a:rPr b="1" i="0" dirty="0">
                <a:solidFill>
                  <a:srgbClr val="004990"/>
                </a:solidFill>
                <a:latin typeface="Times New Roman"/>
              </a:rPr>
              <a:t>Objective coverage</a:t>
            </a:r>
          </a:p>
        </p:txBody>
      </p:sp>
      <p:sp>
        <p:nvSpPr>
          <p:cNvPr id="12" name="Rounded Rectangle 11"/>
          <p:cNvSpPr/>
          <p:nvPr/>
        </p:nvSpPr>
        <p:spPr>
          <a:xfrm>
            <a:off x="2590800" y="2168986"/>
            <a:ext cx="1185672" cy="562285"/>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communication</a:t>
            </a:r>
          </a:p>
        </p:txBody>
      </p:sp>
      <p:sp>
        <p:nvSpPr>
          <p:cNvPr id="13" name="Rounded Rectangle 12"/>
          <p:cNvSpPr/>
          <p:nvPr/>
        </p:nvSpPr>
        <p:spPr>
          <a:xfrm>
            <a:off x="3916017" y="2168986"/>
            <a:ext cx="1003455" cy="562285"/>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latency</a:t>
            </a:r>
          </a:p>
        </p:txBody>
      </p:sp>
      <p:sp>
        <p:nvSpPr>
          <p:cNvPr id="14" name="Rounded Rectangle 13"/>
          <p:cNvSpPr/>
          <p:nvPr/>
        </p:nvSpPr>
        <p:spPr>
          <a:xfrm>
            <a:off x="5148071" y="2168986"/>
            <a:ext cx="1134849" cy="562285"/>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topology</a:t>
            </a:r>
          </a:p>
        </p:txBody>
      </p:sp>
      <p:sp>
        <p:nvSpPr>
          <p:cNvPr id="15" name="Rounded Rectangle 14"/>
          <p:cNvSpPr/>
          <p:nvPr/>
        </p:nvSpPr>
        <p:spPr>
          <a:xfrm>
            <a:off x="713232" y="2903220"/>
            <a:ext cx="1572768"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err="1">
                <a:solidFill>
                  <a:srgbClr val="000000"/>
                </a:solidFill>
                <a:latin typeface="Times New Roman"/>
              </a:rPr>
              <a:t>CutQC</a:t>
            </a:r>
            <a:endParaRPr b="1" i="0" dirty="0">
              <a:solidFill>
                <a:srgbClr val="000000"/>
              </a:solidFill>
              <a:latin typeface="Times New Roman"/>
            </a:endParaRPr>
          </a:p>
        </p:txBody>
      </p:sp>
      <p:sp>
        <p:nvSpPr>
          <p:cNvPr id="16" name="Rounded Rectangle 15"/>
          <p:cNvSpPr/>
          <p:nvPr/>
        </p:nvSpPr>
        <p:spPr>
          <a:xfrm>
            <a:off x="3108960" y="2930652"/>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FFFFFF"/>
                </a:solidFill>
                <a:latin typeface="Times New Roman"/>
              </a:rPr>
              <a:t>Y</a:t>
            </a:r>
          </a:p>
        </p:txBody>
      </p:sp>
      <p:sp>
        <p:nvSpPr>
          <p:cNvPr id="17" name="Rounded Rectangle 16"/>
          <p:cNvSpPr/>
          <p:nvPr/>
        </p:nvSpPr>
        <p:spPr>
          <a:xfrm>
            <a:off x="4251960" y="2930652"/>
            <a:ext cx="310896" cy="310896"/>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a:p>
        </p:txBody>
      </p:sp>
      <p:sp>
        <p:nvSpPr>
          <p:cNvPr id="18" name="Rounded Rectangle 17"/>
          <p:cNvSpPr/>
          <p:nvPr/>
        </p:nvSpPr>
        <p:spPr>
          <a:xfrm>
            <a:off x="5394960" y="2930652"/>
            <a:ext cx="310896" cy="310896"/>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a:p>
        </p:txBody>
      </p:sp>
      <p:sp>
        <p:nvSpPr>
          <p:cNvPr id="19" name="Rounded Rectangle 18"/>
          <p:cNvSpPr/>
          <p:nvPr/>
        </p:nvSpPr>
        <p:spPr>
          <a:xfrm>
            <a:off x="713232" y="3525012"/>
            <a:ext cx="1572768"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HyperGraph</a:t>
            </a:r>
          </a:p>
        </p:txBody>
      </p:sp>
      <p:sp>
        <p:nvSpPr>
          <p:cNvPr id="20" name="Rounded Rectangle 19"/>
          <p:cNvSpPr/>
          <p:nvPr/>
        </p:nvSpPr>
        <p:spPr>
          <a:xfrm>
            <a:off x="3108960" y="3552444"/>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FFFFFF"/>
                </a:solidFill>
                <a:latin typeface="Times New Roman"/>
              </a:rPr>
              <a:t>Y</a:t>
            </a:r>
          </a:p>
        </p:txBody>
      </p:sp>
      <p:sp>
        <p:nvSpPr>
          <p:cNvPr id="21" name="Rounded Rectangle 20"/>
          <p:cNvSpPr/>
          <p:nvPr/>
        </p:nvSpPr>
        <p:spPr>
          <a:xfrm>
            <a:off x="4251960" y="3552444"/>
            <a:ext cx="310896" cy="310896"/>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a:p>
        </p:txBody>
      </p:sp>
      <p:sp>
        <p:nvSpPr>
          <p:cNvPr id="22" name="Rounded Rectangle 21"/>
          <p:cNvSpPr/>
          <p:nvPr/>
        </p:nvSpPr>
        <p:spPr>
          <a:xfrm>
            <a:off x="5394960" y="3552444"/>
            <a:ext cx="310896" cy="310896"/>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a:p>
        </p:txBody>
      </p:sp>
      <p:sp>
        <p:nvSpPr>
          <p:cNvPr id="23" name="Rounded Rectangle 22"/>
          <p:cNvSpPr/>
          <p:nvPr/>
        </p:nvSpPr>
        <p:spPr>
          <a:xfrm>
            <a:off x="713232" y="4146804"/>
            <a:ext cx="1572768"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AutoComm</a:t>
            </a:r>
          </a:p>
        </p:txBody>
      </p:sp>
      <p:sp>
        <p:nvSpPr>
          <p:cNvPr id="24" name="Rounded Rectangle 23"/>
          <p:cNvSpPr/>
          <p:nvPr/>
        </p:nvSpPr>
        <p:spPr>
          <a:xfrm>
            <a:off x="3108960" y="4174236"/>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FFFFFF"/>
                </a:solidFill>
                <a:latin typeface="Times New Roman"/>
              </a:rPr>
              <a:t>Y</a:t>
            </a:r>
          </a:p>
        </p:txBody>
      </p:sp>
      <p:sp>
        <p:nvSpPr>
          <p:cNvPr id="25" name="Rounded Rectangle 24"/>
          <p:cNvSpPr/>
          <p:nvPr/>
        </p:nvSpPr>
        <p:spPr>
          <a:xfrm>
            <a:off x="4251960" y="4174236"/>
            <a:ext cx="310896" cy="310896"/>
          </a:xfrm>
          <a:prstGeom prst="roundRect">
            <a:avLst/>
          </a:prstGeom>
          <a:solidFill>
            <a:srgbClr val="EE8436"/>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FFFFFF"/>
                </a:solidFill>
                <a:latin typeface="Times New Roman"/>
              </a:rPr>
              <a:t>Y</a:t>
            </a:r>
          </a:p>
        </p:txBody>
      </p:sp>
      <p:sp>
        <p:nvSpPr>
          <p:cNvPr id="26" name="Rounded Rectangle 25"/>
          <p:cNvSpPr/>
          <p:nvPr/>
        </p:nvSpPr>
        <p:spPr>
          <a:xfrm>
            <a:off x="5394960" y="4174236"/>
            <a:ext cx="310896" cy="310896"/>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endParaRPr/>
          </a:p>
        </p:txBody>
      </p:sp>
      <p:sp>
        <p:nvSpPr>
          <p:cNvPr id="27" name="Rounded Rectangle 26"/>
          <p:cNvSpPr/>
          <p:nvPr/>
        </p:nvSpPr>
        <p:spPr>
          <a:xfrm>
            <a:off x="713232" y="4768596"/>
            <a:ext cx="1572768" cy="38404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000000"/>
                </a:solidFill>
                <a:latin typeface="Times New Roman"/>
              </a:rPr>
              <a:t>AdaptDQC</a:t>
            </a:r>
          </a:p>
        </p:txBody>
      </p:sp>
      <p:sp>
        <p:nvSpPr>
          <p:cNvPr id="28" name="Rounded Rectangle 27"/>
          <p:cNvSpPr/>
          <p:nvPr/>
        </p:nvSpPr>
        <p:spPr>
          <a:xfrm>
            <a:off x="3108960" y="4796028"/>
            <a:ext cx="310896" cy="310896"/>
          </a:xfrm>
          <a:prstGeom prst="roundRect">
            <a:avLst/>
          </a:prstGeom>
          <a:solidFill>
            <a:srgbClr val="004990"/>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FFFFFF"/>
                </a:solidFill>
                <a:latin typeface="Times New Roman"/>
              </a:rPr>
              <a:t>Y</a:t>
            </a:r>
          </a:p>
        </p:txBody>
      </p:sp>
      <p:sp>
        <p:nvSpPr>
          <p:cNvPr id="29" name="Rounded Rectangle 28"/>
          <p:cNvSpPr/>
          <p:nvPr/>
        </p:nvSpPr>
        <p:spPr>
          <a:xfrm>
            <a:off x="4251960" y="4796028"/>
            <a:ext cx="310896" cy="310896"/>
          </a:xfrm>
          <a:prstGeom prst="roundRect">
            <a:avLst/>
          </a:prstGeom>
          <a:solidFill>
            <a:srgbClr val="EE8436"/>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FFFFFF"/>
                </a:solidFill>
                <a:latin typeface="Times New Roman"/>
              </a:rPr>
              <a:t>Y</a:t>
            </a:r>
          </a:p>
        </p:txBody>
      </p:sp>
      <p:sp>
        <p:nvSpPr>
          <p:cNvPr id="30" name="Rounded Rectangle 29"/>
          <p:cNvSpPr/>
          <p:nvPr/>
        </p:nvSpPr>
        <p:spPr>
          <a:xfrm>
            <a:off x="5394960" y="4796028"/>
            <a:ext cx="310896" cy="310896"/>
          </a:xfrm>
          <a:prstGeom prst="roundRect">
            <a:avLst/>
          </a:prstGeom>
          <a:solidFill>
            <a:srgbClr val="4A9B55"/>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a:solidFill>
                  <a:srgbClr val="FFFFFF"/>
                </a:solidFill>
                <a:latin typeface="Times New Roman"/>
              </a:rPr>
              <a:t>Y</a:t>
            </a:r>
          </a:p>
        </p:txBody>
      </p:sp>
      <p:graphicFrame>
        <p:nvGraphicFramePr>
          <p:cNvPr id="31" name="Table 30"/>
          <p:cNvGraphicFramePr>
            <a:graphicFrameLocks noGrp="1"/>
          </p:cNvGraphicFramePr>
          <p:nvPr>
            <p:extLst>
              <p:ext uri="{D42A27DB-BD31-4B8C-83A1-F6EECF244321}">
                <p14:modId xmlns:p14="http://schemas.microsoft.com/office/powerpoint/2010/main" val="620309381"/>
              </p:ext>
            </p:extLst>
          </p:nvPr>
        </p:nvGraphicFramePr>
        <p:xfrm>
          <a:off x="6746748" y="1645920"/>
          <a:ext cx="4981425" cy="2331720"/>
        </p:xfrm>
        <a:graphic>
          <a:graphicData uri="http://schemas.openxmlformats.org/drawingml/2006/table">
            <a:tbl>
              <a:tblPr firstRow="1" bandRow="1">
                <a:tableStyleId>{5C22544A-7EE6-4342-B048-85BDC9FD1C3A}</a:tableStyleId>
              </a:tblPr>
              <a:tblGrid>
                <a:gridCol w="1256995">
                  <a:extLst>
                    <a:ext uri="{9D8B030D-6E8A-4147-A177-3AD203B41FA5}">
                      <a16:colId xmlns:a16="http://schemas.microsoft.com/office/drawing/2014/main" val="20000"/>
                    </a:ext>
                  </a:extLst>
                </a:gridCol>
                <a:gridCol w="1722549">
                  <a:extLst>
                    <a:ext uri="{9D8B030D-6E8A-4147-A177-3AD203B41FA5}">
                      <a16:colId xmlns:a16="http://schemas.microsoft.com/office/drawing/2014/main" val="20001"/>
                    </a:ext>
                  </a:extLst>
                </a:gridCol>
                <a:gridCol w="2001881">
                  <a:extLst>
                    <a:ext uri="{9D8B030D-6E8A-4147-A177-3AD203B41FA5}">
                      <a16:colId xmlns:a16="http://schemas.microsoft.com/office/drawing/2014/main" val="20002"/>
                    </a:ext>
                  </a:extLst>
                </a:gridCol>
              </a:tblGrid>
              <a:tr h="411480">
                <a:tc>
                  <a:txBody>
                    <a:bodyPr/>
                    <a:lstStyle/>
                    <a:p>
                      <a:pPr algn="ctr"/>
                      <a:r>
                        <a:rPr sz="1500" b="1" i="0" dirty="0">
                          <a:solidFill>
                            <a:srgbClr val="FFFFFF"/>
                          </a:solidFill>
                          <a:latin typeface="Times New Roman"/>
                        </a:rPr>
                        <a:t>Framework</a:t>
                      </a:r>
                    </a:p>
                  </a:txBody>
                  <a:tcPr marL="45720" marR="45720">
                    <a:solidFill>
                      <a:srgbClr val="004990"/>
                    </a:solidFill>
                  </a:tcPr>
                </a:tc>
                <a:tc>
                  <a:txBody>
                    <a:bodyPr/>
                    <a:lstStyle/>
                    <a:p>
                      <a:pPr algn="ctr"/>
                      <a:r>
                        <a:rPr sz="1500" b="1" i="0">
                          <a:solidFill>
                            <a:srgbClr val="FFFFFF"/>
                          </a:solidFill>
                          <a:latin typeface="Times New Roman"/>
                        </a:rPr>
                        <a:t>Architecture</a:t>
                      </a:r>
                    </a:p>
                  </a:txBody>
                  <a:tcPr marL="45720" marR="45720">
                    <a:solidFill>
                      <a:srgbClr val="004990"/>
                    </a:solidFill>
                  </a:tcPr>
                </a:tc>
                <a:tc>
                  <a:txBody>
                    <a:bodyPr/>
                    <a:lstStyle/>
                    <a:p>
                      <a:pPr algn="ctr"/>
                      <a:r>
                        <a:rPr sz="1500" b="1" i="0">
                          <a:solidFill>
                            <a:srgbClr val="FFFFFF"/>
                          </a:solidFill>
                          <a:latin typeface="Times New Roman"/>
                        </a:rPr>
                        <a:t>Objective coverage</a:t>
                      </a:r>
                    </a:p>
                  </a:txBody>
                  <a:tcPr marL="45720" marR="45720">
                    <a:solidFill>
                      <a:srgbClr val="004990"/>
                    </a:solidFill>
                  </a:tcPr>
                </a:tc>
                <a:extLst>
                  <a:ext uri="{0D108BD9-81ED-4DB2-BD59-A6C34878D82A}">
                    <a16:rowId xmlns:a16="http://schemas.microsoft.com/office/drawing/2014/main" val="10000"/>
                  </a:ext>
                </a:extLst>
              </a:tr>
              <a:tr h="411480">
                <a:tc>
                  <a:txBody>
                    <a:bodyPr/>
                    <a:lstStyle/>
                    <a:p>
                      <a:pPr algn="ctr"/>
                      <a:r>
                        <a:rPr sz="1500" b="0" i="0">
                          <a:solidFill>
                            <a:srgbClr val="000000"/>
                          </a:solidFill>
                          <a:latin typeface="Times New Roman"/>
                        </a:rPr>
                        <a:t>CutQC</a:t>
                      </a:r>
                    </a:p>
                  </a:txBody>
                  <a:tcPr marL="45720" marR="45720">
                    <a:solidFill>
                      <a:srgbClr val="DDEBF7"/>
                    </a:solidFill>
                  </a:tcPr>
                </a:tc>
                <a:tc>
                  <a:txBody>
                    <a:bodyPr/>
                    <a:lstStyle/>
                    <a:p>
                      <a:pPr algn="ctr"/>
                      <a:r>
                        <a:rPr sz="1500" b="0" i="0">
                          <a:solidFill>
                            <a:srgbClr val="000000"/>
                          </a:solidFill>
                          <a:latin typeface="Times New Roman"/>
                        </a:rPr>
                        <a:t>QubitComm</a:t>
                      </a:r>
                    </a:p>
                  </a:txBody>
                  <a:tcPr marL="45720" marR="45720">
                    <a:solidFill>
                      <a:srgbClr val="DDEBF7"/>
                    </a:solidFill>
                  </a:tcPr>
                </a:tc>
                <a:tc>
                  <a:txBody>
                    <a:bodyPr/>
                    <a:lstStyle/>
                    <a:p>
                      <a:pPr algn="ctr"/>
                      <a:r>
                        <a:rPr sz="1500" b="0" i="0">
                          <a:solidFill>
                            <a:srgbClr val="000000"/>
                          </a:solidFill>
                          <a:latin typeface="Times New Roman"/>
                        </a:rPr>
                        <a:t>communication only</a:t>
                      </a:r>
                    </a:p>
                  </a:txBody>
                  <a:tcPr marL="45720" marR="45720">
                    <a:solidFill>
                      <a:srgbClr val="DDEBF7"/>
                    </a:solidFill>
                  </a:tcPr>
                </a:tc>
                <a:extLst>
                  <a:ext uri="{0D108BD9-81ED-4DB2-BD59-A6C34878D82A}">
                    <a16:rowId xmlns:a16="http://schemas.microsoft.com/office/drawing/2014/main" val="10001"/>
                  </a:ext>
                </a:extLst>
              </a:tr>
              <a:tr h="411480">
                <a:tc>
                  <a:txBody>
                    <a:bodyPr/>
                    <a:lstStyle/>
                    <a:p>
                      <a:pPr algn="ctr"/>
                      <a:r>
                        <a:rPr sz="1500" b="0" i="0">
                          <a:solidFill>
                            <a:srgbClr val="000000"/>
                          </a:solidFill>
                          <a:latin typeface="Times New Roman"/>
                        </a:rPr>
                        <a:t>HyperGraph</a:t>
                      </a:r>
                    </a:p>
                  </a:txBody>
                  <a:tcPr marL="45720" marR="45720">
                    <a:solidFill>
                      <a:srgbClr val="FFFFFF"/>
                    </a:solidFill>
                  </a:tcPr>
                </a:tc>
                <a:tc>
                  <a:txBody>
                    <a:bodyPr/>
                    <a:lstStyle/>
                    <a:p>
                      <a:pPr algn="ctr"/>
                      <a:r>
                        <a:rPr sz="1500" b="0" i="0">
                          <a:solidFill>
                            <a:srgbClr val="000000"/>
                          </a:solidFill>
                          <a:latin typeface="Times New Roman"/>
                        </a:rPr>
                        <a:t>GateComm</a:t>
                      </a:r>
                    </a:p>
                  </a:txBody>
                  <a:tcPr marL="45720" marR="45720">
                    <a:solidFill>
                      <a:srgbClr val="FFFFFF"/>
                    </a:solidFill>
                  </a:tcPr>
                </a:tc>
                <a:tc>
                  <a:txBody>
                    <a:bodyPr/>
                    <a:lstStyle/>
                    <a:p>
                      <a:pPr algn="ctr"/>
                      <a:r>
                        <a:rPr sz="1500" b="0" i="0">
                          <a:solidFill>
                            <a:srgbClr val="000000"/>
                          </a:solidFill>
                          <a:latin typeface="Times New Roman"/>
                        </a:rPr>
                        <a:t>communication only</a:t>
                      </a:r>
                    </a:p>
                  </a:txBody>
                  <a:tcPr marL="45720" marR="45720">
                    <a:solidFill>
                      <a:srgbClr val="FFFFFF"/>
                    </a:solidFill>
                  </a:tcPr>
                </a:tc>
                <a:extLst>
                  <a:ext uri="{0D108BD9-81ED-4DB2-BD59-A6C34878D82A}">
                    <a16:rowId xmlns:a16="http://schemas.microsoft.com/office/drawing/2014/main" val="10002"/>
                  </a:ext>
                </a:extLst>
              </a:tr>
              <a:tr h="411480">
                <a:tc>
                  <a:txBody>
                    <a:bodyPr/>
                    <a:lstStyle/>
                    <a:p>
                      <a:pPr algn="ctr"/>
                      <a:r>
                        <a:rPr sz="1500" b="0" i="0">
                          <a:solidFill>
                            <a:srgbClr val="000000"/>
                          </a:solidFill>
                          <a:latin typeface="Times New Roman"/>
                        </a:rPr>
                        <a:t>AutoComm</a:t>
                      </a:r>
                    </a:p>
                  </a:txBody>
                  <a:tcPr marL="45720" marR="45720">
                    <a:solidFill>
                      <a:srgbClr val="DDEBF7"/>
                    </a:solidFill>
                  </a:tcPr>
                </a:tc>
                <a:tc>
                  <a:txBody>
                    <a:bodyPr/>
                    <a:lstStyle/>
                    <a:p>
                      <a:pPr algn="ctr"/>
                      <a:r>
                        <a:rPr sz="1500" b="0" i="0">
                          <a:solidFill>
                            <a:srgbClr val="000000"/>
                          </a:solidFill>
                          <a:latin typeface="Times New Roman"/>
                        </a:rPr>
                        <a:t>GateComm</a:t>
                      </a:r>
                    </a:p>
                  </a:txBody>
                  <a:tcPr marL="45720" marR="45720">
                    <a:solidFill>
                      <a:srgbClr val="DDEBF7"/>
                    </a:solidFill>
                  </a:tcPr>
                </a:tc>
                <a:tc>
                  <a:txBody>
                    <a:bodyPr/>
                    <a:lstStyle/>
                    <a:p>
                      <a:pPr algn="ctr"/>
                      <a:r>
                        <a:rPr sz="1500" b="0" i="0" dirty="0">
                          <a:solidFill>
                            <a:srgbClr val="000000"/>
                          </a:solidFill>
                          <a:latin typeface="Times New Roman"/>
                        </a:rPr>
                        <a:t>communication + latency</a:t>
                      </a:r>
                    </a:p>
                  </a:txBody>
                  <a:tcPr marL="45720" marR="45720">
                    <a:solidFill>
                      <a:srgbClr val="DDEBF7"/>
                    </a:solidFill>
                  </a:tcPr>
                </a:tc>
                <a:extLst>
                  <a:ext uri="{0D108BD9-81ED-4DB2-BD59-A6C34878D82A}">
                    <a16:rowId xmlns:a16="http://schemas.microsoft.com/office/drawing/2014/main" val="10003"/>
                  </a:ext>
                </a:extLst>
              </a:tr>
              <a:tr h="411480">
                <a:tc>
                  <a:txBody>
                    <a:bodyPr/>
                    <a:lstStyle/>
                    <a:p>
                      <a:pPr algn="ctr"/>
                      <a:r>
                        <a:rPr sz="1500" b="0" i="0" dirty="0" err="1">
                          <a:solidFill>
                            <a:srgbClr val="000000"/>
                          </a:solidFill>
                          <a:latin typeface="Times New Roman"/>
                        </a:rPr>
                        <a:t>AdaptDQC</a:t>
                      </a:r>
                      <a:endParaRPr sz="1500" b="0" i="0" dirty="0">
                        <a:solidFill>
                          <a:srgbClr val="000000"/>
                        </a:solidFill>
                        <a:latin typeface="Times New Roman"/>
                      </a:endParaRPr>
                    </a:p>
                  </a:txBody>
                  <a:tcPr marL="45720" marR="45720">
                    <a:solidFill>
                      <a:srgbClr val="FFFFFF"/>
                    </a:solidFill>
                  </a:tcPr>
                </a:tc>
                <a:tc>
                  <a:txBody>
                    <a:bodyPr/>
                    <a:lstStyle/>
                    <a:p>
                      <a:pPr algn="ctr"/>
                      <a:r>
                        <a:rPr sz="1500" b="0" i="0">
                          <a:solidFill>
                            <a:srgbClr val="000000"/>
                          </a:solidFill>
                          <a:latin typeface="Times New Roman"/>
                        </a:rPr>
                        <a:t>Qubit + Gate + Hybrid</a:t>
                      </a:r>
                    </a:p>
                  </a:txBody>
                  <a:tcPr marL="45720" marR="45720">
                    <a:solidFill>
                      <a:srgbClr val="FFFFFF"/>
                    </a:solidFill>
                  </a:tcPr>
                </a:tc>
                <a:tc>
                  <a:txBody>
                    <a:bodyPr/>
                    <a:lstStyle/>
                    <a:p>
                      <a:pPr algn="ctr"/>
                      <a:r>
                        <a:rPr sz="1500" b="0" i="0" dirty="0">
                          <a:solidFill>
                            <a:srgbClr val="000000"/>
                          </a:solidFill>
                          <a:latin typeface="Times New Roman"/>
                        </a:rPr>
                        <a:t>communication + latency + topology</a:t>
                      </a:r>
                    </a:p>
                  </a:txBody>
                  <a:tcPr marL="45720" marR="45720">
                    <a:solidFill>
                      <a:srgbClr val="FFFFFF"/>
                    </a:solidFill>
                  </a:tcPr>
                </a:tc>
                <a:extLst>
                  <a:ext uri="{0D108BD9-81ED-4DB2-BD59-A6C34878D82A}">
                    <a16:rowId xmlns:a16="http://schemas.microsoft.com/office/drawing/2014/main" val="10004"/>
                  </a:ext>
                </a:extLst>
              </a:tr>
            </a:tbl>
          </a:graphicData>
        </a:graphic>
      </p:graphicFrame>
      <p:sp>
        <p:nvSpPr>
          <p:cNvPr id="32" name="Rounded Rectangle 31"/>
          <p:cNvSpPr/>
          <p:nvPr/>
        </p:nvSpPr>
        <p:spPr>
          <a:xfrm>
            <a:off x="6915912" y="4346713"/>
            <a:ext cx="4553712" cy="728207"/>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b="1" i="0" dirty="0">
                <a:solidFill>
                  <a:srgbClr val="000000"/>
                </a:solidFill>
                <a:latin typeface="Times New Roman"/>
              </a:rPr>
              <a:t>Missing link: one model that supports many systems and many goals.</a:t>
            </a:r>
          </a:p>
        </p:txBody>
      </p:sp>
    </p:spTree>
    <p:extLst>
      <p:ext uri="{BB962C8B-B14F-4D97-AF65-F5344CB8AC3E}">
        <p14:creationId xmlns:p14="http://schemas.microsoft.com/office/powerpoint/2010/main" val="3319817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HybridComm Needs an Architecture-Aware Compiler</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Background</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1143000"/>
            <a:ext cx="1965960"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QubitComm only</a:t>
            </a:r>
          </a:p>
        </p:txBody>
      </p:sp>
      <p:cxnSp>
        <p:nvCxnSpPr>
          <p:cNvPr id="10" name="Connector 9"/>
          <p:cNvCxnSpPr/>
          <p:nvPr/>
        </p:nvCxnSpPr>
        <p:spPr>
          <a:xfrm>
            <a:off x="3154680" y="1289304"/>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898648" y="1216151"/>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q0</a:t>
            </a:r>
          </a:p>
        </p:txBody>
      </p:sp>
      <p:cxnSp>
        <p:nvCxnSpPr>
          <p:cNvPr id="12" name="Connector 11"/>
          <p:cNvCxnSpPr/>
          <p:nvPr/>
        </p:nvCxnSpPr>
        <p:spPr>
          <a:xfrm>
            <a:off x="3154680" y="1600200"/>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898648" y="1527048"/>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q1</a:t>
            </a:r>
          </a:p>
        </p:txBody>
      </p:sp>
      <p:cxnSp>
        <p:nvCxnSpPr>
          <p:cNvPr id="14" name="Connector 13"/>
          <p:cNvCxnSpPr/>
          <p:nvPr/>
        </p:nvCxnSpPr>
        <p:spPr>
          <a:xfrm>
            <a:off x="3154680" y="1911095"/>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2898648" y="1837943"/>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q2</a:t>
            </a:r>
          </a:p>
        </p:txBody>
      </p:sp>
      <p:cxnSp>
        <p:nvCxnSpPr>
          <p:cNvPr id="16" name="Connector 15"/>
          <p:cNvCxnSpPr/>
          <p:nvPr/>
        </p:nvCxnSpPr>
        <p:spPr>
          <a:xfrm>
            <a:off x="3154680" y="2221991"/>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98648" y="2148839"/>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q3</a:t>
            </a:r>
          </a:p>
        </p:txBody>
      </p:sp>
      <p:sp>
        <p:nvSpPr>
          <p:cNvPr id="18" name="Rounded Rectangle 17"/>
          <p:cNvSpPr/>
          <p:nvPr/>
        </p:nvSpPr>
        <p:spPr>
          <a:xfrm>
            <a:off x="3566160" y="1179576"/>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H</a:t>
            </a:r>
          </a:p>
        </p:txBody>
      </p:sp>
      <p:sp>
        <p:nvSpPr>
          <p:cNvPr id="19" name="Rounded Rectangle 18"/>
          <p:cNvSpPr/>
          <p:nvPr/>
        </p:nvSpPr>
        <p:spPr>
          <a:xfrm>
            <a:off x="4023360" y="1490472"/>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20" name="Rounded Rectangle 19"/>
          <p:cNvSpPr/>
          <p:nvPr/>
        </p:nvSpPr>
        <p:spPr>
          <a:xfrm>
            <a:off x="4480560" y="1801367"/>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Rz</a:t>
            </a:r>
          </a:p>
        </p:txBody>
      </p:sp>
      <p:sp>
        <p:nvSpPr>
          <p:cNvPr id="21" name="Rounded Rectangle 20"/>
          <p:cNvSpPr/>
          <p:nvPr/>
        </p:nvSpPr>
        <p:spPr>
          <a:xfrm>
            <a:off x="4983480" y="1490472"/>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22" name="Rounded Rectangle 21"/>
          <p:cNvSpPr/>
          <p:nvPr/>
        </p:nvSpPr>
        <p:spPr>
          <a:xfrm>
            <a:off x="5550408" y="2112263"/>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M</a:t>
            </a:r>
          </a:p>
        </p:txBody>
      </p:sp>
      <p:cxnSp>
        <p:nvCxnSpPr>
          <p:cNvPr id="23" name="Connector 22"/>
          <p:cNvCxnSpPr/>
          <p:nvPr/>
        </p:nvCxnSpPr>
        <p:spPr>
          <a:xfrm>
            <a:off x="5394960" y="1536192"/>
            <a:ext cx="64008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199632" y="1161288"/>
            <a:ext cx="1993392" cy="420624"/>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many wire cuts</a:t>
            </a:r>
          </a:p>
        </p:txBody>
      </p:sp>
      <p:sp>
        <p:nvSpPr>
          <p:cNvPr id="25" name="Rounded Rectangle 24"/>
          <p:cNvSpPr/>
          <p:nvPr/>
        </p:nvSpPr>
        <p:spPr>
          <a:xfrm>
            <a:off x="8668512" y="1161288"/>
            <a:ext cx="2148840"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tensor workload</a:t>
            </a:r>
          </a:p>
        </p:txBody>
      </p:sp>
      <p:sp>
        <p:nvSpPr>
          <p:cNvPr id="26" name="Rounded Rectangle 25"/>
          <p:cNvSpPr/>
          <p:nvPr/>
        </p:nvSpPr>
        <p:spPr>
          <a:xfrm>
            <a:off x="868680" y="2514600"/>
            <a:ext cx="1965960" cy="530352"/>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GateComm only</a:t>
            </a:r>
          </a:p>
        </p:txBody>
      </p:sp>
      <p:cxnSp>
        <p:nvCxnSpPr>
          <p:cNvPr id="27" name="Connector 26"/>
          <p:cNvCxnSpPr/>
          <p:nvPr/>
        </p:nvCxnSpPr>
        <p:spPr>
          <a:xfrm>
            <a:off x="3154680" y="2660904"/>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898648" y="2587752"/>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q0</a:t>
            </a:r>
          </a:p>
        </p:txBody>
      </p:sp>
      <p:cxnSp>
        <p:nvCxnSpPr>
          <p:cNvPr id="29" name="Connector 28"/>
          <p:cNvCxnSpPr/>
          <p:nvPr/>
        </p:nvCxnSpPr>
        <p:spPr>
          <a:xfrm>
            <a:off x="3154680" y="2971800"/>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898648" y="2898648"/>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q1</a:t>
            </a:r>
          </a:p>
        </p:txBody>
      </p:sp>
      <p:cxnSp>
        <p:nvCxnSpPr>
          <p:cNvPr id="31" name="Connector 30"/>
          <p:cNvCxnSpPr/>
          <p:nvPr/>
        </p:nvCxnSpPr>
        <p:spPr>
          <a:xfrm>
            <a:off x="3154680" y="3282696"/>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898648" y="3209544"/>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q2</a:t>
            </a:r>
          </a:p>
        </p:txBody>
      </p:sp>
      <p:cxnSp>
        <p:nvCxnSpPr>
          <p:cNvPr id="33" name="Connector 32"/>
          <p:cNvCxnSpPr/>
          <p:nvPr/>
        </p:nvCxnSpPr>
        <p:spPr>
          <a:xfrm>
            <a:off x="3154680" y="3593592"/>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898648" y="3520440"/>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q3</a:t>
            </a:r>
          </a:p>
        </p:txBody>
      </p:sp>
      <p:sp>
        <p:nvSpPr>
          <p:cNvPr id="35" name="Rounded Rectangle 34"/>
          <p:cNvSpPr/>
          <p:nvPr/>
        </p:nvSpPr>
        <p:spPr>
          <a:xfrm>
            <a:off x="3566160" y="2551176"/>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H</a:t>
            </a:r>
          </a:p>
        </p:txBody>
      </p:sp>
      <p:sp>
        <p:nvSpPr>
          <p:cNvPr id="36" name="Rounded Rectangle 35"/>
          <p:cNvSpPr/>
          <p:nvPr/>
        </p:nvSpPr>
        <p:spPr>
          <a:xfrm>
            <a:off x="4023360" y="2862072"/>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37" name="Rounded Rectangle 36"/>
          <p:cNvSpPr/>
          <p:nvPr/>
        </p:nvSpPr>
        <p:spPr>
          <a:xfrm>
            <a:off x="4480560" y="3172968"/>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Rz</a:t>
            </a:r>
          </a:p>
        </p:txBody>
      </p:sp>
      <p:sp>
        <p:nvSpPr>
          <p:cNvPr id="38" name="Rounded Rectangle 37"/>
          <p:cNvSpPr/>
          <p:nvPr/>
        </p:nvSpPr>
        <p:spPr>
          <a:xfrm>
            <a:off x="4983480" y="2862072"/>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39" name="Rounded Rectangle 38"/>
          <p:cNvSpPr/>
          <p:nvPr/>
        </p:nvSpPr>
        <p:spPr>
          <a:xfrm>
            <a:off x="5550408" y="3483864"/>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M</a:t>
            </a:r>
          </a:p>
        </p:txBody>
      </p:sp>
      <p:cxnSp>
        <p:nvCxnSpPr>
          <p:cNvPr id="40" name="Connector 39"/>
          <p:cNvCxnSpPr/>
          <p:nvPr/>
        </p:nvCxnSpPr>
        <p:spPr>
          <a:xfrm>
            <a:off x="5394960" y="2907792"/>
            <a:ext cx="640080"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199632" y="2532888"/>
            <a:ext cx="1993392" cy="420624"/>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dirty="0">
                <a:solidFill>
                  <a:srgbClr val="000000"/>
                </a:solidFill>
                <a:latin typeface="Times New Roman"/>
              </a:rPr>
              <a:t>many remote gates</a:t>
            </a:r>
          </a:p>
        </p:txBody>
      </p:sp>
      <p:sp>
        <p:nvSpPr>
          <p:cNvPr id="42" name="Rounded Rectangle 41"/>
          <p:cNvSpPr/>
          <p:nvPr/>
        </p:nvSpPr>
        <p:spPr>
          <a:xfrm>
            <a:off x="8668512" y="2532888"/>
            <a:ext cx="2148840" cy="420624"/>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EPR + critical path</a:t>
            </a:r>
          </a:p>
        </p:txBody>
      </p:sp>
      <p:sp>
        <p:nvSpPr>
          <p:cNvPr id="43" name="Rounded Rectangle 42"/>
          <p:cNvSpPr/>
          <p:nvPr/>
        </p:nvSpPr>
        <p:spPr>
          <a:xfrm>
            <a:off x="868680" y="3886200"/>
            <a:ext cx="1965960" cy="53035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HybridComm</a:t>
            </a:r>
          </a:p>
        </p:txBody>
      </p:sp>
      <p:cxnSp>
        <p:nvCxnSpPr>
          <p:cNvPr id="44" name="Connector 43"/>
          <p:cNvCxnSpPr/>
          <p:nvPr/>
        </p:nvCxnSpPr>
        <p:spPr>
          <a:xfrm>
            <a:off x="3154680" y="4032504"/>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898648" y="3959352"/>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q0</a:t>
            </a:r>
          </a:p>
        </p:txBody>
      </p:sp>
      <p:cxnSp>
        <p:nvCxnSpPr>
          <p:cNvPr id="46" name="Connector 45"/>
          <p:cNvCxnSpPr/>
          <p:nvPr/>
        </p:nvCxnSpPr>
        <p:spPr>
          <a:xfrm>
            <a:off x="3154680" y="4343400"/>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2898648" y="4270248"/>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q1</a:t>
            </a:r>
          </a:p>
        </p:txBody>
      </p:sp>
      <p:cxnSp>
        <p:nvCxnSpPr>
          <p:cNvPr id="48" name="Connector 47"/>
          <p:cNvCxnSpPr/>
          <p:nvPr/>
        </p:nvCxnSpPr>
        <p:spPr>
          <a:xfrm>
            <a:off x="3154680" y="4654296"/>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898648" y="4581144"/>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q2</a:t>
            </a:r>
          </a:p>
        </p:txBody>
      </p:sp>
      <p:cxnSp>
        <p:nvCxnSpPr>
          <p:cNvPr id="50" name="Connector 49"/>
          <p:cNvCxnSpPr/>
          <p:nvPr/>
        </p:nvCxnSpPr>
        <p:spPr>
          <a:xfrm>
            <a:off x="3154680" y="4965192"/>
            <a:ext cx="210312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2898648" y="4892040"/>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q3</a:t>
            </a:r>
          </a:p>
        </p:txBody>
      </p:sp>
      <p:sp>
        <p:nvSpPr>
          <p:cNvPr id="52" name="Rounded Rectangle 51"/>
          <p:cNvSpPr/>
          <p:nvPr/>
        </p:nvSpPr>
        <p:spPr>
          <a:xfrm>
            <a:off x="3566160" y="3922776"/>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H</a:t>
            </a:r>
          </a:p>
        </p:txBody>
      </p:sp>
      <p:sp>
        <p:nvSpPr>
          <p:cNvPr id="53" name="Rounded Rectangle 52"/>
          <p:cNvSpPr/>
          <p:nvPr/>
        </p:nvSpPr>
        <p:spPr>
          <a:xfrm>
            <a:off x="4023360" y="4233672"/>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54" name="Rounded Rectangle 53"/>
          <p:cNvSpPr/>
          <p:nvPr/>
        </p:nvSpPr>
        <p:spPr>
          <a:xfrm>
            <a:off x="4480560" y="4544568"/>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Rz</a:t>
            </a:r>
          </a:p>
        </p:txBody>
      </p:sp>
      <p:sp>
        <p:nvSpPr>
          <p:cNvPr id="55" name="Rounded Rectangle 54"/>
          <p:cNvSpPr/>
          <p:nvPr/>
        </p:nvSpPr>
        <p:spPr>
          <a:xfrm>
            <a:off x="4983480" y="4233672"/>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56" name="Rounded Rectangle 55"/>
          <p:cNvSpPr/>
          <p:nvPr/>
        </p:nvSpPr>
        <p:spPr>
          <a:xfrm>
            <a:off x="5550408" y="4855464"/>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M</a:t>
            </a:r>
          </a:p>
        </p:txBody>
      </p:sp>
      <p:cxnSp>
        <p:nvCxnSpPr>
          <p:cNvPr id="57" name="Connector 56"/>
          <p:cNvCxnSpPr/>
          <p:nvPr/>
        </p:nvCxnSpPr>
        <p:spPr>
          <a:xfrm>
            <a:off x="5394960" y="4279392"/>
            <a:ext cx="640080" cy="0"/>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6199632" y="3904487"/>
            <a:ext cx="1993392" cy="420624"/>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fewer partitions</a:t>
            </a:r>
          </a:p>
        </p:txBody>
      </p:sp>
      <p:sp>
        <p:nvSpPr>
          <p:cNvPr id="59" name="Rounded Rectangle 58"/>
          <p:cNvSpPr/>
          <p:nvPr/>
        </p:nvSpPr>
        <p:spPr>
          <a:xfrm>
            <a:off x="8668512" y="3904487"/>
            <a:ext cx="2148840" cy="420624"/>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choose both mechanisms</a:t>
            </a:r>
          </a:p>
        </p:txBody>
      </p:sp>
      <p:sp>
        <p:nvSpPr>
          <p:cNvPr id="60" name="Rounded Rectangle 59"/>
          <p:cNvSpPr/>
          <p:nvPr/>
        </p:nvSpPr>
        <p:spPr>
          <a:xfrm>
            <a:off x="868680" y="5495544"/>
            <a:ext cx="10782631" cy="4754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dirty="0" err="1">
                <a:solidFill>
                  <a:srgbClr val="000000"/>
                </a:solidFill>
                <a:latin typeface="Times New Roman"/>
              </a:rPr>
              <a:t>HybridComm</a:t>
            </a:r>
            <a:r>
              <a:rPr sz="1900" b="1" i="0" dirty="0">
                <a:solidFill>
                  <a:srgbClr val="000000"/>
                </a:solidFill>
                <a:latin typeface="Times New Roman"/>
              </a:rPr>
              <a:t> is valuable because the best communication primitive is circuit- and metric-dependent.</a:t>
            </a:r>
          </a:p>
        </p:txBody>
      </p:sp>
      <p:sp>
        <p:nvSpPr>
          <p:cNvPr id="61" name="TextBox 60"/>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2 and Sec. II-B.</a:t>
            </a:r>
          </a:p>
        </p:txBody>
      </p:sp>
    </p:spTree>
    <p:extLst>
      <p:ext uri="{BB962C8B-B14F-4D97-AF65-F5344CB8AC3E}">
        <p14:creationId xmlns:p14="http://schemas.microsoft.com/office/powerpoint/2010/main" val="31650684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TextBox 3"/>
          <p:cNvSpPr txBox="1"/>
          <p:nvPr/>
        </p:nvSpPr>
        <p:spPr>
          <a:xfrm>
            <a:off x="932688" y="1188720"/>
            <a:ext cx="1188720" cy="640080"/>
          </a:xfrm>
          <a:prstGeom prst="rect">
            <a:avLst/>
          </a:prstGeom>
          <a:noFill/>
        </p:spPr>
        <p:txBody>
          <a:bodyPr wrap="none" lIns="18288" tIns="18288" rIns="18288" bIns="18288">
            <a:spAutoFit/>
          </a:bodyPr>
          <a:lstStyle/>
          <a:p>
            <a:pPr algn="l"/>
            <a:r>
              <a:rPr sz="4200" b="1" i="0">
                <a:solidFill>
                  <a:srgbClr val="004990"/>
                </a:solidFill>
                <a:latin typeface="Times New Roman"/>
              </a:rPr>
              <a:t>01</a:t>
            </a:r>
          </a:p>
        </p:txBody>
      </p:sp>
      <p:sp>
        <p:nvSpPr>
          <p:cNvPr id="5" name="TextBox 4"/>
          <p:cNvSpPr txBox="1"/>
          <p:nvPr/>
        </p:nvSpPr>
        <p:spPr>
          <a:xfrm>
            <a:off x="2148840" y="1298448"/>
            <a:ext cx="7680960" cy="566928"/>
          </a:xfrm>
          <a:prstGeom prst="rect">
            <a:avLst/>
          </a:prstGeom>
          <a:noFill/>
        </p:spPr>
        <p:txBody>
          <a:bodyPr wrap="none" lIns="18288" tIns="18288" rIns="18288" bIns="18288">
            <a:spAutoFit/>
          </a:bodyPr>
          <a:lstStyle/>
          <a:p>
            <a:pPr algn="l"/>
            <a:r>
              <a:rPr sz="3600" b="1" i="0">
                <a:solidFill>
                  <a:srgbClr val="000000"/>
                </a:solidFill>
                <a:latin typeface="Times New Roman"/>
              </a:rPr>
              <a:t>Background and Challenges</a:t>
            </a:r>
          </a:p>
        </p:txBody>
      </p:sp>
      <p:sp>
        <p:nvSpPr>
          <p:cNvPr id="6" name="Rectangle 5"/>
          <p:cNvSpPr/>
          <p:nvPr/>
        </p:nvSpPr>
        <p:spPr>
          <a:xfrm>
            <a:off x="2148840" y="1993392"/>
            <a:ext cx="7406640" cy="36576"/>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48840" y="2331720"/>
            <a:ext cx="7498079" cy="411480"/>
          </a:xfrm>
          <a:prstGeom prst="rect">
            <a:avLst/>
          </a:prstGeom>
          <a:noFill/>
        </p:spPr>
        <p:txBody>
          <a:bodyPr wrap="none" lIns="18288" tIns="18288" rIns="18288" bIns="18288">
            <a:spAutoFit/>
          </a:bodyPr>
          <a:lstStyle/>
          <a:p>
            <a:pPr algn="l"/>
            <a:r>
              <a:rPr sz="2400" b="0" i="0">
                <a:solidFill>
                  <a:srgbClr val="585858"/>
                </a:solidFill>
                <a:latin typeface="Times New Roman"/>
              </a:rPr>
              <a:t>Three requirements for practical DQC compilation</a:t>
            </a:r>
          </a:p>
        </p:txBody>
      </p:sp>
      <p:sp>
        <p:nvSpPr>
          <p:cNvPr id="8" name="Rounded Rectangle 7"/>
          <p:cNvSpPr/>
          <p:nvPr/>
        </p:nvSpPr>
        <p:spPr>
          <a:xfrm>
            <a:off x="987552" y="3822191"/>
            <a:ext cx="10012680" cy="62179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a:solidFill>
                  <a:srgbClr val="000000"/>
                </a:solidFill>
                <a:latin typeface="Times New Roman"/>
              </a:rPr>
              <a:t>AdaptDQC maps circuits, metrics, and hardware into one optimization loop.</a:t>
            </a:r>
          </a:p>
        </p:txBody>
      </p:sp>
      <p:sp>
        <p:nvSpPr>
          <p:cNvPr id="9" name="TextBox 8"/>
          <p:cNvSpPr txBox="1"/>
          <p:nvPr/>
        </p:nvSpPr>
        <p:spPr>
          <a:xfrm>
            <a:off x="2743200" y="4736592"/>
            <a:ext cx="6583680" cy="868680"/>
          </a:xfrm>
          <a:prstGeom prst="rect">
            <a:avLst/>
          </a:prstGeom>
          <a:noFill/>
        </p:spPr>
        <p:txBody>
          <a:bodyPr wrap="square" lIns="18288" tIns="18288" rIns="18288" bIns="18288">
            <a:spAutoFit/>
          </a:bodyPr>
          <a:lstStyle/>
          <a:p>
            <a:pPr algn="l">
              <a:spcAft>
                <a:spcPts val="300"/>
              </a:spcAft>
            </a:pPr>
            <a:r>
              <a:rPr sz="2300" b="0" i="0">
                <a:solidFill>
                  <a:srgbClr val="000000"/>
                </a:solidFill>
                <a:latin typeface="Times New Roman"/>
              </a:rPr>
              <a:t>- R1: unified description</a:t>
            </a:r>
          </a:p>
          <a:p>
            <a:pPr algn="l">
              <a:spcAft>
                <a:spcPts val="300"/>
              </a:spcAft>
            </a:pPr>
            <a:r>
              <a:rPr sz="2300" b="0" i="0">
                <a:solidFill>
                  <a:srgbClr val="000000"/>
                </a:solidFill>
                <a:latin typeface="Times New Roman"/>
              </a:rPr>
              <a:t>- R2: quantitative performance evaluation</a:t>
            </a:r>
          </a:p>
          <a:p>
            <a:pPr algn="l">
              <a:spcAft>
                <a:spcPts val="300"/>
              </a:spcAft>
            </a:pPr>
            <a:r>
              <a:rPr sz="2300" b="0" i="0">
                <a:solidFill>
                  <a:srgbClr val="000000"/>
                </a:solidFill>
                <a:latin typeface="Times New Roman"/>
              </a:rPr>
              <a:t>- R3: adaptive optimization strategy</a:t>
            </a:r>
          </a:p>
        </p:txBody>
      </p:sp>
    </p:spTree>
    <p:extLst>
      <p:ext uri="{BB962C8B-B14F-4D97-AF65-F5344CB8AC3E}">
        <p14:creationId xmlns:p14="http://schemas.microsoft.com/office/powerpoint/2010/main" val="2709838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1" i="0">
                <a:solidFill>
                  <a:srgbClr val="000000"/>
                </a:solidFill>
                <a:latin typeface="Times New Roman"/>
              </a:rPr>
              <a:t>-  Overview of AdaptDQC</a:t>
            </a:r>
          </a:p>
        </p:txBody>
      </p:sp>
      <p:sp>
        <p:nvSpPr>
          <p:cNvPr id="10" name="TextBox 9"/>
          <p:cNvSpPr txBox="1"/>
          <p:nvPr/>
        </p:nvSpPr>
        <p:spPr>
          <a:xfrm>
            <a:off x="777240" y="2221992"/>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Graph formulation and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Experimental evaluation</a:t>
            </a:r>
          </a:p>
        </p:txBody>
      </p:sp>
      <p:sp>
        <p:nvSpPr>
          <p:cNvPr id="12" name="TextBox 11"/>
          <p:cNvSpPr txBox="1"/>
          <p:nvPr/>
        </p:nvSpPr>
        <p:spPr>
          <a:xfrm>
            <a:off x="777240" y="3209544"/>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Code walkthrough</a:t>
            </a:r>
          </a:p>
        </p:txBody>
      </p:sp>
    </p:spTree>
    <p:extLst>
      <p:ext uri="{BB962C8B-B14F-4D97-AF65-F5344CB8AC3E}">
        <p14:creationId xmlns:p14="http://schemas.microsoft.com/office/powerpoint/2010/main" val="13075952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AdaptDQC Organizes DQC as a Layered System</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Overview</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932688"/>
            <a:ext cx="5577840" cy="457200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49808" y="1042416"/>
            <a:ext cx="53583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AdaptDQC System Architecture</a:t>
            </a:r>
          </a:p>
        </p:txBody>
      </p:sp>
      <p:sp>
        <p:nvSpPr>
          <p:cNvPr id="11" name="Rounded Rectangle 10"/>
          <p:cNvSpPr/>
          <p:nvPr/>
        </p:nvSpPr>
        <p:spPr>
          <a:xfrm>
            <a:off x="1051560" y="1591056"/>
            <a:ext cx="1234440" cy="43891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Circuit</a:t>
            </a:r>
          </a:p>
        </p:txBody>
      </p:sp>
      <p:cxnSp>
        <p:nvCxnSpPr>
          <p:cNvPr id="12" name="Connector 11"/>
          <p:cNvCxnSpPr/>
          <p:nvPr/>
        </p:nvCxnSpPr>
        <p:spPr>
          <a:xfrm>
            <a:off x="2304288" y="1810512"/>
            <a:ext cx="420623"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52928" y="1389888"/>
            <a:ext cx="141732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front-end</a:t>
            </a:r>
          </a:p>
        </p:txBody>
      </p:sp>
      <p:sp>
        <p:nvSpPr>
          <p:cNvPr id="14" name="Rounded Rectangle 13"/>
          <p:cNvSpPr/>
          <p:nvPr/>
        </p:nvSpPr>
        <p:spPr>
          <a:xfrm>
            <a:off x="2852928" y="1920240"/>
            <a:ext cx="141732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normalize</a:t>
            </a:r>
          </a:p>
        </p:txBody>
      </p:sp>
      <p:cxnSp>
        <p:nvCxnSpPr>
          <p:cNvPr id="15" name="Connector 14"/>
          <p:cNvCxnSpPr/>
          <p:nvPr/>
        </p:nvCxnSpPr>
        <p:spPr>
          <a:xfrm>
            <a:off x="4279392" y="1810512"/>
            <a:ext cx="402336"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809744" y="1591056"/>
            <a:ext cx="1234440" cy="438912"/>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Graphs</a:t>
            </a:r>
          </a:p>
        </p:txBody>
      </p:sp>
      <p:sp>
        <p:nvSpPr>
          <p:cNvPr id="17" name="Rounded Rectangle 16"/>
          <p:cNvSpPr/>
          <p:nvPr/>
        </p:nvSpPr>
        <p:spPr>
          <a:xfrm>
            <a:off x="1298448" y="2898648"/>
            <a:ext cx="105156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SDHG</a:t>
            </a:r>
          </a:p>
        </p:txBody>
      </p:sp>
      <p:cxnSp>
        <p:nvCxnSpPr>
          <p:cNvPr id="18" name="Connector 17"/>
          <p:cNvCxnSpPr/>
          <p:nvPr/>
        </p:nvCxnSpPr>
        <p:spPr>
          <a:xfrm>
            <a:off x="1810512" y="3291840"/>
            <a:ext cx="2212848" cy="493776"/>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852928" y="2898648"/>
            <a:ext cx="1051560" cy="384048"/>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TDAG</a:t>
            </a:r>
          </a:p>
        </p:txBody>
      </p:sp>
      <p:cxnSp>
        <p:nvCxnSpPr>
          <p:cNvPr id="20" name="Connector 19"/>
          <p:cNvCxnSpPr/>
          <p:nvPr/>
        </p:nvCxnSpPr>
        <p:spPr>
          <a:xfrm>
            <a:off x="3364991" y="3291840"/>
            <a:ext cx="658369" cy="493776"/>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407408" y="2898648"/>
            <a:ext cx="1051560"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CG</a:t>
            </a:r>
          </a:p>
        </p:txBody>
      </p:sp>
      <p:cxnSp>
        <p:nvCxnSpPr>
          <p:cNvPr id="22" name="Connector 21"/>
          <p:cNvCxnSpPr/>
          <p:nvPr/>
        </p:nvCxnSpPr>
        <p:spPr>
          <a:xfrm flipH="1">
            <a:off x="4023360" y="3291840"/>
            <a:ext cx="896112" cy="493776"/>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154680" y="3785616"/>
            <a:ext cx="1737360" cy="47548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Metric
engine</a:t>
            </a:r>
          </a:p>
        </p:txBody>
      </p:sp>
      <p:cxnSp>
        <p:nvCxnSpPr>
          <p:cNvPr id="24" name="Connector 23"/>
          <p:cNvCxnSpPr/>
          <p:nvPr/>
        </p:nvCxnSpPr>
        <p:spPr>
          <a:xfrm>
            <a:off x="4937760" y="4005072"/>
            <a:ext cx="594360"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650992" y="3767328"/>
            <a:ext cx="1234440" cy="51206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Search /
tuning</a:t>
            </a:r>
          </a:p>
        </p:txBody>
      </p:sp>
      <p:cxnSp>
        <p:nvCxnSpPr>
          <p:cNvPr id="26" name="Connector 25"/>
          <p:cNvCxnSpPr/>
          <p:nvPr/>
        </p:nvCxnSpPr>
        <p:spPr>
          <a:xfrm flipV="1">
            <a:off x="6263640" y="2157984"/>
            <a:ext cx="0" cy="1581912"/>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650992" y="2414016"/>
            <a:ext cx="1234440" cy="475488"/>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DQC
program</a:t>
            </a:r>
          </a:p>
        </p:txBody>
      </p:sp>
      <p:sp>
        <p:nvSpPr>
          <p:cNvPr id="28" name="Rounded Rectangle 27"/>
          <p:cNvSpPr/>
          <p:nvPr/>
        </p:nvSpPr>
        <p:spPr>
          <a:xfrm>
            <a:off x="6720840" y="1170432"/>
            <a:ext cx="1508760"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Circuit</a:t>
            </a:r>
          </a:p>
        </p:txBody>
      </p:sp>
      <p:sp>
        <p:nvSpPr>
          <p:cNvPr id="29" name="Rounded Rectangle 28"/>
          <p:cNvSpPr/>
          <p:nvPr/>
        </p:nvSpPr>
        <p:spPr>
          <a:xfrm>
            <a:off x="8641080" y="1170432"/>
            <a:ext cx="1508760"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Graph model</a:t>
            </a:r>
          </a:p>
        </p:txBody>
      </p:sp>
      <p:sp>
        <p:nvSpPr>
          <p:cNvPr id="30" name="Rounded Rectangle 29"/>
          <p:cNvSpPr/>
          <p:nvPr/>
        </p:nvSpPr>
        <p:spPr>
          <a:xfrm>
            <a:off x="8641080" y="2761488"/>
            <a:ext cx="1508760"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Evaluate</a:t>
            </a:r>
          </a:p>
        </p:txBody>
      </p:sp>
      <p:sp>
        <p:nvSpPr>
          <p:cNvPr id="31" name="Rounded Rectangle 30"/>
          <p:cNvSpPr/>
          <p:nvPr/>
        </p:nvSpPr>
        <p:spPr>
          <a:xfrm>
            <a:off x="6720840" y="2761488"/>
            <a:ext cx="1508760" cy="530352"/>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Optimize</a:t>
            </a:r>
          </a:p>
        </p:txBody>
      </p:sp>
      <p:cxnSp>
        <p:nvCxnSpPr>
          <p:cNvPr id="32" name="Connector 31"/>
          <p:cNvCxnSpPr/>
          <p:nvPr/>
        </p:nvCxnSpPr>
        <p:spPr>
          <a:xfrm>
            <a:off x="8229600" y="1444752"/>
            <a:ext cx="36576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372600" y="1719072"/>
            <a:ext cx="0" cy="100584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8275320" y="3017520"/>
            <a:ext cx="338328"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6720840" y="1755648"/>
            <a:ext cx="0" cy="987552"/>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583680" y="4462272"/>
            <a:ext cx="3840480" cy="585216"/>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The performance engine closes the loop before hardware execution.</a:t>
            </a:r>
          </a:p>
        </p:txBody>
      </p:sp>
      <p:sp>
        <p:nvSpPr>
          <p:cNvPr id="37" name="TextBox 36"/>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3.</a:t>
            </a:r>
          </a:p>
        </p:txBody>
      </p:sp>
    </p:spTree>
    <p:extLst>
      <p:ext uri="{BB962C8B-B14F-4D97-AF65-F5344CB8AC3E}">
        <p14:creationId xmlns:p14="http://schemas.microsoft.com/office/powerpoint/2010/main" val="21330544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 name="文本框 439">
                <a:extLst>
                  <a:ext uri="{FF2B5EF4-FFF2-40B4-BE49-F238E27FC236}">
                    <a16:creationId xmlns:a16="http://schemas.microsoft.com/office/drawing/2014/main" id="{A9C5726F-E394-BB4C-AEB1-86814825E8D4}"/>
                  </a:ext>
                </a:extLst>
              </p:cNvPr>
              <p:cNvSpPr txBox="1"/>
              <p:nvPr/>
            </p:nvSpPr>
            <p:spPr>
              <a:xfrm>
                <a:off x="1521997" y="2592147"/>
                <a:ext cx="1848262" cy="1237968"/>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dA</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m:t>
                      </m:r>
                      <m:r>
                        <a:rPr kumimoji="1" lang="zh-CN" altLang="en-US" b="0" i="1" smtClean="0">
                          <a:latin typeface="Cambria Math" panose="02040503050406030204" pitchFamily="18" charset="0"/>
                        </a:rPr>
                        <m:t> </m:t>
                      </m:r>
                      <m:f>
                        <m:fPr>
                          <m:ctrlPr>
                            <a:rPr kumimoji="1" lang="en-US" altLang="zh-CN" b="0" i="1" smtClean="0">
                              <a:latin typeface="Cambria Math" panose="02040503050406030204" pitchFamily="18" charset="0"/>
                            </a:rPr>
                          </m:ctrlPr>
                        </m:fPr>
                        <m:num>
                          <m:r>
                            <m:rPr>
                              <m:sty m:val="p"/>
                            </m:rPr>
                            <a:rPr kumimoji="1" lang="en-US" altLang="zh-CN" i="1">
                              <a:latin typeface="Cambria Math" panose="02040503050406030204" pitchFamily="18" charset="0"/>
                            </a:rPr>
                            <m:t>i</m:t>
                          </m:r>
                        </m:num>
                        <m:den>
                          <m:r>
                            <a:rPr kumimoji="1" lang="en-US" altLang="zh-CN" b="0" i="1" smtClean="0">
                              <a:latin typeface="Cambria Math" panose="02040503050406030204" pitchFamily="18" charset="0"/>
                              <a:ea typeface="Cambria Math" panose="02040503050406030204" pitchFamily="18" charset="0"/>
                            </a:rPr>
                            <m:t>ℏ</m:t>
                          </m:r>
                        </m:den>
                      </m:f>
                      <m:r>
                        <a:rPr kumimoji="1" lang="en-US" altLang="zh-CN" b="0" i="1" smtClean="0">
                          <a:latin typeface="Cambria Math" panose="02040503050406030204" pitchFamily="18" charset="0"/>
                        </a:rPr>
                        <m:t> </m:t>
                      </m:r>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oMath>
                  </m:oMathPara>
                </a14:m>
                <a:endParaRPr kumimoji="1" lang="en-US" altLang="zh-CN" b="0" dirty="0"/>
              </a:p>
              <a:p>
                <a:pPr>
                  <a:lnSpc>
                    <a:spcPct val="150000"/>
                  </a:lnSpc>
                </a:pPr>
                <a14:m>
                  <m:oMathPara xmlns:m="http://schemas.openxmlformats.org/officeDocument/2006/math">
                    <m:oMathParaPr>
                      <m:jc m:val="centerGroup"/>
                    </m:oMathParaPr>
                    <m:oMath xmlns:m="http://schemas.openxmlformats.org/officeDocument/2006/math">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𝐴𝐻</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𝐻𝐴</m:t>
                      </m:r>
                    </m:oMath>
                  </m:oMathPara>
                </a14:m>
                <a:endParaRPr kumimoji="1" lang="zh-CN" altLang="en-US" dirty="0"/>
              </a:p>
            </p:txBody>
          </p:sp>
        </mc:Choice>
        <mc:Fallback xmlns="">
          <p:sp>
            <p:nvSpPr>
              <p:cNvPr id="440" name="文本框 439">
                <a:extLst>
                  <a:ext uri="{FF2B5EF4-FFF2-40B4-BE49-F238E27FC236}">
                    <a16:creationId xmlns:a16="http://schemas.microsoft.com/office/drawing/2014/main" id="{A9C5726F-E394-BB4C-AEB1-86814825E8D4}"/>
                  </a:ext>
                </a:extLst>
              </p:cNvPr>
              <p:cNvSpPr txBox="1">
                <a:spLocks noRot="1" noChangeAspect="1" noMove="1" noResize="1" noEditPoints="1" noAdjustHandles="1" noChangeArrowheads="1" noChangeShapeType="1" noTextEdit="1"/>
              </p:cNvSpPr>
              <p:nvPr/>
            </p:nvSpPr>
            <p:spPr>
              <a:xfrm>
                <a:off x="1521997" y="2592147"/>
                <a:ext cx="1848262" cy="1237968"/>
              </a:xfrm>
              <a:prstGeom prst="rect">
                <a:avLst/>
              </a:prstGeom>
              <a:blipFill>
                <a:blip r:embed="rId3"/>
                <a:stretch>
                  <a:fillRect r="-20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2" name="文本框 451">
                <a:extLst>
                  <a:ext uri="{FF2B5EF4-FFF2-40B4-BE49-F238E27FC236}">
                    <a16:creationId xmlns:a16="http://schemas.microsoft.com/office/drawing/2014/main" id="{93D58ADD-C9EC-CD45-9F67-2A2A0872FE18}"/>
                  </a:ext>
                </a:extLst>
              </p:cNvPr>
              <p:cNvSpPr txBox="1"/>
              <p:nvPr/>
            </p:nvSpPr>
            <p:spPr>
              <a:xfrm>
                <a:off x="2770833" y="3954070"/>
                <a:ext cx="125855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r>
                        <a:rPr kumimoji="1" lang="en-US" altLang="zh-CN" b="0" i="1" smtClean="0">
                          <a:latin typeface="Cambria Math" panose="02040503050406030204" pitchFamily="18" charset="0"/>
                        </a:rPr>
                        <m:t>=0</m:t>
                      </m:r>
                    </m:oMath>
                  </m:oMathPara>
                </a14:m>
                <a:endParaRPr kumimoji="1" lang="zh-CN" altLang="en-US" dirty="0"/>
              </a:p>
            </p:txBody>
          </p:sp>
        </mc:Choice>
        <mc:Fallback xmlns="">
          <p:sp>
            <p:nvSpPr>
              <p:cNvPr id="452" name="文本框 451">
                <a:extLst>
                  <a:ext uri="{FF2B5EF4-FFF2-40B4-BE49-F238E27FC236}">
                    <a16:creationId xmlns:a16="http://schemas.microsoft.com/office/drawing/2014/main" id="{93D58ADD-C9EC-CD45-9F67-2A2A0872FE18}"/>
                  </a:ext>
                </a:extLst>
              </p:cNvPr>
              <p:cNvSpPr txBox="1">
                <a:spLocks noRot="1" noChangeAspect="1" noMove="1" noResize="1" noEditPoints="1" noAdjustHandles="1" noChangeArrowheads="1" noChangeShapeType="1" noTextEdit="1"/>
              </p:cNvSpPr>
              <p:nvPr/>
            </p:nvSpPr>
            <p:spPr>
              <a:xfrm>
                <a:off x="2770833" y="3954070"/>
                <a:ext cx="1258556"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3" name="文本框 452">
                <a:extLst>
                  <a:ext uri="{FF2B5EF4-FFF2-40B4-BE49-F238E27FC236}">
                    <a16:creationId xmlns:a16="http://schemas.microsoft.com/office/drawing/2014/main" id="{489AE499-11B2-CD41-AB4E-F870B77EEC63}"/>
                  </a:ext>
                </a:extLst>
              </p:cNvPr>
              <p:cNvSpPr txBox="1"/>
              <p:nvPr/>
            </p:nvSpPr>
            <p:spPr>
              <a:xfrm>
                <a:off x="2186629" y="4515757"/>
                <a:ext cx="1105318" cy="618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A</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=0</m:t>
                      </m:r>
                    </m:oMath>
                  </m:oMathPara>
                </a14:m>
                <a:endParaRPr lang="zh-CN" altLang="en-US" dirty="0"/>
              </a:p>
            </p:txBody>
          </p:sp>
        </mc:Choice>
        <mc:Fallback xmlns="">
          <p:sp>
            <p:nvSpPr>
              <p:cNvPr id="453" name="文本框 452">
                <a:extLst>
                  <a:ext uri="{FF2B5EF4-FFF2-40B4-BE49-F238E27FC236}">
                    <a16:creationId xmlns:a16="http://schemas.microsoft.com/office/drawing/2014/main" id="{489AE499-11B2-CD41-AB4E-F870B77EEC63}"/>
                  </a:ext>
                </a:extLst>
              </p:cNvPr>
              <p:cNvSpPr txBox="1">
                <a:spLocks noRot="1" noChangeAspect="1" noMove="1" noResize="1" noEditPoints="1" noAdjustHandles="1" noChangeArrowheads="1" noChangeShapeType="1" noTextEdit="1"/>
              </p:cNvSpPr>
              <p:nvPr/>
            </p:nvSpPr>
            <p:spPr>
              <a:xfrm>
                <a:off x="2186629" y="4515757"/>
                <a:ext cx="1105318" cy="618374"/>
              </a:xfrm>
              <a:prstGeom prst="rect">
                <a:avLst/>
              </a:prstGeom>
              <a:blipFill>
                <a:blip r:embed="rId5"/>
                <a:stretch>
                  <a:fillRect b="-18000"/>
                </a:stretch>
              </a:blipFill>
            </p:spPr>
            <p:txBody>
              <a:bodyPr/>
              <a:lstStyle/>
              <a:p>
                <a:r>
                  <a:rPr lang="zh-CN" altLang="en-US">
                    <a:noFill/>
                  </a:rPr>
                  <a:t> </a:t>
                </a:r>
              </a:p>
            </p:txBody>
          </p:sp>
        </mc:Fallback>
      </mc:AlternateContent>
      <p:sp>
        <p:nvSpPr>
          <p:cNvPr id="454" name="Rectangle 453"/>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5" name="Picture 454" descr="image.png"/>
          <p:cNvPicPr>
            <a:picLocks noChangeAspect="1"/>
          </p:cNvPicPr>
          <p:nvPr/>
        </p:nvPicPr>
        <p:blipFill>
          <a:blip r:embed="rId6"/>
          <a:stretch>
            <a:fillRect/>
          </a:stretch>
        </p:blipFill>
        <p:spPr>
          <a:xfrm>
            <a:off x="9372600" y="73152"/>
            <a:ext cx="2514600" cy="735296"/>
          </a:xfrm>
          <a:prstGeom prst="rect">
            <a:avLst/>
          </a:prstGeom>
        </p:spPr>
      </p:pic>
      <p:sp>
        <p:nvSpPr>
          <p:cNvPr id="456" name="Rectangle 455"/>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TextBox 456"/>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Graph Formulation Gives Each Decision a Place</a:t>
            </a:r>
          </a:p>
        </p:txBody>
      </p:sp>
      <p:sp>
        <p:nvSpPr>
          <p:cNvPr id="458" name="Rectangle 457"/>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TextBox 458"/>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Overview</a:t>
            </a:r>
          </a:p>
        </p:txBody>
      </p:sp>
      <p:sp>
        <p:nvSpPr>
          <p:cNvPr id="460" name="Rectangle 459"/>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Rounded Rectangle 460"/>
          <p:cNvSpPr/>
          <p:nvPr/>
        </p:nvSpPr>
        <p:spPr>
          <a:xfrm>
            <a:off x="658368" y="914400"/>
            <a:ext cx="5166360" cy="457200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Rounded Rectangle 461"/>
          <p:cNvSpPr/>
          <p:nvPr/>
        </p:nvSpPr>
        <p:spPr>
          <a:xfrm>
            <a:off x="768096" y="1024128"/>
            <a:ext cx="49469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Three Graph Views</a:t>
            </a:r>
          </a:p>
        </p:txBody>
      </p:sp>
      <p:sp>
        <p:nvSpPr>
          <p:cNvPr id="463" name="Rounded Rectangle 462"/>
          <p:cNvSpPr/>
          <p:nvPr/>
        </p:nvSpPr>
        <p:spPr>
          <a:xfrm>
            <a:off x="2715768" y="2788920"/>
            <a:ext cx="1325880" cy="56692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DQC
plan</a:t>
            </a:r>
          </a:p>
        </p:txBody>
      </p:sp>
      <p:sp>
        <p:nvSpPr>
          <p:cNvPr id="464" name="Rounded Rectangle 463"/>
          <p:cNvSpPr/>
          <p:nvPr/>
        </p:nvSpPr>
        <p:spPr>
          <a:xfrm>
            <a:off x="1161288" y="1572768"/>
            <a:ext cx="1645920" cy="49377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SDHG</a:t>
            </a:r>
          </a:p>
        </p:txBody>
      </p:sp>
      <p:sp>
        <p:nvSpPr>
          <p:cNvPr id="465" name="TextBox 464"/>
          <p:cNvSpPr txBox="1"/>
          <p:nvPr/>
        </p:nvSpPr>
        <p:spPr>
          <a:xfrm>
            <a:off x="1161288" y="2148840"/>
            <a:ext cx="1645920" cy="201168"/>
          </a:xfrm>
          <a:prstGeom prst="rect">
            <a:avLst/>
          </a:prstGeom>
          <a:noFill/>
        </p:spPr>
        <p:txBody>
          <a:bodyPr wrap="none" lIns="18288" tIns="18288" rIns="18288" bIns="18288">
            <a:spAutoFit/>
          </a:bodyPr>
          <a:lstStyle/>
          <a:p>
            <a:pPr algn="ctr"/>
            <a:r>
              <a:rPr sz="1300" b="0" i="0">
                <a:solidFill>
                  <a:srgbClr val="585858"/>
                </a:solidFill>
                <a:latin typeface="Times New Roman"/>
              </a:rPr>
              <a:t>qubit-space</a:t>
            </a:r>
          </a:p>
        </p:txBody>
      </p:sp>
      <p:cxnSp>
        <p:nvCxnSpPr>
          <p:cNvPr id="466" name="Connector 465"/>
          <p:cNvCxnSpPr/>
          <p:nvPr/>
        </p:nvCxnSpPr>
        <p:spPr>
          <a:xfrm>
            <a:off x="1984248" y="2468880"/>
            <a:ext cx="1371600" cy="32004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467" name="Rounded Rectangle 466"/>
          <p:cNvSpPr/>
          <p:nvPr/>
        </p:nvSpPr>
        <p:spPr>
          <a:xfrm>
            <a:off x="4087368" y="1572768"/>
            <a:ext cx="1645920" cy="493776"/>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TDAG</a:t>
            </a:r>
          </a:p>
        </p:txBody>
      </p:sp>
      <p:sp>
        <p:nvSpPr>
          <p:cNvPr id="468" name="TextBox 467"/>
          <p:cNvSpPr txBox="1"/>
          <p:nvPr/>
        </p:nvSpPr>
        <p:spPr>
          <a:xfrm>
            <a:off x="4087368" y="2148840"/>
            <a:ext cx="1645920" cy="201168"/>
          </a:xfrm>
          <a:prstGeom prst="rect">
            <a:avLst/>
          </a:prstGeom>
          <a:noFill/>
        </p:spPr>
        <p:txBody>
          <a:bodyPr wrap="none" lIns="18288" tIns="18288" rIns="18288" bIns="18288">
            <a:spAutoFit/>
          </a:bodyPr>
          <a:lstStyle/>
          <a:p>
            <a:pPr algn="ctr"/>
            <a:r>
              <a:rPr sz="1300" b="0" i="0">
                <a:solidFill>
                  <a:srgbClr val="585858"/>
                </a:solidFill>
                <a:latin typeface="Times New Roman"/>
              </a:rPr>
              <a:t>gate-time</a:t>
            </a:r>
          </a:p>
        </p:txBody>
      </p:sp>
      <p:cxnSp>
        <p:nvCxnSpPr>
          <p:cNvPr id="469" name="Connector 468"/>
          <p:cNvCxnSpPr/>
          <p:nvPr/>
        </p:nvCxnSpPr>
        <p:spPr>
          <a:xfrm flipH="1">
            <a:off x="3355848" y="2468880"/>
            <a:ext cx="1554480" cy="320040"/>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470" name="Rounded Rectangle 469"/>
          <p:cNvSpPr/>
          <p:nvPr/>
        </p:nvSpPr>
        <p:spPr>
          <a:xfrm>
            <a:off x="2624328" y="4096512"/>
            <a:ext cx="1645920" cy="49377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CG</a:t>
            </a:r>
          </a:p>
        </p:txBody>
      </p:sp>
      <p:sp>
        <p:nvSpPr>
          <p:cNvPr id="471" name="TextBox 470"/>
          <p:cNvSpPr txBox="1"/>
          <p:nvPr/>
        </p:nvSpPr>
        <p:spPr>
          <a:xfrm>
            <a:off x="2624328" y="4672584"/>
            <a:ext cx="1645920" cy="201168"/>
          </a:xfrm>
          <a:prstGeom prst="rect">
            <a:avLst/>
          </a:prstGeom>
          <a:noFill/>
        </p:spPr>
        <p:txBody>
          <a:bodyPr wrap="none" lIns="18288" tIns="18288" rIns="18288" bIns="18288">
            <a:spAutoFit/>
          </a:bodyPr>
          <a:lstStyle/>
          <a:p>
            <a:pPr algn="ctr"/>
            <a:r>
              <a:rPr sz="1300" b="0" i="0">
                <a:solidFill>
                  <a:srgbClr val="585858"/>
                </a:solidFill>
                <a:latin typeface="Times New Roman"/>
              </a:rPr>
              <a:t>chip-link</a:t>
            </a:r>
          </a:p>
        </p:txBody>
      </p:sp>
      <p:cxnSp>
        <p:nvCxnSpPr>
          <p:cNvPr id="472" name="Connector 471"/>
          <p:cNvCxnSpPr/>
          <p:nvPr/>
        </p:nvCxnSpPr>
        <p:spPr>
          <a:xfrm flipH="1" flipV="1">
            <a:off x="3355848" y="2788920"/>
            <a:ext cx="91440" cy="2203704"/>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473" name="Rounded Rectangle 472"/>
          <p:cNvSpPr/>
          <p:nvPr/>
        </p:nvSpPr>
        <p:spPr>
          <a:xfrm>
            <a:off x="1481328" y="2880360"/>
            <a:ext cx="310896" cy="38404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q</a:t>
            </a:r>
          </a:p>
        </p:txBody>
      </p:sp>
      <p:sp>
        <p:nvSpPr>
          <p:cNvPr id="474" name="Rounded Rectangle 473"/>
          <p:cNvSpPr/>
          <p:nvPr/>
        </p:nvSpPr>
        <p:spPr>
          <a:xfrm>
            <a:off x="1892808" y="2487168"/>
            <a:ext cx="310896" cy="38404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q</a:t>
            </a:r>
          </a:p>
        </p:txBody>
      </p:sp>
      <p:sp>
        <p:nvSpPr>
          <p:cNvPr id="475" name="Rounded Rectangle 474"/>
          <p:cNvSpPr/>
          <p:nvPr/>
        </p:nvSpPr>
        <p:spPr>
          <a:xfrm>
            <a:off x="2258568" y="3063240"/>
            <a:ext cx="310896" cy="38404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q</a:t>
            </a:r>
          </a:p>
        </p:txBody>
      </p:sp>
      <p:cxnSp>
        <p:nvCxnSpPr>
          <p:cNvPr id="476" name="Connector 475"/>
          <p:cNvCxnSpPr/>
          <p:nvPr/>
        </p:nvCxnSpPr>
        <p:spPr>
          <a:xfrm flipV="1">
            <a:off x="1792224" y="2697480"/>
            <a:ext cx="91440" cy="36576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477" name="Rounded Rectangle 476"/>
          <p:cNvSpPr/>
          <p:nvPr/>
        </p:nvSpPr>
        <p:spPr>
          <a:xfrm>
            <a:off x="4315968" y="2788920"/>
            <a:ext cx="384048" cy="310896"/>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g1</a:t>
            </a:r>
          </a:p>
        </p:txBody>
      </p:sp>
      <p:cxnSp>
        <p:nvCxnSpPr>
          <p:cNvPr id="478" name="Connector 477"/>
          <p:cNvCxnSpPr/>
          <p:nvPr/>
        </p:nvCxnSpPr>
        <p:spPr>
          <a:xfrm>
            <a:off x="4700016" y="2944368"/>
            <a:ext cx="91439" cy="0"/>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479" name="Rounded Rectangle 478"/>
          <p:cNvSpPr/>
          <p:nvPr/>
        </p:nvSpPr>
        <p:spPr>
          <a:xfrm>
            <a:off x="4791456" y="2788920"/>
            <a:ext cx="384048" cy="310896"/>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g2</a:t>
            </a:r>
          </a:p>
        </p:txBody>
      </p:sp>
      <p:cxnSp>
        <p:nvCxnSpPr>
          <p:cNvPr id="480" name="Connector 479"/>
          <p:cNvCxnSpPr/>
          <p:nvPr/>
        </p:nvCxnSpPr>
        <p:spPr>
          <a:xfrm>
            <a:off x="5175504" y="2944368"/>
            <a:ext cx="91440" cy="0"/>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481" name="Rounded Rectangle 480"/>
          <p:cNvSpPr/>
          <p:nvPr/>
        </p:nvSpPr>
        <p:spPr>
          <a:xfrm>
            <a:off x="5266944" y="2788920"/>
            <a:ext cx="384048" cy="310896"/>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g3</a:t>
            </a:r>
          </a:p>
        </p:txBody>
      </p:sp>
      <p:sp>
        <p:nvSpPr>
          <p:cNvPr id="482" name="Rounded Rectangle 481"/>
          <p:cNvSpPr/>
          <p:nvPr/>
        </p:nvSpPr>
        <p:spPr>
          <a:xfrm>
            <a:off x="1481328" y="4407408"/>
            <a:ext cx="749808" cy="310896"/>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QPU1</a:t>
            </a:r>
          </a:p>
        </p:txBody>
      </p:sp>
      <p:sp>
        <p:nvSpPr>
          <p:cNvPr id="483" name="Rounded Rectangle 482"/>
          <p:cNvSpPr/>
          <p:nvPr/>
        </p:nvSpPr>
        <p:spPr>
          <a:xfrm>
            <a:off x="4361688" y="4407408"/>
            <a:ext cx="749808" cy="310896"/>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QPU2</a:t>
            </a:r>
          </a:p>
        </p:txBody>
      </p:sp>
      <p:cxnSp>
        <p:nvCxnSpPr>
          <p:cNvPr id="484" name="Connector 483"/>
          <p:cNvCxnSpPr/>
          <p:nvPr/>
        </p:nvCxnSpPr>
        <p:spPr>
          <a:xfrm>
            <a:off x="2231136" y="4562856"/>
            <a:ext cx="2103119"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485" name="Rounded Rectangle 484"/>
          <p:cNvSpPr/>
          <p:nvPr/>
        </p:nvSpPr>
        <p:spPr>
          <a:xfrm>
            <a:off x="6400800" y="1143000"/>
            <a:ext cx="1325880" cy="4754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100" b="1" i="0">
                <a:solidFill>
                  <a:srgbClr val="000000"/>
                </a:solidFill>
                <a:latin typeface="Times New Roman"/>
              </a:rPr>
              <a:t>SDHG</a:t>
            </a:r>
          </a:p>
        </p:txBody>
      </p:sp>
      <p:cxnSp>
        <p:nvCxnSpPr>
          <p:cNvPr id="486" name="Connector 485"/>
          <p:cNvCxnSpPr/>
          <p:nvPr/>
        </p:nvCxnSpPr>
        <p:spPr>
          <a:xfrm>
            <a:off x="7772400" y="1389888"/>
            <a:ext cx="45720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487" name="Rounded Rectangle 486"/>
          <p:cNvSpPr/>
          <p:nvPr/>
        </p:nvSpPr>
        <p:spPr>
          <a:xfrm>
            <a:off x="8366760" y="1097280"/>
            <a:ext cx="2514600" cy="56692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qubit-space relations
=&gt; topology</a:t>
            </a:r>
          </a:p>
        </p:txBody>
      </p:sp>
      <p:sp>
        <p:nvSpPr>
          <p:cNvPr id="488" name="Rounded Rectangle 487"/>
          <p:cNvSpPr/>
          <p:nvPr/>
        </p:nvSpPr>
        <p:spPr>
          <a:xfrm>
            <a:off x="6400800" y="2404872"/>
            <a:ext cx="1325880" cy="475488"/>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100" b="1" i="0">
                <a:solidFill>
                  <a:srgbClr val="000000"/>
                </a:solidFill>
                <a:latin typeface="Times New Roman"/>
              </a:rPr>
              <a:t>TDAG</a:t>
            </a:r>
          </a:p>
        </p:txBody>
      </p:sp>
      <p:cxnSp>
        <p:nvCxnSpPr>
          <p:cNvPr id="489" name="Connector 488"/>
          <p:cNvCxnSpPr/>
          <p:nvPr/>
        </p:nvCxnSpPr>
        <p:spPr>
          <a:xfrm>
            <a:off x="7772400" y="2651760"/>
            <a:ext cx="457200" cy="0"/>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490" name="Rounded Rectangle 489"/>
          <p:cNvSpPr/>
          <p:nvPr/>
        </p:nvSpPr>
        <p:spPr>
          <a:xfrm>
            <a:off x="8366760" y="2359152"/>
            <a:ext cx="2514600" cy="566928"/>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gate-time dependencies
=&gt; latency</a:t>
            </a:r>
          </a:p>
        </p:txBody>
      </p:sp>
      <p:sp>
        <p:nvSpPr>
          <p:cNvPr id="491" name="Rounded Rectangle 490"/>
          <p:cNvSpPr/>
          <p:nvPr/>
        </p:nvSpPr>
        <p:spPr>
          <a:xfrm>
            <a:off x="6400800" y="3666744"/>
            <a:ext cx="1325880" cy="47548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100" b="1" i="0">
                <a:solidFill>
                  <a:srgbClr val="000000"/>
                </a:solidFill>
                <a:latin typeface="Times New Roman"/>
              </a:rPr>
              <a:t>CG</a:t>
            </a:r>
          </a:p>
        </p:txBody>
      </p:sp>
      <p:cxnSp>
        <p:nvCxnSpPr>
          <p:cNvPr id="492" name="Connector 491"/>
          <p:cNvCxnSpPr/>
          <p:nvPr/>
        </p:nvCxnSpPr>
        <p:spPr>
          <a:xfrm>
            <a:off x="7772400" y="3913631"/>
            <a:ext cx="457200"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493" name="Rounded Rectangle 492"/>
          <p:cNvSpPr/>
          <p:nvPr/>
        </p:nvSpPr>
        <p:spPr>
          <a:xfrm>
            <a:off x="8366760" y="3621024"/>
            <a:ext cx="2514600" cy="56692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chip communication
=&gt; communication</a:t>
            </a:r>
          </a:p>
        </p:txBody>
      </p:sp>
      <p:sp>
        <p:nvSpPr>
          <p:cNvPr id="494" name="TextBox 493"/>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Sec. IV-A.</a:t>
            </a:r>
          </a:p>
        </p:txBody>
      </p:sp>
    </p:spTree>
    <p:extLst>
      <p:ext uri="{BB962C8B-B14F-4D97-AF65-F5344CB8AC3E}">
        <p14:creationId xmlns:p14="http://schemas.microsoft.com/office/powerpoint/2010/main" val="24524802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0" name="文本框 439">
                <a:extLst>
                  <a:ext uri="{FF2B5EF4-FFF2-40B4-BE49-F238E27FC236}">
                    <a16:creationId xmlns:a16="http://schemas.microsoft.com/office/drawing/2014/main" id="{A9C5726F-E394-BB4C-AEB1-86814825E8D4}"/>
                  </a:ext>
                </a:extLst>
              </p:cNvPr>
              <p:cNvSpPr txBox="1"/>
              <p:nvPr/>
            </p:nvSpPr>
            <p:spPr>
              <a:xfrm>
                <a:off x="1521997" y="2592147"/>
                <a:ext cx="1848262" cy="1237968"/>
              </a:xfrm>
              <a:prstGeom prst="rect">
                <a:avLst/>
              </a:prstGeom>
              <a:noFill/>
            </p:spPr>
            <p:txBody>
              <a:bodyPr wrap="none" lIns="0" tIns="0" rIns="0" bIns="0" rtlCol="0">
                <a:spAutoFit/>
              </a:bodyPr>
              <a:lstStyle/>
              <a:p>
                <a:pPr>
                  <a:lnSpc>
                    <a:spcPct val="150000"/>
                  </a:lnSpc>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dA</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m:t>
                      </m:r>
                      <m:r>
                        <a:rPr kumimoji="1" lang="zh-CN" altLang="en-US" b="0" i="1" smtClean="0">
                          <a:latin typeface="Cambria Math" panose="02040503050406030204" pitchFamily="18" charset="0"/>
                        </a:rPr>
                        <m:t> </m:t>
                      </m:r>
                      <m:f>
                        <m:fPr>
                          <m:ctrlPr>
                            <a:rPr kumimoji="1" lang="en-US" altLang="zh-CN" b="0" i="1" smtClean="0">
                              <a:latin typeface="Cambria Math" panose="02040503050406030204" pitchFamily="18" charset="0"/>
                            </a:rPr>
                          </m:ctrlPr>
                        </m:fPr>
                        <m:num>
                          <m:r>
                            <m:rPr>
                              <m:sty m:val="p"/>
                            </m:rPr>
                            <a:rPr kumimoji="1" lang="en-US" altLang="zh-CN" i="1">
                              <a:latin typeface="Cambria Math" panose="02040503050406030204" pitchFamily="18" charset="0"/>
                            </a:rPr>
                            <m:t>i</m:t>
                          </m:r>
                        </m:num>
                        <m:den>
                          <m:r>
                            <a:rPr kumimoji="1" lang="en-US" altLang="zh-CN" b="0" i="1" smtClean="0">
                              <a:latin typeface="Cambria Math" panose="02040503050406030204" pitchFamily="18" charset="0"/>
                              <a:ea typeface="Cambria Math" panose="02040503050406030204" pitchFamily="18" charset="0"/>
                            </a:rPr>
                            <m:t>ℏ</m:t>
                          </m:r>
                        </m:den>
                      </m:f>
                      <m:r>
                        <a:rPr kumimoji="1" lang="en-US" altLang="zh-CN" b="0" i="1" smtClean="0">
                          <a:latin typeface="Cambria Math" panose="02040503050406030204" pitchFamily="18" charset="0"/>
                        </a:rPr>
                        <m:t> </m:t>
                      </m:r>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oMath>
                  </m:oMathPara>
                </a14:m>
                <a:endParaRPr kumimoji="1" lang="en-US" altLang="zh-CN" b="0" dirty="0"/>
              </a:p>
              <a:p>
                <a:pPr>
                  <a:lnSpc>
                    <a:spcPct val="150000"/>
                  </a:lnSpc>
                </a:pPr>
                <a14:m>
                  <m:oMathPara xmlns:m="http://schemas.openxmlformats.org/officeDocument/2006/math">
                    <m:oMathParaPr>
                      <m:jc m:val="centerGroup"/>
                    </m:oMathParaPr>
                    <m:oMath xmlns:m="http://schemas.openxmlformats.org/officeDocument/2006/math">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𝐴𝐻</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𝐻𝐴</m:t>
                      </m:r>
                    </m:oMath>
                  </m:oMathPara>
                </a14:m>
                <a:endParaRPr kumimoji="1" lang="zh-CN" altLang="en-US" dirty="0"/>
              </a:p>
            </p:txBody>
          </p:sp>
        </mc:Choice>
        <mc:Fallback xmlns="">
          <p:sp>
            <p:nvSpPr>
              <p:cNvPr id="440" name="文本框 439">
                <a:extLst>
                  <a:ext uri="{FF2B5EF4-FFF2-40B4-BE49-F238E27FC236}">
                    <a16:creationId xmlns:a16="http://schemas.microsoft.com/office/drawing/2014/main" id="{A9C5726F-E394-BB4C-AEB1-86814825E8D4}"/>
                  </a:ext>
                </a:extLst>
              </p:cNvPr>
              <p:cNvSpPr txBox="1">
                <a:spLocks noRot="1" noChangeAspect="1" noMove="1" noResize="1" noEditPoints="1" noAdjustHandles="1" noChangeArrowheads="1" noChangeShapeType="1" noTextEdit="1"/>
              </p:cNvSpPr>
              <p:nvPr/>
            </p:nvSpPr>
            <p:spPr>
              <a:xfrm>
                <a:off x="1521997" y="2592147"/>
                <a:ext cx="1848262" cy="1237968"/>
              </a:xfrm>
              <a:prstGeom prst="rect">
                <a:avLst/>
              </a:prstGeom>
              <a:blipFill>
                <a:blip r:embed="rId3"/>
                <a:stretch>
                  <a:fillRect r="-20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2" name="文本框 451">
                <a:extLst>
                  <a:ext uri="{FF2B5EF4-FFF2-40B4-BE49-F238E27FC236}">
                    <a16:creationId xmlns:a16="http://schemas.microsoft.com/office/drawing/2014/main" id="{93D58ADD-C9EC-CD45-9F67-2A2A0872FE18}"/>
                  </a:ext>
                </a:extLst>
              </p:cNvPr>
              <p:cNvSpPr txBox="1"/>
              <p:nvPr/>
            </p:nvSpPr>
            <p:spPr>
              <a:xfrm>
                <a:off x="2770833" y="3954070"/>
                <a:ext cx="125855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𝐴</m:t>
                          </m:r>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rPr>
                            <m:t>𝐻</m:t>
                          </m:r>
                        </m:e>
                      </m:d>
                      <m:r>
                        <a:rPr kumimoji="1" lang="en-US" altLang="zh-CN" b="0" i="1" smtClean="0">
                          <a:latin typeface="Cambria Math" panose="02040503050406030204" pitchFamily="18" charset="0"/>
                        </a:rPr>
                        <m:t>=0</m:t>
                      </m:r>
                    </m:oMath>
                  </m:oMathPara>
                </a14:m>
                <a:endParaRPr kumimoji="1" lang="zh-CN" altLang="en-US" dirty="0"/>
              </a:p>
            </p:txBody>
          </p:sp>
        </mc:Choice>
        <mc:Fallback xmlns="">
          <p:sp>
            <p:nvSpPr>
              <p:cNvPr id="452" name="文本框 451">
                <a:extLst>
                  <a:ext uri="{FF2B5EF4-FFF2-40B4-BE49-F238E27FC236}">
                    <a16:creationId xmlns:a16="http://schemas.microsoft.com/office/drawing/2014/main" id="{93D58ADD-C9EC-CD45-9F67-2A2A0872FE18}"/>
                  </a:ext>
                </a:extLst>
              </p:cNvPr>
              <p:cNvSpPr txBox="1">
                <a:spLocks noRot="1" noChangeAspect="1" noMove="1" noResize="1" noEditPoints="1" noAdjustHandles="1" noChangeArrowheads="1" noChangeShapeType="1" noTextEdit="1"/>
              </p:cNvSpPr>
              <p:nvPr/>
            </p:nvSpPr>
            <p:spPr>
              <a:xfrm>
                <a:off x="2770833" y="3954070"/>
                <a:ext cx="1258556"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3" name="文本框 452">
                <a:extLst>
                  <a:ext uri="{FF2B5EF4-FFF2-40B4-BE49-F238E27FC236}">
                    <a16:creationId xmlns:a16="http://schemas.microsoft.com/office/drawing/2014/main" id="{489AE499-11B2-CD41-AB4E-F870B77EEC63}"/>
                  </a:ext>
                </a:extLst>
              </p:cNvPr>
              <p:cNvSpPr txBox="1"/>
              <p:nvPr/>
            </p:nvSpPr>
            <p:spPr>
              <a:xfrm>
                <a:off x="2186629" y="4515757"/>
                <a:ext cx="1105318" cy="618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A</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=0</m:t>
                      </m:r>
                    </m:oMath>
                  </m:oMathPara>
                </a14:m>
                <a:endParaRPr lang="zh-CN" altLang="en-US" dirty="0"/>
              </a:p>
            </p:txBody>
          </p:sp>
        </mc:Choice>
        <mc:Fallback xmlns="">
          <p:sp>
            <p:nvSpPr>
              <p:cNvPr id="453" name="文本框 452">
                <a:extLst>
                  <a:ext uri="{FF2B5EF4-FFF2-40B4-BE49-F238E27FC236}">
                    <a16:creationId xmlns:a16="http://schemas.microsoft.com/office/drawing/2014/main" id="{489AE499-11B2-CD41-AB4E-F870B77EEC63}"/>
                  </a:ext>
                </a:extLst>
              </p:cNvPr>
              <p:cNvSpPr txBox="1">
                <a:spLocks noRot="1" noChangeAspect="1" noMove="1" noResize="1" noEditPoints="1" noAdjustHandles="1" noChangeArrowheads="1" noChangeShapeType="1" noTextEdit="1"/>
              </p:cNvSpPr>
              <p:nvPr/>
            </p:nvSpPr>
            <p:spPr>
              <a:xfrm>
                <a:off x="2186629" y="4515757"/>
                <a:ext cx="1105318" cy="618374"/>
              </a:xfrm>
              <a:prstGeom prst="rect">
                <a:avLst/>
              </a:prstGeom>
              <a:blipFill>
                <a:blip r:embed="rId5"/>
                <a:stretch>
                  <a:fillRect b="-1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7" name="文本框 456">
                <a:extLst>
                  <a:ext uri="{FF2B5EF4-FFF2-40B4-BE49-F238E27FC236}">
                    <a16:creationId xmlns:a16="http://schemas.microsoft.com/office/drawing/2014/main" id="{A88A2783-0C80-D64E-B0E1-38B118423908}"/>
                  </a:ext>
                </a:extLst>
              </p:cNvPr>
              <p:cNvSpPr txBox="1"/>
              <p:nvPr/>
            </p:nvSpPr>
            <p:spPr>
              <a:xfrm>
                <a:off x="8055429" y="3220175"/>
                <a:ext cx="2908661" cy="40841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t>Constraints operator</a:t>
                </a:r>
                <a14:m>
                  <m:oMath xmlns:m="http://schemas.openxmlformats.org/officeDocument/2006/math">
                    <m:r>
                      <a:rPr kumimoji="1" lang="en-US" altLang="zh-CN" sz="1800" b="1" i="0" dirty="0" smtClean="0">
                        <a:latin typeface="Cambria Math" panose="02040503050406030204" pitchFamily="18" charset="0"/>
                      </a:rPr>
                      <m:t> </m:t>
                    </m:r>
                    <m:r>
                      <a:rPr kumimoji="1" lang="en-US" altLang="zh-CN" sz="1800" b="1" i="1" dirty="0" smtClean="0">
                        <a:latin typeface="Cambria Math" panose="02040503050406030204" pitchFamily="18" charset="0"/>
                      </a:rPr>
                      <m:t>𝑪</m:t>
                    </m:r>
                  </m:oMath>
                </a14:m>
                <a:endParaRPr kumimoji="1" lang="en-US" altLang="zh-CN" sz="1800" b="1" dirty="0">
                  <a:latin typeface="+mn-ea"/>
                </a:endParaRPr>
              </a:p>
            </p:txBody>
          </p:sp>
        </mc:Choice>
        <mc:Fallback xmlns="">
          <p:sp>
            <p:nvSpPr>
              <p:cNvPr id="457" name="文本框 456">
                <a:extLst>
                  <a:ext uri="{FF2B5EF4-FFF2-40B4-BE49-F238E27FC236}">
                    <a16:creationId xmlns:a16="http://schemas.microsoft.com/office/drawing/2014/main" id="{A88A2783-0C80-D64E-B0E1-38B118423908}"/>
                  </a:ext>
                </a:extLst>
              </p:cNvPr>
              <p:cNvSpPr txBox="1">
                <a:spLocks noRot="1" noChangeAspect="1" noMove="1" noResize="1" noEditPoints="1" noAdjustHandles="1" noChangeArrowheads="1" noChangeShapeType="1" noTextEdit="1"/>
              </p:cNvSpPr>
              <p:nvPr/>
            </p:nvSpPr>
            <p:spPr>
              <a:xfrm>
                <a:off x="8055429" y="3220175"/>
                <a:ext cx="2908661" cy="408415"/>
              </a:xfrm>
              <a:prstGeom prst="rect">
                <a:avLst/>
              </a:prstGeom>
              <a:blipFill>
                <a:blip r:embed="rId6"/>
                <a:stretch>
                  <a:fillRect/>
                </a:stretch>
              </a:blip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8" name="文本框 457">
                <a:extLst>
                  <a:ext uri="{FF2B5EF4-FFF2-40B4-BE49-F238E27FC236}">
                    <a16:creationId xmlns:a16="http://schemas.microsoft.com/office/drawing/2014/main" id="{55D4E435-5174-1942-A11B-4C1D71D940C7}"/>
                  </a:ext>
                </a:extLst>
              </p:cNvPr>
              <p:cNvSpPr txBox="1"/>
              <p:nvPr/>
            </p:nvSpPr>
            <p:spPr>
              <a:xfrm>
                <a:off x="6444343" y="2107068"/>
                <a:ext cx="5519058" cy="408415"/>
              </a:xfrm>
              <a:prstGeom prst="rect">
                <a:avLst/>
              </a:prstGeom>
              <a:solidFill>
                <a:schemeClr val="accent4">
                  <a:lumMod val="75000"/>
                </a:schemeClr>
              </a:solid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a:sp3d extrusionH="508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algn="ctr">
                  <a:lnSpc>
                    <a:spcPct val="100000"/>
                  </a:lnSpc>
                  <a:defRPr b="1">
                    <a:solidFill>
                      <a:schemeClr val="bg1"/>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1" lang="en-US" altLang="zh-CN" sz="1800" b="1" dirty="0">
                    <a:latin typeface="+mn-ea"/>
                  </a:rPr>
                  <a:t>Object Hamiltonian +</a:t>
                </a:r>
                <a:r>
                  <a:rPr kumimoji="1" lang="zh-CN" altLang="en-US" sz="1800" b="1" dirty="0">
                    <a:latin typeface="+mn-ea"/>
                  </a:rPr>
                  <a:t> </a:t>
                </a:r>
                <a:r>
                  <a:rPr kumimoji="1" lang="en-US" altLang="zh-CN" sz="1800" b="1" dirty="0">
                    <a:latin typeface="+mn-ea"/>
                  </a:rPr>
                  <a:t>Driver Hamiltonian</a:t>
                </a:r>
                <a14:m>
                  <m:oMath xmlns:m="http://schemas.openxmlformats.org/officeDocument/2006/math">
                    <m:sSup>
                      <m:sSupPr>
                        <m:ctrlPr>
                          <a:rPr kumimoji="1" lang="en-US" altLang="zh-CN" sz="1800" b="1" i="1" smtClean="0">
                            <a:latin typeface="Cambria Math" panose="02040503050406030204" pitchFamily="18" charset="0"/>
                          </a:rPr>
                        </m:ctrlPr>
                      </m:sSupPr>
                      <m:e>
                        <m:r>
                          <m:rPr>
                            <m:sty m:val="p"/>
                          </m:rPr>
                          <a:rPr kumimoji="1" lang="en-US" altLang="zh-CN" i="1">
                            <a:latin typeface="Cambria Math" panose="02040503050406030204" pitchFamily="18" charset="0"/>
                          </a:rPr>
                          <m:t>H</m:t>
                        </m:r>
                      </m:e>
                      <m:sup>
                        <m:r>
                          <m:rPr>
                            <m:sty m:val="p"/>
                          </m:rPr>
                          <a:rPr kumimoji="1" lang="en-US" altLang="zh-CN" i="1">
                            <a:latin typeface="Cambria Math" panose="02040503050406030204" pitchFamily="18" charset="0"/>
                          </a:rPr>
                          <m:t>d</m:t>
                        </m:r>
                      </m:sup>
                    </m:sSup>
                  </m:oMath>
                </a14:m>
                <a:endParaRPr kumimoji="1" lang="en-US" altLang="zh-CN" sz="1800" b="1" dirty="0">
                  <a:latin typeface="+mn-ea"/>
                </a:endParaRPr>
              </a:p>
            </p:txBody>
          </p:sp>
        </mc:Choice>
        <mc:Fallback xmlns="">
          <p:sp>
            <p:nvSpPr>
              <p:cNvPr id="458" name="文本框 457">
                <a:extLst>
                  <a:ext uri="{FF2B5EF4-FFF2-40B4-BE49-F238E27FC236}">
                    <a16:creationId xmlns:a16="http://schemas.microsoft.com/office/drawing/2014/main" id="{55D4E435-5174-1942-A11B-4C1D71D940C7}"/>
                  </a:ext>
                </a:extLst>
              </p:cNvPr>
              <p:cNvSpPr txBox="1">
                <a:spLocks noRot="1" noChangeAspect="1" noMove="1" noResize="1" noEditPoints="1" noAdjustHandles="1" noChangeArrowheads="1" noChangeShapeType="1" noTextEdit="1"/>
              </p:cNvSpPr>
              <p:nvPr/>
            </p:nvSpPr>
            <p:spPr>
              <a:xfrm>
                <a:off x="6444343" y="2107068"/>
                <a:ext cx="5519058" cy="408415"/>
              </a:xfrm>
              <a:prstGeom prst="rect">
                <a:avLst/>
              </a:prstGeom>
              <a:blipFill>
                <a:blip r:embed="rId7"/>
                <a:stretch>
                  <a:fillRect/>
                </a:stretch>
              </a:blipFill>
              <a:ln w="19050">
                <a:solidFill>
                  <a:schemeClr val="accent4">
                    <a:lumMod val="20000"/>
                    <a:lumOff val="80000"/>
                  </a:schemeClr>
                </a:solidFill>
              </a:ln>
              <a:effectLst>
                <a:outerShdw blurRad="254000" dir="13500000" sy="23000" kx="1200000" algn="br" rotWithShape="0">
                  <a:prstClr val="black">
                    <a:alpha val="17000"/>
                  </a:prstClr>
                </a:outerShdw>
                <a:reflection blurRad="6350" stA="29000" endA="300" endPos="35000" dir="5400000" sy="-100000" algn="bl" rotWithShape="0"/>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5" name="文本框 464">
                <a:extLst>
                  <a:ext uri="{FF2B5EF4-FFF2-40B4-BE49-F238E27FC236}">
                    <a16:creationId xmlns:a16="http://schemas.microsoft.com/office/drawing/2014/main" id="{4E646BB8-36BA-5741-8EBF-220E6A86FD8D}"/>
                  </a:ext>
                </a:extLst>
              </p:cNvPr>
              <p:cNvSpPr txBox="1"/>
              <p:nvPr/>
            </p:nvSpPr>
            <p:spPr>
              <a:xfrm>
                <a:off x="8209201" y="3988338"/>
                <a:ext cx="1458338" cy="412164"/>
              </a:xfrm>
              <a:prstGeom prst="rect">
                <a:avLst/>
              </a:prstGeom>
              <a:solidFill>
                <a:schemeClr val="bg2"/>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kumimoji="1" lang="en-US" altLang="zh-CN" sz="2000" b="1" i="1" smtClean="0">
                          <a:solidFill>
                            <a:srgbClr val="FF0000"/>
                          </a:solidFill>
                          <a:latin typeface="Cambria Math" panose="02040503050406030204" pitchFamily="18" charset="0"/>
                        </a:rPr>
                        <m:t>[</m:t>
                      </m:r>
                      <m:r>
                        <a:rPr kumimoji="1" lang="en-US" altLang="zh-CN" sz="2000" b="1" i="1" smtClean="0">
                          <a:solidFill>
                            <a:srgbClr val="FF0000"/>
                          </a:solidFill>
                          <a:latin typeface="Cambria Math" panose="02040503050406030204" pitchFamily="18" charset="0"/>
                        </a:rPr>
                        <m:t>𝑪</m:t>
                      </m:r>
                      <m:r>
                        <a:rPr kumimoji="1" lang="en-US" altLang="zh-CN" sz="2000" b="1" i="1" smtClean="0">
                          <a:solidFill>
                            <a:srgbClr val="FF0000"/>
                          </a:solidFill>
                          <a:latin typeface="Cambria Math" panose="02040503050406030204" pitchFamily="18" charset="0"/>
                        </a:rPr>
                        <m:t>,</m:t>
                      </m:r>
                      <m:sSup>
                        <m:sSupPr>
                          <m:ctrlPr>
                            <a:rPr kumimoji="1" lang="en-US" altLang="zh-CN" sz="2000" b="1" i="1" smtClean="0">
                              <a:solidFill>
                                <a:srgbClr val="FF0000"/>
                              </a:solidFill>
                              <a:latin typeface="Cambria Math" panose="02040503050406030204" pitchFamily="18" charset="0"/>
                            </a:rPr>
                          </m:ctrlPr>
                        </m:sSupPr>
                        <m:e>
                          <m:r>
                            <a:rPr kumimoji="1" lang="en-US" altLang="zh-CN" sz="2000" b="1" i="1" smtClean="0">
                              <a:solidFill>
                                <a:srgbClr val="FF0000"/>
                              </a:solidFill>
                              <a:latin typeface="Cambria Math" panose="02040503050406030204" pitchFamily="18" charset="0"/>
                            </a:rPr>
                            <m:t>𝑯</m:t>
                          </m:r>
                        </m:e>
                        <m:sup>
                          <m:r>
                            <a:rPr kumimoji="1" lang="en-US" altLang="zh-CN" sz="2000" b="1" i="1" smtClean="0">
                              <a:solidFill>
                                <a:srgbClr val="FF0000"/>
                              </a:solidFill>
                              <a:latin typeface="Cambria Math" panose="02040503050406030204" pitchFamily="18" charset="0"/>
                            </a:rPr>
                            <m:t>𝒅</m:t>
                          </m:r>
                        </m:sup>
                      </m:sSup>
                      <m:r>
                        <a:rPr kumimoji="1" lang="en-US" altLang="zh-CN" sz="2000" b="1" i="1" smtClean="0">
                          <a:solidFill>
                            <a:srgbClr val="FF0000"/>
                          </a:solidFill>
                          <a:latin typeface="Cambria Math" panose="02040503050406030204" pitchFamily="18" charset="0"/>
                        </a:rPr>
                        <m:t>]=</m:t>
                      </m:r>
                      <m:r>
                        <a:rPr kumimoji="1" lang="en-US" altLang="zh-CN" sz="2000" b="1" i="1" smtClean="0">
                          <a:solidFill>
                            <a:srgbClr val="FF0000"/>
                          </a:solidFill>
                          <a:latin typeface="Cambria Math" panose="02040503050406030204" pitchFamily="18" charset="0"/>
                        </a:rPr>
                        <m:t>𝟎</m:t>
                      </m:r>
                    </m:oMath>
                  </m:oMathPara>
                </a14:m>
                <a:endParaRPr kumimoji="1" lang="zh-CN" altLang="en-US" sz="2000" b="1" dirty="0">
                  <a:solidFill>
                    <a:srgbClr val="FF0000"/>
                  </a:solidFill>
                  <a:latin typeface="+mj-lt"/>
                </a:endParaRPr>
              </a:p>
            </p:txBody>
          </p:sp>
        </mc:Choice>
        <mc:Fallback xmlns="">
          <p:sp>
            <p:nvSpPr>
              <p:cNvPr id="465" name="文本框 464">
                <a:extLst>
                  <a:ext uri="{FF2B5EF4-FFF2-40B4-BE49-F238E27FC236}">
                    <a16:creationId xmlns:a16="http://schemas.microsoft.com/office/drawing/2014/main" id="{4E646BB8-36BA-5741-8EBF-220E6A86FD8D}"/>
                  </a:ext>
                </a:extLst>
              </p:cNvPr>
              <p:cNvSpPr txBox="1">
                <a:spLocks noRot="1" noChangeAspect="1" noMove="1" noResize="1" noEditPoints="1" noAdjustHandles="1" noChangeArrowheads="1" noChangeShapeType="1" noTextEdit="1"/>
              </p:cNvSpPr>
              <p:nvPr/>
            </p:nvSpPr>
            <p:spPr>
              <a:xfrm>
                <a:off x="8209201" y="3988338"/>
                <a:ext cx="1458338" cy="412164"/>
              </a:xfrm>
              <a:prstGeom prst="rect">
                <a:avLst/>
              </a:prstGeom>
              <a:blipFill>
                <a:blip r:embed="rId8"/>
                <a:stretch>
                  <a:fillRect l="-862" b="-117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DE8AFC5C-3913-114A-B47A-89F2A67ADE89}"/>
                  </a:ext>
                </a:extLst>
              </p:cNvPr>
              <p:cNvSpPr txBox="1"/>
              <p:nvPr/>
            </p:nvSpPr>
            <p:spPr>
              <a:xfrm>
                <a:off x="9148620" y="4625126"/>
                <a:ext cx="1105318" cy="6183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zh-CN" i="1" smtClean="0">
                              <a:latin typeface="Cambria Math" panose="02040503050406030204" pitchFamily="18" charset="0"/>
                            </a:rPr>
                          </m:ctrlPr>
                        </m:fPr>
                        <m:num>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C</m:t>
                          </m:r>
                        </m:num>
                        <m:den>
                          <m:r>
                            <m:rPr>
                              <m:sty m:val="p"/>
                            </m:rPr>
                            <a:rPr kumimoji="1" lang="en-US" altLang="zh-CN" i="1">
                              <a:latin typeface="Cambria Math" panose="02040503050406030204" pitchFamily="18" charset="0"/>
                            </a:rPr>
                            <m:t>d</m:t>
                          </m:r>
                          <m:r>
                            <a:rPr kumimoji="1" lang="zh-CN" altLang="en-US" b="0" i="1" smtClean="0">
                              <a:latin typeface="Cambria Math" panose="02040503050406030204" pitchFamily="18" charset="0"/>
                            </a:rPr>
                            <m:t> </m:t>
                          </m:r>
                          <m:r>
                            <m:rPr>
                              <m:sty m:val="p"/>
                            </m:rPr>
                            <a:rPr kumimoji="1" lang="en-US" altLang="zh-CN" i="1">
                              <a:latin typeface="Cambria Math" panose="02040503050406030204" pitchFamily="18" charset="0"/>
                            </a:rPr>
                            <m:t>t</m:t>
                          </m:r>
                        </m:den>
                      </m:f>
                      <m:r>
                        <a:rPr kumimoji="1" lang="en-US" altLang="zh-CN" b="0" i="1" smtClean="0">
                          <a:latin typeface="Cambria Math" panose="02040503050406030204" pitchFamily="18" charset="0"/>
                        </a:rPr>
                        <m:t>=0</m:t>
                      </m:r>
                    </m:oMath>
                  </m:oMathPara>
                </a14:m>
                <a:endParaRPr lang="zh-CN" altLang="en-US" dirty="0"/>
              </a:p>
            </p:txBody>
          </p:sp>
        </mc:Choice>
        <mc:Fallback xmlns="">
          <p:sp>
            <p:nvSpPr>
              <p:cNvPr id="44" name="文本框 43">
                <a:extLst>
                  <a:ext uri="{FF2B5EF4-FFF2-40B4-BE49-F238E27FC236}">
                    <a16:creationId xmlns:a16="http://schemas.microsoft.com/office/drawing/2014/main" id="{DE8AFC5C-3913-114A-B47A-89F2A67ADE89}"/>
                  </a:ext>
                </a:extLst>
              </p:cNvPr>
              <p:cNvSpPr txBox="1">
                <a:spLocks noRot="1" noChangeAspect="1" noMove="1" noResize="1" noEditPoints="1" noAdjustHandles="1" noChangeArrowheads="1" noChangeShapeType="1" noTextEdit="1"/>
              </p:cNvSpPr>
              <p:nvPr/>
            </p:nvSpPr>
            <p:spPr>
              <a:xfrm>
                <a:off x="9148620" y="4625126"/>
                <a:ext cx="1105318" cy="618374"/>
              </a:xfrm>
              <a:prstGeom prst="rect">
                <a:avLst/>
              </a:prstGeom>
              <a:blipFill>
                <a:blip r:embed="rId9"/>
                <a:stretch>
                  <a:fillRect b="-18367"/>
                </a:stretch>
              </a:blipFill>
            </p:spPr>
            <p:txBody>
              <a:bodyPr/>
              <a:lstStyle/>
              <a:p>
                <a:r>
                  <a:rPr lang="zh-CN" altLang="en-US">
                    <a:noFill/>
                  </a:rPr>
                  <a:t> </a:t>
                </a:r>
              </a:p>
            </p:txBody>
          </p:sp>
        </mc:Fallback>
      </mc:AlternateContent>
      <p:sp>
        <p:nvSpPr>
          <p:cNvPr id="466" name="Rectangle 465"/>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7" name="Picture 466" descr="image.png"/>
          <p:cNvPicPr>
            <a:picLocks noChangeAspect="1"/>
          </p:cNvPicPr>
          <p:nvPr/>
        </p:nvPicPr>
        <p:blipFill>
          <a:blip r:embed="rId10"/>
          <a:stretch>
            <a:fillRect/>
          </a:stretch>
        </p:blipFill>
        <p:spPr>
          <a:xfrm>
            <a:off x="9372600" y="73152"/>
            <a:ext cx="2514600" cy="735296"/>
          </a:xfrm>
          <a:prstGeom prst="rect">
            <a:avLst/>
          </a:prstGeom>
        </p:spPr>
      </p:pic>
      <p:sp>
        <p:nvSpPr>
          <p:cNvPr id="468" name="Rectangle 467"/>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TextBox 468"/>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SDHG: Spatial View of Qubit Relations</a:t>
            </a:r>
          </a:p>
        </p:txBody>
      </p:sp>
      <p:sp>
        <p:nvSpPr>
          <p:cNvPr id="470" name="Rectangle 469"/>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TextBox 470"/>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Overview</a:t>
            </a:r>
          </a:p>
        </p:txBody>
      </p:sp>
      <p:sp>
        <p:nvSpPr>
          <p:cNvPr id="472" name="Rectangle 471"/>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73" name="Connector 472"/>
          <p:cNvCxnSpPr/>
          <p:nvPr/>
        </p:nvCxnSpPr>
        <p:spPr>
          <a:xfrm>
            <a:off x="868680" y="1234440"/>
            <a:ext cx="29260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474" name="TextBox 473"/>
          <p:cNvSpPr txBox="1"/>
          <p:nvPr/>
        </p:nvSpPr>
        <p:spPr>
          <a:xfrm>
            <a:off x="612647" y="1161288"/>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q0</a:t>
            </a:r>
          </a:p>
        </p:txBody>
      </p:sp>
      <p:cxnSp>
        <p:nvCxnSpPr>
          <p:cNvPr id="475" name="Connector 474"/>
          <p:cNvCxnSpPr/>
          <p:nvPr/>
        </p:nvCxnSpPr>
        <p:spPr>
          <a:xfrm>
            <a:off x="868680" y="1545336"/>
            <a:ext cx="29260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476" name="TextBox 475"/>
          <p:cNvSpPr txBox="1"/>
          <p:nvPr/>
        </p:nvSpPr>
        <p:spPr>
          <a:xfrm>
            <a:off x="612647" y="1472184"/>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q1</a:t>
            </a:r>
          </a:p>
        </p:txBody>
      </p:sp>
      <p:cxnSp>
        <p:nvCxnSpPr>
          <p:cNvPr id="477" name="Connector 476"/>
          <p:cNvCxnSpPr/>
          <p:nvPr/>
        </p:nvCxnSpPr>
        <p:spPr>
          <a:xfrm>
            <a:off x="868680" y="1856232"/>
            <a:ext cx="29260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478" name="TextBox 477"/>
          <p:cNvSpPr txBox="1"/>
          <p:nvPr/>
        </p:nvSpPr>
        <p:spPr>
          <a:xfrm>
            <a:off x="612647" y="1783080"/>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q2</a:t>
            </a:r>
          </a:p>
        </p:txBody>
      </p:sp>
      <p:cxnSp>
        <p:nvCxnSpPr>
          <p:cNvPr id="479" name="Connector 478"/>
          <p:cNvCxnSpPr/>
          <p:nvPr/>
        </p:nvCxnSpPr>
        <p:spPr>
          <a:xfrm>
            <a:off x="868680" y="2167128"/>
            <a:ext cx="29260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480" name="TextBox 479"/>
          <p:cNvSpPr txBox="1"/>
          <p:nvPr/>
        </p:nvSpPr>
        <p:spPr>
          <a:xfrm>
            <a:off x="612647" y="2093976"/>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q3</a:t>
            </a:r>
          </a:p>
        </p:txBody>
      </p:sp>
      <p:sp>
        <p:nvSpPr>
          <p:cNvPr id="481" name="Rounded Rectangle 480"/>
          <p:cNvSpPr/>
          <p:nvPr/>
        </p:nvSpPr>
        <p:spPr>
          <a:xfrm>
            <a:off x="1280160" y="1124712"/>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H</a:t>
            </a:r>
          </a:p>
        </p:txBody>
      </p:sp>
      <p:sp>
        <p:nvSpPr>
          <p:cNvPr id="482" name="Rounded Rectangle 481"/>
          <p:cNvSpPr/>
          <p:nvPr/>
        </p:nvSpPr>
        <p:spPr>
          <a:xfrm>
            <a:off x="1737360" y="1435608"/>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483" name="Rounded Rectangle 482"/>
          <p:cNvSpPr/>
          <p:nvPr/>
        </p:nvSpPr>
        <p:spPr>
          <a:xfrm>
            <a:off x="2194560" y="1746504"/>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Rz</a:t>
            </a:r>
          </a:p>
        </p:txBody>
      </p:sp>
      <p:sp>
        <p:nvSpPr>
          <p:cNvPr id="484" name="Rounded Rectangle 483"/>
          <p:cNvSpPr/>
          <p:nvPr/>
        </p:nvSpPr>
        <p:spPr>
          <a:xfrm>
            <a:off x="2697480" y="1435608"/>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485" name="Rounded Rectangle 484"/>
          <p:cNvSpPr/>
          <p:nvPr/>
        </p:nvSpPr>
        <p:spPr>
          <a:xfrm>
            <a:off x="3264408" y="2057400"/>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M</a:t>
            </a:r>
          </a:p>
        </p:txBody>
      </p:sp>
      <p:cxnSp>
        <p:nvCxnSpPr>
          <p:cNvPr id="486" name="Connector 485"/>
          <p:cNvCxnSpPr/>
          <p:nvPr/>
        </p:nvCxnSpPr>
        <p:spPr>
          <a:xfrm>
            <a:off x="3886200" y="1691640"/>
            <a:ext cx="68580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487" name="Rounded Rectangle 486"/>
          <p:cNvSpPr/>
          <p:nvPr/>
        </p:nvSpPr>
        <p:spPr>
          <a:xfrm>
            <a:off x="4983480" y="1234440"/>
            <a:ext cx="841248" cy="38404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q1</a:t>
            </a:r>
          </a:p>
        </p:txBody>
      </p:sp>
      <p:sp>
        <p:nvSpPr>
          <p:cNvPr id="488" name="Rounded Rectangle 487"/>
          <p:cNvSpPr/>
          <p:nvPr/>
        </p:nvSpPr>
        <p:spPr>
          <a:xfrm>
            <a:off x="6080760" y="1234440"/>
            <a:ext cx="841248" cy="38404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q2</a:t>
            </a:r>
          </a:p>
        </p:txBody>
      </p:sp>
      <p:sp>
        <p:nvSpPr>
          <p:cNvPr id="489" name="Rounded Rectangle 488"/>
          <p:cNvSpPr/>
          <p:nvPr/>
        </p:nvSpPr>
        <p:spPr>
          <a:xfrm>
            <a:off x="5440680" y="2240280"/>
            <a:ext cx="841248" cy="38404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q3</a:t>
            </a:r>
          </a:p>
        </p:txBody>
      </p:sp>
      <p:sp>
        <p:nvSpPr>
          <p:cNvPr id="490" name="Rounded Rectangle 489"/>
          <p:cNvSpPr/>
          <p:nvPr/>
        </p:nvSpPr>
        <p:spPr>
          <a:xfrm>
            <a:off x="7040880" y="1920240"/>
            <a:ext cx="841248" cy="38404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q2'</a:t>
            </a:r>
          </a:p>
        </p:txBody>
      </p:sp>
      <p:cxnSp>
        <p:nvCxnSpPr>
          <p:cNvPr id="491" name="Connector 490"/>
          <p:cNvCxnSpPr/>
          <p:nvPr/>
        </p:nvCxnSpPr>
        <p:spPr>
          <a:xfrm>
            <a:off x="5394960" y="1426464"/>
            <a:ext cx="68580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flipH="1">
            <a:off x="5623560" y="1609344"/>
            <a:ext cx="91440" cy="612648"/>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6382512" y="1600200"/>
            <a:ext cx="676656" cy="41148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494" name="Rounded Rectangle 493"/>
          <p:cNvSpPr/>
          <p:nvPr/>
        </p:nvSpPr>
        <p:spPr>
          <a:xfrm>
            <a:off x="7909560" y="1078992"/>
            <a:ext cx="2743200" cy="512064"/>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100" b="1" i="0">
                <a:solidFill>
                  <a:srgbClr val="000000"/>
                </a:solidFill>
                <a:latin typeface="Times New Roman"/>
              </a:rPr>
              <a:t>What changes in DQC?</a:t>
            </a:r>
          </a:p>
        </p:txBody>
      </p:sp>
      <p:sp>
        <p:nvSpPr>
          <p:cNvPr id="495" name="Rounded Rectangle 494"/>
          <p:cNvSpPr/>
          <p:nvPr/>
        </p:nvSpPr>
        <p:spPr>
          <a:xfrm>
            <a:off x="8001000" y="1783080"/>
            <a:ext cx="2606040" cy="420624"/>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wire cut duplicates qubits</a:t>
            </a:r>
          </a:p>
        </p:txBody>
      </p:sp>
      <p:sp>
        <p:nvSpPr>
          <p:cNvPr id="496" name="Rounded Rectangle 495"/>
          <p:cNvSpPr/>
          <p:nvPr/>
        </p:nvSpPr>
        <p:spPr>
          <a:xfrm>
            <a:off x="8001000" y="2514600"/>
            <a:ext cx="2606040" cy="420624"/>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remote gate adds EPR resources</a:t>
            </a:r>
          </a:p>
        </p:txBody>
      </p:sp>
      <p:sp>
        <p:nvSpPr>
          <p:cNvPr id="497" name="Rounded Rectangle 496"/>
          <p:cNvSpPr/>
          <p:nvPr/>
        </p:nvSpPr>
        <p:spPr>
          <a:xfrm>
            <a:off x="8001000" y="3246120"/>
            <a:ext cx="2606040" cy="420624"/>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topology cost becomes measurable</a:t>
            </a:r>
          </a:p>
        </p:txBody>
      </p:sp>
      <p:sp>
        <p:nvSpPr>
          <p:cNvPr id="498" name="Rounded Rectangle 497"/>
          <p:cNvSpPr/>
          <p:nvPr/>
        </p:nvSpPr>
        <p:spPr>
          <a:xfrm>
            <a:off x="960120" y="4736592"/>
            <a:ext cx="996696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Spatial objective: reduce d(G_subcircuits, G_chips), i.e., the SWAP burden induced by hardware layout.</a:t>
            </a:r>
          </a:p>
        </p:txBody>
      </p:sp>
      <p:sp>
        <p:nvSpPr>
          <p:cNvPr id="499" name="TextBox 498"/>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Definition IV.1 and Eq. (2).</a:t>
            </a:r>
          </a:p>
        </p:txBody>
      </p:sp>
    </p:spTree>
    <p:extLst>
      <p:ext uri="{BB962C8B-B14F-4D97-AF65-F5344CB8AC3E}">
        <p14:creationId xmlns:p14="http://schemas.microsoft.com/office/powerpoint/2010/main" val="32278330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640" y="20116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TDAG: Temporal View of Execution Dependencies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Overview</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1298448"/>
            <a:ext cx="1024128"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H</a:t>
            </a:r>
          </a:p>
        </p:txBody>
      </p:sp>
      <p:sp>
        <p:nvSpPr>
          <p:cNvPr id="10" name="Rounded Rectangle 9"/>
          <p:cNvSpPr/>
          <p:nvPr/>
        </p:nvSpPr>
        <p:spPr>
          <a:xfrm>
            <a:off x="2194560" y="1298448"/>
            <a:ext cx="1024128"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CX</a:t>
            </a:r>
          </a:p>
        </p:txBody>
      </p:sp>
      <p:sp>
        <p:nvSpPr>
          <p:cNvPr id="11" name="Rounded Rectangle 10"/>
          <p:cNvSpPr/>
          <p:nvPr/>
        </p:nvSpPr>
        <p:spPr>
          <a:xfrm>
            <a:off x="3520440" y="1298448"/>
            <a:ext cx="1024128"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Rz</a:t>
            </a:r>
          </a:p>
        </p:txBody>
      </p:sp>
      <p:sp>
        <p:nvSpPr>
          <p:cNvPr id="12" name="Rounded Rectangle 11"/>
          <p:cNvSpPr/>
          <p:nvPr/>
        </p:nvSpPr>
        <p:spPr>
          <a:xfrm>
            <a:off x="4846320" y="1298448"/>
            <a:ext cx="1417320" cy="530352"/>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Teleport</a:t>
            </a:r>
          </a:p>
        </p:txBody>
      </p:sp>
      <p:sp>
        <p:nvSpPr>
          <p:cNvPr id="13" name="Rounded Rectangle 12"/>
          <p:cNvSpPr/>
          <p:nvPr/>
        </p:nvSpPr>
        <p:spPr>
          <a:xfrm>
            <a:off x="6629400" y="1298448"/>
            <a:ext cx="1024128" cy="530352"/>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CU</a:t>
            </a:r>
          </a:p>
        </p:txBody>
      </p:sp>
      <p:sp>
        <p:nvSpPr>
          <p:cNvPr id="14" name="Rounded Rectangle 13"/>
          <p:cNvSpPr/>
          <p:nvPr/>
        </p:nvSpPr>
        <p:spPr>
          <a:xfrm>
            <a:off x="8229600" y="1298448"/>
            <a:ext cx="1024128"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Measure</a:t>
            </a:r>
          </a:p>
        </p:txBody>
      </p:sp>
      <p:cxnSp>
        <p:nvCxnSpPr>
          <p:cNvPr id="15" name="Connector 14"/>
          <p:cNvCxnSpPr/>
          <p:nvPr/>
        </p:nvCxnSpPr>
        <p:spPr>
          <a:xfrm>
            <a:off x="1901952" y="1563624"/>
            <a:ext cx="27432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218688" y="1563624"/>
            <a:ext cx="283464"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526280" y="1563624"/>
            <a:ext cx="301752"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272784" y="1563624"/>
            <a:ext cx="338328"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26679" y="1563624"/>
            <a:ext cx="484633"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68680" y="2788920"/>
            <a:ext cx="4663440" cy="141732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8407" y="2898648"/>
            <a:ext cx="44439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Critical Path Interpretation</a:t>
            </a:r>
          </a:p>
        </p:txBody>
      </p:sp>
      <p:sp>
        <p:nvSpPr>
          <p:cNvPr id="22" name="TextBox 21"/>
          <p:cNvSpPr txBox="1"/>
          <p:nvPr/>
        </p:nvSpPr>
        <p:spPr>
          <a:xfrm>
            <a:off x="1097280" y="3493008"/>
            <a:ext cx="4160520" cy="274320"/>
          </a:xfrm>
          <a:prstGeom prst="rect">
            <a:avLst/>
          </a:prstGeom>
          <a:noFill/>
        </p:spPr>
        <p:txBody>
          <a:bodyPr wrap="none" lIns="18288" tIns="18288" rIns="18288" bIns="18288">
            <a:spAutoFit/>
          </a:bodyPr>
          <a:lstStyle/>
          <a:p>
            <a:pPr algn="l"/>
            <a:r>
              <a:rPr sz="2000" b="1" i="0">
                <a:solidFill>
                  <a:srgbClr val="004990"/>
                </a:solidFill>
                <a:latin typeface="Times New Roman"/>
              </a:rPr>
              <a:t>GateComm latency = sum on the longest TDAG path</a:t>
            </a:r>
          </a:p>
        </p:txBody>
      </p:sp>
      <p:sp>
        <p:nvSpPr>
          <p:cNvPr id="23" name="Rounded Rectangle 22"/>
          <p:cNvSpPr/>
          <p:nvPr/>
        </p:nvSpPr>
        <p:spPr>
          <a:xfrm>
            <a:off x="6080760" y="2788920"/>
            <a:ext cx="4526280" cy="141732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190488" y="2898648"/>
            <a:ext cx="43068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QubitComm Interpretation</a:t>
            </a:r>
          </a:p>
        </p:txBody>
      </p:sp>
      <p:sp>
        <p:nvSpPr>
          <p:cNvPr id="25" name="TextBox 24"/>
          <p:cNvSpPr txBox="1"/>
          <p:nvPr/>
        </p:nvSpPr>
        <p:spPr>
          <a:xfrm>
            <a:off x="6355080" y="3493008"/>
            <a:ext cx="3977639" cy="274320"/>
          </a:xfrm>
          <a:prstGeom prst="rect">
            <a:avLst/>
          </a:prstGeom>
          <a:noFill/>
        </p:spPr>
        <p:txBody>
          <a:bodyPr wrap="none" lIns="18288" tIns="18288" rIns="18288" bIns="18288">
            <a:spAutoFit/>
          </a:bodyPr>
          <a:lstStyle/>
          <a:p>
            <a:pPr algn="l"/>
            <a:r>
              <a:rPr sz="2000" b="1" i="0">
                <a:solidFill>
                  <a:srgbClr val="004990"/>
                </a:solidFill>
                <a:latin typeface="Times New Roman"/>
              </a:rPr>
              <a:t>QubitComm latency = max subcircuit latency</a:t>
            </a:r>
          </a:p>
        </p:txBody>
      </p:sp>
      <p:sp>
        <p:nvSpPr>
          <p:cNvPr id="26" name="TextBox 25"/>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Definition IV.2 and Table II-III.</a:t>
            </a:r>
          </a:p>
        </p:txBody>
      </p:sp>
    </p:spTree>
    <p:extLst>
      <p:ext uri="{BB962C8B-B14F-4D97-AF65-F5344CB8AC3E}">
        <p14:creationId xmlns:p14="http://schemas.microsoft.com/office/powerpoint/2010/main" val="2529785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CG: Chip-Level Communication Graph</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Overview</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828800" y="1143000"/>
            <a:ext cx="1417320" cy="56692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QPU 1</a:t>
            </a:r>
          </a:p>
        </p:txBody>
      </p:sp>
      <p:sp>
        <p:nvSpPr>
          <p:cNvPr id="10" name="Rounded Rectangle 9"/>
          <p:cNvSpPr/>
          <p:nvPr/>
        </p:nvSpPr>
        <p:spPr>
          <a:xfrm>
            <a:off x="4937760" y="1143000"/>
            <a:ext cx="1417320" cy="56692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QPU 2</a:t>
            </a:r>
          </a:p>
        </p:txBody>
      </p:sp>
      <p:sp>
        <p:nvSpPr>
          <p:cNvPr id="11" name="Rounded Rectangle 10"/>
          <p:cNvSpPr/>
          <p:nvPr/>
        </p:nvSpPr>
        <p:spPr>
          <a:xfrm>
            <a:off x="1828800" y="3337560"/>
            <a:ext cx="1417320" cy="56692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QPU 3</a:t>
            </a:r>
          </a:p>
        </p:txBody>
      </p:sp>
      <p:sp>
        <p:nvSpPr>
          <p:cNvPr id="12" name="Rounded Rectangle 11"/>
          <p:cNvSpPr/>
          <p:nvPr/>
        </p:nvSpPr>
        <p:spPr>
          <a:xfrm>
            <a:off x="4937760" y="3337560"/>
            <a:ext cx="1417320" cy="56692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QPU 4</a:t>
            </a:r>
          </a:p>
        </p:txBody>
      </p:sp>
      <p:cxnSp>
        <p:nvCxnSpPr>
          <p:cNvPr id="13" name="Connector 12"/>
          <p:cNvCxnSpPr/>
          <p:nvPr/>
        </p:nvCxnSpPr>
        <p:spPr>
          <a:xfrm>
            <a:off x="3246120" y="1444752"/>
            <a:ext cx="1673352"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703320" y="1078992"/>
            <a:ext cx="1188720" cy="201168"/>
          </a:xfrm>
          <a:prstGeom prst="rect">
            <a:avLst/>
          </a:prstGeom>
          <a:noFill/>
        </p:spPr>
        <p:txBody>
          <a:bodyPr wrap="none" lIns="18288" tIns="18288" rIns="18288" bIns="18288">
            <a:spAutoFit/>
          </a:bodyPr>
          <a:lstStyle/>
          <a:p>
            <a:pPr algn="ctr"/>
            <a:r>
              <a:rPr sz="1600" b="0" i="0">
                <a:solidFill>
                  <a:srgbClr val="EE8436"/>
                </a:solidFill>
                <a:latin typeface="Times New Roman"/>
              </a:rPr>
              <a:t>GateComm</a:t>
            </a:r>
          </a:p>
        </p:txBody>
      </p:sp>
      <p:cxnSp>
        <p:nvCxnSpPr>
          <p:cNvPr id="15" name="Connector 14"/>
          <p:cNvCxnSpPr/>
          <p:nvPr/>
        </p:nvCxnSpPr>
        <p:spPr>
          <a:xfrm>
            <a:off x="2542032" y="1719072"/>
            <a:ext cx="0" cy="1591056"/>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24128" y="2304288"/>
            <a:ext cx="1280160" cy="201168"/>
          </a:xfrm>
          <a:prstGeom prst="rect">
            <a:avLst/>
          </a:prstGeom>
          <a:noFill/>
        </p:spPr>
        <p:txBody>
          <a:bodyPr wrap="none" lIns="18288" tIns="18288" rIns="18288" bIns="18288">
            <a:spAutoFit/>
          </a:bodyPr>
          <a:lstStyle/>
          <a:p>
            <a:pPr algn="ctr"/>
            <a:r>
              <a:rPr sz="1600" b="0" i="0">
                <a:solidFill>
                  <a:srgbClr val="004990"/>
                </a:solidFill>
                <a:latin typeface="Times New Roman"/>
              </a:rPr>
              <a:t>QubitComm</a:t>
            </a:r>
          </a:p>
        </p:txBody>
      </p:sp>
      <p:cxnSp>
        <p:nvCxnSpPr>
          <p:cNvPr id="17" name="Connector 16"/>
          <p:cNvCxnSpPr/>
          <p:nvPr/>
        </p:nvCxnSpPr>
        <p:spPr>
          <a:xfrm>
            <a:off x="3246120" y="3621024"/>
            <a:ext cx="1673352"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995160" y="1078992"/>
            <a:ext cx="3474720" cy="33375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104888" y="1188719"/>
            <a:ext cx="325526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Compiler Uses CG To</a:t>
            </a:r>
          </a:p>
        </p:txBody>
      </p:sp>
      <p:sp>
        <p:nvSpPr>
          <p:cNvPr id="20" name="Rounded Rectangle 19"/>
          <p:cNvSpPr/>
          <p:nvPr/>
        </p:nvSpPr>
        <p:spPr>
          <a:xfrm>
            <a:off x="7269480" y="1737360"/>
            <a:ext cx="292608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count EPR resources</a:t>
            </a:r>
          </a:p>
        </p:txBody>
      </p:sp>
      <p:sp>
        <p:nvSpPr>
          <p:cNvPr id="21" name="Rounded Rectangle 20"/>
          <p:cNvSpPr/>
          <p:nvPr/>
        </p:nvSpPr>
        <p:spPr>
          <a:xfrm>
            <a:off x="7269480" y="2340864"/>
            <a:ext cx="2926080"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count cut-wire workloads</a:t>
            </a:r>
          </a:p>
        </p:txBody>
      </p:sp>
      <p:sp>
        <p:nvSpPr>
          <p:cNvPr id="22" name="Rounded Rectangle 21"/>
          <p:cNvSpPr/>
          <p:nvPr/>
        </p:nvSpPr>
        <p:spPr>
          <a:xfrm>
            <a:off x="7269480" y="2944368"/>
            <a:ext cx="292608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select hybrid architecture</a:t>
            </a:r>
          </a:p>
        </p:txBody>
      </p:sp>
      <p:sp>
        <p:nvSpPr>
          <p:cNvPr id="23" name="Rounded Rectangle 22"/>
          <p:cNvSpPr/>
          <p:nvPr/>
        </p:nvSpPr>
        <p:spPr>
          <a:xfrm>
            <a:off x="7269480" y="3547872"/>
            <a:ext cx="2926080"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balance global metrics</a:t>
            </a:r>
          </a:p>
        </p:txBody>
      </p:sp>
      <p:sp>
        <p:nvSpPr>
          <p:cNvPr id="24" name="TextBox 23"/>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Definition IV.3 and Table II.</a:t>
            </a:r>
          </a:p>
        </p:txBody>
      </p:sp>
    </p:spTree>
    <p:extLst>
      <p:ext uri="{BB962C8B-B14F-4D97-AF65-F5344CB8AC3E}">
        <p14:creationId xmlns:p14="http://schemas.microsoft.com/office/powerpoint/2010/main" val="26311415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Performance Engine Converts Graphs Into Optimization Signals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Overview</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1143000" y="1325880"/>
            <a:ext cx="2148840" cy="74980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a:solidFill>
                  <a:srgbClr val="000000"/>
                </a:solidFill>
                <a:latin typeface="Times New Roman"/>
              </a:rPr>
              <a:t>Topology
SDHG</a:t>
            </a:r>
          </a:p>
        </p:txBody>
      </p:sp>
      <p:cxnSp>
        <p:nvCxnSpPr>
          <p:cNvPr id="10" name="Connector 9"/>
          <p:cNvCxnSpPr/>
          <p:nvPr/>
        </p:nvCxnSpPr>
        <p:spPr>
          <a:xfrm>
            <a:off x="2221991" y="2103120"/>
            <a:ext cx="3127249" cy="438912"/>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663440" y="3886200"/>
            <a:ext cx="2148840" cy="749808"/>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a:solidFill>
                  <a:srgbClr val="000000"/>
                </a:solidFill>
                <a:latin typeface="Times New Roman"/>
              </a:rPr>
              <a:t>Latency
TDAG</a:t>
            </a:r>
          </a:p>
        </p:txBody>
      </p:sp>
      <p:cxnSp>
        <p:nvCxnSpPr>
          <p:cNvPr id="12" name="Connector 11"/>
          <p:cNvCxnSpPr/>
          <p:nvPr/>
        </p:nvCxnSpPr>
        <p:spPr>
          <a:xfrm flipH="1" flipV="1">
            <a:off x="5349240" y="2542032"/>
            <a:ext cx="393191" cy="2121408"/>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183879" y="1325880"/>
            <a:ext cx="2148840" cy="74980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a:solidFill>
                  <a:srgbClr val="000000"/>
                </a:solidFill>
                <a:latin typeface="Times New Roman"/>
              </a:rPr>
              <a:t>Communication
CG</a:t>
            </a:r>
          </a:p>
        </p:txBody>
      </p:sp>
      <p:cxnSp>
        <p:nvCxnSpPr>
          <p:cNvPr id="14" name="Connector 13"/>
          <p:cNvCxnSpPr/>
          <p:nvPr/>
        </p:nvCxnSpPr>
        <p:spPr>
          <a:xfrm flipH="1">
            <a:off x="5349240" y="2103120"/>
            <a:ext cx="3913632" cy="438912"/>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160520" y="2212848"/>
            <a:ext cx="2377440" cy="71323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200" b="1" i="0">
                <a:solidFill>
                  <a:srgbClr val="000000"/>
                </a:solidFill>
                <a:latin typeface="Times New Roman"/>
              </a:rPr>
              <a:t>Candidate
DQC plan</a:t>
            </a:r>
          </a:p>
        </p:txBody>
      </p:sp>
      <p:sp>
        <p:nvSpPr>
          <p:cNvPr id="16" name="Rounded Rectangle 15"/>
          <p:cNvSpPr/>
          <p:nvPr/>
        </p:nvSpPr>
        <p:spPr>
          <a:xfrm>
            <a:off x="914400" y="4828032"/>
            <a:ext cx="9875520" cy="68580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5029200"/>
            <a:ext cx="9464040" cy="219456"/>
          </a:xfrm>
          <a:prstGeom prst="rect">
            <a:avLst/>
          </a:prstGeom>
          <a:noFill/>
        </p:spPr>
        <p:txBody>
          <a:bodyPr wrap="none" lIns="18288" tIns="18288" rIns="18288" bIns="18288">
            <a:spAutoFit/>
          </a:bodyPr>
          <a:lstStyle/>
          <a:p>
            <a:pPr algn="l"/>
            <a:r>
              <a:rPr sz="2000" b="1" i="0">
                <a:solidFill>
                  <a:srgbClr val="000000"/>
                </a:solidFill>
                <a:latin typeface="Times New Roman"/>
              </a:rPr>
              <a:t>The same partition is scored by several metrics before execution, so optimization can adapt to the user's goal.</a:t>
            </a:r>
          </a:p>
        </p:txBody>
      </p:sp>
      <p:sp>
        <p:nvSpPr>
          <p:cNvPr id="18" name="TextBox 17"/>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Table II and Sec. IV-B.</a:t>
            </a:r>
          </a:p>
        </p:txBody>
      </p:sp>
    </p:spTree>
    <p:extLst>
      <p:ext uri="{BB962C8B-B14F-4D97-AF65-F5344CB8AC3E}">
        <p14:creationId xmlns:p14="http://schemas.microsoft.com/office/powerpoint/2010/main" val="10417607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Adaptive Compiler Pipeline</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58368" y="932688"/>
            <a:ext cx="3749039" cy="466344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68096" y="1042416"/>
            <a:ext cx="35295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Paper Algorithm</a:t>
            </a:r>
          </a:p>
        </p:txBody>
      </p:sp>
      <p:pic>
        <p:nvPicPr>
          <p:cNvPr id="11" name="Picture 10" descr="fig7_algorithm.png"/>
          <p:cNvPicPr>
            <a:picLocks noChangeAspect="1"/>
          </p:cNvPicPr>
          <p:nvPr/>
        </p:nvPicPr>
        <p:blipFill>
          <a:blip r:embed="rId4"/>
          <a:stretch>
            <a:fillRect/>
          </a:stretch>
        </p:blipFill>
        <p:spPr>
          <a:xfrm>
            <a:off x="1156686" y="1499616"/>
            <a:ext cx="2752402" cy="3950207"/>
          </a:xfrm>
          <a:prstGeom prst="rect">
            <a:avLst/>
          </a:prstGeom>
        </p:spPr>
      </p:pic>
      <p:sp>
        <p:nvSpPr>
          <p:cNvPr id="12" name="Rounded Rectangle 11"/>
          <p:cNvSpPr/>
          <p:nvPr/>
        </p:nvSpPr>
        <p:spPr>
          <a:xfrm>
            <a:off x="7635240" y="932688"/>
            <a:ext cx="3429000" cy="466344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744967" y="1042416"/>
            <a:ext cx="320954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Compiler Loop Redrawn</a:t>
            </a:r>
          </a:p>
        </p:txBody>
      </p:sp>
      <p:sp>
        <p:nvSpPr>
          <p:cNvPr id="14" name="Rounded Rectangle 13"/>
          <p:cNvSpPr/>
          <p:nvPr/>
        </p:nvSpPr>
        <p:spPr>
          <a:xfrm>
            <a:off x="8138160" y="1591056"/>
            <a:ext cx="1691640" cy="41148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Simplify</a:t>
            </a:r>
          </a:p>
        </p:txBody>
      </p:sp>
      <p:cxnSp>
        <p:nvCxnSpPr>
          <p:cNvPr id="15" name="Connector 14"/>
          <p:cNvCxnSpPr/>
          <p:nvPr/>
        </p:nvCxnSpPr>
        <p:spPr>
          <a:xfrm>
            <a:off x="8988552" y="2020824"/>
            <a:ext cx="0" cy="192024"/>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138160" y="2267712"/>
            <a:ext cx="1691640" cy="411480"/>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Cluster</a:t>
            </a:r>
          </a:p>
        </p:txBody>
      </p:sp>
      <p:cxnSp>
        <p:nvCxnSpPr>
          <p:cNvPr id="17" name="Connector 16"/>
          <p:cNvCxnSpPr/>
          <p:nvPr/>
        </p:nvCxnSpPr>
        <p:spPr>
          <a:xfrm>
            <a:off x="8988552" y="2697480"/>
            <a:ext cx="0" cy="192024"/>
          </a:xfrm>
          <a:prstGeom prst="line">
            <a:avLst/>
          </a:prstGeom>
          <a:ln w="25400">
            <a:solidFill>
              <a:srgbClr val="4A9B55"/>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38160" y="2944368"/>
            <a:ext cx="1691640" cy="41148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Score</a:t>
            </a:r>
          </a:p>
        </p:txBody>
      </p:sp>
      <p:cxnSp>
        <p:nvCxnSpPr>
          <p:cNvPr id="19" name="Connector 18"/>
          <p:cNvCxnSpPr/>
          <p:nvPr/>
        </p:nvCxnSpPr>
        <p:spPr>
          <a:xfrm>
            <a:off x="8988552" y="3374135"/>
            <a:ext cx="0" cy="192025"/>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38160" y="3621024"/>
            <a:ext cx="1691640" cy="41148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Tune</a:t>
            </a:r>
          </a:p>
        </p:txBody>
      </p:sp>
      <p:cxnSp>
        <p:nvCxnSpPr>
          <p:cNvPr id="21" name="Connector 20"/>
          <p:cNvCxnSpPr/>
          <p:nvPr/>
        </p:nvCxnSpPr>
        <p:spPr>
          <a:xfrm>
            <a:off x="8988552" y="4050791"/>
            <a:ext cx="0" cy="192025"/>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38160" y="4297680"/>
            <a:ext cx="1691640" cy="41148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Emit</a:t>
            </a:r>
          </a:p>
        </p:txBody>
      </p:sp>
      <p:sp>
        <p:nvSpPr>
          <p:cNvPr id="23" name="Rounded Rectangle 22"/>
          <p:cNvSpPr/>
          <p:nvPr/>
        </p:nvSpPr>
        <p:spPr>
          <a:xfrm>
            <a:off x="10195559" y="2194560"/>
            <a:ext cx="1691640" cy="54864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metric
feedback</a:t>
            </a:r>
          </a:p>
        </p:txBody>
      </p:sp>
      <p:cxnSp>
        <p:nvCxnSpPr>
          <p:cNvPr id="24" name="Connector 23"/>
          <p:cNvCxnSpPr/>
          <p:nvPr/>
        </p:nvCxnSpPr>
        <p:spPr>
          <a:xfrm flipH="1">
            <a:off x="9866376" y="2505456"/>
            <a:ext cx="310896" cy="118872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709160" y="1115568"/>
            <a:ext cx="237744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Simplify</a:t>
            </a:r>
          </a:p>
        </p:txBody>
      </p:sp>
      <p:sp>
        <p:nvSpPr>
          <p:cNvPr id="26" name="TextBox 25"/>
          <p:cNvSpPr txBox="1"/>
          <p:nvPr/>
        </p:nvSpPr>
        <p:spPr>
          <a:xfrm>
            <a:off x="4782312" y="1719072"/>
            <a:ext cx="2231136" cy="384048"/>
          </a:xfrm>
          <a:prstGeom prst="rect">
            <a:avLst/>
          </a:prstGeom>
          <a:noFill/>
        </p:spPr>
        <p:txBody>
          <a:bodyPr wrap="none" lIns="18288" tIns="18288" rIns="18288" bIns="18288">
            <a:spAutoFit/>
          </a:bodyPr>
          <a:lstStyle/>
          <a:p>
            <a:pPr algn="ctr"/>
            <a:r>
              <a:rPr sz="1600" b="0" i="0">
                <a:solidFill>
                  <a:srgbClr val="585858"/>
                </a:solidFill>
                <a:latin typeface="Times New Roman"/>
              </a:rPr>
              <a:t>compress TDAG</a:t>
            </a:r>
          </a:p>
        </p:txBody>
      </p:sp>
      <p:cxnSp>
        <p:nvCxnSpPr>
          <p:cNvPr id="27" name="Connector 26"/>
          <p:cNvCxnSpPr/>
          <p:nvPr/>
        </p:nvCxnSpPr>
        <p:spPr>
          <a:xfrm>
            <a:off x="5897880" y="1755648"/>
            <a:ext cx="0" cy="27432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709160" y="2075688"/>
            <a:ext cx="237744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Cluster</a:t>
            </a:r>
          </a:p>
        </p:txBody>
      </p:sp>
      <p:sp>
        <p:nvSpPr>
          <p:cNvPr id="29" name="TextBox 28"/>
          <p:cNvSpPr txBox="1"/>
          <p:nvPr/>
        </p:nvSpPr>
        <p:spPr>
          <a:xfrm>
            <a:off x="4782312" y="2679192"/>
            <a:ext cx="2231136" cy="384048"/>
          </a:xfrm>
          <a:prstGeom prst="rect">
            <a:avLst/>
          </a:prstGeom>
          <a:noFill/>
        </p:spPr>
        <p:txBody>
          <a:bodyPr wrap="none" lIns="18288" tIns="18288" rIns="18288" bIns="18288">
            <a:spAutoFit/>
          </a:bodyPr>
          <a:lstStyle/>
          <a:p>
            <a:pPr algn="ctr"/>
            <a:r>
              <a:rPr sz="1600" b="0" i="0">
                <a:solidFill>
                  <a:srgbClr val="585858"/>
                </a:solidFill>
                <a:latin typeface="Times New Roman"/>
              </a:rPr>
              <a:t>initial solution</a:t>
            </a:r>
          </a:p>
        </p:txBody>
      </p:sp>
      <p:cxnSp>
        <p:nvCxnSpPr>
          <p:cNvPr id="30" name="Connector 29"/>
          <p:cNvCxnSpPr/>
          <p:nvPr/>
        </p:nvCxnSpPr>
        <p:spPr>
          <a:xfrm>
            <a:off x="5897880" y="2715768"/>
            <a:ext cx="0" cy="27432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709160" y="3035808"/>
            <a:ext cx="237744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Tune</a:t>
            </a:r>
          </a:p>
        </p:txBody>
      </p:sp>
      <p:sp>
        <p:nvSpPr>
          <p:cNvPr id="32" name="TextBox 31"/>
          <p:cNvSpPr txBox="1"/>
          <p:nvPr/>
        </p:nvSpPr>
        <p:spPr>
          <a:xfrm>
            <a:off x="4782312" y="3639312"/>
            <a:ext cx="2231136" cy="384048"/>
          </a:xfrm>
          <a:prstGeom prst="rect">
            <a:avLst/>
          </a:prstGeom>
          <a:noFill/>
        </p:spPr>
        <p:txBody>
          <a:bodyPr wrap="none" lIns="18288" tIns="18288" rIns="18288" bIns="18288">
            <a:spAutoFit/>
          </a:bodyPr>
          <a:lstStyle/>
          <a:p>
            <a:pPr algn="ctr"/>
            <a:r>
              <a:rPr sz="1600" b="0" i="0">
                <a:solidFill>
                  <a:srgbClr val="585858"/>
                </a:solidFill>
                <a:latin typeface="Times New Roman"/>
              </a:rPr>
              <a:t>metric feedback</a:t>
            </a:r>
          </a:p>
        </p:txBody>
      </p:sp>
      <p:cxnSp>
        <p:nvCxnSpPr>
          <p:cNvPr id="33" name="Connector 32"/>
          <p:cNvCxnSpPr/>
          <p:nvPr/>
        </p:nvCxnSpPr>
        <p:spPr>
          <a:xfrm>
            <a:off x="5897880" y="3675887"/>
            <a:ext cx="0" cy="274321"/>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709160" y="3995928"/>
            <a:ext cx="237744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4. Generate</a:t>
            </a:r>
          </a:p>
        </p:txBody>
      </p:sp>
      <p:sp>
        <p:nvSpPr>
          <p:cNvPr id="35" name="TextBox 34"/>
          <p:cNvSpPr txBox="1"/>
          <p:nvPr/>
        </p:nvSpPr>
        <p:spPr>
          <a:xfrm>
            <a:off x="4782312" y="4599432"/>
            <a:ext cx="2231136" cy="384048"/>
          </a:xfrm>
          <a:prstGeom prst="rect">
            <a:avLst/>
          </a:prstGeom>
          <a:noFill/>
        </p:spPr>
        <p:txBody>
          <a:bodyPr wrap="none" lIns="18288" tIns="18288" rIns="18288" bIns="18288">
            <a:spAutoFit/>
          </a:bodyPr>
          <a:lstStyle/>
          <a:p>
            <a:pPr algn="ctr"/>
            <a:r>
              <a:rPr sz="1600" b="0" i="0">
                <a:solidFill>
                  <a:srgbClr val="585858"/>
                </a:solidFill>
                <a:latin typeface="Times New Roman"/>
              </a:rPr>
              <a:t>subcircuits</a:t>
            </a:r>
          </a:p>
        </p:txBody>
      </p:sp>
      <p:sp>
        <p:nvSpPr>
          <p:cNvPr id="36" name="TextBox 35"/>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7 and Sec. V.</a:t>
            </a:r>
          </a:p>
        </p:txBody>
      </p:sp>
    </p:spTree>
    <p:extLst>
      <p:ext uri="{BB962C8B-B14F-4D97-AF65-F5344CB8AC3E}">
        <p14:creationId xmlns:p14="http://schemas.microsoft.com/office/powerpoint/2010/main" val="9560833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Reverse Tuning Is a Metric Feedback Loop</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77240" y="1024128"/>
            <a:ext cx="2971800" cy="42519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86968" y="1133856"/>
            <a:ext cx="275234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Multilevel Partition</a:t>
            </a:r>
          </a:p>
        </p:txBody>
      </p:sp>
      <p:sp>
        <p:nvSpPr>
          <p:cNvPr id="11" name="Rounded Rectangle 10"/>
          <p:cNvSpPr/>
          <p:nvPr/>
        </p:nvSpPr>
        <p:spPr>
          <a:xfrm>
            <a:off x="1801368" y="1627632"/>
            <a:ext cx="914400" cy="40233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G_m</a:t>
            </a:r>
          </a:p>
        </p:txBody>
      </p:sp>
      <p:cxnSp>
        <p:nvCxnSpPr>
          <p:cNvPr id="12" name="Connector 11"/>
          <p:cNvCxnSpPr/>
          <p:nvPr/>
        </p:nvCxnSpPr>
        <p:spPr>
          <a:xfrm>
            <a:off x="2258568" y="2048256"/>
            <a:ext cx="0" cy="347472"/>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549907" y="2450592"/>
            <a:ext cx="1417320" cy="402336"/>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G_(m-1)</a:t>
            </a:r>
          </a:p>
        </p:txBody>
      </p:sp>
      <p:cxnSp>
        <p:nvCxnSpPr>
          <p:cNvPr id="14" name="Connector 13"/>
          <p:cNvCxnSpPr/>
          <p:nvPr/>
        </p:nvCxnSpPr>
        <p:spPr>
          <a:xfrm>
            <a:off x="2258568" y="2871216"/>
            <a:ext cx="0" cy="347472"/>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298448" y="3273552"/>
            <a:ext cx="1920240" cy="402336"/>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G_0</a:t>
            </a:r>
          </a:p>
        </p:txBody>
      </p:sp>
      <p:sp>
        <p:nvSpPr>
          <p:cNvPr id="16" name="Rounded Rectangle 15"/>
          <p:cNvSpPr/>
          <p:nvPr/>
        </p:nvSpPr>
        <p:spPr>
          <a:xfrm>
            <a:off x="4251960" y="1024128"/>
            <a:ext cx="2880360" cy="42519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361688" y="1133856"/>
            <a:ext cx="26609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Local Move Scoring</a:t>
            </a:r>
          </a:p>
        </p:txBody>
      </p:sp>
      <p:sp>
        <p:nvSpPr>
          <p:cNvPr id="18" name="Rounded Rectangle 17"/>
          <p:cNvSpPr/>
          <p:nvPr/>
        </p:nvSpPr>
        <p:spPr>
          <a:xfrm>
            <a:off x="4709160" y="1691640"/>
            <a:ext cx="685800" cy="41148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n</a:t>
            </a:r>
          </a:p>
        </p:txBody>
      </p:sp>
      <p:sp>
        <p:nvSpPr>
          <p:cNvPr id="19" name="Rounded Rectangle 18"/>
          <p:cNvSpPr/>
          <p:nvPr/>
        </p:nvSpPr>
        <p:spPr>
          <a:xfrm>
            <a:off x="5715000" y="1325880"/>
            <a:ext cx="658368" cy="34747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c1</a:t>
            </a:r>
          </a:p>
        </p:txBody>
      </p:sp>
      <p:cxnSp>
        <p:nvCxnSpPr>
          <p:cNvPr id="20" name="Connector 19"/>
          <p:cNvCxnSpPr/>
          <p:nvPr/>
        </p:nvCxnSpPr>
        <p:spPr>
          <a:xfrm flipV="1">
            <a:off x="5413248" y="1499616"/>
            <a:ext cx="274320" cy="393191"/>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715000" y="1892807"/>
            <a:ext cx="658368" cy="34747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c2</a:t>
            </a:r>
          </a:p>
        </p:txBody>
      </p:sp>
      <p:cxnSp>
        <p:nvCxnSpPr>
          <p:cNvPr id="22" name="Connector 21"/>
          <p:cNvCxnSpPr/>
          <p:nvPr/>
        </p:nvCxnSpPr>
        <p:spPr>
          <a:xfrm>
            <a:off x="5413248" y="1892807"/>
            <a:ext cx="274320" cy="173736"/>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715000" y="2459736"/>
            <a:ext cx="658368" cy="34747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c3</a:t>
            </a:r>
          </a:p>
        </p:txBody>
      </p:sp>
      <p:cxnSp>
        <p:nvCxnSpPr>
          <p:cNvPr id="24" name="Connector 23"/>
          <p:cNvCxnSpPr/>
          <p:nvPr/>
        </p:nvCxnSpPr>
        <p:spPr>
          <a:xfrm>
            <a:off x="5413248" y="1892807"/>
            <a:ext cx="274320" cy="740665"/>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754880" y="3401568"/>
            <a:ext cx="1965960" cy="49377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Delta(n,c)
from selected metric</a:t>
            </a:r>
          </a:p>
        </p:txBody>
      </p:sp>
      <p:sp>
        <p:nvSpPr>
          <p:cNvPr id="26" name="Rounded Rectangle 25"/>
          <p:cNvSpPr/>
          <p:nvPr/>
        </p:nvSpPr>
        <p:spPr>
          <a:xfrm>
            <a:off x="7635240" y="1024128"/>
            <a:ext cx="2880360" cy="42519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744967" y="1133856"/>
            <a:ext cx="26609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Accept / Reject</a:t>
            </a:r>
          </a:p>
        </p:txBody>
      </p:sp>
      <p:sp>
        <p:nvSpPr>
          <p:cNvPr id="28" name="Rounded Rectangle 27"/>
          <p:cNvSpPr/>
          <p:nvPr/>
        </p:nvSpPr>
        <p:spPr>
          <a:xfrm>
            <a:off x="8211312" y="1536192"/>
            <a:ext cx="1737360" cy="493776"/>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Delta &gt; 0?</a:t>
            </a:r>
          </a:p>
        </p:txBody>
      </p:sp>
      <p:cxnSp>
        <p:nvCxnSpPr>
          <p:cNvPr id="29" name="Connector 28"/>
          <p:cNvCxnSpPr/>
          <p:nvPr/>
        </p:nvCxnSpPr>
        <p:spPr>
          <a:xfrm>
            <a:off x="9070848" y="2057400"/>
            <a:ext cx="0" cy="429768"/>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028431" y="2578608"/>
            <a:ext cx="987552" cy="402336"/>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accept</a:t>
            </a:r>
          </a:p>
        </p:txBody>
      </p:sp>
      <p:sp>
        <p:nvSpPr>
          <p:cNvPr id="31" name="Rounded Rectangle 30"/>
          <p:cNvSpPr/>
          <p:nvPr/>
        </p:nvSpPr>
        <p:spPr>
          <a:xfrm>
            <a:off x="9162288" y="2578608"/>
            <a:ext cx="987552" cy="402336"/>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reject</a:t>
            </a:r>
          </a:p>
        </p:txBody>
      </p:sp>
      <p:cxnSp>
        <p:nvCxnSpPr>
          <p:cNvPr id="32" name="Connector 31"/>
          <p:cNvCxnSpPr/>
          <p:nvPr/>
        </p:nvCxnSpPr>
        <p:spPr>
          <a:xfrm flipH="1">
            <a:off x="6199632" y="2999232"/>
            <a:ext cx="2322576" cy="1527048"/>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4297680" y="4645152"/>
            <a:ext cx="2816352"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iterate until no metric-improving move remains</a:t>
            </a:r>
          </a:p>
        </p:txBody>
      </p:sp>
      <p:sp>
        <p:nvSpPr>
          <p:cNvPr id="34" name="TextBox 33"/>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Sec. V; Fiduccia and Mattheyses, DAC 1982 [30].</a:t>
            </a:r>
          </a:p>
        </p:txBody>
      </p:sp>
    </p:spTree>
    <p:extLst>
      <p:ext uri="{BB962C8B-B14F-4D97-AF65-F5344CB8AC3E}">
        <p14:creationId xmlns:p14="http://schemas.microsoft.com/office/powerpoint/2010/main" val="25991536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Overview of AdaptDQC</a:t>
            </a:r>
          </a:p>
        </p:txBody>
      </p:sp>
      <p:sp>
        <p:nvSpPr>
          <p:cNvPr id="10" name="TextBox 9"/>
          <p:cNvSpPr txBox="1"/>
          <p:nvPr/>
        </p:nvSpPr>
        <p:spPr>
          <a:xfrm>
            <a:off x="777240" y="2221992"/>
            <a:ext cx="7863840" cy="310896"/>
          </a:xfrm>
          <a:prstGeom prst="rect">
            <a:avLst/>
          </a:prstGeom>
          <a:noFill/>
        </p:spPr>
        <p:txBody>
          <a:bodyPr wrap="none" lIns="18288" tIns="18288" rIns="18288" bIns="18288">
            <a:spAutoFit/>
          </a:bodyPr>
          <a:lstStyle/>
          <a:p>
            <a:pPr algn="l"/>
            <a:r>
              <a:rPr sz="2400" b="1" i="0">
                <a:solidFill>
                  <a:srgbClr val="000000"/>
                </a:solidFill>
                <a:latin typeface="Times New Roman"/>
              </a:rPr>
              <a:t>-  Graph formulation and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Experimental evaluation</a:t>
            </a:r>
          </a:p>
        </p:txBody>
      </p:sp>
      <p:sp>
        <p:nvSpPr>
          <p:cNvPr id="12" name="TextBox 11"/>
          <p:cNvSpPr txBox="1"/>
          <p:nvPr/>
        </p:nvSpPr>
        <p:spPr>
          <a:xfrm>
            <a:off x="777240" y="3209544"/>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Code walkthrough</a:t>
            </a:r>
          </a:p>
        </p:txBody>
      </p:sp>
    </p:spTree>
    <p:extLst>
      <p:ext uri="{BB962C8B-B14F-4D97-AF65-F5344CB8AC3E}">
        <p14:creationId xmlns:p14="http://schemas.microsoft.com/office/powerpoint/2010/main" val="39042335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QubitComm Path: Cut Wires, Execute Bases, Reconstruct</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1234440"/>
            <a:ext cx="205740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Cut wire</a:t>
            </a:r>
          </a:p>
        </p:txBody>
      </p:sp>
      <p:sp>
        <p:nvSpPr>
          <p:cNvPr id="10" name="TextBox 9"/>
          <p:cNvSpPr txBox="1"/>
          <p:nvPr/>
        </p:nvSpPr>
        <p:spPr>
          <a:xfrm>
            <a:off x="941832" y="1837944"/>
            <a:ext cx="1911095" cy="384048"/>
          </a:xfrm>
          <a:prstGeom prst="rect">
            <a:avLst/>
          </a:prstGeom>
          <a:noFill/>
        </p:spPr>
        <p:txBody>
          <a:bodyPr wrap="none" lIns="18288" tIns="18288" rIns="18288" bIns="18288">
            <a:spAutoFit/>
          </a:bodyPr>
          <a:lstStyle/>
          <a:p>
            <a:pPr algn="ctr"/>
            <a:r>
              <a:rPr sz="1600" b="0" i="0">
                <a:solidFill>
                  <a:srgbClr val="585858"/>
                </a:solidFill>
                <a:latin typeface="Times New Roman"/>
              </a:rPr>
              <a:t>fit QPU width</a:t>
            </a:r>
          </a:p>
        </p:txBody>
      </p:sp>
      <p:cxnSp>
        <p:nvCxnSpPr>
          <p:cNvPr id="11" name="Connector 10"/>
          <p:cNvCxnSpPr/>
          <p:nvPr/>
        </p:nvCxnSpPr>
        <p:spPr>
          <a:xfrm>
            <a:off x="2971800" y="1481328"/>
            <a:ext cx="384048"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611880" y="1234440"/>
            <a:ext cx="205740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Expand bases</a:t>
            </a:r>
          </a:p>
        </p:txBody>
      </p:sp>
      <p:sp>
        <p:nvSpPr>
          <p:cNvPr id="13" name="TextBox 12"/>
          <p:cNvSpPr txBox="1"/>
          <p:nvPr/>
        </p:nvSpPr>
        <p:spPr>
          <a:xfrm>
            <a:off x="3685032" y="1837944"/>
            <a:ext cx="1911095" cy="384048"/>
          </a:xfrm>
          <a:prstGeom prst="rect">
            <a:avLst/>
          </a:prstGeom>
          <a:noFill/>
        </p:spPr>
        <p:txBody>
          <a:bodyPr wrap="none" lIns="18288" tIns="18288" rIns="18288" bIns="18288">
            <a:spAutoFit/>
          </a:bodyPr>
          <a:lstStyle/>
          <a:p>
            <a:pPr algn="ctr"/>
            <a:r>
              <a:rPr sz="1600" b="0" i="0">
                <a:solidFill>
                  <a:srgbClr val="585858"/>
                </a:solidFill>
                <a:latin typeface="Times New Roman"/>
              </a:rPr>
              <a:t>I/X/Y/Z + states</a:t>
            </a:r>
          </a:p>
        </p:txBody>
      </p:sp>
      <p:cxnSp>
        <p:nvCxnSpPr>
          <p:cNvPr id="14" name="Connector 13"/>
          <p:cNvCxnSpPr/>
          <p:nvPr/>
        </p:nvCxnSpPr>
        <p:spPr>
          <a:xfrm>
            <a:off x="5715000" y="1481328"/>
            <a:ext cx="384048"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355080" y="1234440"/>
            <a:ext cx="205740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Run subcircuits</a:t>
            </a:r>
          </a:p>
        </p:txBody>
      </p:sp>
      <p:sp>
        <p:nvSpPr>
          <p:cNvPr id="16" name="TextBox 15"/>
          <p:cNvSpPr txBox="1"/>
          <p:nvPr/>
        </p:nvSpPr>
        <p:spPr>
          <a:xfrm>
            <a:off x="6428232" y="1837944"/>
            <a:ext cx="1911095" cy="384048"/>
          </a:xfrm>
          <a:prstGeom prst="rect">
            <a:avLst/>
          </a:prstGeom>
          <a:noFill/>
        </p:spPr>
        <p:txBody>
          <a:bodyPr wrap="none" lIns="18288" tIns="18288" rIns="18288" bIns="18288">
            <a:spAutoFit/>
          </a:bodyPr>
          <a:lstStyle/>
          <a:p>
            <a:pPr algn="ctr"/>
            <a:r>
              <a:rPr sz="1600" b="0" i="0">
                <a:solidFill>
                  <a:srgbClr val="585858"/>
                </a:solidFill>
                <a:latin typeface="Times New Roman"/>
              </a:rPr>
              <a:t>local execution</a:t>
            </a:r>
          </a:p>
        </p:txBody>
      </p:sp>
      <p:cxnSp>
        <p:nvCxnSpPr>
          <p:cNvPr id="17" name="Connector 16"/>
          <p:cNvCxnSpPr/>
          <p:nvPr/>
        </p:nvCxnSpPr>
        <p:spPr>
          <a:xfrm>
            <a:off x="8458200" y="1481328"/>
            <a:ext cx="384048"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098280" y="1234440"/>
            <a:ext cx="205740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4. Contract</a:t>
            </a:r>
          </a:p>
        </p:txBody>
      </p:sp>
      <p:sp>
        <p:nvSpPr>
          <p:cNvPr id="19" name="TextBox 18"/>
          <p:cNvSpPr txBox="1"/>
          <p:nvPr/>
        </p:nvSpPr>
        <p:spPr>
          <a:xfrm>
            <a:off x="9171432" y="1837944"/>
            <a:ext cx="1911095" cy="384048"/>
          </a:xfrm>
          <a:prstGeom prst="rect">
            <a:avLst/>
          </a:prstGeom>
          <a:noFill/>
        </p:spPr>
        <p:txBody>
          <a:bodyPr wrap="none" lIns="18288" tIns="18288" rIns="18288" bIns="18288">
            <a:spAutoFit/>
          </a:bodyPr>
          <a:lstStyle/>
          <a:p>
            <a:pPr algn="ctr"/>
            <a:r>
              <a:rPr sz="1600" b="0" i="0">
                <a:solidFill>
                  <a:srgbClr val="585858"/>
                </a:solidFill>
                <a:latin typeface="Times New Roman"/>
              </a:rPr>
              <a:t>global distribution</a:t>
            </a:r>
          </a:p>
        </p:txBody>
      </p:sp>
      <p:sp>
        <p:nvSpPr>
          <p:cNvPr id="20" name="Rounded Rectangle 19"/>
          <p:cNvSpPr/>
          <p:nvPr/>
        </p:nvSpPr>
        <p:spPr>
          <a:xfrm>
            <a:off x="868680" y="2834640"/>
            <a:ext cx="4251960" cy="224028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78407" y="2944368"/>
            <a:ext cx="40325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QubitComm Reconstruction Redrawn</a:t>
            </a:r>
          </a:p>
        </p:txBody>
      </p:sp>
      <p:cxnSp>
        <p:nvCxnSpPr>
          <p:cNvPr id="22" name="Connector 21"/>
          <p:cNvCxnSpPr/>
          <p:nvPr/>
        </p:nvCxnSpPr>
        <p:spPr>
          <a:xfrm>
            <a:off x="1280160" y="3584448"/>
            <a:ext cx="1097279"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280160" y="3858768"/>
            <a:ext cx="1097279"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280160" y="4133087"/>
            <a:ext cx="1097279" cy="0"/>
          </a:xfrm>
          <a:prstGeom prst="line">
            <a:avLst/>
          </a:prstGeom>
          <a:ln>
            <a:solidFill>
              <a:srgbClr val="585858"/>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783080" y="3328416"/>
            <a:ext cx="274320" cy="9601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cut</a:t>
            </a:r>
          </a:p>
        </p:txBody>
      </p:sp>
      <p:cxnSp>
        <p:nvCxnSpPr>
          <p:cNvPr id="26" name="Connector 25"/>
          <p:cNvCxnSpPr/>
          <p:nvPr/>
        </p:nvCxnSpPr>
        <p:spPr>
          <a:xfrm>
            <a:off x="2468880" y="3822191"/>
            <a:ext cx="448056"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044952" y="3639312"/>
            <a:ext cx="292608" cy="29260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I</a:t>
            </a:r>
          </a:p>
        </p:txBody>
      </p:sp>
      <p:sp>
        <p:nvSpPr>
          <p:cNvPr id="28" name="Rounded Rectangle 27"/>
          <p:cNvSpPr/>
          <p:nvPr/>
        </p:nvSpPr>
        <p:spPr>
          <a:xfrm>
            <a:off x="3465576" y="3639312"/>
            <a:ext cx="292608" cy="29260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X</a:t>
            </a:r>
          </a:p>
        </p:txBody>
      </p:sp>
      <p:sp>
        <p:nvSpPr>
          <p:cNvPr id="29" name="Rounded Rectangle 28"/>
          <p:cNvSpPr/>
          <p:nvPr/>
        </p:nvSpPr>
        <p:spPr>
          <a:xfrm>
            <a:off x="3886200" y="3639312"/>
            <a:ext cx="292608" cy="29260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Y</a:t>
            </a:r>
          </a:p>
        </p:txBody>
      </p:sp>
      <p:sp>
        <p:nvSpPr>
          <p:cNvPr id="30" name="Rounded Rectangle 29"/>
          <p:cNvSpPr/>
          <p:nvPr/>
        </p:nvSpPr>
        <p:spPr>
          <a:xfrm>
            <a:off x="4306824" y="3639312"/>
            <a:ext cx="292608" cy="29260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000" b="1" i="0">
                <a:solidFill>
                  <a:srgbClr val="000000"/>
                </a:solidFill>
                <a:latin typeface="Times New Roman"/>
              </a:rPr>
              <a:t>Z</a:t>
            </a:r>
          </a:p>
        </p:txBody>
      </p:sp>
      <p:cxnSp>
        <p:nvCxnSpPr>
          <p:cNvPr id="31" name="Connector 30"/>
          <p:cNvCxnSpPr/>
          <p:nvPr/>
        </p:nvCxnSpPr>
        <p:spPr>
          <a:xfrm>
            <a:off x="4745736" y="3822191"/>
            <a:ext cx="438912"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312664" y="3529584"/>
            <a:ext cx="822960" cy="51206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tensor
contract</a:t>
            </a:r>
          </a:p>
        </p:txBody>
      </p:sp>
      <p:sp>
        <p:nvSpPr>
          <p:cNvPr id="33" name="Rounded Rectangle 32"/>
          <p:cNvSpPr/>
          <p:nvPr/>
        </p:nvSpPr>
        <p:spPr>
          <a:xfrm>
            <a:off x="1618488" y="4773168"/>
            <a:ext cx="4251960" cy="47548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K cuts -&gt; 4^K basis-entry expansion before reconstruction</a:t>
            </a:r>
          </a:p>
        </p:txBody>
      </p:sp>
      <p:sp>
        <p:nvSpPr>
          <p:cNvPr id="34" name="Rounded Rectangle 33"/>
          <p:cNvSpPr/>
          <p:nvPr/>
        </p:nvSpPr>
        <p:spPr>
          <a:xfrm>
            <a:off x="5715000" y="3063240"/>
            <a:ext cx="4526280" cy="603504"/>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100" b="1" i="0">
                <a:solidFill>
                  <a:srgbClr val="000000"/>
                </a:solidFill>
                <a:latin typeface="Times New Roman"/>
              </a:rPr>
              <a:t>p(m) = sum_Phi 1/2 p_Phi x p(m | Phi)</a:t>
            </a:r>
          </a:p>
        </p:txBody>
      </p:sp>
      <p:sp>
        <p:nvSpPr>
          <p:cNvPr id="35" name="Rounded Rectangle 34"/>
          <p:cNvSpPr/>
          <p:nvPr/>
        </p:nvSpPr>
        <p:spPr>
          <a:xfrm>
            <a:off x="5715000" y="4041648"/>
            <a:ext cx="4526280" cy="54864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Cost pressure: O(4^K) reconstruction workload</a:t>
            </a:r>
          </a:p>
        </p:txBody>
      </p:sp>
      <p:sp>
        <p:nvSpPr>
          <p:cNvPr id="36" name="TextBox 35"/>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Eq. (1), Eq. (5)-(7).</a:t>
            </a:r>
          </a:p>
        </p:txBody>
      </p:sp>
    </p:spTree>
    <p:extLst>
      <p:ext uri="{BB962C8B-B14F-4D97-AF65-F5344CB8AC3E}">
        <p14:creationId xmlns:p14="http://schemas.microsoft.com/office/powerpoint/2010/main" val="3440222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GateComm Path: Remote Gates Become Teleportation Work</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1024128"/>
            <a:ext cx="4251960" cy="411480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78407" y="1133856"/>
            <a:ext cx="40325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Circuit Lane</a:t>
            </a:r>
          </a:p>
        </p:txBody>
      </p:sp>
      <p:cxnSp>
        <p:nvCxnSpPr>
          <p:cNvPr id="11" name="Connector 10"/>
          <p:cNvCxnSpPr/>
          <p:nvPr/>
        </p:nvCxnSpPr>
        <p:spPr>
          <a:xfrm>
            <a:off x="1234440" y="1828800"/>
            <a:ext cx="31546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78408" y="1755648"/>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q0</a:t>
            </a:r>
          </a:p>
        </p:txBody>
      </p:sp>
      <p:cxnSp>
        <p:nvCxnSpPr>
          <p:cNvPr id="13" name="Connector 12"/>
          <p:cNvCxnSpPr/>
          <p:nvPr/>
        </p:nvCxnSpPr>
        <p:spPr>
          <a:xfrm>
            <a:off x="1234440" y="2139696"/>
            <a:ext cx="31546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78408" y="2066543"/>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q1</a:t>
            </a:r>
          </a:p>
        </p:txBody>
      </p:sp>
      <p:cxnSp>
        <p:nvCxnSpPr>
          <p:cNvPr id="15" name="Connector 14"/>
          <p:cNvCxnSpPr/>
          <p:nvPr/>
        </p:nvCxnSpPr>
        <p:spPr>
          <a:xfrm>
            <a:off x="1234440" y="2450592"/>
            <a:ext cx="31546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78408" y="2377440"/>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q2</a:t>
            </a:r>
          </a:p>
        </p:txBody>
      </p:sp>
      <p:cxnSp>
        <p:nvCxnSpPr>
          <p:cNvPr id="17" name="Connector 16"/>
          <p:cNvCxnSpPr/>
          <p:nvPr/>
        </p:nvCxnSpPr>
        <p:spPr>
          <a:xfrm>
            <a:off x="1234440" y="2761488"/>
            <a:ext cx="3154680" cy="0"/>
          </a:xfrm>
          <a:prstGeom prst="line">
            <a:avLst/>
          </a:prstGeom>
          <a:ln w="15240">
            <a:solidFill>
              <a:srgbClr val="5A5A5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78408" y="2688336"/>
            <a:ext cx="228600" cy="146304"/>
          </a:xfrm>
          <a:prstGeom prst="rect">
            <a:avLst/>
          </a:prstGeom>
          <a:noFill/>
        </p:spPr>
        <p:txBody>
          <a:bodyPr wrap="none" lIns="18288" tIns="18288" rIns="18288" bIns="18288">
            <a:spAutoFit/>
          </a:bodyPr>
          <a:lstStyle/>
          <a:p>
            <a:pPr algn="l"/>
            <a:r>
              <a:rPr sz="1000" b="0" i="0">
                <a:solidFill>
                  <a:srgbClr val="585858"/>
                </a:solidFill>
                <a:latin typeface="Times New Roman"/>
              </a:rPr>
              <a:t>q3</a:t>
            </a:r>
          </a:p>
        </p:txBody>
      </p:sp>
      <p:sp>
        <p:nvSpPr>
          <p:cNvPr id="19" name="Rounded Rectangle 18"/>
          <p:cNvSpPr/>
          <p:nvPr/>
        </p:nvSpPr>
        <p:spPr>
          <a:xfrm>
            <a:off x="1645920" y="1719072"/>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H</a:t>
            </a:r>
          </a:p>
        </p:txBody>
      </p:sp>
      <p:sp>
        <p:nvSpPr>
          <p:cNvPr id="20" name="Rounded Rectangle 19"/>
          <p:cNvSpPr/>
          <p:nvPr/>
        </p:nvSpPr>
        <p:spPr>
          <a:xfrm>
            <a:off x="2103120" y="2029967"/>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21" name="Rounded Rectangle 20"/>
          <p:cNvSpPr/>
          <p:nvPr/>
        </p:nvSpPr>
        <p:spPr>
          <a:xfrm>
            <a:off x="2560320" y="2340864"/>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Rz</a:t>
            </a:r>
          </a:p>
        </p:txBody>
      </p:sp>
      <p:sp>
        <p:nvSpPr>
          <p:cNvPr id="22" name="Rounded Rectangle 21"/>
          <p:cNvSpPr/>
          <p:nvPr/>
        </p:nvSpPr>
        <p:spPr>
          <a:xfrm>
            <a:off x="3063240" y="2029967"/>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CX</a:t>
            </a:r>
          </a:p>
        </p:txBody>
      </p:sp>
      <p:sp>
        <p:nvSpPr>
          <p:cNvPr id="23" name="Rounded Rectangle 22"/>
          <p:cNvSpPr/>
          <p:nvPr/>
        </p:nvSpPr>
        <p:spPr>
          <a:xfrm>
            <a:off x="3630168" y="2651760"/>
            <a:ext cx="310896" cy="219456"/>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900" b="1" i="0">
                <a:solidFill>
                  <a:srgbClr val="000000"/>
                </a:solidFill>
                <a:latin typeface="Times New Roman"/>
              </a:rPr>
              <a:t>M</a:t>
            </a:r>
          </a:p>
        </p:txBody>
      </p:sp>
      <p:sp>
        <p:nvSpPr>
          <p:cNvPr id="24" name="Rounded Rectangle 23"/>
          <p:cNvSpPr/>
          <p:nvPr/>
        </p:nvSpPr>
        <p:spPr>
          <a:xfrm>
            <a:off x="2542032" y="3127248"/>
            <a:ext cx="1325880" cy="38404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remote CX</a:t>
            </a:r>
          </a:p>
        </p:txBody>
      </p:sp>
      <p:sp>
        <p:nvSpPr>
          <p:cNvPr id="25" name="Rounded Rectangle 24"/>
          <p:cNvSpPr/>
          <p:nvPr/>
        </p:nvSpPr>
        <p:spPr>
          <a:xfrm>
            <a:off x="5669280" y="1024128"/>
            <a:ext cx="4251960" cy="411480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779008" y="1133856"/>
            <a:ext cx="40325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QPU Communication Lane</a:t>
            </a:r>
          </a:p>
        </p:txBody>
      </p:sp>
      <p:sp>
        <p:nvSpPr>
          <p:cNvPr id="27" name="Rounded Rectangle 26"/>
          <p:cNvSpPr/>
          <p:nvPr/>
        </p:nvSpPr>
        <p:spPr>
          <a:xfrm>
            <a:off x="6217920" y="1737360"/>
            <a:ext cx="1508760"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QPU 1</a:t>
            </a:r>
          </a:p>
        </p:txBody>
      </p:sp>
      <p:sp>
        <p:nvSpPr>
          <p:cNvPr id="28" name="Rounded Rectangle 27"/>
          <p:cNvSpPr/>
          <p:nvPr/>
        </p:nvSpPr>
        <p:spPr>
          <a:xfrm>
            <a:off x="7818120" y="3429000"/>
            <a:ext cx="1508760" cy="53035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QPU 2</a:t>
            </a:r>
          </a:p>
        </p:txBody>
      </p:sp>
      <p:cxnSp>
        <p:nvCxnSpPr>
          <p:cNvPr id="29" name="Connector 28"/>
          <p:cNvCxnSpPr/>
          <p:nvPr/>
        </p:nvCxnSpPr>
        <p:spPr>
          <a:xfrm>
            <a:off x="6995160" y="2286000"/>
            <a:ext cx="1508760" cy="1115568"/>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903720" y="2697480"/>
            <a:ext cx="2148840" cy="256032"/>
          </a:xfrm>
          <a:prstGeom prst="rect">
            <a:avLst/>
          </a:prstGeom>
          <a:noFill/>
        </p:spPr>
        <p:txBody>
          <a:bodyPr wrap="none" lIns="18288" tIns="18288" rIns="18288" bIns="18288">
            <a:spAutoFit/>
          </a:bodyPr>
          <a:lstStyle/>
          <a:p>
            <a:pPr algn="ctr"/>
            <a:r>
              <a:rPr sz="1700" b="0" i="0">
                <a:solidFill>
                  <a:srgbClr val="EE8436"/>
                </a:solidFill>
                <a:latin typeface="Times New Roman"/>
              </a:rPr>
              <a:t>EPR pair + classical link</a:t>
            </a:r>
          </a:p>
        </p:txBody>
      </p:sp>
      <p:sp>
        <p:nvSpPr>
          <p:cNvPr id="31" name="Rounded Rectangle 30"/>
          <p:cNvSpPr/>
          <p:nvPr/>
        </p:nvSpPr>
        <p:spPr>
          <a:xfrm>
            <a:off x="10058400" y="1600200"/>
            <a:ext cx="1371600" cy="74980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500" b="1" i="0">
                <a:solidFill>
                  <a:srgbClr val="000000"/>
                </a:solidFill>
                <a:latin typeface="Times New Roman"/>
              </a:rPr>
              <a:t>EPR</a:t>
            </a:r>
          </a:p>
        </p:txBody>
      </p:sp>
      <p:sp>
        <p:nvSpPr>
          <p:cNvPr id="32" name="TextBox 31"/>
          <p:cNvSpPr txBox="1"/>
          <p:nvPr/>
        </p:nvSpPr>
        <p:spPr>
          <a:xfrm>
            <a:off x="10058400" y="2423160"/>
            <a:ext cx="1371600" cy="256032"/>
          </a:xfrm>
          <a:prstGeom prst="rect">
            <a:avLst/>
          </a:prstGeom>
          <a:noFill/>
        </p:spPr>
        <p:txBody>
          <a:bodyPr wrap="none" lIns="18288" tIns="18288" rIns="18288" bIns="18288">
            <a:spAutoFit/>
          </a:bodyPr>
          <a:lstStyle/>
          <a:p>
            <a:pPr algn="ctr"/>
            <a:r>
              <a:rPr sz="1600" b="0" i="0">
                <a:solidFill>
                  <a:srgbClr val="585858"/>
                </a:solidFill>
                <a:latin typeface="Times New Roman"/>
              </a:rPr>
              <a:t>communication resource</a:t>
            </a:r>
          </a:p>
        </p:txBody>
      </p:sp>
      <p:sp>
        <p:nvSpPr>
          <p:cNvPr id="33" name="Rounded Rectangle 32"/>
          <p:cNvSpPr/>
          <p:nvPr/>
        </p:nvSpPr>
        <p:spPr>
          <a:xfrm>
            <a:off x="10058400" y="3246120"/>
            <a:ext cx="1371600" cy="74980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500" b="1" i="0">
                <a:solidFill>
                  <a:srgbClr val="004990"/>
                </a:solidFill>
                <a:latin typeface="Times New Roman"/>
              </a:rPr>
              <a:t>path</a:t>
            </a:r>
          </a:p>
        </p:txBody>
      </p:sp>
      <p:sp>
        <p:nvSpPr>
          <p:cNvPr id="34" name="TextBox 33"/>
          <p:cNvSpPr txBox="1"/>
          <p:nvPr/>
        </p:nvSpPr>
        <p:spPr>
          <a:xfrm>
            <a:off x="10058400" y="4069080"/>
            <a:ext cx="1371600" cy="256032"/>
          </a:xfrm>
          <a:prstGeom prst="rect">
            <a:avLst/>
          </a:prstGeom>
          <a:noFill/>
        </p:spPr>
        <p:txBody>
          <a:bodyPr wrap="none" lIns="18288" tIns="18288" rIns="18288" bIns="18288">
            <a:spAutoFit/>
          </a:bodyPr>
          <a:lstStyle/>
          <a:p>
            <a:pPr algn="ctr"/>
            <a:r>
              <a:rPr sz="1600" b="0" i="0">
                <a:solidFill>
                  <a:srgbClr val="585858"/>
                </a:solidFill>
                <a:latin typeface="Times New Roman"/>
              </a:rPr>
              <a:t>latency pressure</a:t>
            </a:r>
          </a:p>
        </p:txBody>
      </p:sp>
      <p:sp>
        <p:nvSpPr>
          <p:cNvPr id="35" name="TextBox 34"/>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Sec. II-A and V; Fang et al., Sci. China Inf. Sci. 2023 [24].</a:t>
            </a:r>
          </a:p>
        </p:txBody>
      </p:sp>
    </p:spTree>
    <p:extLst>
      <p:ext uri="{BB962C8B-B14F-4D97-AF65-F5344CB8AC3E}">
        <p14:creationId xmlns:p14="http://schemas.microsoft.com/office/powerpoint/2010/main" val="35372290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HybridComm: Two-Stage Compilation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932688"/>
            <a:ext cx="4434840" cy="44805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042416"/>
            <a:ext cx="42153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HybridComm Compilation Redrawn</a:t>
            </a:r>
          </a:p>
        </p:txBody>
      </p:sp>
      <p:sp>
        <p:nvSpPr>
          <p:cNvPr id="11" name="Rounded Rectangle 10"/>
          <p:cNvSpPr/>
          <p:nvPr/>
        </p:nvSpPr>
        <p:spPr>
          <a:xfrm>
            <a:off x="1005840" y="1591056"/>
            <a:ext cx="932688"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global
circuit</a:t>
            </a:r>
          </a:p>
        </p:txBody>
      </p:sp>
      <p:cxnSp>
        <p:nvCxnSpPr>
          <p:cNvPr id="12" name="Connector 11"/>
          <p:cNvCxnSpPr/>
          <p:nvPr/>
        </p:nvCxnSpPr>
        <p:spPr>
          <a:xfrm>
            <a:off x="1965960" y="1801368"/>
            <a:ext cx="32004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04872" y="1591056"/>
            <a:ext cx="1005840" cy="420624"/>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outer
wire cut</a:t>
            </a:r>
          </a:p>
        </p:txBody>
      </p:sp>
      <p:cxnSp>
        <p:nvCxnSpPr>
          <p:cNvPr id="14" name="Connector 13"/>
          <p:cNvCxnSpPr/>
          <p:nvPr/>
        </p:nvCxnSpPr>
        <p:spPr>
          <a:xfrm>
            <a:off x="3447288" y="1801368"/>
            <a:ext cx="301751"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867912" y="1353312"/>
            <a:ext cx="822960" cy="329184"/>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sub A</a:t>
            </a:r>
          </a:p>
        </p:txBody>
      </p:sp>
      <p:sp>
        <p:nvSpPr>
          <p:cNvPr id="16" name="Rounded Rectangle 15"/>
          <p:cNvSpPr/>
          <p:nvPr/>
        </p:nvSpPr>
        <p:spPr>
          <a:xfrm>
            <a:off x="3867912" y="1892808"/>
            <a:ext cx="822960" cy="329184"/>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sub B</a:t>
            </a:r>
          </a:p>
        </p:txBody>
      </p:sp>
      <p:cxnSp>
        <p:nvCxnSpPr>
          <p:cNvPr id="17" name="Connector 16"/>
          <p:cNvCxnSpPr/>
          <p:nvPr/>
        </p:nvCxnSpPr>
        <p:spPr>
          <a:xfrm>
            <a:off x="4279392" y="2240280"/>
            <a:ext cx="0" cy="384048"/>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502152" y="2670048"/>
            <a:ext cx="1417320" cy="43891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200" b="1" i="0">
                <a:solidFill>
                  <a:srgbClr val="000000"/>
                </a:solidFill>
                <a:latin typeface="Times New Roman"/>
              </a:rPr>
              <a:t>inner
GateComm</a:t>
            </a:r>
          </a:p>
        </p:txBody>
      </p:sp>
      <p:cxnSp>
        <p:nvCxnSpPr>
          <p:cNvPr id="19" name="Connector 18"/>
          <p:cNvCxnSpPr/>
          <p:nvPr/>
        </p:nvCxnSpPr>
        <p:spPr>
          <a:xfrm>
            <a:off x="2898648" y="2029967"/>
            <a:ext cx="0" cy="1417321"/>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252728" y="3474720"/>
            <a:ext cx="3291840" cy="420624"/>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300" b="1" i="0">
                <a:solidFill>
                  <a:srgbClr val="000000"/>
                </a:solidFill>
                <a:latin typeface="Times New Roman"/>
              </a:rPr>
              <a:t>objective: communication | latency | topology</a:t>
            </a:r>
          </a:p>
        </p:txBody>
      </p:sp>
      <p:sp>
        <p:nvSpPr>
          <p:cNvPr id="21" name="Rounded Rectangle 20"/>
          <p:cNvSpPr/>
          <p:nvPr/>
        </p:nvSpPr>
        <p:spPr>
          <a:xfrm>
            <a:off x="5623560" y="1280160"/>
            <a:ext cx="393192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Wire-cut stage</a:t>
            </a:r>
          </a:p>
        </p:txBody>
      </p:sp>
      <p:sp>
        <p:nvSpPr>
          <p:cNvPr id="22" name="TextBox 21"/>
          <p:cNvSpPr txBox="1"/>
          <p:nvPr/>
        </p:nvSpPr>
        <p:spPr>
          <a:xfrm>
            <a:off x="5696712" y="1883664"/>
            <a:ext cx="3785615" cy="384048"/>
          </a:xfrm>
          <a:prstGeom prst="rect">
            <a:avLst/>
          </a:prstGeom>
          <a:noFill/>
        </p:spPr>
        <p:txBody>
          <a:bodyPr wrap="none" lIns="18288" tIns="18288" rIns="18288" bIns="18288">
            <a:spAutoFit/>
          </a:bodyPr>
          <a:lstStyle/>
          <a:p>
            <a:pPr algn="ctr"/>
            <a:r>
              <a:rPr sz="1600" b="0" i="0">
                <a:solidFill>
                  <a:srgbClr val="585858"/>
                </a:solidFill>
                <a:latin typeface="Times New Roman"/>
              </a:rPr>
              <a:t>split global circuit into medium subcircuits</a:t>
            </a:r>
          </a:p>
        </p:txBody>
      </p:sp>
      <p:cxnSp>
        <p:nvCxnSpPr>
          <p:cNvPr id="23" name="Connector 22"/>
          <p:cNvCxnSpPr/>
          <p:nvPr/>
        </p:nvCxnSpPr>
        <p:spPr>
          <a:xfrm>
            <a:off x="7589520" y="2103120"/>
            <a:ext cx="0" cy="384048"/>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623560" y="2578608"/>
            <a:ext cx="393192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GateComm stage</a:t>
            </a:r>
          </a:p>
        </p:txBody>
      </p:sp>
      <p:sp>
        <p:nvSpPr>
          <p:cNvPr id="25" name="TextBox 24"/>
          <p:cNvSpPr txBox="1"/>
          <p:nvPr/>
        </p:nvSpPr>
        <p:spPr>
          <a:xfrm>
            <a:off x="5696712" y="3182112"/>
            <a:ext cx="3785615" cy="384048"/>
          </a:xfrm>
          <a:prstGeom prst="rect">
            <a:avLst/>
          </a:prstGeom>
          <a:noFill/>
        </p:spPr>
        <p:txBody>
          <a:bodyPr wrap="none" lIns="18288" tIns="18288" rIns="18288" bIns="18288">
            <a:spAutoFit/>
          </a:bodyPr>
          <a:lstStyle/>
          <a:p>
            <a:pPr algn="ctr"/>
            <a:r>
              <a:rPr sz="1600" b="0" i="0">
                <a:solidFill>
                  <a:srgbClr val="585858"/>
                </a:solidFill>
                <a:latin typeface="Times New Roman"/>
              </a:rPr>
              <a:t>compile oversized subcircuits over physical chips</a:t>
            </a:r>
          </a:p>
        </p:txBody>
      </p:sp>
      <p:cxnSp>
        <p:nvCxnSpPr>
          <p:cNvPr id="26" name="Connector 25"/>
          <p:cNvCxnSpPr/>
          <p:nvPr/>
        </p:nvCxnSpPr>
        <p:spPr>
          <a:xfrm>
            <a:off x="7589520" y="3401568"/>
            <a:ext cx="0" cy="393192"/>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623560" y="3886200"/>
            <a:ext cx="3931920" cy="50292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Metric selection</a:t>
            </a:r>
          </a:p>
        </p:txBody>
      </p:sp>
      <p:sp>
        <p:nvSpPr>
          <p:cNvPr id="28" name="TextBox 27"/>
          <p:cNvSpPr txBox="1"/>
          <p:nvPr/>
        </p:nvSpPr>
        <p:spPr>
          <a:xfrm>
            <a:off x="5696712" y="4489704"/>
            <a:ext cx="3785615" cy="384048"/>
          </a:xfrm>
          <a:prstGeom prst="rect">
            <a:avLst/>
          </a:prstGeom>
          <a:noFill/>
        </p:spPr>
        <p:txBody>
          <a:bodyPr wrap="none" lIns="18288" tIns="18288" rIns="18288" bIns="18288">
            <a:spAutoFit/>
          </a:bodyPr>
          <a:lstStyle/>
          <a:p>
            <a:pPr algn="ctr"/>
            <a:r>
              <a:rPr sz="1600" b="0" i="0">
                <a:solidFill>
                  <a:srgbClr val="585858"/>
                </a:solidFill>
                <a:latin typeface="Times New Roman"/>
              </a:rPr>
              <a:t>choose communication, latency, or topology target</a:t>
            </a:r>
          </a:p>
        </p:txBody>
      </p:sp>
      <p:sp>
        <p:nvSpPr>
          <p:cNvPr id="29" name="TextBox 28"/>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Abstract and Sec. VI-B.</a:t>
            </a:r>
          </a:p>
        </p:txBody>
      </p:sp>
    </p:spTree>
    <p:extLst>
      <p:ext uri="{BB962C8B-B14F-4D97-AF65-F5344CB8AC3E}">
        <p14:creationId xmlns:p14="http://schemas.microsoft.com/office/powerpoint/2010/main" val="4148021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Adaptive Objective Selection Changes the Best Mapping</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2960" y="1024128"/>
            <a:ext cx="3931920" cy="40233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32688" y="1133856"/>
            <a:ext cx="371246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Candidate Plan Space</a:t>
            </a:r>
          </a:p>
        </p:txBody>
      </p:sp>
      <p:sp>
        <p:nvSpPr>
          <p:cNvPr id="11" name="Rounded Rectangle 10"/>
          <p:cNvSpPr/>
          <p:nvPr/>
        </p:nvSpPr>
        <p:spPr>
          <a:xfrm>
            <a:off x="1234440" y="1645920"/>
            <a:ext cx="594360" cy="45720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A</a:t>
            </a:r>
          </a:p>
        </p:txBody>
      </p:sp>
      <p:sp>
        <p:nvSpPr>
          <p:cNvPr id="12" name="Rounded Rectangle 11"/>
          <p:cNvSpPr/>
          <p:nvPr/>
        </p:nvSpPr>
        <p:spPr>
          <a:xfrm>
            <a:off x="2057400" y="1645920"/>
            <a:ext cx="1920240" cy="45720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low depth / high EPR</a:t>
            </a:r>
          </a:p>
        </p:txBody>
      </p:sp>
      <p:sp>
        <p:nvSpPr>
          <p:cNvPr id="13" name="Rounded Rectangle 12"/>
          <p:cNvSpPr/>
          <p:nvPr/>
        </p:nvSpPr>
        <p:spPr>
          <a:xfrm>
            <a:off x="1234440" y="2487168"/>
            <a:ext cx="594360" cy="45720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B</a:t>
            </a:r>
          </a:p>
        </p:txBody>
      </p:sp>
      <p:sp>
        <p:nvSpPr>
          <p:cNvPr id="14" name="Rounded Rectangle 13"/>
          <p:cNvSpPr/>
          <p:nvPr/>
        </p:nvSpPr>
        <p:spPr>
          <a:xfrm>
            <a:off x="2057400" y="2487168"/>
            <a:ext cx="1920240" cy="45720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balanced</a:t>
            </a:r>
          </a:p>
        </p:txBody>
      </p:sp>
      <p:sp>
        <p:nvSpPr>
          <p:cNvPr id="15" name="Rounded Rectangle 14"/>
          <p:cNvSpPr/>
          <p:nvPr/>
        </p:nvSpPr>
        <p:spPr>
          <a:xfrm>
            <a:off x="1234440" y="3328416"/>
            <a:ext cx="594360" cy="45720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000" b="1" i="0">
                <a:solidFill>
                  <a:srgbClr val="000000"/>
                </a:solidFill>
                <a:latin typeface="Times New Roman"/>
              </a:rPr>
              <a:t>C</a:t>
            </a:r>
          </a:p>
        </p:txBody>
      </p:sp>
      <p:sp>
        <p:nvSpPr>
          <p:cNvPr id="16" name="Rounded Rectangle 15"/>
          <p:cNvSpPr/>
          <p:nvPr/>
        </p:nvSpPr>
        <p:spPr>
          <a:xfrm>
            <a:off x="2057400" y="3328416"/>
            <a:ext cx="1920240" cy="45720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low EPR / high depth</a:t>
            </a:r>
          </a:p>
        </p:txBody>
      </p:sp>
      <p:sp>
        <p:nvSpPr>
          <p:cNvPr id="17" name="Rounded Rectangle 16"/>
          <p:cNvSpPr/>
          <p:nvPr/>
        </p:nvSpPr>
        <p:spPr>
          <a:xfrm>
            <a:off x="5257800" y="1024128"/>
            <a:ext cx="4983480" cy="40233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367528" y="1133856"/>
            <a:ext cx="47640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Objective-Dependent Choice</a:t>
            </a:r>
          </a:p>
        </p:txBody>
      </p:sp>
      <p:sp>
        <p:nvSpPr>
          <p:cNvPr id="19" name="Rounded Rectangle 18"/>
          <p:cNvSpPr/>
          <p:nvPr/>
        </p:nvSpPr>
        <p:spPr>
          <a:xfrm>
            <a:off x="5742432" y="1645920"/>
            <a:ext cx="173736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min EPR</a:t>
            </a:r>
          </a:p>
        </p:txBody>
      </p:sp>
      <p:cxnSp>
        <p:nvCxnSpPr>
          <p:cNvPr id="20" name="Connector 19"/>
          <p:cNvCxnSpPr/>
          <p:nvPr/>
        </p:nvCxnSpPr>
        <p:spPr>
          <a:xfrm>
            <a:off x="7543800" y="1901952"/>
            <a:ext cx="685800" cy="0"/>
          </a:xfrm>
          <a:prstGeom prst="line">
            <a:avLst/>
          </a:prstGeom>
          <a:ln w="25400">
            <a:solidFill>
              <a:srgbClr val="EE8436"/>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339327" y="1645920"/>
            <a:ext cx="114300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Plan C</a:t>
            </a:r>
          </a:p>
        </p:txBody>
      </p:sp>
      <p:sp>
        <p:nvSpPr>
          <p:cNvPr id="22" name="Rounded Rectangle 21"/>
          <p:cNvSpPr/>
          <p:nvPr/>
        </p:nvSpPr>
        <p:spPr>
          <a:xfrm>
            <a:off x="5742432" y="3108960"/>
            <a:ext cx="173736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min depth</a:t>
            </a:r>
          </a:p>
        </p:txBody>
      </p:sp>
      <p:cxnSp>
        <p:nvCxnSpPr>
          <p:cNvPr id="23" name="Connector 22"/>
          <p:cNvCxnSpPr/>
          <p:nvPr/>
        </p:nvCxnSpPr>
        <p:spPr>
          <a:xfrm>
            <a:off x="7543800" y="3364992"/>
            <a:ext cx="68580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39327" y="3108960"/>
            <a:ext cx="114300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Plan A</a:t>
            </a:r>
          </a:p>
        </p:txBody>
      </p:sp>
      <p:sp>
        <p:nvSpPr>
          <p:cNvPr id="25" name="TextBox 24"/>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tutorial/adaptdqc_tutorial.ipynb, section 6.</a:t>
            </a:r>
          </a:p>
        </p:txBody>
      </p:sp>
    </p:spTree>
    <p:extLst>
      <p:ext uri="{BB962C8B-B14F-4D97-AF65-F5344CB8AC3E}">
        <p14:creationId xmlns:p14="http://schemas.microsoft.com/office/powerpoint/2010/main" val="1514845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Topology Awareness: Match Subcircuits to Hardware</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Compiler</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932688"/>
            <a:ext cx="4892040" cy="448056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042416"/>
            <a:ext cx="467258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Paper Topology Result</a:t>
            </a:r>
          </a:p>
        </p:txBody>
      </p:sp>
      <p:pic>
        <p:nvPicPr>
          <p:cNvPr id="11" name="Picture 10" descr="fig11_topology.png"/>
          <p:cNvPicPr>
            <a:picLocks noChangeAspect="1"/>
          </p:cNvPicPr>
          <p:nvPr/>
        </p:nvPicPr>
        <p:blipFill>
          <a:blip r:embed="rId4"/>
          <a:stretch>
            <a:fillRect/>
          </a:stretch>
        </p:blipFill>
        <p:spPr>
          <a:xfrm>
            <a:off x="842067" y="1499616"/>
            <a:ext cx="4579505" cy="3767328"/>
          </a:xfrm>
          <a:prstGeom prst="rect">
            <a:avLst/>
          </a:prstGeom>
        </p:spPr>
      </p:pic>
      <p:sp>
        <p:nvSpPr>
          <p:cNvPr id="12" name="Rounded Rectangle 11"/>
          <p:cNvSpPr/>
          <p:nvPr/>
        </p:nvSpPr>
        <p:spPr>
          <a:xfrm>
            <a:off x="6080760" y="1143000"/>
            <a:ext cx="4343400" cy="338328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90488" y="1252728"/>
            <a:ext cx="412394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Compiler Interpretation</a:t>
            </a:r>
          </a:p>
        </p:txBody>
      </p:sp>
      <p:sp>
        <p:nvSpPr>
          <p:cNvPr id="14" name="Rounded Rectangle 13"/>
          <p:cNvSpPr/>
          <p:nvPr/>
        </p:nvSpPr>
        <p:spPr>
          <a:xfrm>
            <a:off x="6355080" y="1783080"/>
            <a:ext cx="379476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legal edges execute directly</a:t>
            </a:r>
          </a:p>
        </p:txBody>
      </p:sp>
      <p:sp>
        <p:nvSpPr>
          <p:cNvPr id="15" name="Rounded Rectangle 14"/>
          <p:cNvSpPr/>
          <p:nvPr/>
        </p:nvSpPr>
        <p:spPr>
          <a:xfrm>
            <a:off x="6355080" y="2532888"/>
            <a:ext cx="3794760" cy="43891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illegal edges require SWAPs</a:t>
            </a:r>
          </a:p>
        </p:txBody>
      </p:sp>
      <p:sp>
        <p:nvSpPr>
          <p:cNvPr id="16" name="Rounded Rectangle 15"/>
          <p:cNvSpPr/>
          <p:nvPr/>
        </p:nvSpPr>
        <p:spPr>
          <a:xfrm>
            <a:off x="6355080" y="3282696"/>
            <a:ext cx="379476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HybridComm gives flexible subcircuit topology</a:t>
            </a:r>
          </a:p>
        </p:txBody>
      </p:sp>
      <p:sp>
        <p:nvSpPr>
          <p:cNvPr id="17" name="Rounded Rectangle 16"/>
          <p:cNvSpPr/>
          <p:nvPr/>
        </p:nvSpPr>
        <p:spPr>
          <a:xfrm>
            <a:off x="6263640" y="4828032"/>
            <a:ext cx="4069080" cy="4754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Topology cost = SWAP overhead after hardware mapping</a:t>
            </a:r>
          </a:p>
        </p:txBody>
      </p:sp>
      <p:sp>
        <p:nvSpPr>
          <p:cNvPr id="18" name="TextBox 17"/>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11; IBM Quantum devices [40].</a:t>
            </a:r>
          </a:p>
        </p:txBody>
      </p:sp>
    </p:spTree>
    <p:extLst>
      <p:ext uri="{BB962C8B-B14F-4D97-AF65-F5344CB8AC3E}">
        <p14:creationId xmlns:p14="http://schemas.microsoft.com/office/powerpoint/2010/main" val="438576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Evaluation Design: Algorithms x Architectures x Metrics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77240" y="1024128"/>
            <a:ext cx="2743200" cy="416052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86968" y="1133856"/>
            <a:ext cx="252374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Benchmarks</a:t>
            </a:r>
          </a:p>
        </p:txBody>
      </p:sp>
      <p:sp>
        <p:nvSpPr>
          <p:cNvPr id="11" name="Rounded Rectangle 10"/>
          <p:cNvSpPr/>
          <p:nvPr/>
        </p:nvSpPr>
        <p:spPr>
          <a:xfrm>
            <a:off x="987552" y="1691640"/>
            <a:ext cx="621792"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AE</a:t>
            </a:r>
          </a:p>
        </p:txBody>
      </p:sp>
      <p:sp>
        <p:nvSpPr>
          <p:cNvPr id="12" name="Rounded Rectangle 11"/>
          <p:cNvSpPr/>
          <p:nvPr/>
        </p:nvSpPr>
        <p:spPr>
          <a:xfrm>
            <a:off x="1764792" y="1691640"/>
            <a:ext cx="621792"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DJ</a:t>
            </a:r>
          </a:p>
        </p:txBody>
      </p:sp>
      <p:sp>
        <p:nvSpPr>
          <p:cNvPr id="13" name="Rounded Rectangle 12"/>
          <p:cNvSpPr/>
          <p:nvPr/>
        </p:nvSpPr>
        <p:spPr>
          <a:xfrm>
            <a:off x="2542032" y="1691640"/>
            <a:ext cx="621792"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GHZ</a:t>
            </a:r>
          </a:p>
        </p:txBody>
      </p:sp>
      <p:sp>
        <p:nvSpPr>
          <p:cNvPr id="14" name="Rounded Rectangle 13"/>
          <p:cNvSpPr/>
          <p:nvPr/>
        </p:nvSpPr>
        <p:spPr>
          <a:xfrm>
            <a:off x="987552" y="2350008"/>
            <a:ext cx="621792"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GRPH</a:t>
            </a:r>
          </a:p>
        </p:txBody>
      </p:sp>
      <p:sp>
        <p:nvSpPr>
          <p:cNvPr id="15" name="Rounded Rectangle 14"/>
          <p:cNvSpPr/>
          <p:nvPr/>
        </p:nvSpPr>
        <p:spPr>
          <a:xfrm>
            <a:off x="1764792" y="2350008"/>
            <a:ext cx="621792"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QAOA</a:t>
            </a:r>
          </a:p>
        </p:txBody>
      </p:sp>
      <p:sp>
        <p:nvSpPr>
          <p:cNvPr id="16" name="Rounded Rectangle 15"/>
          <p:cNvSpPr/>
          <p:nvPr/>
        </p:nvSpPr>
        <p:spPr>
          <a:xfrm>
            <a:off x="2542032" y="2350008"/>
            <a:ext cx="621792"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QNN</a:t>
            </a:r>
          </a:p>
        </p:txBody>
      </p:sp>
      <p:sp>
        <p:nvSpPr>
          <p:cNvPr id="17" name="Rounded Rectangle 16"/>
          <p:cNvSpPr/>
          <p:nvPr/>
        </p:nvSpPr>
        <p:spPr>
          <a:xfrm>
            <a:off x="987552" y="3008376"/>
            <a:ext cx="621792"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ROUT</a:t>
            </a:r>
          </a:p>
        </p:txBody>
      </p:sp>
      <p:sp>
        <p:nvSpPr>
          <p:cNvPr id="18" name="Rounded Rectangle 17"/>
          <p:cNvSpPr/>
          <p:nvPr/>
        </p:nvSpPr>
        <p:spPr>
          <a:xfrm>
            <a:off x="1764792" y="3008376"/>
            <a:ext cx="621792"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VQE</a:t>
            </a:r>
          </a:p>
        </p:txBody>
      </p:sp>
      <p:sp>
        <p:nvSpPr>
          <p:cNvPr id="19" name="Rounded Rectangle 18"/>
          <p:cNvSpPr/>
          <p:nvPr/>
        </p:nvSpPr>
        <p:spPr>
          <a:xfrm>
            <a:off x="2542032" y="3008376"/>
            <a:ext cx="621792"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500" b="1" i="0">
                <a:solidFill>
                  <a:srgbClr val="000000"/>
                </a:solidFill>
                <a:latin typeface="Times New Roman"/>
              </a:rPr>
              <a:t>WST</a:t>
            </a:r>
          </a:p>
        </p:txBody>
      </p:sp>
      <p:sp>
        <p:nvSpPr>
          <p:cNvPr id="20" name="Rounded Rectangle 19"/>
          <p:cNvSpPr/>
          <p:nvPr/>
        </p:nvSpPr>
        <p:spPr>
          <a:xfrm>
            <a:off x="3886200" y="1024128"/>
            <a:ext cx="2743200" cy="416052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995928" y="1133856"/>
            <a:ext cx="252374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Baselines</a:t>
            </a:r>
          </a:p>
        </p:txBody>
      </p:sp>
      <p:sp>
        <p:nvSpPr>
          <p:cNvPr id="22" name="Rounded Rectangle 21"/>
          <p:cNvSpPr/>
          <p:nvPr/>
        </p:nvSpPr>
        <p:spPr>
          <a:xfrm>
            <a:off x="4315968" y="1737360"/>
            <a:ext cx="1828800" cy="47548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CutQC</a:t>
            </a:r>
          </a:p>
        </p:txBody>
      </p:sp>
      <p:sp>
        <p:nvSpPr>
          <p:cNvPr id="23" name="Rounded Rectangle 22"/>
          <p:cNvSpPr/>
          <p:nvPr/>
        </p:nvSpPr>
        <p:spPr>
          <a:xfrm>
            <a:off x="4315968" y="2606039"/>
            <a:ext cx="1828800" cy="47548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HyperGraph</a:t>
            </a:r>
          </a:p>
        </p:txBody>
      </p:sp>
      <p:sp>
        <p:nvSpPr>
          <p:cNvPr id="24" name="Rounded Rectangle 23"/>
          <p:cNvSpPr/>
          <p:nvPr/>
        </p:nvSpPr>
        <p:spPr>
          <a:xfrm>
            <a:off x="4315968" y="3474720"/>
            <a:ext cx="1828800" cy="47548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AutoComm</a:t>
            </a:r>
          </a:p>
        </p:txBody>
      </p:sp>
      <p:sp>
        <p:nvSpPr>
          <p:cNvPr id="25" name="Rounded Rectangle 24"/>
          <p:cNvSpPr/>
          <p:nvPr/>
        </p:nvSpPr>
        <p:spPr>
          <a:xfrm>
            <a:off x="6995160" y="1024128"/>
            <a:ext cx="2743200" cy="416052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104888" y="1133856"/>
            <a:ext cx="252374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Metrics</a:t>
            </a:r>
          </a:p>
        </p:txBody>
      </p:sp>
      <p:sp>
        <p:nvSpPr>
          <p:cNvPr id="27" name="Rounded Rectangle 26"/>
          <p:cNvSpPr/>
          <p:nvPr/>
        </p:nvSpPr>
        <p:spPr>
          <a:xfrm>
            <a:off x="7333488" y="1508760"/>
            <a:ext cx="205740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communication</a:t>
            </a:r>
          </a:p>
        </p:txBody>
      </p:sp>
      <p:sp>
        <p:nvSpPr>
          <p:cNvPr id="28" name="Rounded Rectangle 27"/>
          <p:cNvSpPr/>
          <p:nvPr/>
        </p:nvSpPr>
        <p:spPr>
          <a:xfrm>
            <a:off x="7333488" y="2112264"/>
            <a:ext cx="205740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latency</a:t>
            </a:r>
          </a:p>
        </p:txBody>
      </p:sp>
      <p:sp>
        <p:nvSpPr>
          <p:cNvPr id="29" name="Rounded Rectangle 28"/>
          <p:cNvSpPr/>
          <p:nvPr/>
        </p:nvSpPr>
        <p:spPr>
          <a:xfrm>
            <a:off x="7333488" y="2715768"/>
            <a:ext cx="2057400" cy="38404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topology</a:t>
            </a:r>
          </a:p>
        </p:txBody>
      </p:sp>
      <p:sp>
        <p:nvSpPr>
          <p:cNvPr id="30" name="Rounded Rectangle 29"/>
          <p:cNvSpPr/>
          <p:nvPr/>
        </p:nvSpPr>
        <p:spPr>
          <a:xfrm>
            <a:off x="7333488" y="3319272"/>
            <a:ext cx="2057400"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compile time</a:t>
            </a:r>
          </a:p>
        </p:txBody>
      </p:sp>
      <p:sp>
        <p:nvSpPr>
          <p:cNvPr id="31" name="Rounded Rectangle 30"/>
          <p:cNvSpPr/>
          <p:nvPr/>
        </p:nvSpPr>
        <p:spPr>
          <a:xfrm>
            <a:off x="7333488" y="3922776"/>
            <a:ext cx="2057400" cy="384048"/>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600" b="1" i="0">
                <a:solidFill>
                  <a:srgbClr val="000000"/>
                </a:solidFill>
                <a:latin typeface="Times New Roman"/>
              </a:rPr>
              <a:t>real machine</a:t>
            </a:r>
          </a:p>
        </p:txBody>
      </p:sp>
      <p:cxnSp>
        <p:nvCxnSpPr>
          <p:cNvPr id="32" name="Connector 31"/>
          <p:cNvCxnSpPr/>
          <p:nvPr/>
        </p:nvCxnSpPr>
        <p:spPr>
          <a:xfrm>
            <a:off x="3566160" y="3108960"/>
            <a:ext cx="27432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675120" y="3108960"/>
            <a:ext cx="274320" cy="0"/>
          </a:xfrm>
          <a:prstGeom prst="line">
            <a:avLst/>
          </a:prstGeom>
          <a:ln w="25400">
            <a:solidFill>
              <a:srgbClr val="00499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Sec. VI.</a:t>
            </a:r>
          </a:p>
        </p:txBody>
      </p:sp>
    </p:spTree>
    <p:extLst>
      <p:ext uri="{BB962C8B-B14F-4D97-AF65-F5344CB8AC3E}">
        <p14:creationId xmlns:p14="http://schemas.microsoft.com/office/powerpoint/2010/main" val="6883040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Outline of Presentation</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234440"/>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Background and challenges</a:t>
            </a:r>
          </a:p>
        </p:txBody>
      </p:sp>
      <p:sp>
        <p:nvSpPr>
          <p:cNvPr id="9" name="TextBox 8"/>
          <p:cNvSpPr txBox="1"/>
          <p:nvPr/>
        </p:nvSpPr>
        <p:spPr>
          <a:xfrm>
            <a:off x="777240" y="1728216"/>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Overview of AdaptDQC</a:t>
            </a:r>
          </a:p>
        </p:txBody>
      </p:sp>
      <p:sp>
        <p:nvSpPr>
          <p:cNvPr id="10" name="TextBox 9"/>
          <p:cNvSpPr txBox="1"/>
          <p:nvPr/>
        </p:nvSpPr>
        <p:spPr>
          <a:xfrm>
            <a:off x="777240" y="2221992"/>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Graph formulation and adaptive compiler</a:t>
            </a:r>
          </a:p>
        </p:txBody>
      </p:sp>
      <p:sp>
        <p:nvSpPr>
          <p:cNvPr id="11" name="TextBox 10"/>
          <p:cNvSpPr txBox="1"/>
          <p:nvPr/>
        </p:nvSpPr>
        <p:spPr>
          <a:xfrm>
            <a:off x="777240" y="2715768"/>
            <a:ext cx="7863840" cy="310896"/>
          </a:xfrm>
          <a:prstGeom prst="rect">
            <a:avLst/>
          </a:prstGeom>
          <a:noFill/>
        </p:spPr>
        <p:txBody>
          <a:bodyPr wrap="none" lIns="18288" tIns="18288" rIns="18288" bIns="18288">
            <a:spAutoFit/>
          </a:bodyPr>
          <a:lstStyle/>
          <a:p>
            <a:pPr algn="l"/>
            <a:r>
              <a:rPr sz="2400" b="1" i="0">
                <a:solidFill>
                  <a:srgbClr val="000000"/>
                </a:solidFill>
                <a:latin typeface="Times New Roman"/>
              </a:rPr>
              <a:t>-  Experimental evaluation</a:t>
            </a:r>
          </a:p>
        </p:txBody>
      </p:sp>
      <p:sp>
        <p:nvSpPr>
          <p:cNvPr id="12" name="TextBox 11"/>
          <p:cNvSpPr txBox="1"/>
          <p:nvPr/>
        </p:nvSpPr>
        <p:spPr>
          <a:xfrm>
            <a:off x="777240" y="3209544"/>
            <a:ext cx="7863840" cy="310896"/>
          </a:xfrm>
          <a:prstGeom prst="rect">
            <a:avLst/>
          </a:prstGeom>
          <a:noFill/>
        </p:spPr>
        <p:txBody>
          <a:bodyPr wrap="none" lIns="18288" tIns="18288" rIns="18288" bIns="18288">
            <a:spAutoFit/>
          </a:bodyPr>
          <a:lstStyle/>
          <a:p>
            <a:pPr algn="l"/>
            <a:r>
              <a:rPr sz="2400" b="0" i="0">
                <a:solidFill>
                  <a:srgbClr val="AAAAAA"/>
                </a:solidFill>
                <a:latin typeface="Times New Roman"/>
              </a:rPr>
              <a:t>-  Code walkthrough</a:t>
            </a:r>
          </a:p>
        </p:txBody>
      </p:sp>
    </p:spTree>
    <p:extLst>
      <p:ext uri="{BB962C8B-B14F-4D97-AF65-F5344CB8AC3E}">
        <p14:creationId xmlns:p14="http://schemas.microsoft.com/office/powerpoint/2010/main" val="949613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Single-Architecture Results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987552"/>
            <a:ext cx="4754880" cy="278892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097280"/>
            <a:ext cx="45354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GateComm Comparison</a:t>
            </a:r>
          </a:p>
        </p:txBody>
      </p:sp>
      <p:pic>
        <p:nvPicPr>
          <p:cNvPr id="11" name="Picture 10" descr="fig9_gatecomm.png"/>
          <p:cNvPicPr>
            <a:picLocks noChangeAspect="1"/>
          </p:cNvPicPr>
          <p:nvPr/>
        </p:nvPicPr>
        <p:blipFill>
          <a:blip r:embed="rId4"/>
          <a:stretch>
            <a:fillRect/>
          </a:stretch>
        </p:blipFill>
        <p:spPr>
          <a:xfrm>
            <a:off x="899224" y="1554480"/>
            <a:ext cx="4328030" cy="2075687"/>
          </a:xfrm>
          <a:prstGeom prst="rect">
            <a:avLst/>
          </a:prstGeom>
        </p:spPr>
      </p:pic>
      <p:sp>
        <p:nvSpPr>
          <p:cNvPr id="12" name="Rounded Rectangle 11"/>
          <p:cNvSpPr/>
          <p:nvPr/>
        </p:nvSpPr>
        <p:spPr>
          <a:xfrm>
            <a:off x="5806440" y="1115568"/>
            <a:ext cx="2240280" cy="45720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585858"/>
                </a:solidFill>
                <a:latin typeface="Times New Roman"/>
              </a:rPr>
              <a:t>QubitComm
vs CutQC</a:t>
            </a:r>
          </a:p>
        </p:txBody>
      </p:sp>
      <p:sp>
        <p:nvSpPr>
          <p:cNvPr id="13" name="Rounded Rectangle 12"/>
          <p:cNvSpPr/>
          <p:nvPr/>
        </p:nvSpPr>
        <p:spPr>
          <a:xfrm>
            <a:off x="5806440" y="1554480"/>
            <a:ext cx="2240280" cy="65836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800" b="1" i="0">
                <a:solidFill>
                  <a:srgbClr val="004990"/>
                </a:solidFill>
                <a:latin typeface="Times New Roman"/>
              </a:rPr>
              <a:t>42.5%</a:t>
            </a:r>
          </a:p>
        </p:txBody>
      </p:sp>
      <p:sp>
        <p:nvSpPr>
          <p:cNvPr id="14" name="TextBox 13"/>
          <p:cNvSpPr txBox="1"/>
          <p:nvPr/>
        </p:nvSpPr>
        <p:spPr>
          <a:xfrm>
            <a:off x="5806440" y="2322576"/>
            <a:ext cx="2240280" cy="43891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latency</a:t>
            </a:r>
          </a:p>
          <a:p>
            <a:pPr algn="l">
              <a:spcAft>
                <a:spcPts val="0"/>
              </a:spcAft>
            </a:pPr>
            <a:r>
              <a:rPr sz="1800" b="0" i="0">
                <a:solidFill>
                  <a:srgbClr val="000000"/>
                </a:solidFill>
                <a:latin typeface="Times New Roman"/>
              </a:rPr>
              <a:t>reduction</a:t>
            </a:r>
          </a:p>
        </p:txBody>
      </p:sp>
      <p:sp>
        <p:nvSpPr>
          <p:cNvPr id="15" name="Rounded Rectangle 14"/>
          <p:cNvSpPr/>
          <p:nvPr/>
        </p:nvSpPr>
        <p:spPr>
          <a:xfrm>
            <a:off x="8412480" y="1115568"/>
            <a:ext cx="2240280" cy="457200"/>
          </a:xfrm>
          <a:prstGeom prst="roundRect">
            <a:avLst/>
          </a:prstGeom>
          <a:solidFill>
            <a:srgbClr val="FFFFFF"/>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585858"/>
                </a:solidFill>
                <a:latin typeface="Times New Roman"/>
              </a:rPr>
              <a:t>QubitComm
vs CutQC</a:t>
            </a:r>
          </a:p>
        </p:txBody>
      </p:sp>
      <p:sp>
        <p:nvSpPr>
          <p:cNvPr id="16" name="Rounded Rectangle 15"/>
          <p:cNvSpPr/>
          <p:nvPr/>
        </p:nvSpPr>
        <p:spPr>
          <a:xfrm>
            <a:off x="8412480" y="1554480"/>
            <a:ext cx="2240280" cy="658368"/>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800" b="1" i="0">
                <a:solidFill>
                  <a:srgbClr val="004990"/>
                </a:solidFill>
                <a:latin typeface="Times New Roman"/>
              </a:rPr>
              <a:t>15.4x</a:t>
            </a:r>
          </a:p>
        </p:txBody>
      </p:sp>
      <p:sp>
        <p:nvSpPr>
          <p:cNvPr id="17" name="TextBox 16"/>
          <p:cNvSpPr txBox="1"/>
          <p:nvPr/>
        </p:nvSpPr>
        <p:spPr>
          <a:xfrm>
            <a:off x="8412480" y="2322576"/>
            <a:ext cx="2240280" cy="43891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communication</a:t>
            </a:r>
          </a:p>
          <a:p>
            <a:pPr algn="l">
              <a:spcAft>
                <a:spcPts val="0"/>
              </a:spcAft>
            </a:pPr>
            <a:r>
              <a:rPr sz="1800" b="0" i="0">
                <a:solidFill>
                  <a:srgbClr val="000000"/>
                </a:solidFill>
                <a:latin typeface="Times New Roman"/>
              </a:rPr>
              <a:t>reduction</a:t>
            </a:r>
          </a:p>
        </p:txBody>
      </p:sp>
      <p:sp>
        <p:nvSpPr>
          <p:cNvPr id="18" name="Rounded Rectangle 17"/>
          <p:cNvSpPr/>
          <p:nvPr/>
        </p:nvSpPr>
        <p:spPr>
          <a:xfrm>
            <a:off x="5806440" y="2990087"/>
            <a:ext cx="2240280" cy="457200"/>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585858"/>
                </a:solidFill>
                <a:latin typeface="Times New Roman"/>
              </a:rPr>
              <a:t>GateComm
vs HG+AutoComm</a:t>
            </a:r>
          </a:p>
        </p:txBody>
      </p:sp>
      <p:sp>
        <p:nvSpPr>
          <p:cNvPr id="19" name="Rounded Rectangle 18"/>
          <p:cNvSpPr/>
          <p:nvPr/>
        </p:nvSpPr>
        <p:spPr>
          <a:xfrm>
            <a:off x="5806440" y="3428999"/>
            <a:ext cx="2240280" cy="65836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800" b="1" i="0">
                <a:solidFill>
                  <a:srgbClr val="000000"/>
                </a:solidFill>
                <a:latin typeface="Times New Roman"/>
              </a:rPr>
              <a:t>26.3%</a:t>
            </a:r>
          </a:p>
        </p:txBody>
      </p:sp>
      <p:sp>
        <p:nvSpPr>
          <p:cNvPr id="20" name="TextBox 19"/>
          <p:cNvSpPr txBox="1"/>
          <p:nvPr/>
        </p:nvSpPr>
        <p:spPr>
          <a:xfrm>
            <a:off x="5806440" y="4197096"/>
            <a:ext cx="2240280" cy="43891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communication</a:t>
            </a:r>
          </a:p>
          <a:p>
            <a:pPr algn="l">
              <a:spcAft>
                <a:spcPts val="0"/>
              </a:spcAft>
            </a:pPr>
            <a:r>
              <a:rPr sz="1800" b="0" i="0">
                <a:solidFill>
                  <a:srgbClr val="000000"/>
                </a:solidFill>
                <a:latin typeface="Times New Roman"/>
              </a:rPr>
              <a:t>reduction</a:t>
            </a:r>
          </a:p>
        </p:txBody>
      </p:sp>
      <p:sp>
        <p:nvSpPr>
          <p:cNvPr id="21" name="Rounded Rectangle 20"/>
          <p:cNvSpPr/>
          <p:nvPr/>
        </p:nvSpPr>
        <p:spPr>
          <a:xfrm>
            <a:off x="8412480" y="2990087"/>
            <a:ext cx="2240280" cy="457200"/>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400" b="1" i="0">
                <a:solidFill>
                  <a:srgbClr val="585858"/>
                </a:solidFill>
                <a:latin typeface="Times New Roman"/>
              </a:rPr>
              <a:t>GateComm
vs HG+AutoComm</a:t>
            </a:r>
          </a:p>
        </p:txBody>
      </p:sp>
      <p:sp>
        <p:nvSpPr>
          <p:cNvPr id="22" name="Rounded Rectangle 21"/>
          <p:cNvSpPr/>
          <p:nvPr/>
        </p:nvSpPr>
        <p:spPr>
          <a:xfrm>
            <a:off x="8412480" y="3428999"/>
            <a:ext cx="2240280" cy="65836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2800" b="1" i="0">
                <a:solidFill>
                  <a:srgbClr val="004990"/>
                </a:solidFill>
                <a:latin typeface="Times New Roman"/>
              </a:rPr>
              <a:t>18.2%</a:t>
            </a:r>
          </a:p>
        </p:txBody>
      </p:sp>
      <p:sp>
        <p:nvSpPr>
          <p:cNvPr id="23" name="TextBox 22"/>
          <p:cNvSpPr txBox="1"/>
          <p:nvPr/>
        </p:nvSpPr>
        <p:spPr>
          <a:xfrm>
            <a:off x="8412480" y="4197096"/>
            <a:ext cx="2240280" cy="43891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latency</a:t>
            </a:r>
          </a:p>
          <a:p>
            <a:pPr algn="l">
              <a:spcAft>
                <a:spcPts val="0"/>
              </a:spcAft>
            </a:pPr>
            <a:r>
              <a:rPr sz="1800" b="0" i="0">
                <a:solidFill>
                  <a:srgbClr val="000000"/>
                </a:solidFill>
                <a:latin typeface="Times New Roman"/>
              </a:rPr>
              <a:t>reduction</a:t>
            </a:r>
          </a:p>
        </p:txBody>
      </p:sp>
      <p:sp>
        <p:nvSpPr>
          <p:cNvPr id="24" name="Rounded Rectangle 23"/>
          <p:cNvSpPr/>
          <p:nvPr/>
        </p:nvSpPr>
        <p:spPr>
          <a:xfrm>
            <a:off x="5897880" y="4892040"/>
            <a:ext cx="4754880" cy="43891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Improves both supported single-ICC paths.</a:t>
            </a:r>
          </a:p>
        </p:txBody>
      </p:sp>
      <p:sp>
        <p:nvSpPr>
          <p:cNvPr id="25" name="TextBox 24"/>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8-9 and Sec. VI-B.</a:t>
            </a:r>
          </a:p>
        </p:txBody>
      </p:sp>
    </p:spTree>
    <p:extLst>
      <p:ext uri="{BB962C8B-B14F-4D97-AF65-F5344CB8AC3E}">
        <p14:creationId xmlns:p14="http://schemas.microsoft.com/office/powerpoint/2010/main" val="568989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HybridComm: Largest End-to-End Gains</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960120"/>
            <a:ext cx="4709160" cy="297180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069848"/>
            <a:ext cx="44897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Hybrid vs Single ICC</a:t>
            </a:r>
          </a:p>
        </p:txBody>
      </p:sp>
      <p:pic>
        <p:nvPicPr>
          <p:cNvPr id="11" name="Picture 10" descr="fig10_hybrid.png"/>
          <p:cNvPicPr>
            <a:picLocks noChangeAspect="1"/>
          </p:cNvPicPr>
          <p:nvPr/>
        </p:nvPicPr>
        <p:blipFill>
          <a:blip r:embed="rId4"/>
          <a:stretch>
            <a:fillRect/>
          </a:stretch>
        </p:blipFill>
        <p:spPr>
          <a:xfrm>
            <a:off x="832104" y="1574727"/>
            <a:ext cx="4416552" cy="2163209"/>
          </a:xfrm>
          <a:prstGeom prst="rect">
            <a:avLst/>
          </a:prstGeom>
        </p:spPr>
      </p:pic>
      <p:sp>
        <p:nvSpPr>
          <p:cNvPr id="12" name="Rounded Rectangle 11"/>
          <p:cNvSpPr/>
          <p:nvPr/>
        </p:nvSpPr>
        <p:spPr>
          <a:xfrm>
            <a:off x="5897880" y="1170432"/>
            <a:ext cx="2148840" cy="713232"/>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3000" b="1" i="0">
                <a:solidFill>
                  <a:srgbClr val="000000"/>
                </a:solidFill>
                <a:latin typeface="Times New Roman"/>
              </a:rPr>
              <a:t>35.4%</a:t>
            </a:r>
          </a:p>
        </p:txBody>
      </p:sp>
      <p:sp>
        <p:nvSpPr>
          <p:cNvPr id="13" name="TextBox 12"/>
          <p:cNvSpPr txBox="1"/>
          <p:nvPr/>
        </p:nvSpPr>
        <p:spPr>
          <a:xfrm>
            <a:off x="5897880" y="1938528"/>
            <a:ext cx="2148840" cy="53035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average communication</a:t>
            </a:r>
          </a:p>
          <a:p>
            <a:pPr algn="l">
              <a:spcAft>
                <a:spcPts val="0"/>
              </a:spcAft>
            </a:pPr>
            <a:r>
              <a:rPr sz="1800" b="0" i="0">
                <a:solidFill>
                  <a:srgbClr val="000000"/>
                </a:solidFill>
                <a:latin typeface="Times New Roman"/>
              </a:rPr>
              <a:t>reduction</a:t>
            </a:r>
          </a:p>
        </p:txBody>
      </p:sp>
      <p:sp>
        <p:nvSpPr>
          <p:cNvPr id="14" name="Rounded Rectangle 13"/>
          <p:cNvSpPr/>
          <p:nvPr/>
        </p:nvSpPr>
        <p:spPr>
          <a:xfrm>
            <a:off x="8485632" y="1170432"/>
            <a:ext cx="2148840" cy="713232"/>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3000" b="1" i="0">
                <a:solidFill>
                  <a:srgbClr val="004990"/>
                </a:solidFill>
                <a:latin typeface="Times New Roman"/>
              </a:rPr>
              <a:t>38.4%</a:t>
            </a:r>
          </a:p>
        </p:txBody>
      </p:sp>
      <p:sp>
        <p:nvSpPr>
          <p:cNvPr id="15" name="TextBox 14"/>
          <p:cNvSpPr txBox="1"/>
          <p:nvPr/>
        </p:nvSpPr>
        <p:spPr>
          <a:xfrm>
            <a:off x="8485632" y="1938528"/>
            <a:ext cx="2148840" cy="530352"/>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average latency</a:t>
            </a:r>
          </a:p>
          <a:p>
            <a:pPr algn="l">
              <a:spcAft>
                <a:spcPts val="0"/>
              </a:spcAft>
            </a:pPr>
            <a:r>
              <a:rPr sz="1800" b="0" i="0">
                <a:solidFill>
                  <a:srgbClr val="000000"/>
                </a:solidFill>
                <a:latin typeface="Times New Roman"/>
              </a:rPr>
              <a:t>reduction</a:t>
            </a:r>
          </a:p>
        </p:txBody>
      </p:sp>
      <p:sp>
        <p:nvSpPr>
          <p:cNvPr id="16" name="Rounded Rectangle 15"/>
          <p:cNvSpPr/>
          <p:nvPr/>
        </p:nvSpPr>
        <p:spPr>
          <a:xfrm>
            <a:off x="5897880" y="3154680"/>
            <a:ext cx="4736592" cy="1170432"/>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007608" y="3264408"/>
            <a:ext cx="4517136"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Why it works</a:t>
            </a:r>
          </a:p>
        </p:txBody>
      </p:sp>
      <p:sp>
        <p:nvSpPr>
          <p:cNvPr id="18" name="TextBox 17"/>
          <p:cNvSpPr txBox="1"/>
          <p:nvPr/>
        </p:nvSpPr>
        <p:spPr>
          <a:xfrm>
            <a:off x="6172200" y="3675887"/>
            <a:ext cx="4187952" cy="438912"/>
          </a:xfrm>
          <a:prstGeom prst="rect">
            <a:avLst/>
          </a:prstGeom>
          <a:noFill/>
        </p:spPr>
        <p:txBody>
          <a:bodyPr wrap="none" lIns="18288" tIns="18288" rIns="18288" bIns="18288">
            <a:spAutoFit/>
          </a:bodyPr>
          <a:lstStyle/>
          <a:p>
            <a:pPr algn="ctr"/>
            <a:r>
              <a:rPr sz="2000" b="1" i="0">
                <a:solidFill>
                  <a:srgbClr val="000000"/>
                </a:solidFill>
                <a:latin typeface="Times New Roman"/>
              </a:rPr>
              <a:t>HybridComm avoids excessive wire cuts
and excessive remote teleportation.</a:t>
            </a:r>
          </a:p>
        </p:txBody>
      </p:sp>
      <p:sp>
        <p:nvSpPr>
          <p:cNvPr id="19" name="Rounded Rectangle 18"/>
          <p:cNvSpPr/>
          <p:nvPr/>
        </p:nvSpPr>
        <p:spPr>
          <a:xfrm>
            <a:off x="914400" y="4846320"/>
            <a:ext cx="9966960"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Architecture adaptivity is the main result, not a side detail.</a:t>
            </a:r>
          </a:p>
        </p:txBody>
      </p:sp>
      <p:sp>
        <p:nvSpPr>
          <p:cNvPr id="20" name="TextBox 19"/>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10 and Sec. VI-B.</a:t>
            </a:r>
          </a:p>
        </p:txBody>
      </p:sp>
    </p:spTree>
    <p:extLst>
      <p:ext uri="{BB962C8B-B14F-4D97-AF65-F5344CB8AC3E}">
        <p14:creationId xmlns:p14="http://schemas.microsoft.com/office/powerpoint/2010/main" val="34200646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500" b="1" i="0">
                <a:solidFill>
                  <a:srgbClr val="000000"/>
                </a:solidFill>
                <a:latin typeface="Times New Roman"/>
              </a:rPr>
              <a:t>Real-World Runs Validate the Reconstruction Path</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13232" y="932688"/>
            <a:ext cx="4389120" cy="45262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22960" y="1042416"/>
            <a:ext cx="4169663"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IBM Cloud Emulation</a:t>
            </a:r>
          </a:p>
        </p:txBody>
      </p:sp>
      <p:pic>
        <p:nvPicPr>
          <p:cNvPr id="11" name="Picture 10" descr="fig12_realworld.png"/>
          <p:cNvPicPr>
            <a:picLocks noChangeAspect="1"/>
          </p:cNvPicPr>
          <p:nvPr/>
        </p:nvPicPr>
        <p:blipFill>
          <a:blip r:embed="rId4"/>
          <a:stretch>
            <a:fillRect/>
          </a:stretch>
        </p:blipFill>
        <p:spPr>
          <a:xfrm>
            <a:off x="1259443" y="1499616"/>
            <a:ext cx="3296697" cy="3813048"/>
          </a:xfrm>
          <a:prstGeom prst="rect">
            <a:avLst/>
          </a:prstGeom>
        </p:spPr>
      </p:pic>
      <p:sp>
        <p:nvSpPr>
          <p:cNvPr id="12" name="Rounded Rectangle 11"/>
          <p:cNvSpPr/>
          <p:nvPr/>
        </p:nvSpPr>
        <p:spPr>
          <a:xfrm>
            <a:off x="5623560" y="1143000"/>
            <a:ext cx="4480560" cy="3337560"/>
          </a:xfrm>
          <a:prstGeom prst="roundRect">
            <a:avLst/>
          </a:prstGeom>
          <a:solidFill>
            <a:srgbClr val="F2F5F8"/>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733288" y="1252728"/>
            <a:ext cx="426110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Reading the Result</a:t>
            </a:r>
          </a:p>
        </p:txBody>
      </p:sp>
      <p:sp>
        <p:nvSpPr>
          <p:cNvPr id="14" name="Rounded Rectangle 13"/>
          <p:cNvSpPr/>
          <p:nvPr/>
        </p:nvSpPr>
        <p:spPr>
          <a:xfrm>
            <a:off x="5925312" y="1755648"/>
            <a:ext cx="388620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subcircuits run on a 5-qubit Falcon r4T device</a:t>
            </a:r>
          </a:p>
        </p:txBody>
      </p:sp>
      <p:sp>
        <p:nvSpPr>
          <p:cNvPr id="15" name="Rounded Rectangle 14"/>
          <p:cNvSpPr/>
          <p:nvPr/>
        </p:nvSpPr>
        <p:spPr>
          <a:xfrm>
            <a:off x="5925312" y="2514600"/>
            <a:ext cx="3886200" cy="438912"/>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chi-square tracks distance from noiseless ground truth</a:t>
            </a:r>
          </a:p>
        </p:txBody>
      </p:sp>
      <p:sp>
        <p:nvSpPr>
          <p:cNvPr id="16" name="Rounded Rectangle 15"/>
          <p:cNvSpPr/>
          <p:nvPr/>
        </p:nvSpPr>
        <p:spPr>
          <a:xfrm>
            <a:off x="5925312" y="3273552"/>
            <a:ext cx="3886200" cy="438912"/>
          </a:xfrm>
          <a:prstGeom prst="roundRect">
            <a:avLst/>
          </a:prstGeom>
          <a:solidFill>
            <a:srgbClr val="FFFFF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dominant error comes from hardware execution noise</a:t>
            </a:r>
          </a:p>
        </p:txBody>
      </p:sp>
      <p:sp>
        <p:nvSpPr>
          <p:cNvPr id="17" name="TextBox 16"/>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12 and Sec. VI-C.</a:t>
            </a:r>
          </a:p>
        </p:txBody>
      </p:sp>
    </p:spTree>
    <p:extLst>
      <p:ext uri="{BB962C8B-B14F-4D97-AF65-F5344CB8AC3E}">
        <p14:creationId xmlns:p14="http://schemas.microsoft.com/office/powerpoint/2010/main" val="20214333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300" b="1" i="0">
                <a:solidFill>
                  <a:srgbClr val="000000"/>
                </a:solidFill>
                <a:latin typeface="Times New Roman"/>
              </a:rPr>
              <a:t>Overheads and Ablation Explain Where AdaptDQC Pays Off</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Evaluation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4360" y="1024128"/>
            <a:ext cx="3383280" cy="214884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04088" y="1133856"/>
            <a:ext cx="31638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Compilation Time</a:t>
            </a:r>
          </a:p>
        </p:txBody>
      </p:sp>
      <p:pic>
        <p:nvPicPr>
          <p:cNvPr id="11" name="Picture 10" descr="fig13_compile.png"/>
          <p:cNvPicPr>
            <a:picLocks noChangeAspect="1"/>
          </p:cNvPicPr>
          <p:nvPr/>
        </p:nvPicPr>
        <p:blipFill>
          <a:blip r:embed="rId4"/>
          <a:stretch>
            <a:fillRect/>
          </a:stretch>
        </p:blipFill>
        <p:spPr>
          <a:xfrm>
            <a:off x="1020054" y="1591056"/>
            <a:ext cx="2531890" cy="1435608"/>
          </a:xfrm>
          <a:prstGeom prst="rect">
            <a:avLst/>
          </a:prstGeom>
        </p:spPr>
      </p:pic>
      <p:sp>
        <p:nvSpPr>
          <p:cNvPr id="12" name="Rounded Rectangle 11"/>
          <p:cNvSpPr/>
          <p:nvPr/>
        </p:nvSpPr>
        <p:spPr>
          <a:xfrm>
            <a:off x="4343400" y="1024128"/>
            <a:ext cx="3383280" cy="214884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453128" y="1133856"/>
            <a:ext cx="31638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Post-Processing</a:t>
            </a:r>
          </a:p>
        </p:txBody>
      </p:sp>
      <p:pic>
        <p:nvPicPr>
          <p:cNvPr id="14" name="Picture 13" descr="fig14_postprocess.png"/>
          <p:cNvPicPr>
            <a:picLocks noChangeAspect="1"/>
          </p:cNvPicPr>
          <p:nvPr/>
        </p:nvPicPr>
        <p:blipFill>
          <a:blip r:embed="rId5"/>
          <a:stretch>
            <a:fillRect/>
          </a:stretch>
        </p:blipFill>
        <p:spPr>
          <a:xfrm>
            <a:off x="5049580" y="1591056"/>
            <a:ext cx="1970919" cy="1435608"/>
          </a:xfrm>
          <a:prstGeom prst="rect">
            <a:avLst/>
          </a:prstGeom>
        </p:spPr>
      </p:pic>
      <p:sp>
        <p:nvSpPr>
          <p:cNvPr id="15" name="Rounded Rectangle 14"/>
          <p:cNvSpPr/>
          <p:nvPr/>
        </p:nvSpPr>
        <p:spPr>
          <a:xfrm>
            <a:off x="8092440" y="1024128"/>
            <a:ext cx="3383280" cy="214884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02167" y="1133856"/>
            <a:ext cx="3163824" cy="384048"/>
          </a:xfrm>
          <a:prstGeom prst="roundRect">
            <a:avLst/>
          </a:prstGeom>
          <a:solidFill>
            <a:srgbClr val="DDEBF7"/>
          </a:solidFill>
          <a:ln>
            <a:solidFill>
              <a:srgbClr val="CDDAE8"/>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Reverse Tuning Ablation</a:t>
            </a:r>
          </a:p>
        </p:txBody>
      </p:sp>
      <p:pic>
        <p:nvPicPr>
          <p:cNvPr id="17" name="Picture 16" descr="fig15_ablation.png"/>
          <p:cNvPicPr>
            <a:picLocks noChangeAspect="1"/>
          </p:cNvPicPr>
          <p:nvPr/>
        </p:nvPicPr>
        <p:blipFill>
          <a:blip r:embed="rId6"/>
          <a:stretch>
            <a:fillRect/>
          </a:stretch>
        </p:blipFill>
        <p:spPr>
          <a:xfrm>
            <a:off x="8238744" y="1691393"/>
            <a:ext cx="3090672" cy="1234933"/>
          </a:xfrm>
          <a:prstGeom prst="rect">
            <a:avLst/>
          </a:prstGeom>
        </p:spPr>
      </p:pic>
      <p:sp>
        <p:nvSpPr>
          <p:cNvPr id="18" name="Rounded Rectangle 17"/>
          <p:cNvSpPr/>
          <p:nvPr/>
        </p:nvSpPr>
        <p:spPr>
          <a:xfrm>
            <a:off x="960120" y="4343400"/>
            <a:ext cx="274320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smoother scaling than CutQC</a:t>
            </a:r>
          </a:p>
        </p:txBody>
      </p:sp>
      <p:sp>
        <p:nvSpPr>
          <p:cNvPr id="19" name="Rounded Rectangle 18"/>
          <p:cNvSpPr/>
          <p:nvPr/>
        </p:nvSpPr>
        <p:spPr>
          <a:xfrm>
            <a:off x="4572000" y="4343400"/>
            <a:ext cx="2743200" cy="502920"/>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comparable tensor cost</a:t>
            </a:r>
          </a:p>
        </p:txBody>
      </p:sp>
      <p:sp>
        <p:nvSpPr>
          <p:cNvPr id="20" name="Rounded Rectangle 19"/>
          <p:cNvSpPr/>
          <p:nvPr/>
        </p:nvSpPr>
        <p:spPr>
          <a:xfrm>
            <a:off x="8183879" y="4343400"/>
            <a:ext cx="2743200" cy="502920"/>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700" b="1" i="0">
                <a:solidFill>
                  <a:srgbClr val="000000"/>
                </a:solidFill>
                <a:latin typeface="Times New Roman"/>
              </a:rPr>
              <a:t>98.5% comm. / 56.4% latency gain</a:t>
            </a:r>
          </a:p>
        </p:txBody>
      </p:sp>
      <p:sp>
        <p:nvSpPr>
          <p:cNvPr id="21" name="TextBox 20"/>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Fig. 13-15 and Sec. VI-D-F.</a:t>
            </a:r>
          </a:p>
        </p:txBody>
      </p:sp>
    </p:spTree>
    <p:extLst>
      <p:ext uri="{BB962C8B-B14F-4D97-AF65-F5344CB8AC3E}">
        <p14:creationId xmlns:p14="http://schemas.microsoft.com/office/powerpoint/2010/main" val="26737822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Key Takeaways for the Report</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Conclusion</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14400" y="1097280"/>
            <a:ext cx="4434840" cy="1389888"/>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1298448"/>
            <a:ext cx="1234440" cy="274320"/>
          </a:xfrm>
          <a:prstGeom prst="rect">
            <a:avLst/>
          </a:prstGeom>
          <a:noFill/>
        </p:spPr>
        <p:txBody>
          <a:bodyPr wrap="none" lIns="18288" tIns="18288" rIns="18288" bIns="18288">
            <a:spAutoFit/>
          </a:bodyPr>
          <a:lstStyle/>
          <a:p>
            <a:pPr algn="l"/>
            <a:r>
              <a:rPr sz="2200" b="1" i="0">
                <a:solidFill>
                  <a:srgbClr val="004990"/>
                </a:solidFill>
                <a:latin typeface="Times New Roman"/>
              </a:rPr>
              <a:t>Model</a:t>
            </a:r>
          </a:p>
        </p:txBody>
      </p:sp>
      <p:sp>
        <p:nvSpPr>
          <p:cNvPr id="11" name="TextBox 10"/>
          <p:cNvSpPr txBox="1"/>
          <p:nvPr/>
        </p:nvSpPr>
        <p:spPr>
          <a:xfrm>
            <a:off x="1115568" y="1719072"/>
            <a:ext cx="3886200" cy="457200"/>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SDHG + TDAG + CG</a:t>
            </a:r>
          </a:p>
          <a:p>
            <a:pPr algn="l">
              <a:spcAft>
                <a:spcPts val="0"/>
              </a:spcAft>
            </a:pPr>
            <a:r>
              <a:rPr sz="1800" b="0" i="0">
                <a:solidFill>
                  <a:srgbClr val="000000"/>
                </a:solidFill>
                <a:latin typeface="Times New Roman"/>
              </a:rPr>
              <a:t>space, time, chip communication</a:t>
            </a:r>
          </a:p>
        </p:txBody>
      </p:sp>
      <p:sp>
        <p:nvSpPr>
          <p:cNvPr id="12" name="Rounded Rectangle 11"/>
          <p:cNvSpPr/>
          <p:nvPr/>
        </p:nvSpPr>
        <p:spPr>
          <a:xfrm>
            <a:off x="6080760" y="1097280"/>
            <a:ext cx="4434840" cy="1389888"/>
          </a:xfrm>
          <a:prstGeom prst="roundRect">
            <a:avLst/>
          </a:prstGeom>
          <a:solidFill>
            <a:srgbClr val="EAF3EA"/>
          </a:solidFill>
          <a:ln>
            <a:solidFill>
              <a:srgbClr val="4A9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63640" y="1298448"/>
            <a:ext cx="1234440" cy="274320"/>
          </a:xfrm>
          <a:prstGeom prst="rect">
            <a:avLst/>
          </a:prstGeom>
          <a:noFill/>
        </p:spPr>
        <p:txBody>
          <a:bodyPr wrap="none" lIns="18288" tIns="18288" rIns="18288" bIns="18288">
            <a:spAutoFit/>
          </a:bodyPr>
          <a:lstStyle/>
          <a:p>
            <a:pPr algn="l"/>
            <a:r>
              <a:rPr sz="2200" b="1" i="0">
                <a:solidFill>
                  <a:srgbClr val="000000"/>
                </a:solidFill>
                <a:latin typeface="Times New Roman"/>
              </a:rPr>
              <a:t>Compiler</a:t>
            </a:r>
          </a:p>
        </p:txBody>
      </p:sp>
      <p:sp>
        <p:nvSpPr>
          <p:cNvPr id="14" name="TextBox 13"/>
          <p:cNvSpPr txBox="1"/>
          <p:nvPr/>
        </p:nvSpPr>
        <p:spPr>
          <a:xfrm>
            <a:off x="6281928" y="1719072"/>
            <a:ext cx="3886200" cy="457200"/>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Clustering + reverse tuning</a:t>
            </a:r>
          </a:p>
          <a:p>
            <a:pPr algn="l">
              <a:spcAft>
                <a:spcPts val="0"/>
              </a:spcAft>
            </a:pPr>
            <a:r>
              <a:rPr sz="1800" b="0" i="0">
                <a:solidFill>
                  <a:srgbClr val="000000"/>
                </a:solidFill>
                <a:latin typeface="Times New Roman"/>
              </a:rPr>
              <a:t>objective-driven refinement</a:t>
            </a:r>
          </a:p>
        </p:txBody>
      </p:sp>
      <p:sp>
        <p:nvSpPr>
          <p:cNvPr id="15" name="Rounded Rectangle 14"/>
          <p:cNvSpPr/>
          <p:nvPr/>
        </p:nvSpPr>
        <p:spPr>
          <a:xfrm>
            <a:off x="914400" y="3035808"/>
            <a:ext cx="4434840" cy="1389888"/>
          </a:xfrm>
          <a:prstGeom prst="roundRect">
            <a:avLst/>
          </a:prstGeom>
          <a:solidFill>
            <a:srgbClr val="FFF0DF"/>
          </a:solidFill>
          <a:ln>
            <a:solidFill>
              <a:srgbClr val="EE843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3236976"/>
            <a:ext cx="1234440" cy="274320"/>
          </a:xfrm>
          <a:prstGeom prst="rect">
            <a:avLst/>
          </a:prstGeom>
          <a:noFill/>
        </p:spPr>
        <p:txBody>
          <a:bodyPr wrap="none" lIns="18288" tIns="18288" rIns="18288" bIns="18288">
            <a:spAutoFit/>
          </a:bodyPr>
          <a:lstStyle/>
          <a:p>
            <a:pPr algn="l"/>
            <a:r>
              <a:rPr sz="2200" b="1" i="0">
                <a:solidFill>
                  <a:srgbClr val="000000"/>
                </a:solidFill>
                <a:latin typeface="Times New Roman"/>
              </a:rPr>
              <a:t>Architecture</a:t>
            </a:r>
          </a:p>
        </p:txBody>
      </p:sp>
      <p:sp>
        <p:nvSpPr>
          <p:cNvPr id="17" name="TextBox 16"/>
          <p:cNvSpPr txBox="1"/>
          <p:nvPr/>
        </p:nvSpPr>
        <p:spPr>
          <a:xfrm>
            <a:off x="1115568" y="3657600"/>
            <a:ext cx="3886200" cy="457200"/>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HybridComm composes</a:t>
            </a:r>
          </a:p>
          <a:p>
            <a:pPr algn="l">
              <a:spcAft>
                <a:spcPts val="0"/>
              </a:spcAft>
            </a:pPr>
            <a:r>
              <a:rPr sz="1800" b="0" i="0">
                <a:solidFill>
                  <a:srgbClr val="000000"/>
                </a:solidFill>
                <a:latin typeface="Times New Roman"/>
              </a:rPr>
              <a:t>wire cuts and remote gates</a:t>
            </a:r>
          </a:p>
        </p:txBody>
      </p:sp>
      <p:sp>
        <p:nvSpPr>
          <p:cNvPr id="18" name="Rounded Rectangle 17"/>
          <p:cNvSpPr/>
          <p:nvPr/>
        </p:nvSpPr>
        <p:spPr>
          <a:xfrm>
            <a:off x="6080760" y="3035808"/>
            <a:ext cx="4434840" cy="1389888"/>
          </a:xfrm>
          <a:prstGeom prst="roundRect">
            <a:avLst/>
          </a:prstGeom>
          <a:solidFill>
            <a:srgbClr val="FFFFFF"/>
          </a:solidFill>
          <a:ln>
            <a:solidFill>
              <a:srgbClr val="0049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640" y="3236976"/>
            <a:ext cx="1234440" cy="274320"/>
          </a:xfrm>
          <a:prstGeom prst="rect">
            <a:avLst/>
          </a:prstGeom>
          <a:noFill/>
        </p:spPr>
        <p:txBody>
          <a:bodyPr wrap="none" lIns="18288" tIns="18288" rIns="18288" bIns="18288">
            <a:spAutoFit/>
          </a:bodyPr>
          <a:lstStyle/>
          <a:p>
            <a:pPr algn="l"/>
            <a:r>
              <a:rPr sz="2200" b="1" i="0">
                <a:solidFill>
                  <a:srgbClr val="004990"/>
                </a:solidFill>
                <a:latin typeface="Times New Roman"/>
              </a:rPr>
              <a:t>Evidence</a:t>
            </a:r>
          </a:p>
        </p:txBody>
      </p:sp>
      <p:sp>
        <p:nvSpPr>
          <p:cNvPr id="20" name="TextBox 19"/>
          <p:cNvSpPr txBox="1"/>
          <p:nvPr/>
        </p:nvSpPr>
        <p:spPr>
          <a:xfrm>
            <a:off x="6281928" y="3657600"/>
            <a:ext cx="3886200" cy="457200"/>
          </a:xfrm>
          <a:prstGeom prst="rect">
            <a:avLst/>
          </a:prstGeom>
          <a:noFill/>
        </p:spPr>
        <p:txBody>
          <a:bodyPr wrap="square" lIns="18288" tIns="18288" rIns="18288" bIns="18288">
            <a:spAutoFit/>
          </a:bodyPr>
          <a:lstStyle/>
          <a:p>
            <a:pPr algn="l">
              <a:spcAft>
                <a:spcPts val="0"/>
              </a:spcAft>
            </a:pPr>
            <a:r>
              <a:rPr sz="1800" b="0" i="0">
                <a:solidFill>
                  <a:srgbClr val="000000"/>
                </a:solidFill>
                <a:latin typeface="Times New Roman"/>
              </a:rPr>
              <a:t>Benchmarks + IBM runs</a:t>
            </a:r>
          </a:p>
          <a:p>
            <a:pPr algn="l">
              <a:spcAft>
                <a:spcPts val="0"/>
              </a:spcAft>
            </a:pPr>
            <a:r>
              <a:rPr sz="1800" b="0" i="0">
                <a:solidFill>
                  <a:srgbClr val="000000"/>
                </a:solidFill>
                <a:latin typeface="Times New Roman"/>
              </a:rPr>
              <a:t>communication, latency, topology gains</a:t>
            </a:r>
          </a:p>
        </p:txBody>
      </p:sp>
      <p:sp>
        <p:nvSpPr>
          <p:cNvPr id="21" name="Rounded Rectangle 20"/>
          <p:cNvSpPr/>
          <p:nvPr/>
        </p:nvSpPr>
        <p:spPr>
          <a:xfrm>
            <a:off x="1188720" y="5166360"/>
            <a:ext cx="9692640" cy="502920"/>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900" b="1" i="0">
                <a:solidFill>
                  <a:srgbClr val="000000"/>
                </a:solidFill>
                <a:latin typeface="Times New Roman"/>
              </a:rPr>
              <a:t>Main message: AdaptDQC is a metric-aware compiler framework, not just a new partitioning heuristic.</a:t>
            </a:r>
          </a:p>
        </p:txBody>
      </p:sp>
      <p:sp>
        <p:nvSpPr>
          <p:cNvPr id="22" name="TextBox 21"/>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Xiang et al., IEEE TC 2025, Abstract and Sec. VIII.</a:t>
            </a:r>
          </a:p>
        </p:txBody>
      </p:sp>
    </p:spTree>
    <p:extLst>
      <p:ext uri="{BB962C8B-B14F-4D97-AF65-F5344CB8AC3E}">
        <p14:creationId xmlns:p14="http://schemas.microsoft.com/office/powerpoint/2010/main" val="31115346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Code Walkthrough I: QubitComm End-to-End</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Code</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005840"/>
            <a:ext cx="10652760" cy="13258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115568"/>
            <a:ext cx="10433304"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Build circuit and reference setup</a:t>
            </a:r>
          </a:p>
        </p:txBody>
      </p:sp>
      <p:sp>
        <p:nvSpPr>
          <p:cNvPr id="11" name="TextBox 10"/>
          <p:cNvSpPr txBox="1"/>
          <p:nvPr/>
        </p:nvSpPr>
        <p:spPr>
          <a:xfrm>
            <a:off x="850392" y="1664208"/>
            <a:ext cx="10323576" cy="539496"/>
          </a:xfrm>
          <a:prstGeom prst="rect">
            <a:avLst/>
          </a:prstGeom>
          <a:noFill/>
        </p:spPr>
        <p:txBody>
          <a:bodyPr wrap="none" lIns="18288" tIns="18288" rIns="18288" bIns="18288">
            <a:spAutoFit/>
          </a:bodyPr>
          <a:lstStyle/>
          <a:p>
            <a:pPr>
              <a:lnSpc>
                <a:spcPct val="82000"/>
              </a:lnSpc>
              <a:spcAft>
                <a:spcPts val="0"/>
              </a:spcAft>
            </a:pPr>
            <a:r>
              <a:rPr sz="1800" b="0">
                <a:solidFill>
                  <a:srgbClr val="282828"/>
                </a:solidFill>
                <a:latin typeface="Times New Roman"/>
              </a:rPr>
              <a:t>qpu = QPU(width=2)</a:t>
            </a:r>
          </a:p>
          <a:p>
            <a:pPr>
              <a:lnSpc>
                <a:spcPct val="82000"/>
              </a:lnSpc>
              <a:spcAft>
                <a:spcPts val="0"/>
              </a:spcAft>
            </a:pPr>
            <a:r>
              <a:rPr sz="1800" b="0">
                <a:solidFill>
                  <a:srgbClr val="282828"/>
                </a:solidFill>
                <a:latin typeface="Times New Roman"/>
              </a:rPr>
              <a:t>circuit = QuantumCircuit(3)</a:t>
            </a:r>
          </a:p>
        </p:txBody>
      </p:sp>
      <p:sp>
        <p:nvSpPr>
          <p:cNvPr id="12" name="Rounded Rectangle 11"/>
          <p:cNvSpPr/>
          <p:nvPr/>
        </p:nvSpPr>
        <p:spPr>
          <a:xfrm>
            <a:off x="685800" y="2487168"/>
            <a:ext cx="10652760" cy="13258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95528" y="2596896"/>
            <a:ext cx="10433304" cy="420624"/>
          </a:xfrm>
          <a:prstGeom prst="roundRect">
            <a:avLst/>
          </a:prstGeom>
          <a:solidFill>
            <a:srgbClr val="DDEBF7"/>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Cut wires into QPU-sized subcircuits</a:t>
            </a:r>
          </a:p>
        </p:txBody>
      </p:sp>
      <p:sp>
        <p:nvSpPr>
          <p:cNvPr id="14" name="TextBox 13"/>
          <p:cNvSpPr txBox="1"/>
          <p:nvPr/>
        </p:nvSpPr>
        <p:spPr>
          <a:xfrm>
            <a:off x="850392" y="3145536"/>
            <a:ext cx="10323576" cy="539496"/>
          </a:xfrm>
          <a:prstGeom prst="rect">
            <a:avLst/>
          </a:prstGeom>
          <a:noFill/>
        </p:spPr>
        <p:txBody>
          <a:bodyPr wrap="none" lIns="18288" tIns="18288" rIns="18288" bIns="18288">
            <a:spAutoFit/>
          </a:bodyPr>
          <a:lstStyle/>
          <a:p>
            <a:pPr>
              <a:lnSpc>
                <a:spcPct val="82000"/>
              </a:lnSpc>
              <a:spcAft>
                <a:spcPts val="0"/>
              </a:spcAft>
            </a:pPr>
            <a:r>
              <a:rPr sz="1800" b="0">
                <a:solidFill>
                  <a:srgbClr val="282828"/>
                </a:solidFill>
                <a:latin typeface="Times New Roman"/>
              </a:rPr>
              <a:t>partition_cutter = CutWire(circuit, qpu=qpu)</a:t>
            </a:r>
          </a:p>
          <a:p>
            <a:pPr>
              <a:lnSpc>
                <a:spcPct val="82000"/>
              </a:lnSpc>
              <a:spcAft>
                <a:spcPts val="0"/>
              </a:spcAft>
            </a:pPr>
            <a:r>
              <a:rPr sz="1800" b="0">
                <a:solidFill>
                  <a:srgbClr val="282828"/>
                </a:solidFill>
                <a:latin typeface="Times New Roman"/>
              </a:rPr>
              <a:t>solution = partition_cutter.cluster_cut()</a:t>
            </a:r>
          </a:p>
        </p:txBody>
      </p:sp>
      <p:sp>
        <p:nvSpPr>
          <p:cNvPr id="15" name="Rounded Rectangle 14"/>
          <p:cNvSpPr/>
          <p:nvPr/>
        </p:nvSpPr>
        <p:spPr>
          <a:xfrm>
            <a:off x="685800" y="3968496"/>
            <a:ext cx="10652760" cy="1627632"/>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95528" y="4078224"/>
            <a:ext cx="10433304" cy="420624"/>
          </a:xfrm>
          <a:prstGeom prst="roundRect">
            <a:avLst/>
          </a:prstGeom>
          <a:solidFill>
            <a:srgbClr val="DDEBF7"/>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Build compute graph, execute subcircuits, and check error</a:t>
            </a:r>
          </a:p>
        </p:txBody>
      </p:sp>
      <p:sp>
        <p:nvSpPr>
          <p:cNvPr id="17" name="TextBox 16"/>
          <p:cNvSpPr txBox="1"/>
          <p:nvPr/>
        </p:nvSpPr>
        <p:spPr>
          <a:xfrm>
            <a:off x="850392" y="4626864"/>
            <a:ext cx="10323576" cy="841248"/>
          </a:xfrm>
          <a:prstGeom prst="rect">
            <a:avLst/>
          </a:prstGeom>
          <a:noFill/>
        </p:spPr>
        <p:txBody>
          <a:bodyPr wrap="none" lIns="18288" tIns="18288" rIns="18288" bIns="18288">
            <a:spAutoFit/>
          </a:bodyPr>
          <a:lstStyle/>
          <a:p>
            <a:pPr>
              <a:lnSpc>
                <a:spcPct val="82000"/>
              </a:lnSpc>
              <a:spcAft>
                <a:spcPts val="0"/>
              </a:spcAft>
            </a:pPr>
            <a:r>
              <a:rPr sz="1800" b="0">
                <a:solidFill>
                  <a:srgbClr val="282828"/>
                </a:solidFill>
                <a:latin typeface="Times New Roman"/>
              </a:rPr>
              <a:t>compute_graph = generate_compute_graph(counter=solution.counter)</a:t>
            </a:r>
          </a:p>
          <a:p>
            <a:pPr>
              <a:lnSpc>
                <a:spcPct val="82000"/>
              </a:lnSpc>
              <a:spcAft>
                <a:spcPts val="0"/>
              </a:spcAft>
            </a:pPr>
            <a:r>
              <a:rPr sz="1800" b="0">
                <a:solidFill>
                  <a:srgbClr val="282828"/>
                </a:solidFill>
                <a:latin typeface="Times New Roman"/>
              </a:rPr>
              <a:t>run_solution = run_cutter.run_cut_circuit(eval_mode="sv")</a:t>
            </a:r>
          </a:p>
          <a:p>
            <a:pPr>
              <a:lnSpc>
                <a:spcPct val="82000"/>
              </a:lnSpc>
              <a:spcAft>
                <a:spcPts val="0"/>
              </a:spcAft>
            </a:pPr>
            <a:r>
              <a:rPr sz="1800" b="0">
                <a:solidFill>
                  <a:srgbClr val="282828"/>
                </a:solidFill>
                <a:latin typeface="Times New Roman"/>
              </a:rPr>
              <a:t>L1_error = float(abs_delta.sum())</a:t>
            </a:r>
          </a:p>
        </p:txBody>
      </p:sp>
      <p:sp>
        <p:nvSpPr>
          <p:cNvPr id="18" name="TextBox 17"/>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tutorial/adaptdqc_tutorial.ipynb, sections 1-4.</a:t>
            </a:r>
          </a:p>
        </p:txBody>
      </p:sp>
    </p:spTree>
    <p:extLst>
      <p:ext uri="{BB962C8B-B14F-4D97-AF65-F5344CB8AC3E}">
        <p14:creationId xmlns:p14="http://schemas.microsoft.com/office/powerpoint/2010/main" val="3595445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9372600" y="73152"/>
            <a:ext cx="2514600" cy="735296"/>
          </a:xfrm>
          <a:prstGeom prst="rect">
            <a:avLst/>
          </a:prstGeom>
        </p:spPr>
      </p:pic>
      <p:sp>
        <p:nvSpPr>
          <p:cNvPr id="4" name="Rectangle 3"/>
          <p:cNvSpPr/>
          <p:nvPr/>
        </p:nvSpPr>
        <p:spPr>
          <a:xfrm>
            <a:off x="0" y="0"/>
            <a:ext cx="530352" cy="78638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13232" y="201168"/>
            <a:ext cx="8092440" cy="384048"/>
          </a:xfrm>
          <a:prstGeom prst="rect">
            <a:avLst/>
          </a:prstGeom>
          <a:noFill/>
        </p:spPr>
        <p:txBody>
          <a:bodyPr wrap="none" lIns="18288" tIns="18288" rIns="18288" bIns="18288">
            <a:spAutoFit/>
          </a:bodyPr>
          <a:lstStyle/>
          <a:p>
            <a:pPr algn="l"/>
            <a:r>
              <a:rPr sz="2800" b="1" i="0">
                <a:solidFill>
                  <a:srgbClr val="000000"/>
                </a:solidFill>
                <a:latin typeface="Times New Roman"/>
              </a:rPr>
              <a:t>Code Walkthrough II: GateComm and HybridComm</a:t>
            </a:r>
          </a:p>
        </p:txBody>
      </p:sp>
      <p:sp>
        <p:nvSpPr>
          <p:cNvPr id="6" name="Rectangle 5"/>
          <p:cNvSpPr/>
          <p:nvPr/>
        </p:nvSpPr>
        <p:spPr>
          <a:xfrm>
            <a:off x="713232" y="786384"/>
            <a:ext cx="8211312" cy="32004"/>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3232" y="6336792"/>
            <a:ext cx="3657600" cy="228600"/>
          </a:xfrm>
          <a:prstGeom prst="rect">
            <a:avLst/>
          </a:prstGeom>
          <a:noFill/>
        </p:spPr>
        <p:txBody>
          <a:bodyPr wrap="none" lIns="18288" tIns="18288" rIns="18288" bIns="18288">
            <a:spAutoFit/>
          </a:bodyPr>
          <a:lstStyle/>
          <a:p>
            <a:pPr algn="l"/>
            <a:r>
              <a:rPr sz="1000" b="0" i="0">
                <a:solidFill>
                  <a:srgbClr val="828282"/>
                </a:solidFill>
                <a:latin typeface="Times New Roman"/>
              </a:rPr>
              <a:t>Code</a:t>
            </a:r>
          </a:p>
        </p:txBody>
      </p:sp>
      <p:sp>
        <p:nvSpPr>
          <p:cNvPr id="8" name="Rectangle 7"/>
          <p:cNvSpPr/>
          <p:nvPr/>
        </p:nvSpPr>
        <p:spPr>
          <a:xfrm>
            <a:off x="11411712" y="6327648"/>
            <a:ext cx="548640" cy="393192"/>
          </a:xfrm>
          <a:prstGeom prst="rect">
            <a:avLst/>
          </a:prstGeom>
          <a:solidFill>
            <a:srgbClr val="0049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005840"/>
            <a:ext cx="10652760" cy="1481328"/>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95528" y="1115568"/>
            <a:ext cx="10433304" cy="420624"/>
          </a:xfrm>
          <a:prstGeom prst="roundRect">
            <a:avLst/>
          </a:prstGeom>
          <a:solidFill>
            <a:srgbClr val="DDEBF7"/>
          </a:solidFill>
          <a:ln>
            <a:solidFill>
              <a:srgbClr val="004990"/>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1. GateComm API: count EPR pairs and compile teleportation circuit</a:t>
            </a:r>
          </a:p>
        </p:txBody>
      </p:sp>
      <p:sp>
        <p:nvSpPr>
          <p:cNvPr id="11" name="TextBox 10"/>
          <p:cNvSpPr txBox="1"/>
          <p:nvPr/>
        </p:nvSpPr>
        <p:spPr>
          <a:xfrm>
            <a:off x="850392" y="1664208"/>
            <a:ext cx="10323576" cy="694944"/>
          </a:xfrm>
          <a:prstGeom prst="rect">
            <a:avLst/>
          </a:prstGeom>
          <a:noFill/>
        </p:spPr>
        <p:txBody>
          <a:bodyPr wrap="none" lIns="18288" tIns="18288" rIns="18288" bIns="18288">
            <a:spAutoFit/>
          </a:bodyPr>
          <a:lstStyle/>
          <a:p>
            <a:pPr>
              <a:lnSpc>
                <a:spcPct val="82000"/>
              </a:lnSpc>
              <a:spcAft>
                <a:spcPts val="0"/>
              </a:spcAft>
            </a:pPr>
            <a:r>
              <a:rPr sz="1800" b="0">
                <a:solidFill>
                  <a:srgbClr val="282828"/>
                </a:solidFill>
                <a:latin typeface="Times New Roman"/>
              </a:rPr>
              <a:t>gate_compiler = Partcompile(circuit, allocation)</a:t>
            </a:r>
          </a:p>
          <a:p>
            <a:pPr>
              <a:lnSpc>
                <a:spcPct val="82000"/>
              </a:lnSpc>
              <a:spcAft>
                <a:spcPts val="0"/>
              </a:spcAft>
            </a:pPr>
            <a:r>
              <a:rPr sz="1800" b="0">
                <a:solidFill>
                  <a:srgbClr val="282828"/>
                </a:solidFill>
                <a:latin typeface="Times New Roman"/>
              </a:rPr>
              <a:t>epr_num, epr_circuit = gate_compiler.get_epr_circuit()</a:t>
            </a:r>
          </a:p>
          <a:p>
            <a:pPr>
              <a:lnSpc>
                <a:spcPct val="82000"/>
              </a:lnSpc>
              <a:spcAft>
                <a:spcPts val="0"/>
              </a:spcAft>
            </a:pPr>
            <a:r>
              <a:rPr sz="1800" b="0">
                <a:solidFill>
                  <a:srgbClr val="282828"/>
                </a:solidFill>
                <a:latin typeface="Times New Roman"/>
              </a:rPr>
              <a:t>teleportation_circuit = gate_compiler.compile_with_teleportion()</a:t>
            </a:r>
          </a:p>
        </p:txBody>
      </p:sp>
      <p:sp>
        <p:nvSpPr>
          <p:cNvPr id="12" name="Rounded Rectangle 11"/>
          <p:cNvSpPr/>
          <p:nvPr/>
        </p:nvSpPr>
        <p:spPr>
          <a:xfrm>
            <a:off x="685800" y="2670048"/>
            <a:ext cx="10652760" cy="1325880"/>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95528" y="2779776"/>
            <a:ext cx="10433304" cy="420624"/>
          </a:xfrm>
          <a:prstGeom prst="roundRect">
            <a:avLst/>
          </a:prstGeom>
          <a:solidFill>
            <a:srgbClr val="DDEBF7"/>
          </a:solidFill>
          <a:ln>
            <a:solidFill>
              <a:srgbClr val="EE8436"/>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2. Adaptive objective: choose by communication or latency</a:t>
            </a:r>
          </a:p>
        </p:txBody>
      </p:sp>
      <p:sp>
        <p:nvSpPr>
          <p:cNvPr id="14" name="TextBox 13"/>
          <p:cNvSpPr txBox="1"/>
          <p:nvPr/>
        </p:nvSpPr>
        <p:spPr>
          <a:xfrm>
            <a:off x="850392" y="3328415"/>
            <a:ext cx="10323576" cy="539496"/>
          </a:xfrm>
          <a:prstGeom prst="rect">
            <a:avLst/>
          </a:prstGeom>
          <a:noFill/>
        </p:spPr>
        <p:txBody>
          <a:bodyPr wrap="none" lIns="18288" tIns="18288" rIns="18288" bIns="18288">
            <a:spAutoFit/>
          </a:bodyPr>
          <a:lstStyle/>
          <a:p>
            <a:pPr>
              <a:lnSpc>
                <a:spcPct val="82000"/>
              </a:lnSpc>
              <a:spcAft>
                <a:spcPts val="0"/>
              </a:spcAft>
            </a:pPr>
            <a:r>
              <a:rPr sz="1800" b="0">
                <a:solidFill>
                  <a:srgbClr val="282828"/>
                </a:solidFill>
                <a:latin typeface="Times New Roman"/>
              </a:rPr>
              <a:t>communication_choice = min(plans, key=lambda p: p["epr_pairs"])</a:t>
            </a:r>
          </a:p>
          <a:p>
            <a:pPr>
              <a:lnSpc>
                <a:spcPct val="82000"/>
              </a:lnSpc>
              <a:spcAft>
                <a:spcPts val="0"/>
              </a:spcAft>
            </a:pPr>
            <a:r>
              <a:rPr sz="1800" b="0">
                <a:solidFill>
                  <a:srgbClr val="282828"/>
                </a:solidFill>
                <a:latin typeface="Times New Roman"/>
              </a:rPr>
              <a:t>latency_choice = min(plans, key=lambda p: p["compiled_depth"])</a:t>
            </a:r>
          </a:p>
        </p:txBody>
      </p:sp>
      <p:sp>
        <p:nvSpPr>
          <p:cNvPr id="15" name="Rounded Rectangle 14"/>
          <p:cNvSpPr/>
          <p:nvPr/>
        </p:nvSpPr>
        <p:spPr>
          <a:xfrm>
            <a:off x="685800" y="4151376"/>
            <a:ext cx="10652760" cy="1444752"/>
          </a:xfrm>
          <a:prstGeom prst="roundRect">
            <a:avLst/>
          </a:prstGeom>
          <a:solidFill>
            <a:srgbClr val="FFFFFF"/>
          </a:solidFill>
          <a:ln>
            <a:solidFill>
              <a:srgbClr val="CD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95528" y="4261104"/>
            <a:ext cx="10433304" cy="420624"/>
          </a:xfrm>
          <a:prstGeom prst="roundRect">
            <a:avLst/>
          </a:prstGeom>
          <a:solidFill>
            <a:srgbClr val="DDEBF7"/>
          </a:solidFill>
          <a:ln>
            <a:solidFill>
              <a:srgbClr val="4A9B55"/>
            </a:solidFill>
          </a:ln>
        </p:spPr>
        <p:style>
          <a:lnRef idx="1">
            <a:schemeClr val="accent1"/>
          </a:lnRef>
          <a:fillRef idx="3">
            <a:schemeClr val="accent1"/>
          </a:fillRef>
          <a:effectRef idx="2">
            <a:schemeClr val="accent1"/>
          </a:effectRef>
          <a:fontRef idx="minor">
            <a:schemeClr val="lt1"/>
          </a:fontRef>
        </p:style>
        <p:txBody>
          <a:bodyPr wrap="square" tIns="54864" bIns="36576" rtlCol="0" anchor="ctr"/>
          <a:lstStyle/>
          <a:p>
            <a:pPr algn="ctr"/>
            <a:r>
              <a:rPr sz="1800" b="1" i="0">
                <a:solidFill>
                  <a:srgbClr val="000000"/>
                </a:solidFill>
                <a:latin typeface="Times New Roman"/>
              </a:rPr>
              <a:t>3. HybridComm: wire cut first, then GateComm inside wide subcircuits</a:t>
            </a:r>
          </a:p>
        </p:txBody>
      </p:sp>
      <p:sp>
        <p:nvSpPr>
          <p:cNvPr id="17" name="TextBox 16"/>
          <p:cNvSpPr txBox="1"/>
          <p:nvPr/>
        </p:nvSpPr>
        <p:spPr>
          <a:xfrm>
            <a:off x="850392" y="4809744"/>
            <a:ext cx="10323576" cy="658368"/>
          </a:xfrm>
          <a:prstGeom prst="rect">
            <a:avLst/>
          </a:prstGeom>
          <a:noFill/>
        </p:spPr>
        <p:txBody>
          <a:bodyPr wrap="none" lIns="18288" tIns="18288" rIns="18288" bIns="18288">
            <a:spAutoFit/>
          </a:bodyPr>
          <a:lstStyle/>
          <a:p>
            <a:pPr>
              <a:lnSpc>
                <a:spcPct val="82000"/>
              </a:lnSpc>
              <a:spcAft>
                <a:spcPts val="0"/>
              </a:spcAft>
            </a:pPr>
            <a:r>
              <a:rPr sz="1800" b="0">
                <a:solidFill>
                  <a:srgbClr val="282828"/>
                </a:solidFill>
                <a:latin typeface="Times New Roman"/>
              </a:rPr>
              <a:t>hybrid_solution = CutWire(hybrid_circuit, qpu=wire_stage_qpu).cluster_cut()</a:t>
            </a:r>
          </a:p>
          <a:p>
            <a:pPr>
              <a:lnSpc>
                <a:spcPct val="82000"/>
              </a:lnSpc>
              <a:spcAft>
                <a:spcPts val="0"/>
              </a:spcAft>
            </a:pPr>
            <a:r>
              <a:rPr sz="1800" b="0">
                <a:solidFill>
                  <a:srgbClr val="282828"/>
                </a:solidFill>
                <a:latin typeface="Times New Roman"/>
              </a:rPr>
              <a:t>compiler = Partcompile(subcircuit, allocation)</a:t>
            </a:r>
          </a:p>
          <a:p>
            <a:pPr>
              <a:lnSpc>
                <a:spcPct val="82000"/>
              </a:lnSpc>
              <a:spcAft>
                <a:spcPts val="0"/>
              </a:spcAft>
            </a:pPr>
            <a:r>
              <a:rPr sz="1800" b="0">
                <a:solidFill>
                  <a:srgbClr val="282828"/>
                </a:solidFill>
                <a:latin typeface="Times New Roman"/>
              </a:rPr>
              <a:t>compiled_circuit = compiler.compile_with_teleportion()</a:t>
            </a:r>
          </a:p>
        </p:txBody>
      </p:sp>
      <p:sp>
        <p:nvSpPr>
          <p:cNvPr id="18" name="TextBox 17"/>
          <p:cNvSpPr txBox="1"/>
          <p:nvPr/>
        </p:nvSpPr>
        <p:spPr>
          <a:xfrm>
            <a:off x="713232" y="6053328"/>
            <a:ext cx="10241280" cy="201168"/>
          </a:xfrm>
          <a:prstGeom prst="rect">
            <a:avLst/>
          </a:prstGeom>
          <a:noFill/>
        </p:spPr>
        <p:txBody>
          <a:bodyPr wrap="none" lIns="18288" tIns="18288" rIns="18288" bIns="18288">
            <a:spAutoFit/>
          </a:bodyPr>
          <a:lstStyle/>
          <a:p>
            <a:pPr algn="l"/>
            <a:r>
              <a:rPr sz="900" b="0" i="0">
                <a:solidFill>
                  <a:srgbClr val="5A5A5A"/>
                </a:solidFill>
                <a:latin typeface="Times New Roman"/>
              </a:rPr>
              <a:t>Source: tutorial/adaptdqc_tutorial.ipynb, sections 5-7.</a:t>
            </a:r>
          </a:p>
        </p:txBody>
      </p:sp>
    </p:spTree>
    <p:extLst>
      <p:ext uri="{BB962C8B-B14F-4D97-AF65-F5344CB8AC3E}">
        <p14:creationId xmlns:p14="http://schemas.microsoft.com/office/powerpoint/2010/main" val="78386247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55180</TotalTime>
  <Words>3820</Words>
  <Application>Microsoft Macintosh PowerPoint</Application>
  <PresentationFormat>宽屏</PresentationFormat>
  <Paragraphs>655</Paragraphs>
  <Slides>33</Slides>
  <Notes>32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33</vt:i4>
      </vt:variant>
    </vt:vector>
  </HeadingPairs>
  <TitlesOfParts>
    <vt:vector size="41" baseType="lpstr">
      <vt:lpstr>等线</vt:lpstr>
      <vt:lpstr>FangSong</vt:lpstr>
      <vt:lpstr>STKaiti</vt:lpstr>
      <vt:lpstr>微软雅黑</vt:lpstr>
      <vt:lpstr>Arial</vt:lpstr>
      <vt:lpstr>Cambria Math</vt:lpstr>
      <vt:lpstr>Times New Roman</vt:lpstr>
      <vt:lpstr>Office 主题​​</vt:lpstr>
      <vt:lpstr>PowerPoint 演示文稿</vt:lpstr>
      <vt:lpstr>PowerPoint 演示文稿</vt:lpstr>
      <vt:lpstr>PowerPoint 演示文稿</vt:lpstr>
      <vt:lpstr>There are different communication architectures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 思危</dc:creator>
  <cp:lastModifiedBy>Debin Xiang</cp:lastModifiedBy>
  <cp:revision>509</cp:revision>
  <dcterms:created xsi:type="dcterms:W3CDTF">2023-01-12T04:25:34Z</dcterms:created>
  <dcterms:modified xsi:type="dcterms:W3CDTF">2026-05-29T08:37:07Z</dcterms:modified>
</cp:coreProperties>
</file>