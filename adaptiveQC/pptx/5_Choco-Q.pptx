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9.xml" ContentType="application/vnd.openxmlformats-officedocument.presentationml.tags+xml"/>
  <Override PartName="/ppt/notesSlides/notesSlide19.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2.xml" ContentType="application/vnd.openxmlformats-officedocument.presentationml.tags+xml"/>
  <Override PartName="/ppt/notesSlides/notesSlide2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7.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4762" r:id="rId2"/>
    <p:sldId id="5226" r:id="rId3"/>
    <p:sldId id="4760" r:id="rId4"/>
    <p:sldId id="4765" r:id="rId5"/>
    <p:sldId id="4965" r:id="rId6"/>
    <p:sldId id="4764" r:id="rId7"/>
    <p:sldId id="4761" r:id="rId8"/>
    <p:sldId id="5213" r:id="rId9"/>
    <p:sldId id="5229" r:id="rId10"/>
    <p:sldId id="5227" r:id="rId11"/>
    <p:sldId id="5208" r:id="rId12"/>
    <p:sldId id="5231" r:id="rId13"/>
    <p:sldId id="5209" r:id="rId14"/>
    <p:sldId id="5228" r:id="rId15"/>
    <p:sldId id="5236" r:id="rId16"/>
    <p:sldId id="5237" r:id="rId17"/>
    <p:sldId id="5238" r:id="rId18"/>
    <p:sldId id="5205" r:id="rId19"/>
    <p:sldId id="5232" r:id="rId20"/>
    <p:sldId id="5214" r:id="rId21"/>
    <p:sldId id="5215" r:id="rId22"/>
    <p:sldId id="5240" r:id="rId23"/>
    <p:sldId id="5241" r:id="rId24"/>
    <p:sldId id="5216" r:id="rId25"/>
    <p:sldId id="5225" r:id="rId26"/>
    <p:sldId id="5221" r:id="rId27"/>
    <p:sldId id="5222" r:id="rId28"/>
    <p:sldId id="5233" r:id="rId29"/>
    <p:sldId id="5235" r:id="rId30"/>
    <p:sldId id="5207" r:id="rId31"/>
    <p:sldId id="5243" r:id="rId32"/>
    <p:sldId id="5244"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61" userDrawn="1">
          <p15:clr>
            <a:srgbClr val="A4A3A4"/>
          </p15:clr>
        </p15:guide>
        <p15:guide id="2" pos="7265" userDrawn="1">
          <p15:clr>
            <a:srgbClr val="A4A3A4"/>
          </p15:clr>
        </p15:guide>
        <p15:guide id="3"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428A"/>
    <a:srgbClr val="4472C4"/>
    <a:srgbClr val="1E77B4"/>
    <a:srgbClr val="4F91C0"/>
    <a:srgbClr val="00061F"/>
    <a:srgbClr val="767171"/>
    <a:srgbClr val="FD201F"/>
    <a:srgbClr val="EF88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41"/>
    <p:restoredTop sz="85398"/>
  </p:normalViewPr>
  <p:slideViewPr>
    <p:cSldViewPr snapToGrid="0" snapToObjects="1">
      <p:cViewPr varScale="1">
        <p:scale>
          <a:sx n="95" d="100"/>
          <a:sy n="95" d="100"/>
        </p:scale>
        <p:origin x="1616" y="192"/>
      </p:cViewPr>
      <p:guideLst>
        <p:guide pos="461"/>
        <p:guide pos="7265"/>
        <p:guide orient="horz" pos="2160"/>
      </p:guideLst>
    </p:cSldViewPr>
  </p:slideViewPr>
  <p:notesTextViewPr>
    <p:cViewPr>
      <p:scale>
        <a:sx n="180" d="100"/>
        <a:sy n="18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07676A-CDBA-A14B-A0E9-578F24BBF46E}" type="datetimeFigureOut">
              <a:rPr kumimoji="1" lang="zh-CN" altLang="en-US" smtClean="0"/>
              <a:t>2025/2/26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18D34-B274-1948-8431-CAA3B27C12DF}" type="slidenum">
              <a:rPr kumimoji="1" lang="zh-CN" altLang="en-US" smtClean="0"/>
              <a:t>‹#›</a:t>
            </a:fld>
            <a:endParaRPr kumimoji="1" lang="zh-CN" altLang="en-US"/>
          </a:p>
        </p:txBody>
      </p:sp>
    </p:spTree>
    <p:extLst>
      <p:ext uri="{BB962C8B-B14F-4D97-AF65-F5344CB8AC3E}">
        <p14:creationId xmlns:p14="http://schemas.microsoft.com/office/powerpoint/2010/main" val="2236668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800" dirty="0"/>
              <a:t>Hello everyone, I’m </a:t>
            </a:r>
            <a:r>
              <a:rPr lang="en-US" altLang="zh-CN" sz="2800" dirty="0" err="1"/>
              <a:t>Liqiang</a:t>
            </a:r>
            <a:r>
              <a:rPr lang="en-US" altLang="zh-CN" sz="2800" dirty="0"/>
              <a:t> Lu from </a:t>
            </a:r>
            <a:r>
              <a:rPr lang="en-US" altLang="zh-CN" sz="2800" dirty="0">
                <a:latin typeface="Arial" panose="020B0604020202090204" pitchFamily="34" charset="0"/>
                <a:ea typeface="STKaiti" panose="02010600040101010101" pitchFamily="2" charset="-122"/>
                <a:cs typeface="Arial" panose="020B0604020202090204" pitchFamily="34" charset="0"/>
                <a:sym typeface="+mn-lt"/>
              </a:rPr>
              <a:t>Zhejiang</a:t>
            </a:r>
            <a:r>
              <a:rPr lang="zh-CN" altLang="en-US" sz="2800" dirty="0">
                <a:latin typeface="Arial" panose="020B0604020202090204" pitchFamily="34" charset="0"/>
                <a:ea typeface="STKaiti" panose="02010600040101010101" pitchFamily="2" charset="-122"/>
                <a:cs typeface="Arial" panose="020B0604020202090204" pitchFamily="34" charset="0"/>
                <a:sym typeface="+mn-lt"/>
              </a:rPr>
              <a:t> </a:t>
            </a:r>
            <a:r>
              <a:rPr lang="en-US" altLang="zh-CN" sz="2800" dirty="0">
                <a:latin typeface="Arial" panose="020B0604020202090204" pitchFamily="34" charset="0"/>
                <a:ea typeface="STKaiti" panose="02010600040101010101" pitchFamily="2" charset="-122"/>
                <a:cs typeface="Arial" panose="020B0604020202090204" pitchFamily="34" charset="0"/>
                <a:sym typeface="+mn-lt"/>
              </a:rPr>
              <a:t>University</a:t>
            </a:r>
            <a:r>
              <a:rPr lang="zh-CN" altLang="en-US" sz="2800" dirty="0">
                <a:latin typeface="Arial" panose="020B0604020202090204" pitchFamily="34" charset="0"/>
                <a:ea typeface="STKaiti" panose="02010600040101010101" pitchFamily="2" charset="-122"/>
                <a:cs typeface="Arial" panose="020B0604020202090204" pitchFamily="34" charset="0"/>
                <a:sym typeface="+mn-lt"/>
              </a:rPr>
              <a:t> </a:t>
            </a:r>
            <a:r>
              <a:rPr lang="en-US" altLang="zh-CN" sz="2800" dirty="0"/>
              <a:t>. </a:t>
            </a:r>
            <a:r>
              <a:rPr lang="en-US" altLang="zh-CN" sz="4000" dirty="0"/>
              <a:t>Today, I’m excited to present our work on Choco-Q: Commute Hamiltonian-based QAOA for Constrained Binary Optimization. In this work, we investigate how commutative Hamiltonians can improve both the efficiency and practicality of solving constrained binary optimization problems on quantum hardware.</a:t>
            </a:r>
            <a:endParaRPr lang="en" altLang="zh-CN" sz="1800" dirty="0"/>
          </a:p>
        </p:txBody>
      </p:sp>
      <p:sp>
        <p:nvSpPr>
          <p:cNvPr id="4" name="灯片编号占位符 3"/>
          <p:cNvSpPr>
            <a:spLocks noGrp="1"/>
          </p:cNvSpPr>
          <p:nvPr>
            <p:ph type="sldNum" sz="quarter" idx="5"/>
          </p:nvPr>
        </p:nvSpPr>
        <p:spPr/>
        <p:txBody>
          <a:bodyPr/>
          <a:lstStyle/>
          <a:p>
            <a:fld id="{7A518D34-B274-1948-8431-CAA3B27C12DF}" type="slidenum">
              <a:rPr kumimoji="1" lang="zh-CN" altLang="en-US" smtClean="0"/>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First, I will introduce the background and challenges.</a:t>
            </a:r>
          </a:p>
        </p:txBody>
      </p:sp>
      <p:sp>
        <p:nvSpPr>
          <p:cNvPr id="4" name="灯片编号占位符 3"/>
          <p:cNvSpPr>
            <a:spLocks noGrp="1"/>
          </p:cNvSpPr>
          <p:nvPr>
            <p:ph type="sldNum" sz="quarter" idx="5"/>
          </p:nvPr>
        </p:nvSpPr>
        <p:spPr/>
        <p:txBody>
          <a:bodyPr/>
          <a:lstStyle/>
          <a:p>
            <a:fld id="{4BFA3C6E-C766-40A8-8C90-B12D9D8BB6EE}" type="slidenum">
              <a:rPr lang="zh-CN" altLang="en-US" smtClean="0"/>
              <a:t>2</a:t>
            </a:fld>
            <a:endParaRPr lang="zh-CN" altLang="en-US"/>
          </a:p>
        </p:txBody>
      </p:sp>
    </p:spTree>
    <p:extLst>
      <p:ext uri="{BB962C8B-B14F-4D97-AF65-F5344CB8AC3E}">
        <p14:creationId xmlns:p14="http://schemas.microsoft.com/office/powerpoint/2010/main" val="2905624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constrained binary optimization is to find an assignment of binary variables that minimize or maximize the objective</a:t>
            </a:r>
            <a:r>
              <a:rPr lang="zh-CN" altLang="en-US" dirty="0"/>
              <a:t> </a:t>
            </a:r>
            <a:r>
              <a:rPr lang="en-US" altLang="zh-CN" dirty="0"/>
              <a:t>function under the constraints. Typically, the constraints usually comprise multiple linear equations.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a:t>
            </a:r>
            <a:r>
              <a:rPr lang="zh-CN" altLang="en-US" dirty="0"/>
              <a:t> </a:t>
            </a:r>
            <a:r>
              <a:rPr lang="en-US" altLang="zh-CN" dirty="0"/>
              <a:t>representative applications of this</a:t>
            </a:r>
            <a:r>
              <a:rPr lang="zh-CN" altLang="en-US" dirty="0"/>
              <a:t> </a:t>
            </a:r>
            <a:r>
              <a:rPr lang="en-US" altLang="zh-CN" dirty="0"/>
              <a:t>problem includes facility location, routing planning, project scheduling,</a:t>
            </a:r>
            <a:r>
              <a:rPr lang="zh-CN" altLang="en-US" dirty="0"/>
              <a:t> </a:t>
            </a:r>
            <a:r>
              <a:rPr lang="en-US" altLang="zh-CN" dirty="0"/>
              <a:t>and</a:t>
            </a:r>
            <a:r>
              <a:rPr lang="zh-CN" altLang="en-US" dirty="0"/>
              <a:t> </a:t>
            </a:r>
            <a:r>
              <a:rPr lang="en-US" altLang="zh-CN" dirty="0"/>
              <a:t>portfolio optimization. </a:t>
            </a:r>
          </a:p>
        </p:txBody>
      </p:sp>
      <p:sp>
        <p:nvSpPr>
          <p:cNvPr id="4" name="灯片编号占位符 3"/>
          <p:cNvSpPr>
            <a:spLocks noGrp="1"/>
          </p:cNvSpPr>
          <p:nvPr>
            <p:ph type="sldNum" sz="quarter" idx="5"/>
          </p:nvPr>
        </p:nvSpPr>
        <p:spPr/>
        <p:txBody>
          <a:bodyPr/>
          <a:lstStyle/>
          <a:p>
            <a:fld id="{4BFA3C6E-C766-40A8-8C90-B12D9D8BB6EE}" type="slidenum">
              <a:rPr lang="zh-CN" altLang="en-US" smtClean="0"/>
              <a:t>3</a:t>
            </a:fld>
            <a:endParaRPr lang="zh-CN" altLang="en-US"/>
          </a:p>
        </p:txBody>
      </p:sp>
    </p:spTree>
    <p:extLst>
      <p:ext uri="{BB962C8B-B14F-4D97-AF65-F5344CB8AC3E}">
        <p14:creationId xmlns:p14="http://schemas.microsoft.com/office/powerpoint/2010/main" val="2801620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For example, in facility location problem, the</a:t>
            </a:r>
            <a:r>
              <a:rPr lang="zh-CN" altLang="en-US" dirty="0"/>
              <a:t> </a:t>
            </a:r>
            <a:r>
              <a:rPr kumimoji="1" lang="en-US" altLang="zh-CN" dirty="0"/>
              <a:t>facilities</a:t>
            </a:r>
            <a:r>
              <a:rPr kumimoji="1" lang="zh-CN" altLang="en-US" dirty="0"/>
              <a:t> </a:t>
            </a:r>
            <a:r>
              <a:rPr kumimoji="1" lang="en-US" altLang="zh-CN" dirty="0"/>
              <a:t>is</a:t>
            </a:r>
            <a:r>
              <a:rPr kumimoji="1" lang="zh-CN" altLang="en-US" dirty="0"/>
              <a:t> </a:t>
            </a:r>
            <a:r>
              <a:rPr kumimoji="1" lang="en-US" altLang="zh-CN" dirty="0"/>
              <a:t>used</a:t>
            </a:r>
            <a:r>
              <a:rPr kumimoji="1" lang="zh-CN" altLang="en-US" dirty="0"/>
              <a:t> </a:t>
            </a:r>
            <a:r>
              <a:rPr kumimoji="1" lang="en-US" altLang="zh-CN" dirty="0"/>
              <a:t>to</a:t>
            </a:r>
            <a:r>
              <a:rPr kumimoji="1" lang="zh-CN" altLang="en-US" dirty="0"/>
              <a:t> </a:t>
            </a:r>
            <a:r>
              <a:rPr kumimoji="1" lang="en-US" altLang="zh-CN" dirty="0"/>
              <a:t>supply the demands.</a:t>
            </a:r>
            <a:r>
              <a:rPr kumimoji="1" lang="zh-CN" altLang="en-US" dirty="0"/>
              <a:t> </a:t>
            </a:r>
            <a:r>
              <a:rPr kumimoji="1" lang="en-US" altLang="zh-CN" dirty="0"/>
              <a:t>We</a:t>
            </a:r>
            <a:r>
              <a:rPr kumimoji="1" lang="zh-CN" altLang="en-US" dirty="0"/>
              <a:t> </a:t>
            </a:r>
            <a:r>
              <a:rPr kumimoji="1" lang="en-US" altLang="zh-CN" dirty="0"/>
              <a:t>need</a:t>
            </a:r>
            <a:r>
              <a:rPr kumimoji="1" lang="zh-CN" altLang="en-US" dirty="0"/>
              <a:t> </a:t>
            </a:r>
            <a:r>
              <a:rPr kumimoji="1" lang="en-US" altLang="zh-CN" dirty="0"/>
              <a:t>to</a:t>
            </a:r>
            <a:r>
              <a:rPr kumimoji="1" lang="zh-CN" altLang="en-US" dirty="0"/>
              <a:t> </a:t>
            </a:r>
            <a:r>
              <a:rPr kumimoji="1" lang="en-US" altLang="zh-CN" dirty="0"/>
              <a:t>decide</a:t>
            </a:r>
            <a:r>
              <a:rPr kumimoji="1" lang="zh-CN" altLang="en-US" dirty="0"/>
              <a:t> </a:t>
            </a:r>
            <a:r>
              <a:rPr lang="en-US" altLang="zh-CN" dirty="0"/>
              <a:t>whether to open a facility</a:t>
            </a:r>
            <a:r>
              <a:rPr lang="zh-CN" altLang="en-US" dirty="0"/>
              <a:t> </a:t>
            </a:r>
            <a:r>
              <a:rPr lang="en-US" altLang="zh-CN" dirty="0"/>
              <a:t>and how to assign demands. These decisions are represented by the binary variables. The goal is to minimize the total cost while satisfying several constraints. The constraints include </a:t>
            </a:r>
            <a:r>
              <a:rPr lang="en" altLang="zh-CN" dirty="0">
                <a:effectLst/>
              </a:rPr>
              <a:t>each demand can only be assigned to one facility</a:t>
            </a:r>
            <a:r>
              <a:rPr lang="en-US" altLang="zh-CN" dirty="0"/>
              <a:t>, and an unopened facility does not supply any demand. These constraints can be represented by the equations with binary variables. </a:t>
            </a:r>
            <a:r>
              <a:rPr kumimoji="1" lang="en-US" altLang="zh-CN" dirty="0"/>
              <a:t>The total costs including opening the facilities and supply demands. The cost can be also represented by the binary variables. In the end, we formulate this </a:t>
            </a:r>
            <a:r>
              <a:rPr lang="en-US" altLang="zh-CN" dirty="0"/>
              <a:t>facility location problem as a constrained binary optimization problem.</a:t>
            </a:r>
          </a:p>
        </p:txBody>
      </p:sp>
      <p:sp>
        <p:nvSpPr>
          <p:cNvPr id="4" name="灯片编号占位符 3"/>
          <p:cNvSpPr>
            <a:spLocks noGrp="1"/>
          </p:cNvSpPr>
          <p:nvPr>
            <p:ph type="sldNum" sz="quarter" idx="5"/>
          </p:nvPr>
        </p:nvSpPr>
        <p:spPr/>
        <p:txBody>
          <a:bodyPr/>
          <a:lstStyle/>
          <a:p>
            <a:fld id="{4BFA3C6E-C766-40A8-8C90-B12D9D8BB6EE}" type="slidenum">
              <a:rPr lang="zh-CN" altLang="en-US" smtClean="0"/>
              <a:t>4</a:t>
            </a:fld>
            <a:endParaRPr lang="zh-CN" altLang="en-US"/>
          </a:p>
        </p:txBody>
      </p:sp>
    </p:spTree>
    <p:extLst>
      <p:ext uri="{BB962C8B-B14F-4D97-AF65-F5344CB8AC3E}">
        <p14:creationId xmlns:p14="http://schemas.microsoft.com/office/powerpoint/2010/main" val="630080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Constrained binary optimization problem can be solved by classical computer. Classical methods include approximation algorithms and exact algorithms. Exact methods like branch and bound method suffer from exponential complexity. Approximation algorithms like greedy method require problem-specific designs and do not guarantee global optimality.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5</a:t>
            </a:fld>
            <a:endParaRPr lang="zh-CN" altLang="en-US"/>
          </a:p>
        </p:txBody>
      </p:sp>
    </p:spTree>
    <p:extLst>
      <p:ext uri="{BB962C8B-B14F-4D97-AF65-F5344CB8AC3E}">
        <p14:creationId xmlns:p14="http://schemas.microsoft.com/office/powerpoint/2010/main" val="3578160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address the limitations of classical methods, </a:t>
            </a:r>
            <a:r>
              <a:rPr lang="en-US" altLang="zh-CN" sz="1200" b="1" dirty="0">
                <a:ea typeface="STKaiti" panose="02010600040101010101" pitchFamily="2" charset="-122"/>
                <a:sym typeface="+mn-lt"/>
              </a:rPr>
              <a:t>Quantum approximation optimization algorithm</a:t>
            </a:r>
            <a:r>
              <a:rPr lang="en-US" altLang="zh-CN" dirty="0"/>
              <a:t> is introduced. It is inspired by adiabatic evolution and provides an alternative way to solve constrained optimization problems efficiently.</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dirty="0">
                <a:effectLst/>
                <a:latin typeface="Inter"/>
              </a:rPr>
              <a:t>Adiabatic Evolution</a:t>
            </a:r>
            <a:r>
              <a:rPr lang="en-US" altLang="zh-CN" b="0" i="0" dirty="0">
                <a:effectLst/>
                <a:latin typeface="Inter"/>
              </a:rPr>
              <a:t> starts from preparing a simple driver Hamiltonian. Under the </a:t>
            </a:r>
            <a:r>
              <a:rPr lang="en" altLang="zh-CN" b="0" i="0" dirty="0">
                <a:effectLst/>
                <a:latin typeface="Inter"/>
              </a:rPr>
              <a:t>adiabatic condition, the Hamiltonian is smoothly converted to the </a:t>
            </a:r>
            <a:r>
              <a:rPr lang="en-US" altLang="zh-CN" b="0" i="0" dirty="0">
                <a:solidFill>
                  <a:schemeClr val="tx1"/>
                </a:solidFill>
                <a:effectLst/>
                <a:latin typeface="Inter"/>
              </a:rPr>
              <a:t>o</a:t>
            </a:r>
            <a:r>
              <a:rPr lang="en-US" altLang="zh-CN" dirty="0">
                <a:solidFill>
                  <a:schemeClr val="tx1"/>
                </a:solidFill>
              </a:rPr>
              <a:t>bjective Hamiltonian. Inspired by this, QAOA use repeated simulation of driver Hamiltonian and objective Hamiltonian to construct a variational quantum circuit. The classical optimizer is used to update the parameters. After optimization, Measuring the circuit will give the solutions.</a:t>
            </a:r>
            <a:endParaRPr lang="en-US" altLang="zh-CN" dirty="0"/>
          </a:p>
          <a:p>
            <a:endParaRPr lang="en-US" altLang="zh-CN" dirty="0"/>
          </a:p>
          <a:p>
            <a:r>
              <a:rPr lang="zh-CN" altLang="en-US" dirty="0"/>
              <a:t>为了解决经典方法的局限性，引入了</a:t>
            </a:r>
            <a:r>
              <a:rPr lang="en-US" altLang="zh-CN" dirty="0"/>
              <a:t>QAOA</a:t>
            </a:r>
            <a:r>
              <a:rPr lang="zh-CN" altLang="en-US" dirty="0"/>
              <a:t>。该方法受到绝热演化的启发，为求解约束优化问题提供了一种新的思路</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Microsoft YaHei" panose="020B0503020204020204" pitchFamily="34" charset="-122"/>
            </a:endParaRPr>
          </a:p>
        </p:txBody>
      </p:sp>
      <p:sp>
        <p:nvSpPr>
          <p:cNvPr id="4" name="灯片编号占位符 3"/>
          <p:cNvSpPr>
            <a:spLocks noGrp="1"/>
          </p:cNvSpPr>
          <p:nvPr>
            <p:ph type="sldNum" sz="quarter" idx="5"/>
          </p:nvPr>
        </p:nvSpPr>
        <p:spPr/>
        <p:txBody>
          <a:bodyPr/>
          <a:lstStyle/>
          <a:p>
            <a:fld id="{4BFA3C6E-C766-40A8-8C90-B12D9D8BB6EE}" type="slidenum">
              <a:rPr lang="zh-CN" altLang="en-US" smtClean="0"/>
              <a:t>6</a:t>
            </a:fld>
            <a:endParaRPr lang="zh-CN" altLang="en-US"/>
          </a:p>
        </p:txBody>
      </p:sp>
    </p:spTree>
    <p:extLst>
      <p:ext uri="{BB962C8B-B14F-4D97-AF65-F5344CB8AC3E}">
        <p14:creationId xmlns:p14="http://schemas.microsoft.com/office/powerpoint/2010/main" val="1434216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Existing QAOA algorithms handle constraints in two main ways.</a:t>
            </a:r>
          </a:p>
          <a:p>
            <a:r>
              <a:rPr lang="en-US" altLang="zh-CN" dirty="0"/>
              <a:t>The first approach </a:t>
            </a:r>
            <a:r>
              <a:rPr lang="en-US" altLang="zh-CN" b="1" dirty="0"/>
              <a:t>incorporates constraints as penalty terms in the objective function</a:t>
            </a:r>
            <a:r>
              <a:rPr lang="en-US" altLang="zh-CN" dirty="0"/>
              <a:t>. The constraints are transformed into quadratic term in the objective Hamiltonian.</a:t>
            </a:r>
          </a:p>
          <a:p>
            <a:r>
              <a:rPr lang="en-US" altLang="zh-CN" dirty="0"/>
              <a:t>The second approach </a:t>
            </a:r>
            <a:r>
              <a:rPr lang="en-US" altLang="zh-CN" b="1" dirty="0"/>
              <a:t>utilizes cyclic Hamiltonians</a:t>
            </a:r>
            <a:r>
              <a:rPr lang="en-US" altLang="zh-CN" dirty="0"/>
              <a:t> to enforce multi-qubit summation constraints.</a:t>
            </a:r>
          </a:p>
          <a:p>
            <a:r>
              <a:rPr lang="zh-CN" altLang="en-US" dirty="0"/>
              <a:t>现有的 </a:t>
            </a:r>
            <a:r>
              <a:rPr lang="en-US" altLang="zh-CN" dirty="0"/>
              <a:t>QAOA </a:t>
            </a:r>
            <a:r>
              <a:rPr lang="zh-CN" altLang="en-US" dirty="0"/>
              <a:t>算法主要有两种方法来处理约束问题。</a:t>
            </a:r>
          </a:p>
          <a:p>
            <a:r>
              <a:rPr lang="zh-CN" altLang="en-US" dirty="0"/>
              <a:t>第一种方法是将约束作为惩罚项加入目标函数，但这种方法存在两个问题：一是惩罚系数的选择较为困难，二是约束的维持效果往往不理想。</a:t>
            </a:r>
          </a:p>
          <a:p>
            <a:r>
              <a:rPr lang="zh-CN" altLang="en-US" dirty="0"/>
              <a:t>第二种方法是基于循环哈密顿量（</a:t>
            </a:r>
            <a:r>
              <a:rPr lang="en-US" altLang="zh-CN" dirty="0"/>
              <a:t>cyclic Hamiltonian</a:t>
            </a:r>
            <a:r>
              <a:rPr lang="zh-CN" altLang="en-US" dirty="0"/>
              <a:t>），用于实现多比特求和型约束。这种方法虽然能够在一定程度上保证约束满足，但它只能处理求和型约束，应用范围较为有限。</a:t>
            </a:r>
          </a:p>
          <a:p>
            <a:endParaRPr lang="en-US" altLang="zh-CN"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7</a:t>
            </a:fld>
            <a:endParaRPr lang="zh-CN" altLang="en-US"/>
          </a:p>
        </p:txBody>
      </p:sp>
    </p:spTree>
    <p:extLst>
      <p:ext uri="{BB962C8B-B14F-4D97-AF65-F5344CB8AC3E}">
        <p14:creationId xmlns:p14="http://schemas.microsoft.com/office/powerpoint/2010/main" val="647720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a:t>However, Penalty-term based method cannot determine an appropriate penalty strength and it often fails to effectively enforce constraints. Thus, we can see in this table, the in-constraints rates are lower than </a:t>
                </a:r>
                <a:r>
                  <a:rPr lang="en-US" altLang="zh-CN" b="0" i="0" dirty="0">
                    <a:solidFill>
                      <a:srgbClr val="404040"/>
                    </a:solidFill>
                    <a:effectLst/>
                    <a:latin typeface="Inter"/>
                  </a:rPr>
                  <a:t>one thousandth. Although</a:t>
                </a:r>
                <a:r>
                  <a:rPr lang="zh-CN" altLang="en-US" b="0" i="0" dirty="0">
                    <a:solidFill>
                      <a:srgbClr val="404040"/>
                    </a:solidFill>
                    <a:effectLst/>
                    <a:latin typeface="Inter"/>
                  </a:rPr>
                  <a:t> </a:t>
                </a:r>
                <a:r>
                  <a:rPr lang="en-US" altLang="zh-CN" b="0" i="0" dirty="0">
                    <a:solidFill>
                      <a:srgbClr val="404040"/>
                    </a:solidFill>
                    <a:effectLst/>
                    <a:latin typeface="Inter"/>
                  </a:rPr>
                  <a:t>the</a:t>
                </a:r>
                <a:r>
                  <a:rPr lang="zh-CN" altLang="en-US" b="0" i="0" dirty="0">
                    <a:solidFill>
                      <a:srgbClr val="404040"/>
                    </a:solidFill>
                    <a:effectLst/>
                    <a:latin typeface="Inter"/>
                  </a:rPr>
                  <a:t> </a:t>
                </a:r>
                <a:r>
                  <a:rPr lang="en-US" altLang="zh-CN" b="0" i="0" dirty="0">
                    <a:solidFill>
                      <a:srgbClr val="404040"/>
                    </a:solidFill>
                    <a:effectLst/>
                    <a:latin typeface="Inter"/>
                  </a:rPr>
                  <a:t>Cyclic</a:t>
                </a:r>
                <a:r>
                  <a:rPr lang="zh-CN" altLang="en-US" b="0" i="0" dirty="0">
                    <a:solidFill>
                      <a:srgbClr val="404040"/>
                    </a:solidFill>
                    <a:effectLst/>
                    <a:latin typeface="Inter"/>
                  </a:rPr>
                  <a:t> </a:t>
                </a:r>
                <a:r>
                  <a:rPr lang="en-US" altLang="zh-CN" b="0" i="0" dirty="0">
                    <a:solidFill>
                      <a:srgbClr val="404040"/>
                    </a:solidFill>
                    <a:effectLst/>
                    <a:latin typeface="Inter"/>
                  </a:rPr>
                  <a:t>Hamiltonian-based</a:t>
                </a:r>
                <a:r>
                  <a:rPr lang="zh-CN" altLang="en-US" b="0" i="0" dirty="0">
                    <a:solidFill>
                      <a:srgbClr val="404040"/>
                    </a:solidFill>
                    <a:effectLst/>
                    <a:latin typeface="Inter"/>
                  </a:rPr>
                  <a:t> </a:t>
                </a:r>
                <a:r>
                  <a:rPr lang="en-US" altLang="zh-CN" b="0" i="0" dirty="0">
                    <a:solidFill>
                      <a:srgbClr val="404040"/>
                    </a:solidFill>
                    <a:effectLst/>
                    <a:latin typeface="Inter"/>
                  </a:rPr>
                  <a:t>method</a:t>
                </a:r>
                <a:r>
                  <a:rPr lang="zh-CN" altLang="en-US" b="0" i="0" dirty="0">
                    <a:solidFill>
                      <a:srgbClr val="404040"/>
                    </a:solidFill>
                    <a:effectLst/>
                    <a:latin typeface="Inter"/>
                  </a:rPr>
                  <a:t> </a:t>
                </a:r>
                <a:r>
                  <a:rPr lang="en-US" altLang="zh-CN" b="0" i="0" dirty="0">
                    <a:solidFill>
                      <a:srgbClr val="404040"/>
                    </a:solidFill>
                    <a:effectLst/>
                    <a:latin typeface="Inter"/>
                  </a:rPr>
                  <a:t>can</a:t>
                </a:r>
                <a:r>
                  <a:rPr lang="zh-CN" altLang="en-US" b="0" i="0" dirty="0">
                    <a:solidFill>
                      <a:srgbClr val="404040"/>
                    </a:solidFill>
                    <a:effectLst/>
                    <a:latin typeface="Inter"/>
                  </a:rPr>
                  <a:t> </a:t>
                </a:r>
                <a:r>
                  <a:rPr lang="en-US" altLang="zh-CN" b="0" i="0" dirty="0">
                    <a:solidFill>
                      <a:srgbClr val="404040"/>
                    </a:solidFill>
                    <a:effectLst/>
                    <a:latin typeface="Inter"/>
                  </a:rPr>
                  <a:t>improve</a:t>
                </a:r>
                <a:r>
                  <a:rPr lang="zh-CN" altLang="en-US" b="0" i="0" dirty="0">
                    <a:solidFill>
                      <a:srgbClr val="404040"/>
                    </a:solidFill>
                    <a:effectLst/>
                    <a:latin typeface="Inter"/>
                  </a:rPr>
                  <a:t> </a:t>
                </a:r>
                <a:r>
                  <a:rPr lang="en-US" altLang="zh-CN" b="0" i="0" dirty="0">
                    <a:solidFill>
                      <a:srgbClr val="404040"/>
                    </a:solidFill>
                    <a:effectLst/>
                    <a:latin typeface="Inter"/>
                  </a:rPr>
                  <a:t>the</a:t>
                </a:r>
                <a:r>
                  <a:rPr lang="zh-CN" altLang="en-US" b="0" i="0" dirty="0">
                    <a:solidFill>
                      <a:srgbClr val="404040"/>
                    </a:solidFill>
                    <a:effectLst/>
                    <a:latin typeface="Inter"/>
                  </a:rPr>
                  <a:t> </a:t>
                </a:r>
                <a:r>
                  <a:rPr lang="en-US" altLang="zh-CN" dirty="0"/>
                  <a:t>in-constraints</a:t>
                </a:r>
                <a:r>
                  <a:rPr lang="zh-CN" altLang="en-US" b="0" i="0" dirty="0">
                    <a:solidFill>
                      <a:srgbClr val="404040"/>
                    </a:solidFill>
                    <a:effectLst/>
                    <a:latin typeface="Inter"/>
                  </a:rPr>
                  <a:t> </a:t>
                </a:r>
                <a:r>
                  <a:rPr lang="en-US" altLang="zh-CN" b="0" i="0" dirty="0">
                    <a:solidFill>
                      <a:srgbClr val="404040"/>
                    </a:solidFill>
                    <a:effectLst/>
                    <a:latin typeface="Inter"/>
                  </a:rPr>
                  <a:t>rate, </a:t>
                </a:r>
                <a:r>
                  <a:rPr lang="en-US" altLang="zh-CN" dirty="0"/>
                  <a:t>it is limited to summation-format constraints. Thereby, its success rate is quite low.</a:t>
                </a:r>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Arial" panose="020B0604020202020204" pitchFamily="34" charset="0"/>
                    <a:ea typeface="STKaiti" panose="02010600040101010101" pitchFamily="2" charset="-122"/>
                    <a:cs typeface="Arial" panose="020B0604020202020204" pitchFamily="34" charset="0"/>
                    <a:sym typeface="+mn-lt"/>
                  </a:rPr>
                  <a:t>第一个过程需要</a:t>
                </a:r>
                <a:r>
                  <a:rPr lang="en-US" altLang="zh-CN" b="1" i="0">
                    <a:solidFill>
                      <a:srgbClr val="05428A"/>
                    </a:solidFill>
                    <a:latin typeface="Cambria Math" panose="02040503050406030204" pitchFamily="18" charset="0"/>
                    <a:ea typeface="微软雅黑" panose="020B0503020204020204" pitchFamily="34" charset="-122"/>
                    <a:cs typeface="Times New Roman" panose="02020503050405090304" pitchFamily="18" charset="0"/>
                  </a:rPr>
                  <a:t>𝟐^𝑵  </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circuits</a:t>
                </a:r>
                <a:r>
                  <a:rPr lang="zh-CN" altLang="en-US" b="1" dirty="0">
                    <a:solidFill>
                      <a:srgbClr val="05428A"/>
                    </a:solidFill>
                    <a:latin typeface="Arial" panose="020B0604020202020204" pitchFamily="34" charset="0"/>
                    <a:cs typeface="Arial" panose="020B0604020202020204" pitchFamily="34" charset="0"/>
                  </a:rPr>
                  <a:t> are executed </a:t>
                </a:r>
                <a:r>
                  <a:rPr lang="en-US" altLang="zh-CN" b="1" dirty="0">
                    <a:solidFill>
                      <a:srgbClr val="05428A"/>
                    </a:solidFill>
                    <a:latin typeface="Arial" panose="020B0604020202020204" pitchFamily="34" charset="0"/>
                    <a:cs typeface="Arial" panose="020B0604020202020204" pitchFamily="34" charset="0"/>
                  </a:rPr>
                  <a:t>to</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measure</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qubits</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on</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all</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basis</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states</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05428A"/>
                    </a:solidFill>
                    <a:effectLst/>
                    <a:latin typeface="Arial" panose="020B0604020202020204" pitchFamily="34" charset="0"/>
                    <a:cs typeface="Arial" panose="020B0604020202020204" pitchFamily="34" charset="0"/>
                  </a:rPr>
                  <a:t>和</a:t>
                </a:r>
                <a:r>
                  <a:rPr lang="en-US" altLang="zh-CN" b="1" i="0">
                    <a:solidFill>
                      <a:srgbClr val="05428A"/>
                    </a:solidFill>
                    <a:latin typeface="Cambria Math" panose="02040503050406030204" pitchFamily="18" charset="0"/>
                    <a:ea typeface="Cambria Math" panose="02040503050406030204" pitchFamily="18" charset="0"/>
                    <a:cs typeface="Times New Roman" panose="02020503050405090304" pitchFamily="18" charset="0"/>
                  </a:rPr>
                  <a:t>𝓞(</a:t>
                </a:r>
                <a:r>
                  <a:rPr lang="en-US" altLang="zh-CN" b="1" i="0">
                    <a:solidFill>
                      <a:srgbClr val="05428A"/>
                    </a:solidFill>
                    <a:latin typeface="Cambria Math" panose="02040503050406030204" pitchFamily="18" charset="0"/>
                    <a:ea typeface="微软雅黑" panose="020B0503020204020204" pitchFamily="34" charset="-122"/>
                    <a:cs typeface="Times New Roman" panose="02020503050405090304" pitchFamily="18" charset="0"/>
                  </a:rPr>
                  <a:t>𝟒^𝑵)</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complexity</a:t>
                </a:r>
                <a:r>
                  <a:rPr lang="zh-CN" altLang="en-US" b="1" dirty="0">
                    <a:solidFill>
                      <a:srgbClr val="05428A"/>
                    </a:solidFill>
                    <a:latin typeface="Arial" panose="020B0604020202020204" pitchFamily="34" charset="0"/>
                    <a:cs typeface="Arial" panose="020B0604020202020204" pitchFamily="34" charset="0"/>
                  </a:rPr>
                  <a:t>的复杂度计算逆矩阵</a:t>
                </a:r>
                <a:endParaRPr lang="en-US" altLang="zh-CN" b="1" dirty="0">
                  <a:solidFill>
                    <a:srgbClr val="05428A"/>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Arial" panose="020B0604020202020204" pitchFamily="34" charset="0"/>
                    <a:ea typeface="STKaiti" panose="02010600040101010101" pitchFamily="2" charset="-122"/>
                    <a:cs typeface="Arial" panose="020B0604020202020204" pitchFamily="34" charset="0"/>
                    <a:sym typeface="+mn-lt"/>
                  </a:rPr>
                  <a:t>第一个过程需要</a:t>
                </a:r>
                <a:r>
                  <a:rPr lang="en-US" altLang="zh-CN" b="1" i="0">
                    <a:solidFill>
                      <a:srgbClr val="05428A"/>
                    </a:solidFill>
                    <a:latin typeface="Cambria Math" panose="02040503050406030204" pitchFamily="18" charset="0"/>
                    <a:ea typeface="Cambria Math" panose="02040503050406030204" pitchFamily="18" charset="0"/>
                    <a:cs typeface="Times New Roman" panose="02020503050405090304" pitchFamily="18" charset="0"/>
                  </a:rPr>
                  <a:t>𝓞(</a:t>
                </a:r>
                <a:r>
                  <a:rPr lang="en-US" altLang="zh-CN" b="1" i="0">
                    <a:solidFill>
                      <a:srgbClr val="05428A"/>
                    </a:solidFill>
                    <a:latin typeface="Cambria Math" panose="02040503050406030204" pitchFamily="18" charset="0"/>
                    <a:ea typeface="微软雅黑" panose="020B0503020204020204" pitchFamily="34" charset="-122"/>
                    <a:cs typeface="Times New Roman" panose="02020503050405090304" pitchFamily="18" charset="0"/>
                  </a:rPr>
                  <a:t>𝟒^𝑵)</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complexity</a:t>
                </a:r>
                <a:r>
                  <a:rPr lang="en-US" altLang="zh-CN" b="1" baseline="0" dirty="0">
                    <a:solidFill>
                      <a:srgbClr val="05428A"/>
                    </a:solidFill>
                    <a:latin typeface="Arial" panose="020B0604020202020204" pitchFamily="34" charset="0"/>
                    <a:cs typeface="Arial" panose="020B0604020202020204" pitchFamily="34" charset="0"/>
                  </a:rPr>
                  <a:t> </a:t>
                </a:r>
                <a:r>
                  <a:rPr lang="zh-CN" altLang="en-US" b="1" baseline="0" dirty="0">
                    <a:solidFill>
                      <a:srgbClr val="05428A"/>
                    </a:solidFill>
                    <a:latin typeface="Arial" panose="020B0604020202020204" pitchFamily="34" charset="0"/>
                    <a:cs typeface="Arial" panose="020B0604020202020204" pitchFamily="34" charset="0"/>
                  </a:rPr>
                  <a:t>的乘法计算</a:t>
                </a:r>
                <a:endParaRPr lang="en-US" altLang="zh-CN" b="1" baseline="0" dirty="0">
                  <a:solidFill>
                    <a:srgbClr val="05428A"/>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baseline="0" dirty="0">
                    <a:solidFill>
                      <a:srgbClr val="05428A"/>
                    </a:solidFill>
                    <a:effectLst/>
                    <a:latin typeface="Arial" panose="020B0604020202020204" pitchFamily="34" charset="0"/>
                    <a:cs typeface="Arial" panose="020B0604020202020204" pitchFamily="34" charset="0"/>
                  </a:rPr>
                  <a:t>该方法在时间和空间上被限制不能应用于更大规模的量子电路</a:t>
                </a:r>
                <a:endParaRPr lang="en-US" altLang="zh-CN" dirty="0">
                  <a:effectLst/>
                  <a:latin typeface="Microsoft YaHei" panose="020B0503020204020204" pitchFamily="34" charset="-122"/>
                </a:endParaRPr>
              </a:p>
            </p:txBody>
          </p:sp>
        </mc:Fallback>
      </mc:AlternateContent>
      <p:sp>
        <p:nvSpPr>
          <p:cNvPr id="4" name="灯片编号占位符 3"/>
          <p:cNvSpPr>
            <a:spLocks noGrp="1"/>
          </p:cNvSpPr>
          <p:nvPr>
            <p:ph type="sldNum" sz="quarter" idx="5"/>
          </p:nvPr>
        </p:nvSpPr>
        <p:spPr/>
        <p:txBody>
          <a:bodyPr/>
          <a:lstStyle/>
          <a:p>
            <a:fld id="{4BFA3C6E-C766-40A8-8C90-B12D9D8BB6EE}" type="slidenum">
              <a:rPr lang="zh-CN" altLang="en-US" smtClean="0"/>
              <a:t>8</a:t>
            </a:fld>
            <a:endParaRPr lang="zh-CN" altLang="en-US"/>
          </a:p>
        </p:txBody>
      </p:sp>
    </p:spTree>
    <p:extLst>
      <p:ext uri="{BB962C8B-B14F-4D97-AF65-F5344CB8AC3E}">
        <p14:creationId xmlns:p14="http://schemas.microsoft.com/office/powerpoint/2010/main" val="3082454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Besides, existing algorithms typically require </a:t>
            </a:r>
            <a:r>
              <a:rPr lang="en-US" altLang="zh-CN" b="1" dirty="0"/>
              <a:t>a large number of QAOA layers</a:t>
            </a:r>
            <a:r>
              <a:rPr lang="en-US" altLang="zh-CN" dirty="0"/>
              <a:t> to theoretically achieve the optimal solution. However, this introduces two major challenges:</a:t>
            </a:r>
          </a:p>
          <a:p>
            <a:r>
              <a:rPr lang="en-US" altLang="zh-CN" dirty="0"/>
              <a:t>First, </a:t>
            </a:r>
            <a:r>
              <a:rPr lang="en-US" altLang="zh-CN" b="1" dirty="0"/>
              <a:t>large circuit depth</a:t>
            </a:r>
            <a:r>
              <a:rPr lang="en-US" altLang="zh-CN" dirty="0"/>
              <a:t> makes it difficult to deploy in real-world quantum hardware due to noise, resulting in unstable computation.</a:t>
            </a:r>
          </a:p>
          <a:p>
            <a:r>
              <a:rPr lang="en-US" altLang="zh-CN" dirty="0"/>
              <a:t>Second, as the number of QAOA layers increases, the number of parameters grows accordingly. This complex parameter space makes the optimization process difficult to converge, which limits practical effectiveness.</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 a word, current quantum approaches face many challenges, such as low in-constraints rates, low success rates, and long end-to-end latency.</a:t>
            </a:r>
          </a:p>
          <a:p>
            <a:endParaRPr lang="en-US" altLang="zh-CN" dirty="0"/>
          </a:p>
          <a:p>
            <a:endParaRPr lang="en-US" altLang="zh-CN" dirty="0"/>
          </a:p>
          <a:p>
            <a:r>
              <a:rPr lang="zh-CN" altLang="en-US" dirty="0"/>
              <a:t>现有算法往往需要</a:t>
            </a:r>
            <a:r>
              <a:rPr lang="zh-CN" altLang="en-US" b="1" dirty="0"/>
              <a:t>大量的 </a:t>
            </a:r>
            <a:r>
              <a:rPr lang="en-US" altLang="zh-CN" b="1" dirty="0"/>
              <a:t>QAOA </a:t>
            </a:r>
            <a:r>
              <a:rPr lang="zh-CN" altLang="en-US" b="1" dirty="0"/>
              <a:t>层</a:t>
            </a:r>
            <a:r>
              <a:rPr lang="zh-CN" altLang="en-US" dirty="0"/>
              <a:t>才能在理论上获得最优解。然而，这带来了两个主要问题：</a:t>
            </a:r>
          </a:p>
          <a:p>
            <a:r>
              <a:rPr lang="zh-CN" altLang="en-US" dirty="0"/>
              <a:t>首先，</a:t>
            </a:r>
            <a:r>
              <a:rPr lang="zh-CN" altLang="en-US" b="1" dirty="0"/>
              <a:t>电路深度过大</a:t>
            </a:r>
            <a:r>
              <a:rPr lang="zh-CN" altLang="en-US" dirty="0"/>
              <a:t>，在真实量子硬件的噪声环境下难以实际部署，导致计算结果不稳定。</a:t>
            </a:r>
          </a:p>
          <a:p>
            <a:r>
              <a:rPr lang="zh-CN" altLang="en-US" dirty="0"/>
              <a:t>其次，</a:t>
            </a:r>
            <a:r>
              <a:rPr lang="zh-CN" altLang="en-US" b="1" dirty="0"/>
              <a:t>参数空间过于复杂</a:t>
            </a:r>
            <a:r>
              <a:rPr lang="zh-CN" altLang="en-US" dirty="0"/>
              <a:t>，随着 </a:t>
            </a:r>
            <a:r>
              <a:rPr lang="en-US" altLang="zh-CN" dirty="0"/>
              <a:t>QAOA </a:t>
            </a:r>
            <a:r>
              <a:rPr lang="zh-CN" altLang="en-US" dirty="0"/>
              <a:t>层数的增加，优化所需的参数数量也随之增长，导致优化过程难以收敛，使得理论上的优势难以转化为实际效果。</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9</a:t>
            </a:fld>
            <a:endParaRPr lang="zh-CN" altLang="en-US"/>
          </a:p>
        </p:txBody>
      </p:sp>
    </p:spTree>
    <p:extLst>
      <p:ext uri="{BB962C8B-B14F-4D97-AF65-F5344CB8AC3E}">
        <p14:creationId xmlns:p14="http://schemas.microsoft.com/office/powerpoint/2010/main" val="1536470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To handle these challenges, we propose Choco-Q, a formal and universal framework for constrained binary optimization problems.</a:t>
            </a:r>
          </a:p>
        </p:txBody>
      </p:sp>
      <p:sp>
        <p:nvSpPr>
          <p:cNvPr id="4" name="灯片编号占位符 3"/>
          <p:cNvSpPr>
            <a:spLocks noGrp="1"/>
          </p:cNvSpPr>
          <p:nvPr>
            <p:ph type="sldNum" sz="quarter" idx="5"/>
          </p:nvPr>
        </p:nvSpPr>
        <p:spPr/>
        <p:txBody>
          <a:bodyPr/>
          <a:lstStyle/>
          <a:p>
            <a:fld id="{4BFA3C6E-C766-40A8-8C90-B12D9D8BB6EE}" type="slidenum">
              <a:rPr lang="zh-CN" altLang="en-US" smtClean="0"/>
              <a:t>10</a:t>
            </a:fld>
            <a:endParaRPr lang="zh-CN" altLang="en-US"/>
          </a:p>
        </p:txBody>
      </p:sp>
    </p:spTree>
    <p:extLst>
      <p:ext uri="{BB962C8B-B14F-4D97-AF65-F5344CB8AC3E}">
        <p14:creationId xmlns:p14="http://schemas.microsoft.com/office/powerpoint/2010/main" val="40352403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Our work is inspired by the Heisenberg picture. If </a:t>
            </a:r>
            <a:r>
              <a:rPr kumimoji="1" lang="en-US" altLang="zh-CN" dirty="0">
                <a:latin typeface="+mn-ea"/>
              </a:rPr>
              <a:t>System</a:t>
            </a:r>
            <a:r>
              <a:rPr kumimoji="1" lang="zh-CN" altLang="en-US" dirty="0">
                <a:latin typeface="+mn-ea"/>
              </a:rPr>
              <a:t> </a:t>
            </a:r>
            <a:r>
              <a:rPr kumimoji="1" lang="en-US" altLang="zh-CN" dirty="0">
                <a:latin typeface="+mn-ea"/>
              </a:rPr>
              <a:t>Hamiltonian</a:t>
            </a:r>
            <a:r>
              <a:rPr kumimoji="1" lang="zh-CN" altLang="en-US" dirty="0">
                <a:latin typeface="+mn-ea"/>
              </a:rPr>
              <a:t> </a:t>
            </a:r>
            <a:r>
              <a:rPr kumimoji="1" lang="en-US" altLang="zh-CN" dirty="0">
                <a:latin typeface="+mn-ea"/>
              </a:rPr>
              <a:t>‘</a:t>
            </a:r>
            <a:r>
              <a:rPr lang="en-US" altLang="zh-CN" dirty="0"/>
              <a:t>H’ and </a:t>
            </a:r>
            <a:r>
              <a:rPr kumimoji="1" lang="en-US" altLang="zh-CN" sz="1200" b="1" dirty="0">
                <a:latin typeface="+mn-ea"/>
              </a:rPr>
              <a:t>Arbitrary</a:t>
            </a:r>
            <a:r>
              <a:rPr kumimoji="1" lang="zh-CN" altLang="en-US" sz="1200" b="1" dirty="0">
                <a:latin typeface="+mn-ea"/>
              </a:rPr>
              <a:t> </a:t>
            </a:r>
            <a:r>
              <a:rPr kumimoji="1" lang="en-US" altLang="zh-CN" dirty="0">
                <a:latin typeface="+mn-ea"/>
              </a:rPr>
              <a:t>o</a:t>
            </a:r>
            <a:r>
              <a:rPr kumimoji="1" lang="en-US" altLang="zh-CN" sz="1200" b="1" dirty="0">
                <a:latin typeface="+mn-ea"/>
              </a:rPr>
              <a:t>perator</a:t>
            </a:r>
            <a:r>
              <a:rPr kumimoji="1" lang="zh-CN" altLang="en-US" sz="1200" b="1" dirty="0">
                <a:latin typeface="+mn-ea"/>
              </a:rPr>
              <a:t> </a:t>
            </a:r>
            <a:r>
              <a:rPr kumimoji="1" lang="en-US" altLang="zh-CN" sz="1200" b="1" dirty="0">
                <a:latin typeface="+mn-ea"/>
              </a:rPr>
              <a:t>‘</a:t>
            </a:r>
            <a:r>
              <a:rPr lang="en-US" altLang="zh-CN" dirty="0"/>
              <a:t>A’ commute, </a:t>
            </a:r>
            <a:r>
              <a:rPr kumimoji="1" lang="en-US" altLang="zh-CN" sz="1200" b="1" dirty="0">
                <a:latin typeface="+mn-ea"/>
              </a:rPr>
              <a:t>arbitrary</a:t>
            </a:r>
            <a:r>
              <a:rPr kumimoji="1" lang="zh-CN" altLang="en-US" sz="1200" b="1" dirty="0">
                <a:latin typeface="+mn-ea"/>
              </a:rPr>
              <a:t> </a:t>
            </a:r>
            <a:r>
              <a:rPr kumimoji="1" lang="en-US" altLang="zh-CN" sz="1200" b="1" dirty="0">
                <a:latin typeface="+mn-ea"/>
              </a:rPr>
              <a:t>operator </a:t>
            </a:r>
            <a:r>
              <a:rPr lang="en-US" altLang="zh-CN" dirty="0"/>
              <a:t>remains unchanged during the evolution process.</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我们从海森堡绘景中得到启发，只要 </a:t>
            </a:r>
            <a:r>
              <a:rPr lang="en-US" altLang="zh-CN" dirty="0"/>
              <a:t>H </a:t>
            </a:r>
            <a:r>
              <a:rPr lang="zh-CN" altLang="en-US" dirty="0"/>
              <a:t>和 </a:t>
            </a:r>
            <a:r>
              <a:rPr lang="en-US" altLang="zh-CN" dirty="0"/>
              <a:t>A</a:t>
            </a:r>
            <a:r>
              <a:rPr lang="zh-CN" altLang="en-US" dirty="0"/>
              <a:t> 对易，那么该算符在演化过程中不会发生变化。</a:t>
            </a:r>
          </a:p>
          <a:p>
            <a:endParaRPr lang="en-US" altLang="zh-CN"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11</a:t>
            </a:fld>
            <a:endParaRPr lang="zh-CN" altLang="en-US"/>
          </a:p>
        </p:txBody>
      </p:sp>
    </p:spTree>
    <p:extLst>
      <p:ext uri="{BB962C8B-B14F-4D97-AF65-F5344CB8AC3E}">
        <p14:creationId xmlns:p14="http://schemas.microsoft.com/office/powerpoint/2010/main" val="364930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Correspondingly, we apply this concept to constrained binary optimization. we find that if driver Hamiltonian commutes with the </a:t>
            </a:r>
            <a:r>
              <a:rPr kumimoji="1" lang="en-US" altLang="zh-CN" sz="1200" b="1" dirty="0"/>
              <a:t>constraints operator, </a:t>
            </a:r>
            <a:r>
              <a:rPr lang="en-US" altLang="zh-CN" dirty="0"/>
              <a:t>the constraints are always satisfied in the evolution.</a:t>
            </a:r>
          </a:p>
        </p:txBody>
      </p:sp>
      <p:sp>
        <p:nvSpPr>
          <p:cNvPr id="4" name="灯片编号占位符 3"/>
          <p:cNvSpPr>
            <a:spLocks noGrp="1"/>
          </p:cNvSpPr>
          <p:nvPr>
            <p:ph type="sldNum" sz="quarter" idx="5"/>
          </p:nvPr>
        </p:nvSpPr>
        <p:spPr/>
        <p:txBody>
          <a:bodyPr/>
          <a:lstStyle/>
          <a:p>
            <a:fld id="{4BFA3C6E-C766-40A8-8C90-B12D9D8BB6EE}" type="slidenum">
              <a:rPr lang="zh-CN" altLang="en-US" smtClean="0"/>
              <a:t>12</a:t>
            </a:fld>
            <a:endParaRPr lang="zh-CN" altLang="en-US"/>
          </a:p>
        </p:txBody>
      </p:sp>
    </p:spTree>
    <p:extLst>
      <p:ext uri="{BB962C8B-B14F-4D97-AF65-F5344CB8AC3E}">
        <p14:creationId xmlns:p14="http://schemas.microsoft.com/office/powerpoint/2010/main" val="3495517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can interpret this as the projection of the operator always remaining on the same plane, ensuring that the quantum state perfectly satisfies all constraints.</a:t>
            </a:r>
          </a:p>
        </p:txBody>
      </p:sp>
      <p:sp>
        <p:nvSpPr>
          <p:cNvPr id="4" name="灯片编号占位符 3"/>
          <p:cNvSpPr>
            <a:spLocks noGrp="1"/>
          </p:cNvSpPr>
          <p:nvPr>
            <p:ph type="sldNum" sz="quarter" idx="5"/>
          </p:nvPr>
        </p:nvSpPr>
        <p:spPr/>
        <p:txBody>
          <a:bodyPr/>
          <a:lstStyle/>
          <a:p>
            <a:fld id="{4BFA3C6E-C766-40A8-8C90-B12D9D8BB6EE}" type="slidenum">
              <a:rPr lang="zh-CN" altLang="en-US" smtClean="0"/>
              <a:t>13</a:t>
            </a:fld>
            <a:endParaRPr lang="zh-CN" altLang="en-US"/>
          </a:p>
        </p:txBody>
      </p:sp>
    </p:spTree>
    <p:extLst>
      <p:ext uri="{BB962C8B-B14F-4D97-AF65-F5344CB8AC3E}">
        <p14:creationId xmlns:p14="http://schemas.microsoft.com/office/powerpoint/2010/main" val="2669445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circuit implementation, we first select a solution</a:t>
            </a:r>
            <a:r>
              <a:rPr lang="zh-CN" altLang="en-US" dirty="0"/>
              <a:t> </a:t>
            </a:r>
            <a:r>
              <a:rPr lang="en-US" altLang="zh-CN" dirty="0"/>
              <a:t>under</a:t>
            </a:r>
            <a:r>
              <a:rPr lang="zh-CN" altLang="en-US" dirty="0"/>
              <a:t> </a:t>
            </a:r>
            <a:r>
              <a:rPr lang="en-US" altLang="zh-CN" dirty="0"/>
              <a:t>constraints as the initial state.</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在电路实现上，首先选取一个可行解作为初始态。</a:t>
            </a:r>
          </a:p>
          <a:p>
            <a:endParaRPr lang="en-US" altLang="zh-CN"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14</a:t>
            </a:fld>
            <a:endParaRPr lang="zh-CN" altLang="en-US"/>
          </a:p>
        </p:txBody>
      </p:sp>
    </p:spTree>
    <p:extLst>
      <p:ext uri="{BB962C8B-B14F-4D97-AF65-F5344CB8AC3E}">
        <p14:creationId xmlns:p14="http://schemas.microsoft.com/office/powerpoint/2010/main" val="2861330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Secondly, we</a:t>
            </a:r>
            <a:r>
              <a:rPr lang="zh-CN" altLang="en-US" dirty="0"/>
              <a:t> </a:t>
            </a:r>
            <a:r>
              <a:rPr lang="en-US" altLang="zh-CN" dirty="0"/>
              <a:t>construct the</a:t>
            </a:r>
            <a:r>
              <a:rPr lang="zh-CN" altLang="en-US" dirty="0"/>
              <a:t> </a:t>
            </a:r>
            <a:r>
              <a:rPr lang="en-US" altLang="zh-CN" dirty="0"/>
              <a:t>driver</a:t>
            </a:r>
            <a:r>
              <a:rPr lang="zh-CN" altLang="en-US" dirty="0"/>
              <a:t> </a:t>
            </a:r>
            <a:r>
              <a:rPr lang="en-US" altLang="zh-CN" dirty="0"/>
              <a:t>Hamiltonian based on the</a:t>
            </a:r>
            <a:r>
              <a:rPr lang="zh-CN" altLang="en-US" dirty="0"/>
              <a:t> </a:t>
            </a:r>
            <a:r>
              <a:rPr lang="en-US" altLang="zh-CN" dirty="0"/>
              <a:t>constraints</a:t>
            </a:r>
            <a:r>
              <a:rPr lang="zh-CN" altLang="en-US" dirty="0"/>
              <a:t> </a:t>
            </a:r>
            <a:r>
              <a:rPr lang="en-US" altLang="zh-CN" dirty="0"/>
              <a:t>equation</a:t>
            </a:r>
            <a:r>
              <a:rPr lang="zh-CN" altLang="en-US" dirty="0"/>
              <a:t> </a:t>
            </a:r>
            <a:r>
              <a:rPr lang="en-US" altLang="zh-CN" dirty="0"/>
              <a:t>of the</a:t>
            </a:r>
            <a:r>
              <a:rPr lang="zh-CN" altLang="en-US" dirty="0"/>
              <a:t> </a:t>
            </a:r>
            <a:r>
              <a:rPr lang="en-US" altLang="zh-CN" dirty="0"/>
              <a:t>problem.</a:t>
            </a:r>
          </a:p>
        </p:txBody>
      </p:sp>
      <p:sp>
        <p:nvSpPr>
          <p:cNvPr id="4" name="灯片编号占位符 3"/>
          <p:cNvSpPr>
            <a:spLocks noGrp="1"/>
          </p:cNvSpPr>
          <p:nvPr>
            <p:ph type="sldNum" sz="quarter" idx="5"/>
          </p:nvPr>
        </p:nvSpPr>
        <p:spPr/>
        <p:txBody>
          <a:bodyPr/>
          <a:lstStyle/>
          <a:p>
            <a:fld id="{4BFA3C6E-C766-40A8-8C90-B12D9D8BB6EE}" type="slidenum">
              <a:rPr lang="zh-CN" altLang="en-US" smtClean="0"/>
              <a:t>15</a:t>
            </a:fld>
            <a:endParaRPr lang="zh-CN" altLang="en-US"/>
          </a:p>
        </p:txBody>
      </p:sp>
    </p:spTree>
    <p:extLst>
      <p:ext uri="{BB962C8B-B14F-4D97-AF65-F5344CB8AC3E}">
        <p14:creationId xmlns:p14="http://schemas.microsoft.com/office/powerpoint/2010/main" val="7721032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再对其进行哈密顿量模拟，并将其施加到量子电路中。</a:t>
            </a:r>
          </a:p>
          <a:p>
            <a:r>
              <a:rPr lang="en-US" altLang="zh-CN" dirty="0"/>
              <a:t>Then, we</a:t>
            </a:r>
            <a:r>
              <a:rPr lang="zh-CN" altLang="en-US" dirty="0"/>
              <a:t> </a:t>
            </a:r>
            <a:r>
              <a:rPr lang="en-US" altLang="zh-CN" dirty="0"/>
              <a:t>perform Hamiltonian simulation and apply the</a:t>
            </a:r>
            <a:r>
              <a:rPr lang="zh-CN" altLang="en-US" dirty="0"/>
              <a:t> </a:t>
            </a:r>
            <a:r>
              <a:rPr lang="en-US" altLang="zh-CN" dirty="0"/>
              <a:t>unitary</a:t>
            </a:r>
            <a:r>
              <a:rPr lang="zh-CN" altLang="en-US" dirty="0"/>
              <a:t> </a:t>
            </a:r>
            <a:r>
              <a:rPr lang="en-US" altLang="zh-CN" dirty="0"/>
              <a:t>of</a:t>
            </a:r>
            <a:r>
              <a:rPr lang="zh-CN" altLang="en-US" dirty="0"/>
              <a:t> </a:t>
            </a:r>
            <a:r>
              <a:rPr lang="en-US" altLang="zh-CN" dirty="0"/>
              <a:t>Hamiltonian to the quantum circuit.</a:t>
            </a:r>
          </a:p>
        </p:txBody>
      </p:sp>
      <p:sp>
        <p:nvSpPr>
          <p:cNvPr id="4" name="灯片编号占位符 3"/>
          <p:cNvSpPr>
            <a:spLocks noGrp="1"/>
          </p:cNvSpPr>
          <p:nvPr>
            <p:ph type="sldNum" sz="quarter" idx="5"/>
          </p:nvPr>
        </p:nvSpPr>
        <p:spPr/>
        <p:txBody>
          <a:bodyPr/>
          <a:lstStyle/>
          <a:p>
            <a:fld id="{4BFA3C6E-C766-40A8-8C90-B12D9D8BB6EE}" type="slidenum">
              <a:rPr lang="zh-CN" altLang="en-US" smtClean="0"/>
              <a:t>16</a:t>
            </a:fld>
            <a:endParaRPr lang="zh-CN" altLang="en-US"/>
          </a:p>
        </p:txBody>
      </p:sp>
    </p:spTree>
    <p:extLst>
      <p:ext uri="{BB962C8B-B14F-4D97-AF65-F5344CB8AC3E}">
        <p14:creationId xmlns:p14="http://schemas.microsoft.com/office/powerpoint/2010/main" val="1358725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然后通过测量并对变分量子电路进行参数优化，以获得更优的解。</a:t>
            </a:r>
          </a:p>
          <a:p>
            <a:r>
              <a:rPr lang="en-US" altLang="zh-CN" dirty="0"/>
              <a:t>In</a:t>
            </a:r>
            <a:r>
              <a:rPr lang="zh-CN" altLang="en-US" dirty="0"/>
              <a:t> </a:t>
            </a:r>
            <a:r>
              <a:rPr lang="en-US" altLang="zh-CN" dirty="0"/>
              <a:t>the</a:t>
            </a:r>
            <a:r>
              <a:rPr lang="zh-CN" altLang="en-US" dirty="0"/>
              <a:t> </a:t>
            </a:r>
            <a:r>
              <a:rPr lang="en-US" altLang="zh-CN" dirty="0"/>
              <a:t>end, we</a:t>
            </a:r>
            <a:r>
              <a:rPr lang="zh-CN" altLang="en-US" dirty="0"/>
              <a:t> </a:t>
            </a:r>
            <a:r>
              <a:rPr lang="en-US" altLang="zh-CN" dirty="0"/>
              <a:t>perform measurements and optimize the parameters to obtain a better solution.</a:t>
            </a:r>
          </a:p>
          <a:p>
            <a:endParaRPr lang="en-US" altLang="zh-CN"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17</a:t>
            </a:fld>
            <a:endParaRPr lang="zh-CN" altLang="en-US"/>
          </a:p>
        </p:txBody>
      </p:sp>
    </p:spTree>
    <p:extLst>
      <p:ext uri="{BB962C8B-B14F-4D97-AF65-F5344CB8AC3E}">
        <p14:creationId xmlns:p14="http://schemas.microsoft.com/office/powerpoint/2010/main" val="3491969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en-US" altLang="zh-CN" dirty="0"/>
              <a:t>However, due to unitary decomposition overhead and large circuit depth, the </a:t>
            </a:r>
            <a:r>
              <a:rPr lang="en-US" altLang="zh-CN" sz="1200" dirty="0"/>
              <a:t>commute Hamiltonian</a:t>
            </a:r>
            <a:r>
              <a:rPr lang="zh-CN" altLang="en-US" sz="1200" b="1" dirty="0"/>
              <a:t> </a:t>
            </a:r>
            <a:r>
              <a:rPr lang="en-US" altLang="zh-CN" dirty="0"/>
              <a:t>is still not deployable in current hardware.</a:t>
            </a:r>
          </a:p>
          <a:p>
            <a:r>
              <a:rPr lang="en-US" altLang="zh-CN" dirty="0"/>
              <a:t> Next, we will present our optimization methods to solve these challenges.</a:t>
            </a:r>
          </a:p>
        </p:txBody>
      </p:sp>
      <p:sp>
        <p:nvSpPr>
          <p:cNvPr id="4" name="灯片编号占位符 3"/>
          <p:cNvSpPr>
            <a:spLocks noGrp="1"/>
          </p:cNvSpPr>
          <p:nvPr>
            <p:ph type="sldNum" sz="quarter" idx="5"/>
          </p:nvPr>
        </p:nvSpPr>
        <p:spPr/>
        <p:txBody>
          <a:bodyPr/>
          <a:lstStyle/>
          <a:p>
            <a:fld id="{4BFA3C6E-C766-40A8-8C90-B12D9D8BB6EE}" type="slidenum">
              <a:rPr lang="zh-CN" altLang="en-US" smtClean="0"/>
              <a:t>18</a:t>
            </a:fld>
            <a:endParaRPr lang="zh-CN" altLang="en-US"/>
          </a:p>
        </p:txBody>
      </p:sp>
    </p:spTree>
    <p:extLst>
      <p:ext uri="{BB962C8B-B14F-4D97-AF65-F5344CB8AC3E}">
        <p14:creationId xmlns:p14="http://schemas.microsoft.com/office/powerpoint/2010/main" val="1942067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First, we propose Hamiltonian serialization to decompose the complex Hamiltonian. </a:t>
            </a:r>
          </a:p>
          <a:p>
            <a:r>
              <a:rPr lang="en-US" altLang="zh-CN" dirty="0"/>
              <a:t>Previous methods rely on Trotter decomposition, which requires repeated approximations and results in extremely deep circuits.</a:t>
            </a:r>
          </a:p>
          <a:p>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首先，我们提出了哈密顿量序列化方法。先前的方法基于 </a:t>
            </a:r>
            <a:r>
              <a:rPr lang="en-US" altLang="zh-CN" dirty="0"/>
              <a:t>Trotter </a:t>
            </a:r>
            <a:r>
              <a:rPr lang="zh-CN" altLang="en-US" dirty="0"/>
              <a:t>分解，需要反复进行近似计算，导致电路深度极大。</a:t>
            </a:r>
          </a:p>
          <a:p>
            <a:endParaRPr lang="en-US" altLang="zh-CN"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19</a:t>
            </a:fld>
            <a:endParaRPr lang="zh-CN" altLang="en-US"/>
          </a:p>
        </p:txBody>
      </p:sp>
    </p:spTree>
    <p:extLst>
      <p:ext uri="{BB962C8B-B14F-4D97-AF65-F5344CB8AC3E}">
        <p14:creationId xmlns:p14="http://schemas.microsoft.com/office/powerpoint/2010/main" val="2909515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a:t>Our method transforms a large Hamiltonian into a series of equivalent smaller Hamiltonians, enabling further decomposition.</a:t>
                </a:r>
              </a:p>
              <a:p>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我们的方法通过将大哈密顿量转换为一系列等效的小哈密顿量，从而提供了进一步分解的可能性。</a:t>
                </a:r>
              </a:p>
              <a:p>
                <a:endParaRPr lang="en-US" altLang="zh-CN" dirty="0"/>
              </a:p>
            </p:txBody>
          </p:sp>
        </mc:Choice>
        <mc:Fallback xmlns="">
          <p:sp>
            <p:nvSpPr>
              <p:cNvPr id="3" name="备注占位符 2"/>
              <p:cNvSpPr>
                <a:spLocks noGrp="1"/>
              </p:cNvSpPr>
              <p:nvPr>
                <p:ph type="body" idx="1"/>
              </p:nvPr>
            </p:nvSpPr>
            <p:spPr/>
            <p:txBody>
              <a:bodyPr/>
              <a:lstStyle/>
              <a:p>
                <a:r>
                  <a:rPr lang="en-US" altLang="zh-CN" i="0" dirty="0"/>
                  <a:t>Janus-FEM</a:t>
                </a:r>
                <a:r>
                  <a:rPr lang="zh-CN" altLang="en-US" i="0" dirty="0"/>
                  <a:t> </a:t>
                </a:r>
                <a:r>
                  <a:rPr lang="en-US" altLang="zh-CN" i="0" dirty="0"/>
                  <a:t>involves</a:t>
                </a:r>
                <a:r>
                  <a:rPr lang="zh-CN" altLang="en-US" i="0" dirty="0"/>
                  <a:t> </a:t>
                </a:r>
                <a:r>
                  <a:rPr lang="en-US" altLang="zh-CN" i="0" dirty="0"/>
                  <a:t>two</a:t>
                </a:r>
                <a:r>
                  <a:rPr lang="zh-CN" altLang="en-US" i="0" dirty="0"/>
                  <a:t> </a:t>
                </a:r>
                <a:r>
                  <a:rPr lang="en-US" altLang="zh-CN" i="0" dirty="0"/>
                  <a:t>key</a:t>
                </a:r>
                <a:r>
                  <a:rPr lang="zh-CN" altLang="en-US" i="0" dirty="0"/>
                  <a:t> </a:t>
                </a:r>
                <a:r>
                  <a:rPr lang="en-US" altLang="zh-CN" i="0" dirty="0"/>
                  <a:t>techniques</a:t>
                </a:r>
                <a:r>
                  <a:rPr lang="zh-CN" altLang="en-US" i="0" dirty="0"/>
                  <a:t> </a:t>
                </a:r>
                <a:r>
                  <a:rPr lang="en-US" altLang="zh-CN" i="0" dirty="0"/>
                  <a:t>to</a:t>
                </a:r>
                <a:r>
                  <a:rPr lang="zh-CN" altLang="en-US" i="0" dirty="0"/>
                  <a:t> </a:t>
                </a:r>
                <a:r>
                  <a:rPr lang="en-US" altLang="zh-CN" i="0" dirty="0"/>
                  <a:t>deploy</a:t>
                </a:r>
                <a:r>
                  <a:rPr lang="zh-CN" altLang="en-US" i="0" dirty="0"/>
                  <a:t> </a:t>
                </a:r>
                <a:r>
                  <a:rPr lang="en-US" altLang="zh-CN" i="0" dirty="0"/>
                  <a:t>such</a:t>
                </a:r>
                <a:r>
                  <a:rPr lang="zh-CN" altLang="en-US" i="0" dirty="0"/>
                  <a:t> </a:t>
                </a:r>
                <a:r>
                  <a:rPr lang="en-US" altLang="zh-CN" i="0" dirty="0"/>
                  <a:t>calibration</a:t>
                </a:r>
                <a:r>
                  <a:rPr lang="zh-CN" altLang="en-US" i="0" dirty="0"/>
                  <a:t> </a:t>
                </a:r>
                <a:r>
                  <a:rPr lang="en-US" altLang="zh-CN" i="0" dirty="0"/>
                  <a:t>on</a:t>
                </a:r>
                <a:r>
                  <a:rPr lang="zh-CN" altLang="en-US" i="0" dirty="0"/>
                  <a:t> </a:t>
                </a:r>
                <a:r>
                  <a:rPr lang="en-US" altLang="zh-CN" i="0" dirty="0"/>
                  <a:t>specific</a:t>
                </a:r>
                <a:r>
                  <a:rPr lang="zh-CN" altLang="en-US" i="0" dirty="0"/>
                  <a:t> </a:t>
                </a:r>
                <a:r>
                  <a:rPr lang="en-US" altLang="zh-CN" i="0" dirty="0"/>
                  <a:t>quantum</a:t>
                </a:r>
                <a:r>
                  <a:rPr lang="zh-CN" altLang="en-US" i="0" dirty="0"/>
                  <a:t> </a:t>
                </a:r>
                <a:r>
                  <a:rPr lang="en-US" altLang="zh-CN" i="0" dirty="0"/>
                  <a:t>device,</a:t>
                </a:r>
                <a:r>
                  <a:rPr lang="zh-CN" altLang="en-US" i="0" dirty="0"/>
                  <a:t> </a:t>
                </a:r>
                <a:r>
                  <a:rPr lang="en-US" altLang="zh-CN" i="0" dirty="0"/>
                  <a:t>.</a:t>
                </a:r>
              </a:p>
              <a:p>
                <a:endParaRPr lang="en-US" altLang="zh-CN" i="0" dirty="0"/>
              </a:p>
              <a:p>
                <a:r>
                  <a:rPr lang="en-US" altLang="zh-CN" i="0" dirty="0"/>
                  <a:t>First,</a:t>
                </a:r>
                <a:r>
                  <a:rPr lang="zh-CN" altLang="en-US" i="0" dirty="0"/>
                  <a:t> </a:t>
                </a:r>
                <a:r>
                  <a:rPr lang="en-US" altLang="zh-CN" i="0" dirty="0"/>
                  <a:t>we</a:t>
                </a:r>
                <a:r>
                  <a:rPr lang="zh-CN" altLang="en-US" i="0" dirty="0"/>
                  <a:t> </a:t>
                </a:r>
                <a:r>
                  <a:rPr lang="en-US" altLang="zh-CN" i="0" dirty="0"/>
                  <a:t>need</a:t>
                </a:r>
                <a:r>
                  <a:rPr lang="zh-CN" altLang="en-US" i="0" dirty="0"/>
                  <a:t> </a:t>
                </a:r>
                <a:r>
                  <a:rPr lang="en-US" altLang="zh-CN" i="0" dirty="0"/>
                  <a:t>to</a:t>
                </a:r>
                <a:r>
                  <a:rPr lang="zh-CN" altLang="en-US" i="0" dirty="0"/>
                  <a:t> </a:t>
                </a:r>
                <a:r>
                  <a:rPr lang="en-US" altLang="zh-CN" i="0" dirty="0"/>
                  <a:t>partition</a:t>
                </a:r>
                <a:r>
                  <a:rPr lang="zh-CN" altLang="en-US" i="0" dirty="0"/>
                  <a:t> </a:t>
                </a:r>
                <a:r>
                  <a:rPr lang="en-US" altLang="zh-CN" i="0" dirty="0"/>
                  <a:t>qubits</a:t>
                </a:r>
                <a:r>
                  <a:rPr lang="zh-CN" altLang="en-US" i="0" dirty="0"/>
                  <a:t> </a:t>
                </a:r>
                <a:r>
                  <a:rPr lang="en-US" altLang="zh-CN" i="0" dirty="0"/>
                  <a:t>to</a:t>
                </a:r>
                <a:r>
                  <a:rPr lang="zh-CN" altLang="en-US" i="0" dirty="0"/>
                  <a:t> </a:t>
                </a:r>
                <a:r>
                  <a:rPr lang="en-US" altLang="zh-CN" i="0" dirty="0"/>
                  <a:t>determine</a:t>
                </a:r>
                <a:r>
                  <a:rPr lang="zh-CN" altLang="en-US" i="0" dirty="0"/>
                  <a:t> </a:t>
                </a:r>
                <a:r>
                  <a:rPr lang="en-US" altLang="zh-CN" i="0" dirty="0"/>
                  <a:t>the</a:t>
                </a:r>
                <a:r>
                  <a:rPr lang="zh-CN" altLang="en-US" i="0" dirty="0"/>
                  <a:t> </a:t>
                </a:r>
                <a:r>
                  <a:rPr lang="en-US" altLang="zh-CN" i="0" dirty="0"/>
                  <a:t>grouping</a:t>
                </a:r>
                <a:r>
                  <a:rPr lang="zh-CN" altLang="en-US" i="0" dirty="0"/>
                  <a:t> </a:t>
                </a:r>
                <a:r>
                  <a:rPr lang="en-US" altLang="zh-CN" i="0" dirty="0"/>
                  <a:t>schemes</a:t>
                </a:r>
                <a:r>
                  <a:rPr lang="zh-CN" altLang="en-US" i="0" dirty="0"/>
                  <a:t> </a:t>
                </a:r>
                <a:r>
                  <a:rPr lang="en-US" altLang="zh-CN" i="0" dirty="0"/>
                  <a:t>/</a:t>
                </a:r>
                <a:r>
                  <a:rPr lang="en-US" altLang="zh-CN" i="0" dirty="0" err="1"/>
                  <a:t>skiːm</a:t>
                </a:r>
                <a:r>
                  <a:rPr lang="en-US" altLang="zh-CN" i="0" dirty="0"/>
                  <a:t>/.</a:t>
                </a:r>
              </a:p>
              <a:p>
                <a:r>
                  <a:rPr lang="en-US" altLang="zh-CN" i="0" dirty="0"/>
                  <a:t>Second,</a:t>
                </a:r>
                <a:r>
                  <a:rPr lang="zh-CN" altLang="en-US" i="0" dirty="0"/>
                  <a:t> </a:t>
                </a:r>
                <a:r>
                  <a:rPr lang="en-US" altLang="zh-CN" i="0" dirty="0"/>
                  <a:t>we</a:t>
                </a:r>
                <a:r>
                  <a:rPr lang="zh-CN" altLang="en-US" i="0" dirty="0"/>
                  <a:t> </a:t>
                </a:r>
                <a:r>
                  <a:rPr lang="en-US" altLang="zh-CN" i="0" dirty="0"/>
                  <a:t>need</a:t>
                </a:r>
                <a:r>
                  <a:rPr lang="zh-CN" altLang="en-US" i="0" dirty="0"/>
                  <a:t> </a:t>
                </a:r>
                <a:r>
                  <a:rPr lang="en-US" altLang="zh-CN" i="0" dirty="0"/>
                  <a:t>to</a:t>
                </a:r>
                <a:r>
                  <a:rPr lang="zh-CN" altLang="en-US" i="0" dirty="0"/>
                  <a:t> </a:t>
                </a:r>
                <a:r>
                  <a:rPr lang="en-US" altLang="zh-CN" i="0" dirty="0"/>
                  <a:t>determine</a:t>
                </a:r>
                <a:r>
                  <a:rPr lang="zh-CN" altLang="en-US" i="0" dirty="0"/>
                  <a:t> </a:t>
                </a:r>
                <a:r>
                  <a:rPr lang="en-US" altLang="zh-CN" i="0" dirty="0"/>
                  <a:t>the</a:t>
                </a:r>
                <a:r>
                  <a:rPr lang="zh-CN" altLang="en-US" i="0" dirty="0"/>
                  <a:t> </a:t>
                </a:r>
                <a:r>
                  <a:rPr lang="en-US" altLang="zh-CN" i="0" dirty="0"/>
                  <a:t>sub-noise</a:t>
                </a:r>
                <a:r>
                  <a:rPr lang="zh-CN" altLang="en-US" i="0" dirty="0"/>
                  <a:t> </a:t>
                </a:r>
                <a:r>
                  <a:rPr lang="en-US" altLang="zh-CN" i="0" dirty="0"/>
                  <a:t>matrices</a:t>
                </a:r>
                <a:r>
                  <a:rPr lang="zh-CN" altLang="en-US" i="0" dirty="0"/>
                  <a:t> </a:t>
                </a:r>
                <a:r>
                  <a:rPr lang="en-US" altLang="zh-CN" i="0" dirty="0"/>
                  <a:t>for</a:t>
                </a:r>
                <a:r>
                  <a:rPr lang="zh-CN" altLang="en-US" i="0" dirty="0"/>
                  <a:t> </a:t>
                </a:r>
                <a:r>
                  <a:rPr lang="en-US" altLang="zh-CN" i="0" dirty="0"/>
                  <a:t>the</a:t>
                </a:r>
                <a:r>
                  <a:rPr lang="zh-CN" altLang="en-US" i="0" dirty="0"/>
                  <a:t> </a:t>
                </a:r>
                <a:r>
                  <a:rPr lang="en-US" altLang="zh-CN" i="0" dirty="0"/>
                  <a:t>measured</a:t>
                </a:r>
                <a:r>
                  <a:rPr lang="zh-CN" altLang="en-US" i="0" dirty="0"/>
                  <a:t> </a:t>
                </a:r>
                <a:r>
                  <a:rPr lang="en-US" altLang="zh-CN" i="0" dirty="0"/>
                  <a:t>qubits.</a:t>
                </a:r>
              </a:p>
              <a:p>
                <a:endParaRPr lang="en-US" altLang="zh-CN"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i="0" dirty="0"/>
                  <a:t>The</a:t>
                </a:r>
                <a:r>
                  <a:rPr lang="zh-CN" altLang="en-US" i="0" dirty="0"/>
                  <a:t> </a:t>
                </a:r>
                <a:r>
                  <a:rPr lang="en-US" altLang="zh-CN" i="0" dirty="0"/>
                  <a:t>qubit</a:t>
                </a:r>
                <a:r>
                  <a:rPr lang="zh-CN" altLang="en-US" i="0" dirty="0"/>
                  <a:t> </a:t>
                </a:r>
                <a:r>
                  <a:rPr lang="en-US" altLang="zh-CN" i="0" dirty="0"/>
                  <a:t>partition</a:t>
                </a:r>
                <a:r>
                  <a:rPr lang="zh-CN" altLang="en-US" i="0" dirty="0"/>
                  <a:t> </a:t>
                </a:r>
                <a:r>
                  <a:rPr lang="en-US" altLang="zh-CN" i="0" dirty="0"/>
                  <a:t>and</a:t>
                </a:r>
                <a:r>
                  <a:rPr lang="zh-CN" altLang="en-US" i="0" dirty="0"/>
                  <a:t> </a:t>
                </a:r>
                <a:r>
                  <a:rPr lang="en-US" altLang="zh-CN" i="0" dirty="0"/>
                  <a:t>matrix</a:t>
                </a:r>
                <a:r>
                  <a:rPr lang="zh-CN" altLang="en-US" i="0" dirty="0"/>
                  <a:t> </a:t>
                </a:r>
                <a:r>
                  <a:rPr lang="en-US" altLang="zh-CN" i="0" dirty="0"/>
                  <a:t>generation</a:t>
                </a:r>
                <a:r>
                  <a:rPr lang="zh-CN" altLang="en-US" i="0" dirty="0"/>
                  <a:t> </a:t>
                </a:r>
                <a:r>
                  <a:rPr lang="en-US" altLang="zh-CN" i="0" dirty="0"/>
                  <a:t>are</a:t>
                </a:r>
                <a:r>
                  <a:rPr lang="zh-CN" altLang="en-US" i="0" dirty="0"/>
                  <a:t> </a:t>
                </a:r>
                <a:r>
                  <a:rPr lang="en-US" altLang="zh-CN" i="0" dirty="0"/>
                  <a:t>both</a:t>
                </a:r>
                <a:r>
                  <a:rPr lang="zh-CN" altLang="en-US" i="0" dirty="0"/>
                  <a:t> </a:t>
                </a:r>
                <a:r>
                  <a:rPr lang="en-US" altLang="zh-CN" i="0" dirty="0"/>
                  <a:t>based</a:t>
                </a:r>
                <a:r>
                  <a:rPr lang="zh-CN" altLang="en-US" i="0" dirty="0"/>
                  <a:t> </a:t>
                </a:r>
                <a:r>
                  <a:rPr lang="en-US" altLang="zh-CN" i="0" dirty="0"/>
                  <a:t>on</a:t>
                </a:r>
                <a:r>
                  <a:rPr lang="zh-CN" altLang="en-US" i="0" dirty="0"/>
                  <a:t> </a:t>
                </a:r>
                <a:r>
                  <a:rPr lang="en-US" altLang="zh-CN" i="0" dirty="0"/>
                  <a:t>a</a:t>
                </a:r>
                <a:r>
                  <a:rPr lang="zh-CN" altLang="en-US" i="0" dirty="0"/>
                  <a:t> </a:t>
                </a:r>
                <a:r>
                  <a:rPr lang="en-US" altLang="zh-CN" i="0" dirty="0"/>
                  <a:t>dataset</a:t>
                </a:r>
                <a:r>
                  <a:rPr lang="zh-CN" altLang="en-US" i="0" dirty="0"/>
                  <a:t> </a:t>
                </a:r>
                <a:r>
                  <a:rPr lang="en-US" altLang="zh-CN" i="0" dirty="0"/>
                  <a:t>collected</a:t>
                </a:r>
                <a:r>
                  <a:rPr lang="zh-CN" altLang="en-US" i="0" dirty="0"/>
                  <a:t> </a:t>
                </a:r>
                <a:r>
                  <a:rPr lang="en-US" altLang="zh-CN" i="0" dirty="0"/>
                  <a:t>by</a:t>
                </a:r>
                <a:r>
                  <a:rPr lang="zh-CN" altLang="en-US" i="0" dirty="0"/>
                  <a:t> </a:t>
                </a:r>
                <a:r>
                  <a:rPr lang="en-US" altLang="zh-CN" i="0" dirty="0"/>
                  <a:t>running</a:t>
                </a:r>
                <a:r>
                  <a:rPr lang="zh-CN" altLang="en-US" i="0" dirty="0"/>
                  <a:t> </a:t>
                </a:r>
                <a:r>
                  <a:rPr lang="en-US" altLang="zh-CN" i="0" dirty="0"/>
                  <a:t>benchmarking</a:t>
                </a:r>
                <a:r>
                  <a:rPr lang="zh-CN" altLang="en-US" i="0" dirty="0"/>
                  <a:t> </a:t>
                </a:r>
                <a:r>
                  <a:rPr lang="en-US" altLang="zh-CN" i="0" dirty="0"/>
                  <a:t>circuits.</a:t>
                </a:r>
                <a:r>
                  <a:rPr lang="zh-CN" altLang="en-US" i="0" dirty="0"/>
                  <a:t> </a:t>
                </a:r>
                <a:endParaRPr lang="en-US" altLang="zh-CN" i="0" dirty="0"/>
              </a:p>
              <a:p>
                <a:pPr>
                  <a:lnSpc>
                    <a:spcPct val="150000"/>
                  </a:lnSpc>
                </a:pPr>
                <a:r>
                  <a:rPr lang="en-US" altLang="zh-CN" i="0" dirty="0"/>
                  <a:t>These</a:t>
                </a:r>
                <a:r>
                  <a:rPr lang="zh-CN" altLang="en-US" i="0" dirty="0"/>
                  <a:t> </a:t>
                </a:r>
                <a:r>
                  <a:rPr lang="en-US" altLang="zh-CN" i="0" dirty="0"/>
                  <a:t>circuits</a:t>
                </a:r>
                <a:r>
                  <a:rPr lang="zh-CN" altLang="en-US" i="0" dirty="0"/>
                  <a:t> </a:t>
                </a:r>
                <a:r>
                  <a:rPr lang="en-US" altLang="zh-CN" sz="1200" i="0" dirty="0">
                    <a:latin typeface="Arial" panose="020B0604020202020204" pitchFamily="34" charset="0"/>
                    <a:ea typeface="微软雅黑" panose="020B0503020204020204" pitchFamily="34" charset="-122"/>
                    <a:cs typeface="Arial" panose="020B0604020202020204" pitchFamily="34" charset="0"/>
                  </a:rPr>
                  <a:t>prepare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qubits</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to</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different</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basis</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states</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and</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measure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them.</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There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are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three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possible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operations</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on</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each</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qubit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in</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a</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benchmarking</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circuit:</a:t>
                </a:r>
              </a:p>
              <a:p>
                <a:pPr marL="742950" lvl="1" indent="-285750">
                  <a:buFont typeface="Arial" panose="020B0604020202020204" pitchFamily="34" charset="0"/>
                  <a:buChar char="•"/>
                </a:pPr>
                <a:r>
                  <a:rPr lang="en-US" altLang="zh-CN" sz="1600" b="0" i="0">
                    <a:latin typeface="Cambria Math" panose="02040503050406030204" pitchFamily="18" charset="0"/>
                    <a:ea typeface="微软雅黑" panose="020B0503020204020204" pitchFamily="34" charset="-122"/>
                    <a:cs typeface="Arial" panose="020B0604020202020204" pitchFamily="34" charset="0"/>
                  </a:rPr>
                  <a:t>0</a:t>
                </a:r>
                <a:r>
                  <a:rPr lang="zh-CN" altLang="en-US" sz="1600" b="0" i="0">
                    <a:latin typeface="Cambria Math" panose="02040503050406030204" pitchFamily="18" charset="0"/>
                    <a:ea typeface="微软雅黑" panose="020B0503020204020204" pitchFamily="34" charset="-122"/>
                    <a:cs typeface="Arial" panose="020B0604020202020204" pitchFamily="34" charset="0"/>
                  </a:rPr>
                  <a:t> </a:t>
                </a:r>
                <a:r>
                  <a:rPr lang="en-US" altLang="zh-CN" sz="1600" b="0" i="0">
                    <a:latin typeface="Cambria Math" panose="02040503050406030204" pitchFamily="18" charset="0"/>
                    <a:ea typeface="微软雅黑" panose="020B0503020204020204" pitchFamily="34" charset="-122"/>
                    <a:cs typeface="Arial" panose="020B0604020202020204" pitchFamily="34" charset="0"/>
                  </a:rPr>
                  <a:t>means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qubit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is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set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0</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and</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measured</a:t>
                </a:r>
              </a:p>
              <a:p>
                <a:pPr marL="742950" lvl="1" indent="-285750">
                  <a:buFont typeface="Arial" panose="020B0604020202020204" pitchFamily="34" charset="0"/>
                  <a:buChar char="•"/>
                </a:pPr>
                <a:r>
                  <a:rPr lang="en-US" altLang="zh-CN" sz="1600" dirty="0">
                    <a:latin typeface="Arial" panose="020B0604020202020204" pitchFamily="34" charset="0"/>
                    <a:ea typeface="微软雅黑" panose="020B0503020204020204" pitchFamily="34" charset="-122"/>
                    <a:cs typeface="Arial" panose="020B0604020202020204" pitchFamily="34" charset="0"/>
                  </a:rPr>
                  <a:t>1</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means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qubit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is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set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1</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and</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measured</a:t>
                </a:r>
              </a:p>
              <a:p>
                <a:pPr marL="742950" lvl="1" indent="-285750">
                  <a:buFont typeface="Arial" panose="020B0604020202020204" pitchFamily="34" charset="0"/>
                  <a:buChar char="•"/>
                </a:pPr>
                <a:r>
                  <a:rPr lang="en-US" altLang="zh-CN" sz="1600" dirty="0">
                    <a:latin typeface="Arial" panose="020B0604020202020204" pitchFamily="34" charset="0"/>
                    <a:ea typeface="微软雅黑" panose="020B0503020204020204" pitchFamily="34" charset="-122"/>
                    <a:cs typeface="Arial" panose="020B0604020202020204" pitchFamily="34" charset="0"/>
                  </a:rPr>
                  <a:t>2</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means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qubit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is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set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0</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or</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1</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and</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not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measured</a:t>
                </a:r>
              </a:p>
              <a:p>
                <a:endParaRPr lang="en-US" altLang="zh-CN" i="0" dirty="0"/>
              </a:p>
              <a:p>
                <a:r>
                  <a:rPr lang="en-CN" altLang="zh-CN" i="0" dirty="0"/>
                  <a:t>The</a:t>
                </a:r>
                <a:r>
                  <a:rPr lang="zh-CN" altLang="en-US" i="0" dirty="0"/>
                  <a:t> </a:t>
                </a:r>
                <a:r>
                  <a:rPr lang="en-US" altLang="zh-CN" i="0" dirty="0"/>
                  <a:t>circuits</a:t>
                </a:r>
                <a:r>
                  <a:rPr lang="zh-CN" altLang="en-US" i="0" dirty="0"/>
                  <a:t> </a:t>
                </a:r>
                <a:r>
                  <a:rPr lang="en-US" altLang="zh-CN" i="0" dirty="0"/>
                  <a:t>allow</a:t>
                </a:r>
                <a:r>
                  <a:rPr lang="zh-CN" altLang="en-US" i="0" dirty="0"/>
                  <a:t> </a:t>
                </a:r>
                <a:r>
                  <a:rPr lang="en-US" altLang="zh-CN" i="0" dirty="0"/>
                  <a:t>some</a:t>
                </a:r>
                <a:r>
                  <a:rPr lang="zh-CN" altLang="en-US" i="0" dirty="0"/>
                  <a:t> </a:t>
                </a:r>
                <a:r>
                  <a:rPr lang="en-US" altLang="zh-CN" i="0" dirty="0"/>
                  <a:t>qubits</a:t>
                </a:r>
                <a:r>
                  <a:rPr lang="zh-CN" altLang="en-US" i="0" dirty="0"/>
                  <a:t> </a:t>
                </a:r>
                <a:r>
                  <a:rPr lang="en-US" altLang="zh-CN" i="0" dirty="0"/>
                  <a:t>being</a:t>
                </a:r>
                <a:r>
                  <a:rPr lang="zh-CN" altLang="en-US" i="0" dirty="0"/>
                  <a:t> </a:t>
                </a:r>
                <a:r>
                  <a:rPr lang="en-US" altLang="zh-CN" i="0" dirty="0"/>
                  <a:t>not</a:t>
                </a:r>
                <a:r>
                  <a:rPr lang="zh-CN" altLang="en-US" i="0" dirty="0"/>
                  <a:t> </a:t>
                </a:r>
                <a:r>
                  <a:rPr lang="en-US" altLang="zh-CN" i="0" dirty="0"/>
                  <a:t>measured,</a:t>
                </a:r>
                <a:r>
                  <a:rPr lang="zh-CN" altLang="en-US" i="0" dirty="0"/>
                  <a:t> </a:t>
                </a:r>
                <a:r>
                  <a:rPr lang="en-US" altLang="zh-CN" i="0" dirty="0"/>
                  <a:t>which</a:t>
                </a:r>
                <a:r>
                  <a:rPr lang="zh-CN" altLang="en-US" i="0" dirty="0"/>
                  <a:t> </a:t>
                </a:r>
                <a:r>
                  <a:rPr lang="en-US" altLang="zh-CN" i="0" dirty="0"/>
                  <a:t>aims</a:t>
                </a:r>
                <a:r>
                  <a:rPr lang="zh-CN" altLang="en-US" i="0" dirty="0"/>
                  <a:t> </a:t>
                </a:r>
                <a:r>
                  <a:rPr lang="en-US" altLang="zh-CN" i="0" dirty="0"/>
                  <a:t>to</a:t>
                </a:r>
                <a:r>
                  <a:rPr lang="zh-CN" altLang="en-US" i="0" dirty="0"/>
                  <a:t> </a:t>
                </a:r>
                <a:r>
                  <a:rPr lang="en-US" altLang="zh-CN" i="0" dirty="0"/>
                  <a:t>maximize</a:t>
                </a:r>
                <a:r>
                  <a:rPr lang="zh-CN" altLang="en-US" i="0" dirty="0"/>
                  <a:t> </a:t>
                </a:r>
                <a:r>
                  <a:rPr lang="en-US" altLang="zh-CN" i="0" dirty="0"/>
                  <a:t>the</a:t>
                </a:r>
                <a:r>
                  <a:rPr lang="zh-CN" altLang="en-US" i="0" dirty="0"/>
                  <a:t> </a:t>
                </a:r>
                <a:r>
                  <a:rPr lang="en-US" altLang="zh-CN" i="0" dirty="0"/>
                  <a:t>variety</a:t>
                </a:r>
                <a:r>
                  <a:rPr lang="zh-CN" altLang="en-US" i="0" dirty="0"/>
                  <a:t> </a:t>
                </a:r>
                <a:r>
                  <a:rPr lang="en-US" altLang="zh-CN" i="0" dirty="0"/>
                  <a:t>of</a:t>
                </a:r>
                <a:r>
                  <a:rPr lang="zh-CN" altLang="en-US" i="0" dirty="0"/>
                  <a:t> </a:t>
                </a:r>
                <a:r>
                  <a:rPr lang="en-US" altLang="zh-CN" i="0" dirty="0"/>
                  <a:t>the</a:t>
                </a:r>
                <a:r>
                  <a:rPr lang="zh-CN" altLang="en-US" i="0" dirty="0"/>
                  <a:t> </a:t>
                </a:r>
                <a:r>
                  <a:rPr lang="en-US" altLang="zh-CN" i="0" dirty="0"/>
                  <a:t>readout</a:t>
                </a:r>
                <a:r>
                  <a:rPr lang="zh-CN" altLang="en-US" i="0" dirty="0"/>
                  <a:t> </a:t>
                </a:r>
                <a:r>
                  <a:rPr lang="en-US" altLang="zh-CN" i="0" dirty="0"/>
                  <a:t>error.</a:t>
                </a:r>
              </a:p>
              <a:p>
                <a:endParaRPr lang="en-US" altLang="zh-CN" i="0" dirty="0"/>
              </a:p>
              <a:p>
                <a:endParaRPr lang="zh-CN" altLang="en-US" i="0" dirty="0"/>
              </a:p>
            </p:txBody>
          </p:sp>
        </mc:Fallback>
      </mc:AlternateContent>
      <p:sp>
        <p:nvSpPr>
          <p:cNvPr id="4" name="灯片编号占位符 3"/>
          <p:cNvSpPr>
            <a:spLocks noGrp="1"/>
          </p:cNvSpPr>
          <p:nvPr>
            <p:ph type="sldNum" sz="quarter" idx="5"/>
          </p:nvPr>
        </p:nvSpPr>
        <p:spPr/>
        <p:txBody>
          <a:bodyPr/>
          <a:lstStyle/>
          <a:p>
            <a:fld id="{4BFA3C6E-C766-40A8-8C90-B12D9D8BB6EE}" type="slidenum">
              <a:rPr lang="zh-CN" altLang="en-US" smtClean="0"/>
              <a:t>20</a:t>
            </a:fld>
            <a:endParaRPr lang="zh-CN" altLang="en-US"/>
          </a:p>
        </p:txBody>
      </p:sp>
    </p:spTree>
    <p:extLst>
      <p:ext uri="{BB962C8B-B14F-4D97-AF65-F5344CB8AC3E}">
        <p14:creationId xmlns:p14="http://schemas.microsoft.com/office/powerpoint/2010/main" val="3908771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second optimization is to decompose each small Hamiltonian in the sequence to reduce circuit complexity and improve computational efficiency.</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第二步，我们对每个序列中的哈密顿量进行分解，以降低电路复杂度并提高计算效率。</a:t>
            </a:r>
          </a:p>
          <a:p>
            <a:endParaRPr lang="en-US" altLang="zh-CN"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21</a:t>
            </a:fld>
            <a:endParaRPr lang="zh-CN" altLang="en-US"/>
          </a:p>
        </p:txBody>
      </p:sp>
    </p:spTree>
    <p:extLst>
      <p:ext uri="{BB962C8B-B14F-4D97-AF65-F5344CB8AC3E}">
        <p14:creationId xmlns:p14="http://schemas.microsoft.com/office/powerpoint/2010/main" val="4434838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通过多控门，我们实现了哈密顿量的线性分解，从而优化了电路结构。</a:t>
            </a:r>
          </a:p>
          <a:p>
            <a:r>
              <a:rPr lang="en-US" altLang="zh-CN" dirty="0"/>
              <a:t>By leveraging multi-controlled gates, we achieve a linear decomposition of the Hamiltonian, optimizing the circuit structure.</a:t>
            </a:r>
          </a:p>
        </p:txBody>
      </p:sp>
      <p:sp>
        <p:nvSpPr>
          <p:cNvPr id="4" name="灯片编号占位符 3"/>
          <p:cNvSpPr>
            <a:spLocks noGrp="1"/>
          </p:cNvSpPr>
          <p:nvPr>
            <p:ph type="sldNum" sz="quarter" idx="5"/>
          </p:nvPr>
        </p:nvSpPr>
        <p:spPr/>
        <p:txBody>
          <a:bodyPr/>
          <a:lstStyle/>
          <a:p>
            <a:fld id="{4BFA3C6E-C766-40A8-8C90-B12D9D8BB6EE}" type="slidenum">
              <a:rPr lang="zh-CN" altLang="en-US" smtClean="0"/>
              <a:t>22</a:t>
            </a:fld>
            <a:endParaRPr lang="zh-CN" altLang="en-US"/>
          </a:p>
        </p:txBody>
      </p:sp>
    </p:spTree>
    <p:extLst>
      <p:ext uri="{BB962C8B-B14F-4D97-AF65-F5344CB8AC3E}">
        <p14:creationId xmlns:p14="http://schemas.microsoft.com/office/powerpoint/2010/main" val="41838018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再通过相位门的线性分解，实现了完整的对易哈密顿量线性分解优化，为硬件部署提供了可能。</a:t>
            </a:r>
          </a:p>
          <a:p>
            <a:r>
              <a:rPr lang="en-US" altLang="zh-CN" dirty="0"/>
              <a:t>The multi-controlled gates can be also decomposed in linear complexity. Thereby, we decompose the whole commute Hamiltonian in </a:t>
            </a:r>
            <a:r>
              <a:rPr lang="en-US" altLang="zh-CN" b="1" dirty="0">
                <a:latin typeface="Arial" panose="020B0604020202020204" pitchFamily="34" charset="0"/>
                <a:ea typeface="STKaiti" panose="02010600040101010101" pitchFamily="2" charset="-122"/>
                <a:cs typeface="Arial" panose="020B0604020202020204" pitchFamily="34" charset="0"/>
                <a:sym typeface="+mn-lt"/>
              </a:rPr>
              <a:t>linear complexity.</a:t>
            </a:r>
            <a:endParaRPr lang="en-US" altLang="zh-CN"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23</a:t>
            </a:fld>
            <a:endParaRPr lang="zh-CN" altLang="en-US"/>
          </a:p>
        </p:txBody>
      </p:sp>
    </p:spTree>
    <p:extLst>
      <p:ext uri="{BB962C8B-B14F-4D97-AF65-F5344CB8AC3E}">
        <p14:creationId xmlns:p14="http://schemas.microsoft.com/office/powerpoint/2010/main" val="23183622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On the other hand, by analyzing the cost of multi-controlled gates in the circuit, we eliminate the most expensive qubits, resulting in a shallower circuit that can be deployed on NISQ devices.</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另一方面，我们通过分析电路中多控门的开销，针对代价最高的比特进行消除，从而构建更轻量级的电路，并成功部署在 </a:t>
            </a:r>
            <a:r>
              <a:rPr lang="en-US" altLang="zh-CN" dirty="0"/>
              <a:t>NISQ </a:t>
            </a:r>
            <a:r>
              <a:rPr lang="zh-CN" altLang="en-US" dirty="0"/>
              <a:t>设备上。</a:t>
            </a:r>
          </a:p>
          <a:p>
            <a:endParaRPr lang="en-US" altLang="zh-CN"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24</a:t>
            </a:fld>
            <a:endParaRPr lang="zh-CN" altLang="en-US"/>
          </a:p>
        </p:txBody>
      </p:sp>
    </p:spTree>
    <p:extLst>
      <p:ext uri="{BB962C8B-B14F-4D97-AF65-F5344CB8AC3E}">
        <p14:creationId xmlns:p14="http://schemas.microsoft.com/office/powerpoint/2010/main" val="16580572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Next, we present the evaluations on Choco-Q.</a:t>
            </a:r>
          </a:p>
        </p:txBody>
      </p:sp>
      <p:sp>
        <p:nvSpPr>
          <p:cNvPr id="4" name="灯片编号占位符 3"/>
          <p:cNvSpPr>
            <a:spLocks noGrp="1"/>
          </p:cNvSpPr>
          <p:nvPr>
            <p:ph type="sldNum" sz="quarter" idx="5"/>
          </p:nvPr>
        </p:nvSpPr>
        <p:spPr/>
        <p:txBody>
          <a:bodyPr/>
          <a:lstStyle/>
          <a:p>
            <a:fld id="{4BFA3C6E-C766-40A8-8C90-B12D9D8BB6EE}" type="slidenum">
              <a:rPr lang="zh-CN" altLang="en-US" smtClean="0"/>
              <a:t>25</a:t>
            </a:fld>
            <a:endParaRPr lang="zh-CN" altLang="en-US"/>
          </a:p>
        </p:txBody>
      </p:sp>
    </p:spTree>
    <p:extLst>
      <p:ext uri="{BB962C8B-B14F-4D97-AF65-F5344CB8AC3E}">
        <p14:creationId xmlns:p14="http://schemas.microsoft.com/office/powerpoint/2010/main" val="41202771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Our experiments selected various binary optimization problems with different constraints, including facility location, graph coloring, and k-partitioning and so 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我们的实验选取了多种具有不同约束的二元优化问题，包括设施选址、图着色和 </a:t>
            </a:r>
            <a:r>
              <a:rPr lang="en-US" altLang="zh-CN" dirty="0"/>
              <a:t>k </a:t>
            </a:r>
            <a:r>
              <a:rPr lang="zh-CN" altLang="en-US" dirty="0"/>
              <a:t>分割等问题。</a:t>
            </a:r>
          </a:p>
          <a:p>
            <a:endParaRPr lang="en-US" altLang="zh-CN"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26</a:t>
            </a:fld>
            <a:endParaRPr lang="zh-CN" altLang="en-US"/>
          </a:p>
        </p:txBody>
      </p:sp>
    </p:spTree>
    <p:extLst>
      <p:ext uri="{BB962C8B-B14F-4D97-AF65-F5344CB8AC3E}">
        <p14:creationId xmlns:p14="http://schemas.microsoft.com/office/powerpoint/2010/main" val="22214476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In noise-free experiments, we can see that the success rate of Choco-Q is one hundred and fifty-seven times higher than existing algorithms. The in-constraints rate of Choco-Q is </a:t>
            </a:r>
            <a:r>
              <a:rPr lang="en-US" altLang="zh-CN" dirty="0"/>
              <a:t>one hundred percent</a:t>
            </a:r>
            <a:r>
              <a:rPr lang="en-US" dirty="0"/>
              <a:t>, which verifies the validity of our theory.</a:t>
            </a:r>
          </a:p>
        </p:txBody>
      </p:sp>
      <p:sp>
        <p:nvSpPr>
          <p:cNvPr id="4" name="灯片编号占位符 3"/>
          <p:cNvSpPr>
            <a:spLocks noGrp="1"/>
          </p:cNvSpPr>
          <p:nvPr>
            <p:ph type="sldNum" sz="quarter" idx="5"/>
          </p:nvPr>
        </p:nvSpPr>
        <p:spPr/>
        <p:txBody>
          <a:bodyPr/>
          <a:lstStyle/>
          <a:p>
            <a:fld id="{4BFA3C6E-C766-40A8-8C90-B12D9D8BB6EE}" type="slidenum">
              <a:rPr lang="zh-CN" altLang="en-US" smtClean="0"/>
              <a:t>27</a:t>
            </a:fld>
            <a:endParaRPr lang="zh-CN" altLang="en-US"/>
          </a:p>
        </p:txBody>
      </p:sp>
    </p:spTree>
    <p:extLst>
      <p:ext uri="{BB962C8B-B14F-4D97-AF65-F5344CB8AC3E}">
        <p14:creationId xmlns:p14="http://schemas.microsoft.com/office/powerpoint/2010/main" val="18407494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On the IBM quantum device, we validated the effectiveness of Choco-Q. Experimental results show that compared to baseline methods, our approach improves the success rate by two point six five times, enhances in-constraints rate by two point four three times, and reduces end-to-end runtime by four point six nine times.</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 </a:t>
            </a:r>
            <a:r>
              <a:rPr lang="en-US" altLang="zh-CN" dirty="0"/>
              <a:t>IBM </a:t>
            </a:r>
            <a:r>
              <a:rPr lang="zh-CN" altLang="en-US" dirty="0"/>
              <a:t>量子设备上，我们验证了该算法的有效性。实验结果表明，与基线方法相比，我们在成功找到最优解的概率上提升了 </a:t>
            </a:r>
            <a:r>
              <a:rPr lang="en-US" altLang="zh-CN" dirty="0"/>
              <a:t>2.65 </a:t>
            </a:r>
            <a:r>
              <a:rPr lang="zh-CN" altLang="en-US" dirty="0"/>
              <a:t>倍，在满足约束的能力上提升了 </a:t>
            </a:r>
            <a:r>
              <a:rPr lang="en-US" altLang="zh-CN" dirty="0"/>
              <a:t>2.43 </a:t>
            </a:r>
            <a:r>
              <a:rPr lang="zh-CN" altLang="en-US" dirty="0"/>
              <a:t>倍，同时端到端时延降低了 </a:t>
            </a:r>
            <a:r>
              <a:rPr lang="en-US" altLang="zh-CN" dirty="0"/>
              <a:t>4.69 </a:t>
            </a:r>
            <a:r>
              <a:rPr lang="zh-CN" altLang="en-US" dirty="0"/>
              <a:t>倍。</a:t>
            </a:r>
          </a:p>
          <a:p>
            <a:endParaRPr lang="en-US" altLang="zh-CN"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28</a:t>
            </a:fld>
            <a:endParaRPr lang="zh-CN" altLang="en-US"/>
          </a:p>
        </p:txBody>
      </p:sp>
    </p:spTree>
    <p:extLst>
      <p:ext uri="{BB962C8B-B14F-4D97-AF65-F5344CB8AC3E}">
        <p14:creationId xmlns:p14="http://schemas.microsoft.com/office/powerpoint/2010/main" val="23360998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We further analyze the effect of our optimization techniques.</a:t>
            </a:r>
            <a:br>
              <a:rPr lang="en-US" altLang="zh-CN" dirty="0"/>
            </a:br>
            <a:r>
              <a:rPr lang="en-US" altLang="zh-CN" dirty="0"/>
              <a:t>First, </a:t>
            </a:r>
            <a:r>
              <a:rPr lang="en-US" altLang="zh-CN" b="1" dirty="0">
                <a:latin typeface="Arial" panose="020B0604020202020204" pitchFamily="34" charset="0"/>
                <a:ea typeface="STKaiti" panose="02010600040101010101" pitchFamily="2" charset="-122"/>
                <a:cs typeface="Arial" panose="020B0604020202020204" pitchFamily="34" charset="0"/>
                <a:sym typeface="+mn-lt"/>
              </a:rPr>
              <a:t>Hamiltonian</a:t>
            </a:r>
            <a:r>
              <a:rPr lang="zh-CN" altLang="en-US" b="1" dirty="0">
                <a:latin typeface="Arial" panose="020B0604020202020204" pitchFamily="34" charset="0"/>
                <a:ea typeface="STKaiti" panose="02010600040101010101" pitchFamily="2" charset="-122"/>
                <a:cs typeface="Arial" panose="020B0604020202020204" pitchFamily="34" charset="0"/>
                <a:sym typeface="+mn-lt"/>
              </a:rPr>
              <a:t> </a:t>
            </a:r>
            <a:r>
              <a:rPr lang="en-US" altLang="zh-CN" b="1" dirty="0">
                <a:latin typeface="Arial" panose="020B0604020202020204" pitchFamily="34" charset="0"/>
                <a:ea typeface="STKaiti" panose="02010600040101010101" pitchFamily="2" charset="-122"/>
                <a:cs typeface="Arial" panose="020B0604020202020204" pitchFamily="34" charset="0"/>
                <a:sym typeface="+mn-lt"/>
              </a:rPr>
              <a:t>serialization</a:t>
            </a:r>
            <a:r>
              <a:rPr lang="zh-CN" altLang="en-US" b="1" dirty="0">
                <a:latin typeface="Arial" panose="020B0604020202020204" pitchFamily="34" charset="0"/>
                <a:ea typeface="STKaiti" panose="02010600040101010101" pitchFamily="2" charset="-122"/>
                <a:cs typeface="Arial" panose="020B0604020202020204" pitchFamily="34" charset="0"/>
                <a:sym typeface="+mn-lt"/>
              </a:rPr>
              <a:t> </a:t>
            </a:r>
            <a:r>
              <a:rPr lang="en-US" altLang="zh-CN" b="1" dirty="0">
                <a:latin typeface="Arial" panose="020B0604020202020204" pitchFamily="34" charset="0"/>
                <a:ea typeface="STKaiti" panose="02010600040101010101" pitchFamily="2" charset="-122"/>
                <a:cs typeface="Arial" panose="020B0604020202020204" pitchFamily="34" charset="0"/>
                <a:sym typeface="+mn-lt"/>
              </a:rPr>
              <a:t>and decomposition </a:t>
            </a:r>
            <a:r>
              <a:rPr lang="en-US" altLang="zh-CN" dirty="0"/>
              <a:t>significantly enhances compilation efficiency. The compilation time is reduced by million</a:t>
            </a:r>
            <a:r>
              <a:rPr lang="en-US" altLang="zh-CN" b="1" dirty="0"/>
              <a:t> </a:t>
            </a:r>
            <a:r>
              <a:rPr lang="en-US" altLang="zh-CN" dirty="0"/>
              <a:t>times and circuit depth is reduced by over eighty thousand times. This greatly lowers the execution overhead on quantum hardware. </a:t>
            </a:r>
          </a:p>
          <a:p>
            <a:r>
              <a:rPr lang="en-US" altLang="zh-CN" dirty="0"/>
              <a:t>Second, </a:t>
            </a:r>
            <a:r>
              <a:rPr lang="en-US" altLang="zh-CN" b="1" dirty="0"/>
              <a:t>variable elimination</a:t>
            </a:r>
            <a:r>
              <a:rPr lang="en-US" altLang="zh-CN" dirty="0"/>
              <a:t> further optimizes the circuit structure. Circuit depth decreases with the number of variables eliminated and the success rate increases accordingly.</a:t>
            </a:r>
          </a:p>
          <a:p>
            <a:endParaRPr lang="en-US" altLang="zh-CN" dirty="0"/>
          </a:p>
          <a:p>
            <a:endParaRPr lang="en-US" altLang="zh-CN" dirty="0"/>
          </a:p>
          <a:p>
            <a:r>
              <a:rPr lang="zh-CN" altLang="en-US" dirty="0"/>
              <a:t>首先，</a:t>
            </a:r>
            <a:r>
              <a:rPr lang="zh-CN" altLang="en-US" b="1" dirty="0"/>
              <a:t>电路硬件编码技术</a:t>
            </a:r>
            <a:r>
              <a:rPr lang="zh-CN" altLang="en-US" dirty="0"/>
              <a:t> 极大地提升了编译效率，使电路编译时间缩短了 </a:t>
            </a:r>
            <a:r>
              <a:rPr lang="en-US" altLang="zh-CN" dirty="0"/>
              <a:t>10^6 </a:t>
            </a:r>
            <a:r>
              <a:rPr lang="zh-CN" altLang="en-US" dirty="0"/>
              <a:t>倍，同时电路深度减少了 </a:t>
            </a:r>
            <a:r>
              <a:rPr lang="en-US" altLang="zh-CN" dirty="0"/>
              <a:t>80,000 </a:t>
            </a:r>
            <a:r>
              <a:rPr lang="zh-CN" altLang="en-US" dirty="0"/>
              <a:t>倍以上。这大大降低了硬件执行的开销。</a:t>
            </a:r>
          </a:p>
          <a:p>
            <a:r>
              <a:rPr lang="zh-CN" altLang="en-US" dirty="0"/>
              <a:t>其次，</a:t>
            </a:r>
            <a:r>
              <a:rPr lang="zh-CN" altLang="en-US" b="1" dirty="0"/>
              <a:t>变量消除技术</a:t>
            </a:r>
            <a:r>
              <a:rPr lang="zh-CN" altLang="en-US" dirty="0"/>
              <a:t> 进一步优化了电路结构。每消除一个变量，电路深度就能减少，成功率也相应提高，使得优化过程更加高效稳定。</a:t>
            </a:r>
          </a:p>
          <a:p>
            <a:endParaRPr lang="en-US" altLang="zh-CN"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29</a:t>
            </a:fld>
            <a:endParaRPr lang="zh-CN" altLang="en-US"/>
          </a:p>
        </p:txBody>
      </p:sp>
    </p:spTree>
    <p:extLst>
      <p:ext uri="{BB962C8B-B14F-4D97-AF65-F5344CB8AC3E}">
        <p14:creationId xmlns:p14="http://schemas.microsoft.com/office/powerpoint/2010/main" val="2918227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To facilitate practical use, we provide an easy-to-use API for Choco-Q.  We will introduce how to use it to solving the constrained problems.</a:t>
            </a:r>
          </a:p>
        </p:txBody>
      </p:sp>
      <p:sp>
        <p:nvSpPr>
          <p:cNvPr id="4" name="灯片编号占位符 3"/>
          <p:cNvSpPr>
            <a:spLocks noGrp="1"/>
          </p:cNvSpPr>
          <p:nvPr>
            <p:ph type="sldNum" sz="quarter" idx="5"/>
          </p:nvPr>
        </p:nvSpPr>
        <p:spPr/>
        <p:txBody>
          <a:bodyPr/>
          <a:lstStyle/>
          <a:p>
            <a:fld id="{4BFA3C6E-C766-40A8-8C90-B12D9D8BB6EE}" type="slidenum">
              <a:rPr lang="zh-CN" altLang="en-US" smtClean="0"/>
              <a:t>30</a:t>
            </a:fld>
            <a:endParaRPr lang="zh-CN" altLang="en-US"/>
          </a:p>
        </p:txBody>
      </p:sp>
    </p:spTree>
    <p:extLst>
      <p:ext uri="{BB962C8B-B14F-4D97-AF65-F5344CB8AC3E}">
        <p14:creationId xmlns:p14="http://schemas.microsoft.com/office/powerpoint/2010/main" val="27664358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Now</a:t>
            </a:r>
            <a:r>
              <a:rPr kumimoji="1" lang="zh-CN" altLang="en-US" dirty="0"/>
              <a:t> </a:t>
            </a:r>
            <a:r>
              <a:rPr kumimoji="1" lang="en-US" altLang="zh-CN" dirty="0"/>
              <a:t>we</a:t>
            </a:r>
            <a:r>
              <a:rPr kumimoji="1" lang="zh-CN" altLang="en-US" dirty="0"/>
              <a:t> </a:t>
            </a:r>
            <a:r>
              <a:rPr kumimoji="1" lang="en-US" altLang="zh-CN" dirty="0"/>
              <a:t>introduce</a:t>
            </a:r>
            <a:r>
              <a:rPr kumimoji="1" lang="zh-CN" altLang="en-US" dirty="0"/>
              <a:t> </a:t>
            </a:r>
            <a:r>
              <a:rPr kumimoji="1" lang="en-US" altLang="zh-CN" dirty="0"/>
              <a:t>the</a:t>
            </a:r>
            <a:r>
              <a:rPr kumimoji="1" lang="zh-CN" altLang="en-US" dirty="0"/>
              <a:t> </a:t>
            </a:r>
            <a:r>
              <a:rPr kumimoji="1" lang="en-US" altLang="zh-CN" dirty="0"/>
              <a:t>API</a:t>
            </a:r>
            <a:r>
              <a:rPr kumimoji="1" lang="zh-CN" altLang="en-US" dirty="0"/>
              <a:t> </a:t>
            </a:r>
            <a:r>
              <a:rPr kumimoji="1" lang="en-US" altLang="zh-CN" dirty="0"/>
              <a:t>to</a:t>
            </a:r>
            <a:r>
              <a:rPr kumimoji="1" lang="zh-CN" altLang="en-US" dirty="0"/>
              <a:t> </a:t>
            </a:r>
            <a:r>
              <a:rPr kumimoji="1" lang="en-US" altLang="zh-CN" dirty="0"/>
              <a:t>solve constrained optimization problems with Choco-Q. The</a:t>
            </a:r>
            <a:r>
              <a:rPr kumimoji="1" lang="zh-CN" altLang="en-US" dirty="0"/>
              <a:t> </a:t>
            </a:r>
            <a:r>
              <a:rPr kumimoji="1" lang="en-US" altLang="zh-CN" dirty="0"/>
              <a:t>detailed</a:t>
            </a:r>
            <a:r>
              <a:rPr kumimoji="1" lang="zh-CN" altLang="en-US" dirty="0"/>
              <a:t> </a:t>
            </a:r>
            <a:r>
              <a:rPr kumimoji="1" lang="en-US" altLang="zh-CN" dirty="0"/>
              <a:t>example</a:t>
            </a:r>
            <a:r>
              <a:rPr kumimoji="1" lang="zh-CN" altLang="en-US" dirty="0"/>
              <a:t> </a:t>
            </a:r>
            <a:r>
              <a:rPr kumimoji="1" lang="en-US" altLang="zh-CN" dirty="0"/>
              <a:t>is</a:t>
            </a:r>
            <a:r>
              <a:rPr kumimoji="1" lang="zh-CN" altLang="en-US" dirty="0"/>
              <a:t> </a:t>
            </a:r>
            <a:r>
              <a:rPr kumimoji="1" lang="en-US" altLang="zh-CN" dirty="0"/>
              <a:t>in</a:t>
            </a:r>
            <a:r>
              <a:rPr kumimoji="1" lang="zh-CN" altLang="en-US" dirty="0"/>
              <a:t> </a:t>
            </a:r>
            <a:r>
              <a:rPr kumimoji="1" lang="en-US" altLang="zh-CN" sz="1200" dirty="0" err="1">
                <a:latin typeface="Arial" panose="020B0604020202020204" pitchFamily="34" charset="0"/>
                <a:ea typeface="STKaiti" panose="02010600040101010101" pitchFamily="2" charset="-122"/>
                <a:cs typeface="Arial" panose="020B0604020202020204" pitchFamily="34" charset="0"/>
              </a:rPr>
              <a:t>jupyter</a:t>
            </a:r>
            <a:r>
              <a:rPr kumimoji="1" lang="zh-CN" altLang="en-US" sz="1200" dirty="0">
                <a:latin typeface="Arial" panose="020B0604020202020204" pitchFamily="34" charset="0"/>
                <a:ea typeface="STKaiti" panose="02010600040101010101" pitchFamily="2" charset="-122"/>
                <a:cs typeface="Arial" panose="020B0604020202020204" pitchFamily="34" charset="0"/>
              </a:rPr>
              <a:t> </a:t>
            </a:r>
            <a:r>
              <a:rPr kumimoji="1" lang="en-US" altLang="zh-CN" sz="1200" dirty="0">
                <a:latin typeface="Arial" panose="020B0604020202020204" pitchFamily="34" charset="0"/>
                <a:ea typeface="STKaiti" panose="02010600040101010101" pitchFamily="2" charset="-122"/>
                <a:cs typeface="Arial" panose="020B0604020202020204" pitchFamily="34" charset="0"/>
              </a:rPr>
              <a:t>notebook.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dirty="0">
              <a:latin typeface="Arial" panose="020B0604020202020204" pitchFamily="34" charset="0"/>
              <a:ea typeface="STKaiti" panose="02010600040101010101" pitchFamily="2" charset="-122"/>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First, you can definite a problem by the </a:t>
            </a:r>
            <a:r>
              <a:rPr lang="en" altLang="zh-CN" sz="1200" b="0" dirty="0" err="1">
                <a:solidFill>
                  <a:schemeClr val="accent1"/>
                </a:solidFill>
                <a:effectLst/>
                <a:latin typeface="Menlo" panose="020B0609030804020204" pitchFamily="49" charset="0"/>
              </a:rPr>
              <a:t>LcboModel</a:t>
            </a:r>
            <a:r>
              <a:rPr lang="en" altLang="zh-CN" sz="1200" b="0" dirty="0">
                <a:solidFill>
                  <a:schemeClr val="accent1"/>
                </a:solidFill>
                <a:effectLst/>
                <a:latin typeface="Menlo" panose="020B0609030804020204" pitchFamily="49" charset="0"/>
              </a:rPr>
              <a:t> </a:t>
            </a:r>
            <a:r>
              <a:rPr kumimoji="1" lang="en-US" altLang="zh-CN" dirty="0"/>
              <a:t>class. This class integrate the function to add binary variable, set the objective, and add </a:t>
            </a:r>
            <a:r>
              <a:rPr kumimoji="1" lang="en-US" altLang="zh-CN" dirty="0" err="1"/>
              <a:t>constratins</a:t>
            </a:r>
            <a:r>
              <a:rPr kumimoji="1" lang="en-US" altLang="zh-CN" dirty="0"/>
              <a:t>. After definition, you can print this class to get the problem information. You can also call the </a:t>
            </a:r>
            <a:r>
              <a:rPr lang="en" altLang="zh-CN" sz="1200" b="0" dirty="0">
                <a:solidFill>
                  <a:srgbClr val="FF0000"/>
                </a:solidFill>
                <a:effectLst/>
                <a:latin typeface="Menlo" panose="020B0609030804020204" pitchFamily="49" charset="0"/>
              </a:rPr>
              <a:t>optimize function to </a:t>
            </a:r>
            <a:r>
              <a:rPr kumimoji="1" lang="en-US" altLang="zh-CN" dirty="0"/>
              <a:t>get the optimal cost from a classical solver.</a:t>
            </a:r>
            <a:endParaRPr kumimoji="1"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To use Choco-Q to solve your problem. You should first declare the classical parameter optimizer, the simulator, and setup the </a:t>
            </a:r>
            <a:r>
              <a:rPr kumimoji="1" lang="en-US" altLang="zh-CN" dirty="0" err="1"/>
              <a:t>ChocoSolver</a:t>
            </a:r>
            <a:r>
              <a:rPr kumimoji="1" lang="en-US" altLang="zh-CN" dirty="0"/>
              <a:t>. The </a:t>
            </a:r>
            <a:r>
              <a:rPr lang="en" altLang="zh-CN" sz="1200" b="0" dirty="0" err="1">
                <a:solidFill>
                  <a:srgbClr val="FF0000"/>
                </a:solidFill>
                <a:effectLst/>
                <a:latin typeface="Menlo" panose="020B0609030804020204" pitchFamily="49" charset="0"/>
              </a:rPr>
              <a:t>circuit_analyze</a:t>
            </a:r>
            <a:r>
              <a:rPr lang="en" altLang="zh-CN" sz="1200" b="0" dirty="0">
                <a:solidFill>
                  <a:srgbClr val="FF0000"/>
                </a:solidFill>
                <a:effectLst/>
                <a:latin typeface="Menlo" panose="020B0609030804020204" pitchFamily="49" charset="0"/>
              </a:rPr>
              <a:t> function will print the basic information including circuit depth, width, number of gates. In the end, call the solve function to get the results from </a:t>
            </a:r>
            <a:r>
              <a:rPr kumimoji="1" lang="en-US" altLang="zh-CN" dirty="0" err="1"/>
              <a:t>ChocoSolver</a:t>
            </a:r>
            <a:r>
              <a:rPr kumimoji="1" lang="en-US" altLang="zh-CN" dirty="0"/>
              <a:t>.</a:t>
            </a:r>
            <a:endParaRPr kumimoji="1"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31</a:t>
            </a:fld>
            <a:endParaRPr lang="zh-CN" altLang="en-US"/>
          </a:p>
        </p:txBody>
      </p:sp>
    </p:spTree>
    <p:extLst>
      <p:ext uri="{BB962C8B-B14F-4D97-AF65-F5344CB8AC3E}">
        <p14:creationId xmlns:p14="http://schemas.microsoft.com/office/powerpoint/2010/main" val="1814235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Times New Roman" panose="02020603050405020304" pitchFamily="18" charset="0"/>
                <a:ea typeface="宋体" panose="02010600030101010101" pitchFamily="2" charset="-122"/>
              </a:rPr>
              <a:t>Thanks for listening.</a:t>
            </a:r>
            <a:r>
              <a:rPr lang="zh-CN" altLang="en-US" sz="1800" dirty="0">
                <a:effectLst/>
                <a:latin typeface="Times New Roman" panose="02020603050405020304" pitchFamily="18" charset="0"/>
                <a:ea typeface="宋体" panose="02010600030101010101" pitchFamily="2" charset="-122"/>
              </a:rPr>
              <a:t> </a:t>
            </a:r>
            <a:r>
              <a:rPr lang="en-US" altLang="zh-CN" sz="1800" dirty="0">
                <a:effectLst/>
                <a:latin typeface="Times New Roman" panose="02020603050405020304" pitchFamily="18" charset="0"/>
                <a:ea typeface="宋体" panose="02010600030101010101" pitchFamily="2" charset="-122"/>
              </a:rPr>
              <a:t>Now</a:t>
            </a:r>
            <a:r>
              <a:rPr lang="zh-CN" altLang="en-US" sz="1800" dirty="0">
                <a:effectLst/>
                <a:latin typeface="Times New Roman" panose="02020603050405020304" pitchFamily="18" charset="0"/>
                <a:ea typeface="宋体" panose="02010600030101010101" pitchFamily="2" charset="-122"/>
              </a:rPr>
              <a:t> </a:t>
            </a:r>
            <a:r>
              <a:rPr lang="en-US" altLang="zh-CN" sz="1800" dirty="0">
                <a:effectLst/>
                <a:latin typeface="Times New Roman" panose="02020603050405020304" pitchFamily="18" charset="0"/>
                <a:ea typeface="宋体" panose="02010600030101010101" pitchFamily="2" charset="-122"/>
              </a:rPr>
              <a:t>we</a:t>
            </a:r>
            <a:r>
              <a:rPr lang="zh-CN" altLang="en-US" sz="1800" dirty="0">
                <a:effectLst/>
                <a:latin typeface="Times New Roman" panose="02020603050405020304" pitchFamily="18" charset="0"/>
                <a:ea typeface="宋体" panose="02010600030101010101" pitchFamily="2" charset="-122"/>
              </a:rPr>
              <a:t> </a:t>
            </a:r>
            <a:r>
              <a:rPr lang="en-US" altLang="zh-CN" sz="1800" dirty="0">
                <a:effectLst/>
                <a:latin typeface="Times New Roman" panose="02020603050405020304" pitchFamily="18" charset="0"/>
                <a:ea typeface="宋体" panose="02010600030101010101" pitchFamily="2" charset="-122"/>
              </a:rPr>
              <a:t>finish</a:t>
            </a:r>
            <a:r>
              <a:rPr lang="zh-CN" altLang="en-US" sz="1800" dirty="0">
                <a:effectLst/>
                <a:latin typeface="Times New Roman" panose="02020603050405020304" pitchFamily="18" charset="0"/>
                <a:ea typeface="宋体" panose="02010600030101010101" pitchFamily="2" charset="-122"/>
              </a:rPr>
              <a:t> </a:t>
            </a:r>
            <a:r>
              <a:rPr lang="en-US" altLang="zh-CN" sz="1800" dirty="0">
                <a:effectLst/>
                <a:latin typeface="Times New Roman" panose="02020603050405020304" pitchFamily="18" charset="0"/>
                <a:ea typeface="宋体" panose="02010600030101010101" pitchFamily="2" charset="-122"/>
              </a:rPr>
              <a:t>all five topics.</a:t>
            </a:r>
            <a:r>
              <a:rPr lang="zh-CN" altLang="en-US" sz="1800" dirty="0">
                <a:effectLst/>
                <a:latin typeface="Times New Roman" panose="02020603050405020304" pitchFamily="18" charset="0"/>
                <a:ea typeface="宋体" panose="02010600030101010101" pitchFamily="2" charset="-122"/>
              </a:rPr>
              <a:t> </a:t>
            </a:r>
            <a:r>
              <a:rPr lang="en-US" altLang="zh-CN" sz="1800" dirty="0">
                <a:effectLst/>
                <a:latin typeface="Times New Roman" panose="02020603050405020304" pitchFamily="18" charset="0"/>
                <a:ea typeface="宋体" panose="02010600030101010101" pitchFamily="2" charset="-122"/>
              </a:rPr>
              <a:t>The rest of the time is for questions and answers. Feel free to ask if you have any problem during experiencing </a:t>
            </a:r>
            <a:r>
              <a:rPr lang="en-US" altLang="zh-CN" sz="1800" dirty="0" err="1">
                <a:effectLst/>
                <a:latin typeface="Times New Roman" panose="02020603050405020304" pitchFamily="18" charset="0"/>
                <a:ea typeface="宋体" panose="02010600030101010101" pitchFamily="2" charset="-122"/>
              </a:rPr>
              <a:t>JanusQ</a:t>
            </a:r>
            <a:r>
              <a:rPr lang="en-US" altLang="zh-CN" sz="1800" dirty="0">
                <a:effectLst/>
                <a:latin typeface="Times New Roman" panose="02020603050405020304" pitchFamily="18" charset="0"/>
                <a:ea typeface="宋体" panose="02010600030101010101" pitchFamily="2" charset="-122"/>
              </a:rPr>
              <a:t>.</a:t>
            </a:r>
            <a:endParaRPr kumimoji="1" lang="zh-CN" altLang="en-US" dirty="0"/>
          </a:p>
        </p:txBody>
      </p:sp>
      <p:sp>
        <p:nvSpPr>
          <p:cNvPr id="4" name="灯片编号占位符 3"/>
          <p:cNvSpPr>
            <a:spLocks noGrp="1"/>
          </p:cNvSpPr>
          <p:nvPr>
            <p:ph type="sldNum" sz="quarter" idx="5"/>
          </p:nvPr>
        </p:nvSpPr>
        <p:spPr/>
        <p:txBody>
          <a:bodyPr/>
          <a:lstStyle/>
          <a:p>
            <a:fld id="{7A518D34-B274-1948-8431-CAA3B27C12DF}" type="slidenum">
              <a:rPr kumimoji="1" lang="zh-CN" altLang="en-US" smtClean="0"/>
              <a:t>32</a:t>
            </a:fld>
            <a:endParaRPr kumimoji="1" lang="zh-CN" altLang="en-US"/>
          </a:p>
        </p:txBody>
      </p:sp>
    </p:spTree>
    <p:extLst>
      <p:ext uri="{BB962C8B-B14F-4D97-AF65-F5344CB8AC3E}">
        <p14:creationId xmlns:p14="http://schemas.microsoft.com/office/powerpoint/2010/main" val="3612909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0C7F13-F4A9-DA3B-F0C4-0197239F69AA}"/>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A63948BA-D01A-974F-ACEE-85AC37E66E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8AB67EC-B8C4-6C0B-F887-E9F58A8A6ECA}"/>
              </a:ext>
            </a:extLst>
          </p:cNvPr>
          <p:cNvSpPr>
            <a:spLocks noGrp="1"/>
          </p:cNvSpPr>
          <p:nvPr>
            <p:ph type="dt" sz="half" idx="10"/>
          </p:nvPr>
        </p:nvSpPr>
        <p:spPr/>
        <p:txBody>
          <a:bodyPr/>
          <a:lstStyle/>
          <a:p>
            <a:fld id="{07DFF6D9-E824-1143-9169-42F75C7B5F18}" type="datetimeFigureOut">
              <a:rPr kumimoji="1" lang="zh-CN" altLang="en-US" smtClean="0"/>
              <a:t>2025/2/26</a:t>
            </a:fld>
            <a:endParaRPr kumimoji="1" lang="zh-CN" altLang="en-US"/>
          </a:p>
        </p:txBody>
      </p:sp>
      <p:sp>
        <p:nvSpPr>
          <p:cNvPr id="5" name="页脚占位符 4">
            <a:extLst>
              <a:ext uri="{FF2B5EF4-FFF2-40B4-BE49-F238E27FC236}">
                <a16:creationId xmlns:a16="http://schemas.microsoft.com/office/drawing/2014/main" id="{844B40ED-2631-744D-8F16-C4A83CE4F34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6040C2E-BEF5-5C44-F759-C634B3DF8318}"/>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7373857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185DBF-D2A6-6099-42E5-CB8FE552F07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240022F-70D6-7919-586A-54F5E94178C5}"/>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5E4EC51-A02B-B8E9-9605-961148D44E8D}"/>
              </a:ext>
            </a:extLst>
          </p:cNvPr>
          <p:cNvSpPr>
            <a:spLocks noGrp="1"/>
          </p:cNvSpPr>
          <p:nvPr>
            <p:ph type="dt" sz="half" idx="10"/>
          </p:nvPr>
        </p:nvSpPr>
        <p:spPr/>
        <p:txBody>
          <a:bodyPr/>
          <a:lstStyle/>
          <a:p>
            <a:fld id="{07DFF6D9-E824-1143-9169-42F75C7B5F18}" type="datetimeFigureOut">
              <a:rPr kumimoji="1" lang="zh-CN" altLang="en-US" smtClean="0"/>
              <a:t>2025/2/26</a:t>
            </a:fld>
            <a:endParaRPr kumimoji="1" lang="zh-CN" altLang="en-US"/>
          </a:p>
        </p:txBody>
      </p:sp>
      <p:sp>
        <p:nvSpPr>
          <p:cNvPr id="5" name="页脚占位符 4">
            <a:extLst>
              <a:ext uri="{FF2B5EF4-FFF2-40B4-BE49-F238E27FC236}">
                <a16:creationId xmlns:a16="http://schemas.microsoft.com/office/drawing/2014/main" id="{695CDFAE-63D8-B8C0-998B-4F2348C41CA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BD87E89-575F-A4C3-C926-92614C61F88C}"/>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618979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F1E832-78F7-45BB-AC78-6622FF6E2C0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1506475-37D4-249C-8FEA-02BB476F2F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158423D6-CD18-189D-9CD4-5D673CCC2DDE}"/>
              </a:ext>
            </a:extLst>
          </p:cNvPr>
          <p:cNvSpPr>
            <a:spLocks noGrp="1"/>
          </p:cNvSpPr>
          <p:nvPr>
            <p:ph type="dt" sz="half" idx="10"/>
          </p:nvPr>
        </p:nvSpPr>
        <p:spPr/>
        <p:txBody>
          <a:bodyPr/>
          <a:lstStyle/>
          <a:p>
            <a:fld id="{07DFF6D9-E824-1143-9169-42F75C7B5F18}" type="datetimeFigureOut">
              <a:rPr kumimoji="1" lang="zh-CN" altLang="en-US" smtClean="0"/>
              <a:t>2025/2/26</a:t>
            </a:fld>
            <a:endParaRPr kumimoji="1" lang="zh-CN" altLang="en-US"/>
          </a:p>
        </p:txBody>
      </p:sp>
      <p:sp>
        <p:nvSpPr>
          <p:cNvPr id="5" name="页脚占位符 4">
            <a:extLst>
              <a:ext uri="{FF2B5EF4-FFF2-40B4-BE49-F238E27FC236}">
                <a16:creationId xmlns:a16="http://schemas.microsoft.com/office/drawing/2014/main" id="{C5DDA7BA-A5DD-4E47-6987-95C6B9C14BD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3EC3E3E-A121-5506-3E7D-5D07E540A5C6}"/>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4050923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98CB1D-BECA-F3CD-4C1D-267C9158BD62}"/>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E667E95-14FC-F433-83BA-EB30AA01BF82}"/>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73DA1266-A6F7-49CD-38AC-F3436F3A1281}"/>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85961CB5-FE36-0336-DA0F-4A73184EB87F}"/>
              </a:ext>
            </a:extLst>
          </p:cNvPr>
          <p:cNvSpPr>
            <a:spLocks noGrp="1"/>
          </p:cNvSpPr>
          <p:nvPr>
            <p:ph type="dt" sz="half" idx="10"/>
          </p:nvPr>
        </p:nvSpPr>
        <p:spPr/>
        <p:txBody>
          <a:bodyPr/>
          <a:lstStyle/>
          <a:p>
            <a:fld id="{07DFF6D9-E824-1143-9169-42F75C7B5F18}" type="datetimeFigureOut">
              <a:rPr kumimoji="1" lang="zh-CN" altLang="en-US" smtClean="0"/>
              <a:t>2025/2/26</a:t>
            </a:fld>
            <a:endParaRPr kumimoji="1" lang="zh-CN" altLang="en-US"/>
          </a:p>
        </p:txBody>
      </p:sp>
      <p:sp>
        <p:nvSpPr>
          <p:cNvPr id="6" name="页脚占位符 5">
            <a:extLst>
              <a:ext uri="{FF2B5EF4-FFF2-40B4-BE49-F238E27FC236}">
                <a16:creationId xmlns:a16="http://schemas.microsoft.com/office/drawing/2014/main" id="{CE9B6F3E-509C-08A3-FA5E-99371CA4157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9230F4E-5D8A-0AF0-B3DF-8F311B7677EC}"/>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45598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74FA8E-7207-FE9F-F23E-040AE7D88491}"/>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4D691EC1-001A-BC3C-C1D7-9B6EF15500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F71DE8F-ACB3-6885-BBF1-7EF42A045ED9}"/>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757919BE-CFF7-F037-A8A1-26BB26B9AA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8E1D0885-2414-F7ED-F33E-1ECCD84991E3}"/>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4A86B55-07E2-C130-A091-AB4036958CEF}"/>
              </a:ext>
            </a:extLst>
          </p:cNvPr>
          <p:cNvSpPr>
            <a:spLocks noGrp="1"/>
          </p:cNvSpPr>
          <p:nvPr>
            <p:ph type="dt" sz="half" idx="10"/>
          </p:nvPr>
        </p:nvSpPr>
        <p:spPr/>
        <p:txBody>
          <a:bodyPr/>
          <a:lstStyle/>
          <a:p>
            <a:fld id="{07DFF6D9-E824-1143-9169-42F75C7B5F18}" type="datetimeFigureOut">
              <a:rPr kumimoji="1" lang="zh-CN" altLang="en-US" smtClean="0"/>
              <a:t>2025/2/26</a:t>
            </a:fld>
            <a:endParaRPr kumimoji="1" lang="zh-CN" altLang="en-US"/>
          </a:p>
        </p:txBody>
      </p:sp>
      <p:sp>
        <p:nvSpPr>
          <p:cNvPr id="8" name="页脚占位符 7">
            <a:extLst>
              <a:ext uri="{FF2B5EF4-FFF2-40B4-BE49-F238E27FC236}">
                <a16:creationId xmlns:a16="http://schemas.microsoft.com/office/drawing/2014/main" id="{D559EF2A-B2DE-714A-279B-6B77900238AE}"/>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48CBA43D-F588-8FBC-1A09-2B6F93EF4856}"/>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300188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776A38-DB20-9DFD-78C4-2A7ABBA8D27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CB02DEB-3B50-94BD-5013-2B910E881306}"/>
              </a:ext>
            </a:extLst>
          </p:cNvPr>
          <p:cNvSpPr>
            <a:spLocks noGrp="1"/>
          </p:cNvSpPr>
          <p:nvPr>
            <p:ph type="dt" sz="half" idx="10"/>
          </p:nvPr>
        </p:nvSpPr>
        <p:spPr/>
        <p:txBody>
          <a:bodyPr/>
          <a:lstStyle/>
          <a:p>
            <a:fld id="{07DFF6D9-E824-1143-9169-42F75C7B5F18}" type="datetimeFigureOut">
              <a:rPr kumimoji="1" lang="zh-CN" altLang="en-US" smtClean="0"/>
              <a:t>2025/2/26</a:t>
            </a:fld>
            <a:endParaRPr kumimoji="1" lang="zh-CN" altLang="en-US"/>
          </a:p>
        </p:txBody>
      </p:sp>
      <p:sp>
        <p:nvSpPr>
          <p:cNvPr id="4" name="页脚占位符 3">
            <a:extLst>
              <a:ext uri="{FF2B5EF4-FFF2-40B4-BE49-F238E27FC236}">
                <a16:creationId xmlns:a16="http://schemas.microsoft.com/office/drawing/2014/main" id="{61A3A61A-C9DB-A85D-B583-AC69C600478B}"/>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CB364398-4A6F-6132-53B1-3C3E679A9BA7}"/>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355133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E3B5100-AD00-A635-BB8C-6CB22EA290F4}"/>
              </a:ext>
            </a:extLst>
          </p:cNvPr>
          <p:cNvSpPr>
            <a:spLocks noGrp="1"/>
          </p:cNvSpPr>
          <p:nvPr>
            <p:ph type="dt" sz="half" idx="10"/>
          </p:nvPr>
        </p:nvSpPr>
        <p:spPr/>
        <p:txBody>
          <a:bodyPr/>
          <a:lstStyle/>
          <a:p>
            <a:fld id="{07DFF6D9-E824-1143-9169-42F75C7B5F18}" type="datetimeFigureOut">
              <a:rPr kumimoji="1" lang="zh-CN" altLang="en-US" smtClean="0"/>
              <a:t>2025/2/26</a:t>
            </a:fld>
            <a:endParaRPr kumimoji="1" lang="zh-CN" altLang="en-US"/>
          </a:p>
        </p:txBody>
      </p:sp>
      <p:sp>
        <p:nvSpPr>
          <p:cNvPr id="3" name="页脚占位符 2">
            <a:extLst>
              <a:ext uri="{FF2B5EF4-FFF2-40B4-BE49-F238E27FC236}">
                <a16:creationId xmlns:a16="http://schemas.microsoft.com/office/drawing/2014/main" id="{CE350792-F453-F548-14C9-D4824B804A08}"/>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D1CEB3FE-D5F7-6670-2DBA-4BDC103BBE3E}"/>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2552487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2150C9-4743-AFAD-0904-96EE0B44DFD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67DE599B-CDD3-1F23-1BA0-36A14C1BE5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46342F32-67EF-1753-61B8-72A769A534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717B7E1-62BD-CB08-7E4B-D5D80B53DF80}"/>
              </a:ext>
            </a:extLst>
          </p:cNvPr>
          <p:cNvSpPr>
            <a:spLocks noGrp="1"/>
          </p:cNvSpPr>
          <p:nvPr>
            <p:ph type="dt" sz="half" idx="10"/>
          </p:nvPr>
        </p:nvSpPr>
        <p:spPr/>
        <p:txBody>
          <a:bodyPr/>
          <a:lstStyle/>
          <a:p>
            <a:fld id="{07DFF6D9-E824-1143-9169-42F75C7B5F18}" type="datetimeFigureOut">
              <a:rPr kumimoji="1" lang="zh-CN" altLang="en-US" smtClean="0"/>
              <a:t>2025/2/26</a:t>
            </a:fld>
            <a:endParaRPr kumimoji="1" lang="zh-CN" altLang="en-US"/>
          </a:p>
        </p:txBody>
      </p:sp>
      <p:sp>
        <p:nvSpPr>
          <p:cNvPr id="6" name="页脚占位符 5">
            <a:extLst>
              <a:ext uri="{FF2B5EF4-FFF2-40B4-BE49-F238E27FC236}">
                <a16:creationId xmlns:a16="http://schemas.microsoft.com/office/drawing/2014/main" id="{4178673A-158F-FD82-33DD-08AD368A7E7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D07FCDF5-A7EA-7529-4555-46F8452D385C}"/>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2688232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B145AA-8C51-D4E7-6068-D040F10506B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661B120D-D17F-3198-D9C4-429F353EB2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D310A1AC-8C17-5428-1DDD-622E31A2F4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AAC5B39-017F-90A0-ACB2-EE11AF21766B}"/>
              </a:ext>
            </a:extLst>
          </p:cNvPr>
          <p:cNvSpPr>
            <a:spLocks noGrp="1"/>
          </p:cNvSpPr>
          <p:nvPr>
            <p:ph type="dt" sz="half" idx="10"/>
          </p:nvPr>
        </p:nvSpPr>
        <p:spPr/>
        <p:txBody>
          <a:bodyPr/>
          <a:lstStyle/>
          <a:p>
            <a:fld id="{07DFF6D9-E824-1143-9169-42F75C7B5F18}" type="datetimeFigureOut">
              <a:rPr kumimoji="1" lang="zh-CN" altLang="en-US" smtClean="0"/>
              <a:t>2025/2/26</a:t>
            </a:fld>
            <a:endParaRPr kumimoji="1" lang="zh-CN" altLang="en-US"/>
          </a:p>
        </p:txBody>
      </p:sp>
      <p:sp>
        <p:nvSpPr>
          <p:cNvPr id="6" name="页脚占位符 5">
            <a:extLst>
              <a:ext uri="{FF2B5EF4-FFF2-40B4-BE49-F238E27FC236}">
                <a16:creationId xmlns:a16="http://schemas.microsoft.com/office/drawing/2014/main" id="{9D827743-EEC4-67CA-18AD-A987F9DAFC9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991EC72-21F7-D6EA-742A-5BBC2A8498BD}"/>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285081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6A76C6-8F2B-9453-83B8-2D8C553D1961}"/>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E4489FC-6932-8C41-F3ED-B822761C8D4F}"/>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293763D-0BEF-5770-4E1D-BA8FC395D09A}"/>
              </a:ext>
            </a:extLst>
          </p:cNvPr>
          <p:cNvSpPr>
            <a:spLocks noGrp="1"/>
          </p:cNvSpPr>
          <p:nvPr>
            <p:ph type="dt" sz="half" idx="10"/>
          </p:nvPr>
        </p:nvSpPr>
        <p:spPr/>
        <p:txBody>
          <a:bodyPr/>
          <a:lstStyle/>
          <a:p>
            <a:fld id="{07DFF6D9-E824-1143-9169-42F75C7B5F18}" type="datetimeFigureOut">
              <a:rPr kumimoji="1" lang="zh-CN" altLang="en-US" smtClean="0"/>
              <a:t>2025/2/26</a:t>
            </a:fld>
            <a:endParaRPr kumimoji="1" lang="zh-CN" altLang="en-US"/>
          </a:p>
        </p:txBody>
      </p:sp>
      <p:sp>
        <p:nvSpPr>
          <p:cNvPr id="5" name="页脚占位符 4">
            <a:extLst>
              <a:ext uri="{FF2B5EF4-FFF2-40B4-BE49-F238E27FC236}">
                <a16:creationId xmlns:a16="http://schemas.microsoft.com/office/drawing/2014/main" id="{6083EAF2-0002-1960-604D-5BEB5D35D5E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212A961-10DD-0C5A-B045-F6BCF4B48CE0}"/>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446496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96058DD-5D4E-11F2-282D-F6717206DE9C}"/>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5FE864F-06CF-835F-F326-77BCD828EAE8}"/>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FB2676C-2AD7-F3C3-26A4-FD437BFB3F11}"/>
              </a:ext>
            </a:extLst>
          </p:cNvPr>
          <p:cNvSpPr>
            <a:spLocks noGrp="1"/>
          </p:cNvSpPr>
          <p:nvPr>
            <p:ph type="dt" sz="half" idx="10"/>
          </p:nvPr>
        </p:nvSpPr>
        <p:spPr/>
        <p:txBody>
          <a:bodyPr/>
          <a:lstStyle/>
          <a:p>
            <a:fld id="{07DFF6D9-E824-1143-9169-42F75C7B5F18}" type="datetimeFigureOut">
              <a:rPr kumimoji="1" lang="zh-CN" altLang="en-US" smtClean="0"/>
              <a:t>2025/2/26</a:t>
            </a:fld>
            <a:endParaRPr kumimoji="1" lang="zh-CN" altLang="en-US"/>
          </a:p>
        </p:txBody>
      </p:sp>
      <p:sp>
        <p:nvSpPr>
          <p:cNvPr id="5" name="页脚占位符 4">
            <a:extLst>
              <a:ext uri="{FF2B5EF4-FFF2-40B4-BE49-F238E27FC236}">
                <a16:creationId xmlns:a16="http://schemas.microsoft.com/office/drawing/2014/main" id="{0CC3A8BB-BAC4-332A-9952-32A2255AD89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D9A177D-5EE0-0DFD-BE88-56669768A429}"/>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28287716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8218" y="124618"/>
            <a:ext cx="8821198" cy="678468"/>
          </a:xfrm>
          <a:prstGeom prst="rect">
            <a:avLst/>
          </a:prstGeom>
        </p:spPr>
        <p:txBody>
          <a:bodyPr lIns="0" rIns="0" anchor="ctr">
            <a:normAutofit/>
          </a:bodyPr>
          <a:lstStyle>
            <a:lvl1pPr>
              <a:defRPr sz="3600" b="1">
                <a:latin typeface="Arial" panose="020B0604020202020204" pitchFamily="34" charset="0"/>
                <a:ea typeface="微软雅黑" panose="020B0503020204020204" pitchFamily="34" charset="-122"/>
                <a:cs typeface="Arial" panose="020B0604020202020204" pitchFamily="34" charset="0"/>
              </a:defRPr>
            </a:lvl1pPr>
          </a:lstStyle>
          <a:p>
            <a:r>
              <a:rPr lang="en-US" altLang="zh-CN" dirty="0"/>
              <a:t>Title</a:t>
            </a:r>
            <a:endParaRPr lang="zh-CN" altLang="en-US" dirty="0"/>
          </a:p>
        </p:txBody>
      </p:sp>
      <p:cxnSp>
        <p:nvCxnSpPr>
          <p:cNvPr id="76" name="直接连接符 75"/>
          <p:cNvCxnSpPr/>
          <p:nvPr userDrawn="1"/>
        </p:nvCxnSpPr>
        <p:spPr>
          <a:xfrm>
            <a:off x="719833" y="803088"/>
            <a:ext cx="10790378" cy="0"/>
          </a:xfrm>
          <a:prstGeom prst="line">
            <a:avLst/>
          </a:prstGeom>
          <a:ln w="38100">
            <a:solidFill>
              <a:srgbClr val="04428A"/>
            </a:solidFill>
          </a:ln>
        </p:spPr>
        <p:style>
          <a:lnRef idx="1">
            <a:schemeClr val="accent1"/>
          </a:lnRef>
          <a:fillRef idx="0">
            <a:schemeClr val="accent1"/>
          </a:fillRef>
          <a:effectRef idx="0">
            <a:schemeClr val="accent1"/>
          </a:effectRef>
          <a:fontRef idx="minor">
            <a:schemeClr val="tx1"/>
          </a:fontRef>
        </p:style>
      </p:cxnSp>
      <p:sp>
        <p:nvSpPr>
          <p:cNvPr id="77" name="矩形 76"/>
          <p:cNvSpPr/>
          <p:nvPr userDrawn="1"/>
        </p:nvSpPr>
        <p:spPr>
          <a:xfrm>
            <a:off x="304647" y="-5194"/>
            <a:ext cx="236852" cy="80828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0DE3C065-E686-0CF9-7EAB-02D14C43B11E}"/>
              </a:ext>
            </a:extLst>
          </p:cNvPr>
          <p:cNvSpPr txBox="1"/>
          <p:nvPr userDrawn="1"/>
        </p:nvSpPr>
        <p:spPr>
          <a:xfrm>
            <a:off x="3437681" y="1481559"/>
            <a:ext cx="184731" cy="369332"/>
          </a:xfrm>
          <a:prstGeom prst="rect">
            <a:avLst/>
          </a:prstGeom>
          <a:noFill/>
        </p:spPr>
        <p:txBody>
          <a:bodyPr wrap="none" rtlCol="0">
            <a:spAutoFit/>
          </a:bodyPr>
          <a:lstStyle/>
          <a:p>
            <a:endParaRPr kumimoji="1" lang="zh-CN" altLang="en-US"/>
          </a:p>
        </p:txBody>
      </p:sp>
      <p:pic>
        <p:nvPicPr>
          <p:cNvPr id="4" name="图片 3">
            <a:extLst>
              <a:ext uri="{FF2B5EF4-FFF2-40B4-BE49-F238E27FC236}">
                <a16:creationId xmlns:a16="http://schemas.microsoft.com/office/drawing/2014/main" id="{AB5BFCB5-4693-A970-6EBA-7A46AEAC7CDB}"/>
              </a:ext>
            </a:extLst>
          </p:cNvPr>
          <p:cNvPicPr>
            <a:picLocks noChangeAspect="1"/>
          </p:cNvPicPr>
          <p:nvPr userDrawn="1"/>
        </p:nvPicPr>
        <p:blipFill>
          <a:blip r:embed="rId2"/>
          <a:stretch>
            <a:fillRect/>
          </a:stretch>
        </p:blipFill>
        <p:spPr>
          <a:xfrm>
            <a:off x="9398605" y="70093"/>
            <a:ext cx="2693189" cy="787517"/>
          </a:xfrm>
          <a:prstGeom prst="rect">
            <a:avLst/>
          </a:prstGeom>
        </p:spPr>
      </p:pic>
      <p:sp>
        <p:nvSpPr>
          <p:cNvPr id="8" name="灯片编号占位符 13">
            <a:extLst>
              <a:ext uri="{FF2B5EF4-FFF2-40B4-BE49-F238E27FC236}">
                <a16:creationId xmlns:a16="http://schemas.microsoft.com/office/drawing/2014/main" id="{D3908038-96DA-BBF9-3FAC-37E238D1CB7A}"/>
              </a:ext>
            </a:extLst>
          </p:cNvPr>
          <p:cNvSpPr txBox="1">
            <a:spLocks/>
          </p:cNvSpPr>
          <p:nvPr userDrawn="1"/>
        </p:nvSpPr>
        <p:spPr>
          <a:xfrm>
            <a:off x="11414249" y="6317272"/>
            <a:ext cx="548591" cy="404203"/>
          </a:xfrm>
          <a:prstGeom prst="rect">
            <a:avLst/>
          </a:prstGeom>
          <a:solidFill>
            <a:srgbClr val="03428A"/>
          </a:solidFill>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E190E77-D57C-49F8-ADC2-FB99C50EBC2E}" type="slidenum">
              <a:rPr lang="zh-CN" altLang="en-US" sz="1600" b="1" smtClean="0">
                <a:solidFill>
                  <a:schemeClr val="bg1"/>
                </a:solidFill>
                <a:latin typeface="STKaiti" panose="02010600040101010101" pitchFamily="2" charset="-122"/>
                <a:ea typeface="STKaiti" panose="02010600040101010101" pitchFamily="2" charset="-122"/>
              </a:rPr>
              <a:pPr algn="ctr"/>
              <a:t>‹#›</a:t>
            </a:fld>
            <a:endParaRPr lang="zh-CN" altLang="en-US" sz="1600" b="1">
              <a:solidFill>
                <a:schemeClr val="bg1"/>
              </a:solidFill>
              <a:latin typeface="STKaiti" panose="02010600040101010101" pitchFamily="2" charset="-122"/>
              <a:ea typeface="STKaiti" panose="02010600040101010101" pitchFamily="2" charset="-122"/>
            </a:endParaRPr>
          </a:p>
        </p:txBody>
      </p:sp>
      <p:sp>
        <p:nvSpPr>
          <p:cNvPr id="11" name="文本框 10">
            <a:extLst>
              <a:ext uri="{FF2B5EF4-FFF2-40B4-BE49-F238E27FC236}">
                <a16:creationId xmlns:a16="http://schemas.microsoft.com/office/drawing/2014/main" id="{317A96BB-AD0E-942E-30DB-A1348E475D45}"/>
              </a:ext>
            </a:extLst>
          </p:cNvPr>
          <p:cNvSpPr txBox="1"/>
          <p:nvPr userDrawn="1"/>
        </p:nvSpPr>
        <p:spPr>
          <a:xfrm>
            <a:off x="304647" y="6533560"/>
            <a:ext cx="939681" cy="276999"/>
          </a:xfrm>
          <a:prstGeom prst="rect">
            <a:avLst/>
          </a:prstGeom>
          <a:noFill/>
        </p:spPr>
        <p:txBody>
          <a:bodyPr wrap="none" rtlCol="0">
            <a:spAutoFit/>
          </a:bodyPr>
          <a:lstStyle/>
          <a:p>
            <a:r>
              <a:rPr kumimoji="1" lang="en-US" altLang="zh-CN" sz="1200" dirty="0">
                <a:solidFill>
                  <a:schemeClr val="accent3"/>
                </a:solidFill>
              </a:rPr>
              <a:t>HPCA 2025</a:t>
            </a:r>
            <a:endParaRPr kumimoji="1" lang="zh-CN" altLang="en-US" sz="1200" dirty="0">
              <a:solidFill>
                <a:schemeClr val="accent3"/>
              </a:solidFill>
            </a:endParaRPr>
          </a:p>
        </p:txBody>
      </p:sp>
    </p:spTree>
    <p:extLst>
      <p:ext uri="{BB962C8B-B14F-4D97-AF65-F5344CB8AC3E}">
        <p14:creationId xmlns:p14="http://schemas.microsoft.com/office/powerpoint/2010/main" val="12493196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30C1008-89A6-A095-2611-34ACDB27F9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C5C6341-2A8A-4B83-5D98-6541DDA630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61D99AE-FE4D-318F-592B-7CB84482EC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DFF6D9-E824-1143-9169-42F75C7B5F18}" type="datetimeFigureOut">
              <a:rPr kumimoji="1" lang="zh-CN" altLang="en-US" smtClean="0"/>
              <a:t>2025/2/26</a:t>
            </a:fld>
            <a:endParaRPr kumimoji="1" lang="zh-CN" altLang="en-US"/>
          </a:p>
        </p:txBody>
      </p:sp>
      <p:sp>
        <p:nvSpPr>
          <p:cNvPr id="5" name="页脚占位符 4">
            <a:extLst>
              <a:ext uri="{FF2B5EF4-FFF2-40B4-BE49-F238E27FC236}">
                <a16:creationId xmlns:a16="http://schemas.microsoft.com/office/drawing/2014/main" id="{FC72E9E8-EAC4-DA8F-3DEF-C19DFFCD1C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C6320359-5CF0-B9DB-F751-17615E666A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09718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janusq.github.io/HPCA_2025_Tutorial/"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tiff"/><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tags" Target="../tags/tag3.xml"/><Relationship Id="rId7" Type="http://schemas.openxmlformats.org/officeDocument/2006/relationships/notesSlide" Target="../notesSlides/notesSlide4.xml"/><Relationship Id="rId12" Type="http://schemas.openxmlformats.org/officeDocument/2006/relationships/image" Target="../media/image1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2.xml"/><Relationship Id="rId11" Type="http://schemas.openxmlformats.org/officeDocument/2006/relationships/image" Target="../media/image13.png"/><Relationship Id="rId5" Type="http://schemas.openxmlformats.org/officeDocument/2006/relationships/tags" Target="../tags/tag5.xml"/><Relationship Id="rId10" Type="http://schemas.openxmlformats.org/officeDocument/2006/relationships/image" Target="../media/image12.emf"/><Relationship Id="rId4" Type="http://schemas.openxmlformats.org/officeDocument/2006/relationships/tags" Target="../tags/tag4.xml"/><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60.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20.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0.png"/><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29.sv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tags" Target="../tags/tag9.xml"/><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ags" Target="../tags/tag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slideLayout" Target="../slideLayouts/slideLayout12.xml"/><Relationship Id="rId7" Type="http://schemas.openxmlformats.org/officeDocument/2006/relationships/image" Target="../media/image36.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tags" Target="../tags/tag17.xml"/></Relationships>
</file>

<file path=ppt/slides/_rels/slide3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nvSpPr>
        <p:spPr bwMode="auto">
          <a:xfrm>
            <a:off x="404417" y="701764"/>
            <a:ext cx="11383166" cy="717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34874" tIns="67437" rIns="134874" bIns="67437" numCol="1" anchor="ctr" anchorCtr="1" compatLnSpc="1">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5pPr>
            <a:lvl6pPr marL="457200" algn="ctr"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a:lstStyle>
          <a:p>
            <a:pPr lvl="0">
              <a:lnSpc>
                <a:spcPct val="150000"/>
              </a:lnSpc>
              <a:spcBef>
                <a:spcPct val="20000"/>
              </a:spcBef>
              <a:buSzPct val="120000"/>
              <a:defRPr/>
            </a:pPr>
            <a:r>
              <a:rPr lang="en-US" altLang="zh-CN" sz="4000" b="1" i="0" dirty="0">
                <a:solidFill>
                  <a:srgbClr val="000000"/>
                </a:solidFill>
                <a:effectLst/>
                <a:latin typeface="Arial" panose="020B0604020202090204" pitchFamily="34" charset="0"/>
                <a:cs typeface="Arial" panose="020B0604020202090204" pitchFamily="34" charset="0"/>
              </a:rPr>
              <a:t>HPCA 2025</a:t>
            </a:r>
            <a:r>
              <a:rPr lang="zh-CN" altLang="en-US" sz="4000" b="1" i="0" dirty="0">
                <a:solidFill>
                  <a:srgbClr val="000000"/>
                </a:solidFill>
                <a:effectLst/>
                <a:latin typeface="Arial" panose="020B0604020202090204" pitchFamily="34" charset="0"/>
                <a:cs typeface="Arial" panose="020B0604020202090204" pitchFamily="34" charset="0"/>
              </a:rPr>
              <a:t> </a:t>
            </a:r>
            <a:r>
              <a:rPr lang="en-US" altLang="zh-CN" sz="4000" b="1" i="0" dirty="0">
                <a:solidFill>
                  <a:srgbClr val="000000"/>
                </a:solidFill>
                <a:effectLst/>
                <a:latin typeface="Arial" panose="020B0604020202090204" pitchFamily="34" charset="0"/>
                <a:cs typeface="Arial" panose="020B0604020202090204" pitchFamily="34" charset="0"/>
              </a:rPr>
              <a:t>Tutorial</a:t>
            </a:r>
            <a:endParaRPr lang="en-US" altLang="en-US" sz="8000" kern="0" dirty="0">
              <a:solidFill>
                <a:srgbClr val="000000"/>
              </a:solidFill>
              <a:effectLst/>
              <a:latin typeface="Arial" panose="020B0604020202090204" pitchFamily="34" charset="0"/>
              <a:ea typeface="STKaiti" panose="02010600040101010101" pitchFamily="2" charset="-122"/>
              <a:cs typeface="Arial" panose="020B0604020202090204" pitchFamily="34" charset="0"/>
            </a:endParaRPr>
          </a:p>
        </p:txBody>
      </p:sp>
      <p:sp>
        <p:nvSpPr>
          <p:cNvPr id="8" name="文本框 7"/>
          <p:cNvSpPr txBox="1"/>
          <p:nvPr/>
        </p:nvSpPr>
        <p:spPr>
          <a:xfrm>
            <a:off x="404417" y="1605401"/>
            <a:ext cx="11383166" cy="954107"/>
          </a:xfrm>
          <a:prstGeom prst="rect">
            <a:avLst/>
          </a:prstGeom>
          <a:noFill/>
        </p:spPr>
        <p:txBody>
          <a:bodyPr wrap="square">
            <a:spAutoFit/>
          </a:bodyPr>
          <a:lstStyle/>
          <a:p>
            <a:pPr algn="ctr"/>
            <a:r>
              <a:rPr lang="en-US" altLang="zh-CN" sz="2800" b="1" dirty="0">
                <a:solidFill>
                  <a:srgbClr val="000000"/>
                </a:solidFill>
                <a:latin typeface="Arial" panose="020B0604020202020204" pitchFamily="34" charset="0"/>
                <a:cs typeface="Arial" panose="020B0604020202020204" pitchFamily="34" charset="0"/>
              </a:rPr>
              <a:t>Topic</a:t>
            </a:r>
            <a:r>
              <a:rPr lang="zh-CN" altLang="en-US" sz="2800" b="1" dirty="0">
                <a:solidFill>
                  <a:srgbClr val="000000"/>
                </a:solidFill>
                <a:latin typeface="Arial" panose="020B0604020202020204" pitchFamily="34" charset="0"/>
                <a:cs typeface="Arial" panose="020B0604020202020204" pitchFamily="34" charset="0"/>
              </a:rPr>
              <a:t> </a:t>
            </a:r>
            <a:r>
              <a:rPr lang="en-US" altLang="zh-CN" sz="2800" b="1" dirty="0">
                <a:solidFill>
                  <a:srgbClr val="000000"/>
                </a:solidFill>
                <a:latin typeface="Arial" panose="020B0604020202020204" pitchFamily="34" charset="0"/>
                <a:cs typeface="Arial" panose="020B0604020202020204" pitchFamily="34" charset="0"/>
              </a:rPr>
              <a:t>5.</a:t>
            </a:r>
            <a:r>
              <a:rPr lang="zh-CN" altLang="en-US" sz="2800" b="1" dirty="0">
                <a:solidFill>
                  <a:srgbClr val="000000"/>
                </a:solidFill>
                <a:latin typeface="Arial" panose="020B0604020202020204" pitchFamily="34" charset="0"/>
                <a:cs typeface="Arial" panose="020B0604020202020204" pitchFamily="34" charset="0"/>
              </a:rPr>
              <a:t> </a:t>
            </a:r>
            <a:r>
              <a:rPr lang="en-US" altLang="zh-CN" sz="2800" b="1" dirty="0">
                <a:solidFill>
                  <a:srgbClr val="000000"/>
                </a:solidFill>
                <a:latin typeface="Arial" panose="020B0604020202020204" pitchFamily="34" charset="0"/>
                <a:cs typeface="Arial" panose="020B0604020202020204" pitchFamily="34" charset="0"/>
              </a:rPr>
              <a:t>Choco-Q: Commute Hamiltonian-based QAOA for</a:t>
            </a:r>
          </a:p>
          <a:p>
            <a:pPr algn="ctr"/>
            <a:r>
              <a:rPr lang="en-US" altLang="zh-CN" sz="2800" b="1" dirty="0">
                <a:solidFill>
                  <a:srgbClr val="000000"/>
                </a:solidFill>
                <a:latin typeface="Arial" panose="020B0604020202020204" pitchFamily="34" charset="0"/>
                <a:cs typeface="Arial" panose="020B0604020202020204" pitchFamily="34" charset="0"/>
              </a:rPr>
              <a:t>Constrained Binary Optimization</a:t>
            </a:r>
            <a:endParaRPr lang="zh-CN" altLang="en-US" sz="2800" b="1" dirty="0">
              <a:solidFill>
                <a:srgbClr val="000000"/>
              </a:solidFill>
              <a:latin typeface="Arial" panose="020B0604020202020204" pitchFamily="34" charset="0"/>
              <a:cs typeface="Arial" panose="020B0604020202020204" pitchFamily="34" charset="0"/>
            </a:endParaRPr>
          </a:p>
        </p:txBody>
      </p:sp>
      <p:grpSp>
        <p:nvGrpSpPr>
          <p:cNvPr id="9" name="组合 8">
            <a:extLst>
              <a:ext uri="{FF2B5EF4-FFF2-40B4-BE49-F238E27FC236}">
                <a16:creationId xmlns:a16="http://schemas.microsoft.com/office/drawing/2014/main" id="{CBC9F3E5-2FD1-3690-91C7-5AC8A896C6F5}"/>
              </a:ext>
            </a:extLst>
          </p:cNvPr>
          <p:cNvGrpSpPr/>
          <p:nvPr/>
        </p:nvGrpSpPr>
        <p:grpSpPr>
          <a:xfrm>
            <a:off x="985187" y="2745261"/>
            <a:ext cx="10221626" cy="1408226"/>
            <a:chOff x="966137" y="2794981"/>
            <a:chExt cx="10221626" cy="1408226"/>
          </a:xfrm>
        </p:grpSpPr>
        <p:grpSp>
          <p:nvGrpSpPr>
            <p:cNvPr id="12" name="组合 11"/>
            <p:cNvGrpSpPr/>
            <p:nvPr/>
          </p:nvGrpSpPr>
          <p:grpSpPr>
            <a:xfrm>
              <a:off x="4947109" y="3097551"/>
              <a:ext cx="3133984" cy="803086"/>
              <a:chOff x="781718" y="1247492"/>
              <a:chExt cx="3133984" cy="803086"/>
            </a:xfrm>
          </p:grpSpPr>
          <p:pic>
            <p:nvPicPr>
              <p:cNvPr id="13" name="图片 12"/>
              <p:cNvPicPr>
                <a:picLocks noChangeAspect="1"/>
              </p:cNvPicPr>
              <p:nvPr/>
            </p:nvPicPr>
            <p:blipFill rotWithShape="1">
              <a:blip r:embed="rId3"/>
              <a:srcRect t="30839" b="28332"/>
              <a:stretch>
                <a:fillRect/>
              </a:stretch>
            </p:blipFill>
            <p:spPr>
              <a:xfrm>
                <a:off x="781718" y="1247492"/>
                <a:ext cx="1966932" cy="803086"/>
              </a:xfrm>
              <a:prstGeom prst="rect">
                <a:avLst/>
              </a:prstGeom>
            </p:spPr>
          </p:pic>
          <p:sp>
            <p:nvSpPr>
              <p:cNvPr id="15" name="标题 1"/>
              <p:cNvSpPr txBox="1"/>
              <p:nvPr/>
            </p:nvSpPr>
            <p:spPr>
              <a:xfrm>
                <a:off x="2808983" y="1272892"/>
                <a:ext cx="1106719" cy="58322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600" b="1" kern="1200">
                    <a:solidFill>
                      <a:schemeClr val="tx1"/>
                    </a:solidFill>
                    <a:latin typeface="Arial" panose="020B0604020202090204" pitchFamily="34" charset="0"/>
                    <a:ea typeface="微软雅黑" panose="020B0503020204020204" pitchFamily="34" charset="-122"/>
                    <a:cs typeface="Arial" panose="020B0604020202090204" pitchFamily="34" charset="0"/>
                  </a:defRPr>
                </a:lvl1pPr>
              </a:lstStyle>
              <a:p>
                <a:pPr algn="ctr" hangingPunct="0">
                  <a:lnSpc>
                    <a:spcPct val="100000"/>
                  </a:lnSpc>
                </a:pPr>
                <a:r>
                  <a:rPr lang="en-US" altLang="zh-CN" sz="4800" dirty="0">
                    <a:solidFill>
                      <a:srgbClr val="221715"/>
                    </a:solidFill>
                    <a:ea typeface="STKaiti" panose="02010600040101010101" pitchFamily="2" charset="-122"/>
                    <a:sym typeface="+mn-lt"/>
                  </a:rPr>
                  <a:t>Lab</a:t>
                </a:r>
                <a:endParaRPr lang="zh-CN" altLang="en-US" sz="4800" dirty="0">
                  <a:solidFill>
                    <a:srgbClr val="221715"/>
                  </a:solidFill>
                  <a:ea typeface="STKaiti" panose="02010600040101010101" pitchFamily="2" charset="-122"/>
                  <a:sym typeface="+mn-lt"/>
                </a:endParaRPr>
              </a:p>
            </p:txBody>
          </p:sp>
        </p:grpSp>
        <p:grpSp>
          <p:nvGrpSpPr>
            <p:cNvPr id="18" name="组合 17"/>
            <p:cNvGrpSpPr/>
            <p:nvPr/>
          </p:nvGrpSpPr>
          <p:grpSpPr>
            <a:xfrm>
              <a:off x="8559841" y="2794981"/>
              <a:ext cx="2627922" cy="1408226"/>
              <a:chOff x="4762155" y="2766163"/>
              <a:chExt cx="2627922" cy="1408226"/>
            </a:xfrm>
          </p:grpSpPr>
          <p:pic>
            <p:nvPicPr>
              <p:cNvPr id="20" name="图片 19"/>
              <p:cNvPicPr>
                <a:picLocks noChangeAspect="1"/>
              </p:cNvPicPr>
              <p:nvPr/>
            </p:nvPicPr>
            <p:blipFill>
              <a:blip r:embed="rId4"/>
              <a:stretch>
                <a:fillRect/>
              </a:stretch>
            </p:blipFill>
            <p:spPr>
              <a:xfrm>
                <a:off x="4762155" y="2766163"/>
                <a:ext cx="1501363" cy="1408226"/>
              </a:xfrm>
              <a:prstGeom prst="rect">
                <a:avLst/>
              </a:prstGeom>
            </p:spPr>
          </p:pic>
          <p:sp>
            <p:nvSpPr>
              <p:cNvPr id="21" name="文本框 20"/>
              <p:cNvSpPr txBox="1"/>
              <p:nvPr/>
            </p:nvSpPr>
            <p:spPr>
              <a:xfrm>
                <a:off x="6190626" y="3116333"/>
                <a:ext cx="1199451" cy="707886"/>
              </a:xfrm>
              <a:prstGeom prst="rect">
                <a:avLst/>
              </a:prstGeom>
              <a:noFill/>
            </p:spPr>
            <p:txBody>
              <a:bodyPr wrap="square">
                <a:spAutoFit/>
              </a:bodyPr>
              <a:lstStyle/>
              <a:p>
                <a:pPr algn="ctr"/>
                <a:r>
                  <a:rPr lang="en-GB" altLang="zh-CN" sz="2000" b="1" dirty="0" err="1">
                    <a:solidFill>
                      <a:srgbClr val="3D77D7"/>
                    </a:solidFill>
                    <a:latin typeface="Arial" panose="020B0604020202090204" pitchFamily="34" charset="0"/>
                    <a:ea typeface="STKaiti" panose="02010600040101010101" pitchFamily="2" charset="-122"/>
                    <a:cs typeface="Arial" panose="020B0604020202090204" pitchFamily="34" charset="0"/>
                  </a:rPr>
                  <a:t>JanusQ</a:t>
                </a:r>
                <a:endParaRPr lang="en-US" altLang="zh-CN" sz="2000" b="1" dirty="0">
                  <a:solidFill>
                    <a:srgbClr val="3D77D7"/>
                  </a:solidFill>
                  <a:latin typeface="Arial" panose="020B0604020202090204" pitchFamily="34" charset="0"/>
                  <a:ea typeface="STKaiti" panose="02010600040101010101" pitchFamily="2" charset="-122"/>
                  <a:cs typeface="Arial" panose="020B0604020202090204" pitchFamily="34" charset="0"/>
                </a:endParaRPr>
              </a:p>
              <a:p>
                <a:pPr algn="ctr"/>
                <a:r>
                  <a:rPr lang="en-US" altLang="zh-CN" sz="2000" b="1" dirty="0">
                    <a:solidFill>
                      <a:srgbClr val="3D77D7"/>
                    </a:solidFill>
                    <a:latin typeface="Arial" panose="020B0604020202090204" pitchFamily="34" charset="0"/>
                    <a:ea typeface="STKaiti" panose="02010600040101010101" pitchFamily="2" charset="-122"/>
                    <a:cs typeface="Arial" panose="020B0604020202090204" pitchFamily="34" charset="0"/>
                  </a:rPr>
                  <a:t>Cloud</a:t>
                </a:r>
                <a:endParaRPr lang="zh-CN" altLang="en-US" sz="2000" dirty="0">
                  <a:solidFill>
                    <a:srgbClr val="3D77D7"/>
                  </a:solidFill>
                  <a:latin typeface="Arial" panose="020B0604020202090204" pitchFamily="34" charset="0"/>
                  <a:cs typeface="Arial" panose="020B0604020202090204" pitchFamily="34" charset="0"/>
                </a:endParaRPr>
              </a:p>
            </p:txBody>
          </p:sp>
        </p:grpSp>
        <p:grpSp>
          <p:nvGrpSpPr>
            <p:cNvPr id="22" name="组合 21"/>
            <p:cNvGrpSpPr/>
            <p:nvPr/>
          </p:nvGrpSpPr>
          <p:grpSpPr>
            <a:xfrm>
              <a:off x="966137" y="3044944"/>
              <a:ext cx="3502225" cy="908300"/>
              <a:chOff x="8080175" y="3500683"/>
              <a:chExt cx="3502225" cy="908300"/>
            </a:xfrm>
          </p:grpSpPr>
          <p:sp>
            <p:nvSpPr>
              <p:cNvPr id="23" name="矩形 22"/>
              <p:cNvSpPr/>
              <p:nvPr/>
            </p:nvSpPr>
            <p:spPr>
              <a:xfrm>
                <a:off x="8080175" y="3500683"/>
                <a:ext cx="3502225" cy="908300"/>
              </a:xfrm>
              <a:prstGeom prst="rect">
                <a:avLst/>
              </a:prstGeom>
              <a:solidFill>
                <a:srgbClr val="05428A"/>
              </a:solidFill>
              <a:ln>
                <a:solidFill>
                  <a:srgbClr val="0542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cs typeface="Arial" panose="020B0604020202090204" pitchFamily="34" charset="0"/>
                </a:endParaRPr>
              </a:p>
            </p:txBody>
          </p:sp>
          <p:pic>
            <p:nvPicPr>
              <p:cNvPr id="2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88365" y="3676016"/>
                <a:ext cx="3285844" cy="557634"/>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0" name="组合 9">
            <a:extLst>
              <a:ext uri="{FF2B5EF4-FFF2-40B4-BE49-F238E27FC236}">
                <a16:creationId xmlns:a16="http://schemas.microsoft.com/office/drawing/2014/main" id="{449CCCBC-D93F-776D-B998-8C374C15E49B}"/>
              </a:ext>
            </a:extLst>
          </p:cNvPr>
          <p:cNvGrpSpPr/>
          <p:nvPr/>
        </p:nvGrpSpPr>
        <p:grpSpPr>
          <a:xfrm>
            <a:off x="1984827" y="4339240"/>
            <a:ext cx="8222347" cy="1750487"/>
            <a:chOff x="1984826" y="4339240"/>
            <a:chExt cx="8222347" cy="1750487"/>
          </a:xfrm>
        </p:grpSpPr>
        <p:sp>
          <p:nvSpPr>
            <p:cNvPr id="2" name="文本框 1"/>
            <p:cNvSpPr txBox="1"/>
            <p:nvPr/>
          </p:nvSpPr>
          <p:spPr>
            <a:xfrm>
              <a:off x="1984826" y="4860541"/>
              <a:ext cx="8222347" cy="707886"/>
            </a:xfrm>
            <a:prstGeom prst="rect">
              <a:avLst/>
            </a:prstGeom>
            <a:noFill/>
          </p:spPr>
          <p:txBody>
            <a:bodyPr wrap="square" rtlCol="0">
              <a:spAutoFit/>
            </a:bodyPr>
            <a:lstStyle/>
            <a:p>
              <a:pPr algn="ctr"/>
              <a:r>
                <a:rPr lang="en-GB" altLang="zh-CN" sz="2000" dirty="0">
                  <a:latin typeface="Arial" panose="020B0604020202090204" pitchFamily="34" charset="0"/>
                  <a:ea typeface="STKaiti" panose="02010600040101010101" pitchFamily="2" charset="-122"/>
                  <a:cs typeface="Arial" panose="020B0604020202090204" pitchFamily="34" charset="0"/>
                </a:rPr>
                <a:t>College of Computer Science and Technology</a:t>
              </a:r>
              <a:endParaRPr lang="en-US" altLang="zh-CN" sz="2000" dirty="0">
                <a:latin typeface="Arial" panose="020B0604020202090204" pitchFamily="34" charset="0"/>
                <a:ea typeface="STKaiti" panose="02010600040101010101" pitchFamily="2" charset="-122"/>
                <a:cs typeface="Arial" panose="020B0604020202090204" pitchFamily="34" charset="0"/>
                <a:sym typeface="+mn-lt"/>
              </a:endParaRPr>
            </a:p>
            <a:p>
              <a:pPr algn="ctr"/>
              <a:r>
                <a:rPr lang="en-US" altLang="zh-CN" sz="2000" dirty="0">
                  <a:latin typeface="Arial" panose="020B0604020202090204" pitchFamily="34" charset="0"/>
                  <a:ea typeface="STKaiti" panose="02010600040101010101" pitchFamily="2" charset="-122"/>
                  <a:cs typeface="Arial" panose="020B0604020202090204" pitchFamily="34" charset="0"/>
                  <a:sym typeface="+mn-lt"/>
                </a:rPr>
                <a:t>Zhejiang</a:t>
              </a:r>
              <a:r>
                <a:rPr lang="zh-CN" altLang="en-US" sz="2000" dirty="0">
                  <a:latin typeface="Arial" panose="020B0604020202090204" pitchFamily="34" charset="0"/>
                  <a:ea typeface="STKaiti" panose="02010600040101010101" pitchFamily="2" charset="-122"/>
                  <a:cs typeface="Arial" panose="020B0604020202090204" pitchFamily="34" charset="0"/>
                  <a:sym typeface="+mn-lt"/>
                </a:rPr>
                <a:t> </a:t>
              </a:r>
              <a:r>
                <a:rPr lang="en-US" altLang="zh-CN" sz="2000" dirty="0">
                  <a:latin typeface="Arial" panose="020B0604020202090204" pitchFamily="34" charset="0"/>
                  <a:ea typeface="STKaiti" panose="02010600040101010101" pitchFamily="2" charset="-122"/>
                  <a:cs typeface="Arial" panose="020B0604020202090204" pitchFamily="34" charset="0"/>
                  <a:sym typeface="+mn-lt"/>
                </a:rPr>
                <a:t>University</a:t>
              </a:r>
              <a:r>
                <a:rPr lang="zh-CN" altLang="en-US" sz="2000" dirty="0">
                  <a:latin typeface="Arial" panose="020B0604020202090204" pitchFamily="34" charset="0"/>
                  <a:ea typeface="STKaiti" panose="02010600040101010101" pitchFamily="2" charset="-122"/>
                  <a:cs typeface="Arial" panose="020B0604020202090204" pitchFamily="34" charset="0"/>
                  <a:sym typeface="+mn-lt"/>
                </a:rPr>
                <a:t> </a:t>
              </a:r>
              <a:r>
                <a:rPr lang="en-US" altLang="zh-CN" sz="2000" dirty="0">
                  <a:latin typeface="Arial" panose="020B0604020202090204" pitchFamily="34" charset="0"/>
                  <a:ea typeface="STKaiti" panose="02010600040101010101" pitchFamily="2" charset="-122"/>
                  <a:cs typeface="Arial" panose="020B0604020202090204" pitchFamily="34" charset="0"/>
                  <a:sym typeface="+mn-lt"/>
                </a:rPr>
                <a:t>(ZJU)</a:t>
              </a:r>
              <a:endParaRPr lang="zh-CN" altLang="en-US" sz="2000" dirty="0">
                <a:latin typeface="Arial" panose="020B0604020202090204" pitchFamily="34" charset="0"/>
                <a:ea typeface="STKaiti" panose="02010600040101010101" pitchFamily="2" charset="-122"/>
                <a:cs typeface="Arial" panose="020B0604020202090204" pitchFamily="34" charset="0"/>
                <a:sym typeface="+mn-lt"/>
              </a:endParaRPr>
            </a:p>
          </p:txBody>
        </p:sp>
        <p:sp>
          <p:nvSpPr>
            <p:cNvPr id="6" name="文本框 5"/>
            <p:cNvSpPr txBox="1"/>
            <p:nvPr/>
          </p:nvSpPr>
          <p:spPr>
            <a:xfrm>
              <a:off x="3398597" y="5689617"/>
              <a:ext cx="5394807" cy="400110"/>
            </a:xfrm>
            <a:prstGeom prst="rect">
              <a:avLst/>
            </a:prstGeom>
            <a:noFill/>
          </p:spPr>
          <p:txBody>
            <a:bodyPr wrap="square">
              <a:spAutoFit/>
            </a:bodyPr>
            <a:lstStyle/>
            <a:p>
              <a:pPr algn="ctr"/>
              <a:r>
                <a:rPr lang="en-US" altLang="zh-CN" sz="2000" dirty="0">
                  <a:latin typeface="Arial" panose="020B0604020202090204" pitchFamily="34" charset="0"/>
                  <a:cs typeface="Arial" panose="020B0604020202090204" pitchFamily="34" charset="0"/>
                  <a:hlinkClick r:id="rId6"/>
                </a:rPr>
                <a:t>https://janusq.github.io/HPCA_2025_Tutorial/</a:t>
              </a:r>
              <a:endParaRPr lang="zh-CN" altLang="en-US" sz="2000" dirty="0">
                <a:latin typeface="Arial" panose="020B0604020202090204" pitchFamily="34" charset="0"/>
                <a:cs typeface="Arial" panose="020B0604020202090204" pitchFamily="34" charset="0"/>
              </a:endParaRPr>
            </a:p>
          </p:txBody>
        </p:sp>
        <p:sp>
          <p:nvSpPr>
            <p:cNvPr id="25" name="文本框 24"/>
            <p:cNvSpPr txBox="1"/>
            <p:nvPr/>
          </p:nvSpPr>
          <p:spPr>
            <a:xfrm>
              <a:off x="3266507" y="4339240"/>
              <a:ext cx="5755227" cy="400110"/>
            </a:xfrm>
            <a:prstGeom prst="rect">
              <a:avLst/>
            </a:prstGeom>
            <a:noFill/>
          </p:spPr>
          <p:txBody>
            <a:bodyPr wrap="square" rtlCol="0">
              <a:spAutoFit/>
            </a:bodyPr>
            <a:lstStyle/>
            <a:p>
              <a:pPr algn="ctr"/>
              <a:r>
                <a:rPr lang="en-US" altLang="zh-CN" sz="2000" dirty="0">
                  <a:latin typeface="Arial" panose="020B0604020202090204" pitchFamily="34" charset="0"/>
                  <a:ea typeface="STKaiti" panose="02010600040101010101" pitchFamily="2" charset="-122"/>
                  <a:cs typeface="Arial" panose="020B0604020202090204" pitchFamily="34" charset="0"/>
                </a:rPr>
                <a:t>Speaker: </a:t>
              </a:r>
              <a:r>
                <a:rPr lang="en-US" altLang="zh-CN" sz="2000" dirty="0" err="1">
                  <a:latin typeface="Arial" panose="020B0604020202090204" pitchFamily="34" charset="0"/>
                  <a:ea typeface="STKaiti" panose="02010600040101010101" pitchFamily="2" charset="-122"/>
                  <a:cs typeface="Arial" panose="020B0604020202090204" pitchFamily="34" charset="0"/>
                </a:rPr>
                <a:t>Liqiang</a:t>
              </a:r>
              <a:r>
                <a:rPr lang="en-US" altLang="zh-CN" sz="2000" dirty="0">
                  <a:latin typeface="Arial" panose="020B0604020202090204" pitchFamily="34" charset="0"/>
                  <a:ea typeface="STKaiti" panose="02010600040101010101" pitchFamily="2" charset="-122"/>
                  <a:cs typeface="Arial" panose="020B0604020202090204" pitchFamily="34" charset="0"/>
                </a:rPr>
                <a:t> Lu</a:t>
              </a:r>
              <a:endParaRPr lang="zh-CN" altLang="en-US" sz="2000" dirty="0">
                <a:latin typeface="Arial" panose="020B0604020202090204" pitchFamily="34" charset="0"/>
                <a:ea typeface="STKaiti" panose="02010600040101010101" pitchFamily="2" charset="-122"/>
                <a:cs typeface="Arial" panose="020B0604020202090204" pitchFamily="34" charset="0"/>
                <a:sym typeface="+mn-lt"/>
              </a:endParaRPr>
            </a:p>
          </p:txBody>
        </p:sp>
      </p:grpSp>
      <p:pic>
        <p:nvPicPr>
          <p:cNvPr id="4" name="图片 3">
            <a:extLst>
              <a:ext uri="{FF2B5EF4-FFF2-40B4-BE49-F238E27FC236}">
                <a16:creationId xmlns:a16="http://schemas.microsoft.com/office/drawing/2014/main" id="{02A8F4AE-A2A1-989F-4F66-9BC09C54BFB1}"/>
              </a:ext>
            </a:extLst>
          </p:cNvPr>
          <p:cNvPicPr>
            <a:picLocks noChangeAspect="1"/>
          </p:cNvPicPr>
          <p:nvPr/>
        </p:nvPicPr>
        <p:blipFill>
          <a:blip r:embed="rId7"/>
          <a:stretch>
            <a:fillRect/>
          </a:stretch>
        </p:blipFill>
        <p:spPr>
          <a:xfrm>
            <a:off x="9398605" y="70093"/>
            <a:ext cx="2693189" cy="787517"/>
          </a:xfrm>
          <a:prstGeom prst="rect">
            <a:avLst/>
          </a:prstGeom>
        </p:spPr>
      </p:pic>
      <p:sp>
        <p:nvSpPr>
          <p:cNvPr id="5" name="页脚占位符 11">
            <a:extLst>
              <a:ext uri="{FF2B5EF4-FFF2-40B4-BE49-F238E27FC236}">
                <a16:creationId xmlns:a16="http://schemas.microsoft.com/office/drawing/2014/main" id="{98E9BC7A-FC90-C451-1460-3C6BD1B7BAAF}"/>
              </a:ext>
            </a:extLst>
          </p:cNvPr>
          <p:cNvSpPr txBox="1">
            <a:spLocks/>
          </p:cNvSpPr>
          <p:nvPr/>
        </p:nvSpPr>
        <p:spPr>
          <a:xfrm>
            <a:off x="4038600" y="6258910"/>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latin typeface="Arial" panose="020B0604020202020204" pitchFamily="34" charset="0"/>
                <a:ea typeface="STKaiti" panose="02010600040101010101" pitchFamily="2" charset="-122"/>
                <a:cs typeface="Arial" panose="020B0604020202020204" pitchFamily="34" charset="0"/>
              </a:rPr>
              <a:t>HPCA 2025</a:t>
            </a:r>
            <a:endParaRPr kumimoji="1" lang="zh-CN" altLang="en-US" dirty="0">
              <a:latin typeface="Arial" panose="020B0604020202020204" pitchFamily="34" charset="0"/>
              <a:ea typeface="STKaiti" panose="02010600040101010101" pitchFamily="2" charset="-122"/>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39633"/>
    </mc:Choice>
    <mc:Fallback xmlns="">
      <p:transition spd="slow" advTm="396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左右箭头 14"/>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7" name="文本框 16">
            <a:extLst>
              <a:ext uri="{FF2B5EF4-FFF2-40B4-BE49-F238E27FC236}">
                <a16:creationId xmlns:a16="http://schemas.microsoft.com/office/drawing/2014/main" id="{4D44433B-C93D-B60E-A95C-8C7D0FB037F2}"/>
              </a:ext>
            </a:extLst>
          </p:cNvPr>
          <p:cNvSpPr txBox="1"/>
          <p:nvPr/>
        </p:nvSpPr>
        <p:spPr>
          <a:xfrm>
            <a:off x="7570038" y="657063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latin typeface="Arial" panose="020B0604020202020204" pitchFamily="34" charset="0"/>
              <a:cs typeface="Arial" panose="020B0604020202020204" pitchFamily="34" charset="0"/>
            </a:endParaRPr>
          </a:p>
        </p:txBody>
      </p:sp>
      <p:sp>
        <p:nvSpPr>
          <p:cNvPr id="27" name="标题 1">
            <a:extLst>
              <a:ext uri="{FF2B5EF4-FFF2-40B4-BE49-F238E27FC236}">
                <a16:creationId xmlns:a16="http://schemas.microsoft.com/office/drawing/2014/main" id="{04777F5A-B6BD-2242-CDCD-828885D7E62B}"/>
              </a:ext>
            </a:extLst>
          </p:cNvPr>
          <p:cNvSpPr>
            <a:spLocks noGrp="1"/>
          </p:cNvSpPr>
          <p:nvPr>
            <p:ph type="title"/>
          </p:nvPr>
        </p:nvSpPr>
        <p:spPr>
          <a:xfrm>
            <a:off x="718218" y="1"/>
            <a:ext cx="6603304" cy="803086"/>
          </a:xfrm>
        </p:spPr>
        <p:txBody>
          <a:bodyPr>
            <a:normAutofit/>
          </a:bodyPr>
          <a:lstStyle/>
          <a:p>
            <a:pPr algn="just" hangingPunct="0">
              <a:lnSpc>
                <a:spcPct val="100000"/>
              </a:lnSpc>
            </a:pPr>
            <a:r>
              <a:rPr lang="en" altLang="zh-CN" sz="2800" dirty="0">
                <a:ea typeface="STKaiti" panose="02010600040101010101" pitchFamily="2" charset="-122"/>
              </a:rPr>
              <a:t>Outline</a:t>
            </a:r>
            <a:r>
              <a:rPr lang="zh-CN" altLang="en-US" sz="2800" dirty="0">
                <a:ea typeface="STKaiti" panose="02010600040101010101" pitchFamily="2" charset="-122"/>
              </a:rPr>
              <a:t> </a:t>
            </a:r>
            <a:r>
              <a:rPr lang="en-US" altLang="zh-CN" sz="2800" dirty="0">
                <a:ea typeface="STKaiti" panose="02010600040101010101" pitchFamily="2" charset="-122"/>
              </a:rPr>
              <a:t>of</a:t>
            </a:r>
            <a:r>
              <a:rPr lang="zh-CN" altLang="en-US" sz="2800" dirty="0">
                <a:ea typeface="STKaiti" panose="02010600040101010101" pitchFamily="2" charset="-122"/>
              </a:rPr>
              <a:t> </a:t>
            </a:r>
            <a:r>
              <a:rPr lang="en-US" altLang="zh-CN" sz="2800" dirty="0">
                <a:ea typeface="STKaiti" panose="02010600040101010101" pitchFamily="2" charset="-122"/>
              </a:rPr>
              <a:t>Presentation</a:t>
            </a:r>
            <a:endParaRPr lang="zh-CN" altLang="en-US" sz="2800" dirty="0">
              <a:ea typeface="STKaiti" panose="02010600040101010101" pitchFamily="2" charset="-122"/>
              <a:sym typeface="+mn-lt"/>
            </a:endParaRPr>
          </a:p>
        </p:txBody>
      </p:sp>
      <p:sp>
        <p:nvSpPr>
          <p:cNvPr id="28" name="文本框 27">
            <a:extLst>
              <a:ext uri="{FF2B5EF4-FFF2-40B4-BE49-F238E27FC236}">
                <a16:creationId xmlns:a16="http://schemas.microsoft.com/office/drawing/2014/main" id="{C7DB9CEE-2EA0-AFF4-F254-3AF25125F094}"/>
              </a:ext>
            </a:extLst>
          </p:cNvPr>
          <p:cNvSpPr txBox="1"/>
          <p:nvPr/>
        </p:nvSpPr>
        <p:spPr>
          <a:xfrm>
            <a:off x="535049" y="964097"/>
            <a:ext cx="10388600" cy="2343590"/>
          </a:xfrm>
          <a:prstGeom prst="rect">
            <a:avLst/>
          </a:prstGeom>
          <a:noFill/>
        </p:spPr>
        <p:txBody>
          <a:bodyPr wrap="square" rtlCol="0">
            <a:spAutoFit/>
          </a:bodyPr>
          <a:lstStyle/>
          <a:p>
            <a:pPr marL="342900" indent="-285750">
              <a:lnSpc>
                <a:spcPct val="150000"/>
              </a:lnSpc>
              <a:buFont typeface="Arial" panose="020B0604020202020204" pitchFamily="34" charset="0"/>
              <a:buChar char="•"/>
            </a:pPr>
            <a:r>
              <a:rPr kumimoji="1" lang="en-US" altLang="zh-CN" sz="2000" b="1" dirty="0">
                <a:latin typeface="Arial" panose="020B0604020202020204" pitchFamily="34" charset="0"/>
                <a:ea typeface="STKaiti" panose="02010600040101010101" pitchFamily="2" charset="-122"/>
                <a:cs typeface="Arial" panose="020B0604020202020204" pitchFamily="34" charset="0"/>
              </a:rPr>
              <a:t>Background</a:t>
            </a:r>
            <a:r>
              <a:rPr kumimoji="1" lang="zh-CN" altLang="en-US" sz="2000" b="1" dirty="0">
                <a:latin typeface="Arial" panose="020B0604020202020204" pitchFamily="34" charset="0"/>
                <a:ea typeface="STKaiti" panose="02010600040101010101" pitchFamily="2" charset="-122"/>
                <a:cs typeface="Arial" panose="020B0604020202020204" pitchFamily="34" charset="0"/>
              </a:rPr>
              <a:t> </a:t>
            </a:r>
            <a:r>
              <a:rPr kumimoji="1" lang="en-US" altLang="zh-CN" sz="2000" b="1" dirty="0">
                <a:latin typeface="Arial" panose="020B0604020202020204" pitchFamily="34" charset="0"/>
                <a:ea typeface="STKaiti" panose="02010600040101010101" pitchFamily="2" charset="-122"/>
                <a:cs typeface="Arial" panose="020B0604020202020204" pitchFamily="34" charset="0"/>
              </a:rPr>
              <a:t>and</a:t>
            </a:r>
            <a:r>
              <a:rPr kumimoji="1" lang="zh-CN" altLang="en-US" sz="2000" b="1" dirty="0">
                <a:latin typeface="Arial" panose="020B0604020202020204" pitchFamily="34" charset="0"/>
                <a:ea typeface="STKaiti" panose="02010600040101010101" pitchFamily="2" charset="-122"/>
                <a:cs typeface="Arial" panose="020B0604020202020204" pitchFamily="34" charset="0"/>
              </a:rPr>
              <a:t> </a:t>
            </a:r>
            <a:r>
              <a:rPr kumimoji="1" lang="en-US" altLang="zh-CN" sz="2000" b="1" dirty="0">
                <a:latin typeface="Arial" panose="020B0604020202020204" pitchFamily="34" charset="0"/>
                <a:ea typeface="STKaiti" panose="02010600040101010101" pitchFamily="2" charset="-122"/>
                <a:cs typeface="Arial" panose="020B0604020202020204" pitchFamily="34" charset="0"/>
              </a:rPr>
              <a:t>challenges</a:t>
            </a: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Overview</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of</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Choco-Q</a:t>
            </a: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Choco-Q characterization</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and</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calibration</a:t>
            </a: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Experiment</a:t>
            </a:r>
            <a:endParaRPr kumimoji="1" lang="en-US" altLang="zh-CN" sz="2000" b="1" dirty="0">
              <a:latin typeface="Arial" panose="020B0604020202020204" pitchFamily="34" charset="0"/>
              <a:ea typeface="STKaiti" panose="02010600040101010101" pitchFamily="2" charset="-122"/>
              <a:cs typeface="Arial" panose="020B0604020202020204" pitchFamily="34" charset="0"/>
            </a:endParaRP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API</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of</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Choco-Q</a:t>
            </a:r>
          </a:p>
        </p:txBody>
      </p:sp>
    </p:spTree>
    <p:extLst>
      <p:ext uri="{BB962C8B-B14F-4D97-AF65-F5344CB8AC3E}">
        <p14:creationId xmlns:p14="http://schemas.microsoft.com/office/powerpoint/2010/main" val="1708856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8218" y="1"/>
            <a:ext cx="8827564" cy="803086"/>
          </a:xfrm>
        </p:spPr>
        <p:txBody>
          <a:bodyPr>
            <a:normAutofit/>
          </a:bodyPr>
          <a:lstStyle/>
          <a:p>
            <a:pPr algn="just" hangingPunct="0">
              <a:lnSpc>
                <a:spcPct val="100000"/>
              </a:lnSpc>
            </a:pPr>
            <a:r>
              <a:rPr lang="en-US" altLang="zh-CN" sz="2800" b="1" dirty="0">
                <a:ea typeface="STKaiti" panose="02010600040101010101" pitchFamily="2" charset="-122"/>
                <a:sym typeface="+mn-lt"/>
              </a:rPr>
              <a:t>Application of Constrained Binary Optimization</a:t>
            </a:r>
            <a:endParaRPr lang="zh-CN" altLang="en-US" sz="2800" b="1" dirty="0">
              <a:ea typeface="STKaiti" panose="02010600040101010101" pitchFamily="2" charset="-122"/>
              <a:sym typeface="+mn-lt"/>
            </a:endParaRPr>
          </a:p>
        </p:txBody>
      </p:sp>
      <p:sp>
        <p:nvSpPr>
          <p:cNvPr id="15" name="左右箭头 14"/>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7" name="文本框 16">
            <a:extLst>
              <a:ext uri="{FF2B5EF4-FFF2-40B4-BE49-F238E27FC236}">
                <a16:creationId xmlns:a16="http://schemas.microsoft.com/office/drawing/2014/main" id="{4D44433B-C93D-B60E-A95C-8C7D0FB037F2}"/>
              </a:ext>
            </a:extLst>
          </p:cNvPr>
          <p:cNvSpPr txBox="1"/>
          <p:nvPr/>
        </p:nvSpPr>
        <p:spPr>
          <a:xfrm>
            <a:off x="7570038" y="657063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latin typeface="Arial" panose="020B0604020202020204" pitchFamily="34" charset="0"/>
              <a:cs typeface="Arial" panose="020B0604020202020204" pitchFamily="34" charset="0"/>
            </a:endParaRPr>
          </a:p>
        </p:txBody>
      </p:sp>
      <p:sp>
        <p:nvSpPr>
          <p:cNvPr id="47" name="矩形 46">
            <a:extLst>
              <a:ext uri="{FF2B5EF4-FFF2-40B4-BE49-F238E27FC236}">
                <a16:creationId xmlns:a16="http://schemas.microsoft.com/office/drawing/2014/main" id="{417E8D3D-AEA4-D045-9E92-32D7B264B4C2}"/>
              </a:ext>
            </a:extLst>
          </p:cNvPr>
          <p:cNvSpPr/>
          <p:nvPr/>
        </p:nvSpPr>
        <p:spPr bwMode="auto">
          <a:xfrm>
            <a:off x="5786574" y="1304544"/>
            <a:ext cx="2045317" cy="258893"/>
          </a:xfrm>
          <a:prstGeom prst="rect">
            <a:avLst/>
          </a:prstGeom>
          <a:solidFill>
            <a:srgbClr val="F8DF79"/>
          </a:solidFill>
          <a:ln w="9525" cap="flat" cmpd="sng" algn="ctr">
            <a:noFill/>
            <a:prstDash val="solid"/>
            <a:round/>
            <a:headEnd type="none" w="med" len="med"/>
            <a:tailEnd type="none" w="med" len="med"/>
          </a:ln>
        </p:spPr>
        <p:txBody>
          <a:bodyPr vert="horz" wrap="square" lIns="91440" tIns="0" rIns="91440" bIns="36000" numCol="1" rtlCol="0" anchor="ctr" anchorCtr="0" compatLnSpc="1">
            <a:spAutoFit/>
          </a:bodyPr>
          <a:lstStyle/>
          <a:p>
            <a:pPr marR="0" algn="ctr" defTabSz="914400" rtl="0" eaLnBrk="1" fontAlgn="base" latinLnBrk="0" hangingPunct="1">
              <a:lnSpc>
                <a:spcPct val="100000"/>
              </a:lnSpc>
              <a:spcBef>
                <a:spcPct val="20000"/>
              </a:spcBef>
              <a:spcAft>
                <a:spcPct val="0"/>
              </a:spcAft>
              <a:buClr>
                <a:srgbClr val="FF3300"/>
              </a:buClr>
              <a:buSzPct val="75000"/>
            </a:pPr>
            <a:r>
              <a:rPr kumimoji="0" lang="en" altLang="zh-CN" sz="1400" i="0" u="none" strike="noStrike" cap="none" normalizeH="0" baseline="0" dirty="0">
                <a:ln>
                  <a:noFill/>
                </a:ln>
                <a:effectLst/>
                <a:latin typeface="+mn-ea"/>
              </a:rPr>
              <a:t> Facility location</a:t>
            </a:r>
            <a:endParaRPr kumimoji="0" lang="zh-CN" altLang="en-US" sz="1400" i="0" u="none" strike="noStrike" cap="none" normalizeH="0" baseline="0" dirty="0">
              <a:ln>
                <a:noFill/>
              </a:ln>
              <a:effectLst/>
              <a:latin typeface="+mn-ea"/>
            </a:endParaRPr>
          </a:p>
        </p:txBody>
      </p:sp>
      <p:sp>
        <p:nvSpPr>
          <p:cNvPr id="60" name="矩形 59">
            <a:extLst>
              <a:ext uri="{FF2B5EF4-FFF2-40B4-BE49-F238E27FC236}">
                <a16:creationId xmlns:a16="http://schemas.microsoft.com/office/drawing/2014/main" id="{1E9432E4-C900-E742-896C-BB634E0DC74E}"/>
              </a:ext>
            </a:extLst>
          </p:cNvPr>
          <p:cNvSpPr/>
          <p:nvPr/>
        </p:nvSpPr>
        <p:spPr bwMode="auto">
          <a:xfrm>
            <a:off x="9022122" y="1288321"/>
            <a:ext cx="2199815" cy="251795"/>
          </a:xfrm>
          <a:prstGeom prst="rect">
            <a:avLst/>
          </a:prstGeom>
          <a:solidFill>
            <a:srgbClr val="F8DF79"/>
          </a:solidFill>
          <a:ln w="9525" cap="flat" cmpd="sng" algn="ctr">
            <a:noFill/>
            <a:prstDash val="solid"/>
            <a:round/>
            <a:headEnd type="none" w="med" len="med"/>
            <a:tailEnd type="none" w="med" len="med"/>
          </a:ln>
        </p:spPr>
        <p:txBody>
          <a:bodyPr vert="horz" wrap="square" lIns="91440" tIns="0" rIns="91440" bIns="36000" numCol="1" rtlCol="0" anchor="ctr" anchorCtr="0" compatLnSpc="1">
            <a:spAutoFit/>
          </a:bodyPr>
          <a:lstStyle/>
          <a:p>
            <a:pPr marR="0" algn="ctr" defTabSz="914400" rtl="0" eaLnBrk="1" fontAlgn="base" latinLnBrk="0" hangingPunct="1">
              <a:lnSpc>
                <a:spcPct val="100000"/>
              </a:lnSpc>
              <a:spcBef>
                <a:spcPct val="20000"/>
              </a:spcBef>
              <a:spcAft>
                <a:spcPct val="0"/>
              </a:spcAft>
              <a:buClr>
                <a:srgbClr val="FF3300"/>
              </a:buClr>
              <a:buSzPct val="75000"/>
            </a:pPr>
            <a:r>
              <a:rPr lang="en-US" altLang="zh-CN" sz="1400" dirty="0">
                <a:latin typeface="+mn-ea"/>
              </a:rPr>
              <a:t>Routing planning</a:t>
            </a:r>
            <a:endParaRPr kumimoji="0" lang="zh-CN" altLang="en-US" sz="1400" i="0" u="none" strike="noStrike" cap="none" normalizeH="0" baseline="0" dirty="0">
              <a:ln>
                <a:noFill/>
              </a:ln>
              <a:effectLst/>
              <a:latin typeface="+mn-ea"/>
            </a:endParaRPr>
          </a:p>
        </p:txBody>
      </p:sp>
      <p:sp>
        <p:nvSpPr>
          <p:cNvPr id="61" name="矩形 60">
            <a:extLst>
              <a:ext uri="{FF2B5EF4-FFF2-40B4-BE49-F238E27FC236}">
                <a16:creationId xmlns:a16="http://schemas.microsoft.com/office/drawing/2014/main" id="{CB461AF5-FDBB-DA4B-87CF-3897095E1242}"/>
              </a:ext>
            </a:extLst>
          </p:cNvPr>
          <p:cNvSpPr/>
          <p:nvPr/>
        </p:nvSpPr>
        <p:spPr bwMode="auto">
          <a:xfrm>
            <a:off x="5786574" y="3868538"/>
            <a:ext cx="2045317" cy="258893"/>
          </a:xfrm>
          <a:prstGeom prst="rect">
            <a:avLst/>
          </a:prstGeom>
          <a:solidFill>
            <a:srgbClr val="F8DF79"/>
          </a:solidFill>
          <a:ln w="9525" cap="flat" cmpd="sng" algn="ctr">
            <a:noFill/>
            <a:prstDash val="solid"/>
            <a:round/>
            <a:headEnd type="none" w="med" len="med"/>
            <a:tailEnd type="none" w="med" len="med"/>
          </a:ln>
        </p:spPr>
        <p:txBody>
          <a:bodyPr vert="horz" wrap="square" lIns="91440" tIns="0" rIns="91440" bIns="36000" numCol="1" rtlCol="0" anchor="ctr" anchorCtr="0" compatLnSpc="1">
            <a:spAutoFit/>
          </a:bodyPr>
          <a:lstStyle/>
          <a:p>
            <a:pPr marR="0" algn="ctr" defTabSz="914400" rtl="0" eaLnBrk="1" fontAlgn="base" latinLnBrk="0" hangingPunct="1">
              <a:lnSpc>
                <a:spcPct val="100000"/>
              </a:lnSpc>
              <a:spcBef>
                <a:spcPct val="20000"/>
              </a:spcBef>
              <a:spcAft>
                <a:spcPct val="0"/>
              </a:spcAft>
              <a:buClr>
                <a:srgbClr val="FF3300"/>
              </a:buClr>
              <a:buSzPct val="75000"/>
            </a:pPr>
            <a:r>
              <a:rPr kumimoji="0" lang="en" altLang="zh-CN" sz="1400" i="0" u="none" strike="noStrike" cap="none" normalizeH="0" baseline="0" dirty="0">
                <a:ln>
                  <a:noFill/>
                </a:ln>
                <a:effectLst/>
                <a:latin typeface="+mn-ea"/>
              </a:rPr>
              <a:t>project scheduling</a:t>
            </a:r>
            <a:endParaRPr kumimoji="0" lang="zh-CN" altLang="en-US" sz="1400" i="0" u="none" strike="noStrike" cap="none" normalizeH="0" baseline="0" dirty="0">
              <a:ln>
                <a:noFill/>
              </a:ln>
              <a:effectLst/>
              <a:latin typeface="+mn-ea"/>
            </a:endParaRPr>
          </a:p>
        </p:txBody>
      </p:sp>
      <p:sp>
        <p:nvSpPr>
          <p:cNvPr id="62" name="矩形 61">
            <a:extLst>
              <a:ext uri="{FF2B5EF4-FFF2-40B4-BE49-F238E27FC236}">
                <a16:creationId xmlns:a16="http://schemas.microsoft.com/office/drawing/2014/main" id="{350F436E-4D57-D942-B563-8456C3CB3B37}"/>
              </a:ext>
            </a:extLst>
          </p:cNvPr>
          <p:cNvSpPr/>
          <p:nvPr/>
        </p:nvSpPr>
        <p:spPr bwMode="auto">
          <a:xfrm>
            <a:off x="8969475" y="3863444"/>
            <a:ext cx="2305109" cy="251795"/>
          </a:xfrm>
          <a:prstGeom prst="rect">
            <a:avLst/>
          </a:prstGeom>
          <a:solidFill>
            <a:srgbClr val="F8DF79"/>
          </a:solidFill>
          <a:ln w="9525" cap="flat" cmpd="sng" algn="ctr">
            <a:noFill/>
            <a:prstDash val="solid"/>
            <a:round/>
            <a:headEnd type="none" w="med" len="med"/>
            <a:tailEnd type="none" w="med" len="med"/>
          </a:ln>
        </p:spPr>
        <p:txBody>
          <a:bodyPr vert="horz" wrap="square" lIns="91440" tIns="0" rIns="91440" bIns="36000" numCol="1" rtlCol="0" anchor="ctr" anchorCtr="0" compatLnSpc="1">
            <a:spAutoFit/>
          </a:bodyPr>
          <a:lstStyle/>
          <a:p>
            <a:pPr marR="0" algn="ctr" defTabSz="914400" rtl="0" eaLnBrk="1" fontAlgn="base" latinLnBrk="0" hangingPunct="1">
              <a:lnSpc>
                <a:spcPct val="100000"/>
              </a:lnSpc>
              <a:spcBef>
                <a:spcPct val="20000"/>
              </a:spcBef>
              <a:spcAft>
                <a:spcPct val="0"/>
              </a:spcAft>
              <a:buClr>
                <a:srgbClr val="FF3300"/>
              </a:buClr>
              <a:buSzPct val="75000"/>
            </a:pPr>
            <a:r>
              <a:rPr kumimoji="0" lang="en" altLang="zh-CN" sz="1400" i="0" u="none" strike="noStrike" cap="none" normalizeH="0" baseline="0" dirty="0">
                <a:ln>
                  <a:noFill/>
                </a:ln>
                <a:effectLst/>
                <a:latin typeface="+mn-ea"/>
              </a:rPr>
              <a:t>portfolio optimization</a:t>
            </a:r>
            <a:endParaRPr kumimoji="0" lang="zh-CN" altLang="en-US" sz="1400" i="0" u="none" strike="noStrike" cap="none" normalizeH="0" baseline="0" dirty="0">
              <a:ln>
                <a:noFill/>
              </a:ln>
              <a:effectLst/>
              <a:latin typeface="+mn-ea"/>
            </a:endParaRPr>
          </a:p>
        </p:txBody>
      </p:sp>
      <p:pic>
        <p:nvPicPr>
          <p:cNvPr id="63" name="Picture 36" descr="Image result for 欺诈风险识别">
            <a:extLst>
              <a:ext uri="{FF2B5EF4-FFF2-40B4-BE49-F238E27FC236}">
                <a16:creationId xmlns:a16="http://schemas.microsoft.com/office/drawing/2014/main" id="{4FF1BE24-587F-A84D-8E47-E9E152F2457E}"/>
              </a:ext>
            </a:extLst>
          </p:cNvPr>
          <p:cNvPicPr>
            <a:picLocks noChangeArrowheads="1"/>
          </p:cNvPicPr>
          <p:nvPr/>
        </p:nvPicPr>
        <p:blipFill rotWithShape="1">
          <a:blip r:embed="rId3" cstate="print">
            <a:extLst>
              <a:ext uri="{28A0092B-C50C-407E-A947-70E740481C1C}">
                <a14:useLocalDpi xmlns:a14="http://schemas.microsoft.com/office/drawing/2010/main" val="0"/>
              </a:ext>
            </a:extLst>
          </a:blip>
          <a:srcRect t="4849" b="9223"/>
          <a:stretch/>
        </p:blipFill>
        <p:spPr bwMode="auto">
          <a:xfrm>
            <a:off x="8609387" y="4267200"/>
            <a:ext cx="3025284" cy="1914144"/>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 descr="湖北新机场选址规划：武汉无奈落榜，不是宜昌，而是这座城市_旅景网">
            <a:extLst>
              <a:ext uri="{FF2B5EF4-FFF2-40B4-BE49-F238E27FC236}">
                <a16:creationId xmlns:a16="http://schemas.microsoft.com/office/drawing/2014/main" id="{B8B46696-A989-4C4A-B5CC-582D26A5E43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9631"/>
          <a:stretch/>
        </p:blipFill>
        <p:spPr bwMode="auto">
          <a:xfrm>
            <a:off x="5287849" y="1691185"/>
            <a:ext cx="3042766" cy="1835415"/>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8" descr="可视化排班管理_公司精益管理更上新台阶MES系统正式上线运行-CSDN博客">
            <a:extLst>
              <a:ext uri="{FF2B5EF4-FFF2-40B4-BE49-F238E27FC236}">
                <a16:creationId xmlns:a16="http://schemas.microsoft.com/office/drawing/2014/main" id="{4029BE76-F0DC-6F48-958F-73BD1C3A6B9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9001" b="6723"/>
          <a:stretch/>
        </p:blipFill>
        <p:spPr bwMode="auto">
          <a:xfrm>
            <a:off x="5279136" y="4291585"/>
            <a:ext cx="3060192" cy="1888866"/>
          </a:xfrm>
          <a:prstGeom prst="rect">
            <a:avLst/>
          </a:prstGeom>
          <a:noFill/>
          <a:extLst>
            <a:ext uri="{909E8E84-426E-40DD-AFC4-6F175D3DCCD1}">
              <a14:hiddenFill xmlns:a14="http://schemas.microsoft.com/office/drawing/2010/main">
                <a:solidFill>
                  <a:srgbClr val="FFFFFF"/>
                </a:solidFill>
              </a14:hiddenFill>
            </a:ext>
          </a:extLst>
        </p:spPr>
      </p:pic>
      <p:pic>
        <p:nvPicPr>
          <p:cNvPr id="66" name="图片 65">
            <a:extLst>
              <a:ext uri="{FF2B5EF4-FFF2-40B4-BE49-F238E27FC236}">
                <a16:creationId xmlns:a16="http://schemas.microsoft.com/office/drawing/2014/main" id="{66055F21-B0D9-2E4D-9D41-10D80192941B}"/>
              </a:ext>
            </a:extLst>
          </p:cNvPr>
          <p:cNvPicPr>
            <a:picLocks noChangeAspect="1"/>
          </p:cNvPicPr>
          <p:nvPr/>
        </p:nvPicPr>
        <p:blipFill rotWithShape="1">
          <a:blip r:embed="rId6"/>
          <a:srcRect t="12529" b="18692"/>
          <a:stretch/>
        </p:blipFill>
        <p:spPr>
          <a:xfrm>
            <a:off x="8603917" y="1691185"/>
            <a:ext cx="3036225" cy="1835415"/>
          </a:xfrm>
          <a:prstGeom prst="rect">
            <a:avLst/>
          </a:prstGeom>
        </p:spPr>
      </p:pic>
      <p:pic>
        <p:nvPicPr>
          <p:cNvPr id="28" name="图片 27">
            <a:extLst>
              <a:ext uri="{FF2B5EF4-FFF2-40B4-BE49-F238E27FC236}">
                <a16:creationId xmlns:a16="http://schemas.microsoft.com/office/drawing/2014/main" id="{A6D7A74D-35B1-EC46-95AF-A65B137A9167}"/>
              </a:ext>
            </a:extLst>
          </p:cNvPr>
          <p:cNvPicPr>
            <a:picLocks noChangeAspect="1"/>
          </p:cNvPicPr>
          <p:nvPr/>
        </p:nvPicPr>
        <p:blipFill>
          <a:blip r:embed="rId7"/>
          <a:stretch>
            <a:fillRect/>
          </a:stretch>
        </p:blipFill>
        <p:spPr>
          <a:xfrm>
            <a:off x="549021" y="1853157"/>
            <a:ext cx="4207059" cy="3438171"/>
          </a:xfrm>
          <a:prstGeom prst="rect">
            <a:avLst/>
          </a:prstGeom>
        </p:spPr>
      </p:pic>
    </p:spTree>
    <p:extLst>
      <p:ext uri="{BB962C8B-B14F-4D97-AF65-F5344CB8AC3E}">
        <p14:creationId xmlns:p14="http://schemas.microsoft.com/office/powerpoint/2010/main" val="653586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8218" y="1"/>
            <a:ext cx="6603304" cy="803086"/>
          </a:xfrm>
        </p:spPr>
        <p:txBody>
          <a:bodyPr>
            <a:normAutofit/>
          </a:bodyPr>
          <a:lstStyle/>
          <a:p>
            <a:pPr algn="just" hangingPunct="0">
              <a:lnSpc>
                <a:spcPct val="100000"/>
              </a:lnSpc>
            </a:pPr>
            <a:r>
              <a:rPr lang="en-US" altLang="zh-CN" sz="2800" b="1" dirty="0">
                <a:ea typeface="STKaiti" panose="02010600040101010101" pitchFamily="2" charset="-122"/>
                <a:sym typeface="+mn-lt"/>
              </a:rPr>
              <a:t>Example:  Facility location Problem </a:t>
            </a:r>
            <a:endParaRPr lang="zh-CN" altLang="en-US" sz="2800" b="1" dirty="0">
              <a:ea typeface="STKaiti" panose="02010600040101010101" pitchFamily="2" charset="-122"/>
              <a:sym typeface="+mn-lt"/>
            </a:endParaRPr>
          </a:p>
        </p:txBody>
      </p:sp>
      <p:sp>
        <p:nvSpPr>
          <p:cNvPr id="15" name="左右箭头 14"/>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65" name="矩形 64">
            <a:extLst>
              <a:ext uri="{FF2B5EF4-FFF2-40B4-BE49-F238E27FC236}">
                <a16:creationId xmlns:a16="http://schemas.microsoft.com/office/drawing/2014/main" id="{4DF794C0-389F-0841-A9F6-26353080B45B}"/>
              </a:ext>
            </a:extLst>
          </p:cNvPr>
          <p:cNvSpPr/>
          <p:nvPr>
            <p:custDataLst>
              <p:tags r:id="rId1"/>
            </p:custDataLst>
          </p:nvPr>
        </p:nvSpPr>
        <p:spPr>
          <a:xfrm>
            <a:off x="813890" y="920619"/>
            <a:ext cx="2533355" cy="430530"/>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US" altLang="zh-CN" b="1" dirty="0">
                <a:latin typeface="Arial" panose="020B0604020202020204" pitchFamily="34" charset="0"/>
                <a:ea typeface="STKaiti" panose="02010600040101010101" pitchFamily="2" charset="-122"/>
                <a:cs typeface="Arial" panose="020B0604020202020204" pitchFamily="34" charset="0"/>
                <a:sym typeface="+mn-lt"/>
              </a:rPr>
              <a:t>Variable Definition</a:t>
            </a:r>
          </a:p>
        </p:txBody>
      </p:sp>
      <p:sp>
        <p:nvSpPr>
          <p:cNvPr id="27" name="文本框 26">
            <a:extLst>
              <a:ext uri="{FF2B5EF4-FFF2-40B4-BE49-F238E27FC236}">
                <a16:creationId xmlns:a16="http://schemas.microsoft.com/office/drawing/2014/main" id="{A0FD1E30-D537-6142-893A-295FBD2502B0}"/>
              </a:ext>
            </a:extLst>
          </p:cNvPr>
          <p:cNvSpPr txBox="1"/>
          <p:nvPr/>
        </p:nvSpPr>
        <p:spPr>
          <a:xfrm>
            <a:off x="890016" y="1463040"/>
            <a:ext cx="5108448" cy="923330"/>
          </a:xfrm>
          <a:prstGeom prst="rect">
            <a:avLst/>
          </a:prstGeom>
          <a:noFill/>
        </p:spPr>
        <p:txBody>
          <a:bodyPr wrap="square" rtlCol="0">
            <a:spAutoFit/>
          </a:bodyPr>
          <a:lstStyle/>
          <a:p>
            <a:r>
              <a:rPr kumimoji="1" lang="en-US" altLang="zh-CN" dirty="0"/>
              <a:t>There are facilities to supply the demands.</a:t>
            </a:r>
          </a:p>
          <a:p>
            <a:r>
              <a:rPr kumimoji="1" lang="en-US" altLang="zh-CN" dirty="0"/>
              <a:t>The costs including opening the facilities and supply demands.</a:t>
            </a:r>
            <a:endParaRPr kumimoji="1" lang="zh-CN" altLang="en-US" dirty="0"/>
          </a:p>
        </p:txBody>
      </p:sp>
      <p:pic>
        <p:nvPicPr>
          <p:cNvPr id="36" name="图片 35">
            <a:extLst>
              <a:ext uri="{FF2B5EF4-FFF2-40B4-BE49-F238E27FC236}">
                <a16:creationId xmlns:a16="http://schemas.microsoft.com/office/drawing/2014/main" id="{6E7DEE75-7C89-5E43-9F2B-E71DDFDBED19}"/>
              </a:ext>
            </a:extLst>
          </p:cNvPr>
          <p:cNvPicPr>
            <a:picLocks noChangeAspect="1"/>
          </p:cNvPicPr>
          <p:nvPr/>
        </p:nvPicPr>
        <p:blipFill>
          <a:blip r:embed="rId8"/>
          <a:stretch>
            <a:fillRect/>
          </a:stretch>
        </p:blipFill>
        <p:spPr>
          <a:xfrm>
            <a:off x="855124" y="2573784"/>
            <a:ext cx="5097438" cy="1278888"/>
          </a:xfrm>
          <a:prstGeom prst="rect">
            <a:avLst/>
          </a:prstGeom>
        </p:spPr>
      </p:pic>
      <p:sp>
        <p:nvSpPr>
          <p:cNvPr id="77" name="矩形 76">
            <a:extLst>
              <a:ext uri="{FF2B5EF4-FFF2-40B4-BE49-F238E27FC236}">
                <a16:creationId xmlns:a16="http://schemas.microsoft.com/office/drawing/2014/main" id="{F3D9E085-05E8-B142-9728-D1879A605FAD}"/>
              </a:ext>
            </a:extLst>
          </p:cNvPr>
          <p:cNvSpPr/>
          <p:nvPr>
            <p:custDataLst>
              <p:tags r:id="rId2"/>
            </p:custDataLst>
          </p:nvPr>
        </p:nvSpPr>
        <p:spPr>
          <a:xfrm>
            <a:off x="6196658" y="890139"/>
            <a:ext cx="2533355" cy="430530"/>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US" altLang="zh-CN" b="1" dirty="0">
                <a:latin typeface="Arial" panose="020B0604020202020204" pitchFamily="34" charset="0"/>
                <a:ea typeface="STKaiti" panose="02010600040101010101" pitchFamily="2" charset="-122"/>
                <a:cs typeface="Arial" panose="020B0604020202020204" pitchFamily="34" charset="0"/>
                <a:sym typeface="+mn-lt"/>
              </a:rPr>
              <a:t>Constraints</a:t>
            </a:r>
          </a:p>
        </p:txBody>
      </p:sp>
      <p:pic>
        <p:nvPicPr>
          <p:cNvPr id="40" name="图片 39">
            <a:extLst>
              <a:ext uri="{FF2B5EF4-FFF2-40B4-BE49-F238E27FC236}">
                <a16:creationId xmlns:a16="http://schemas.microsoft.com/office/drawing/2014/main" id="{4ED74229-47E6-A840-8F67-5014FC90B8F3}"/>
              </a:ext>
            </a:extLst>
          </p:cNvPr>
          <p:cNvPicPr>
            <a:picLocks noChangeAspect="1"/>
          </p:cNvPicPr>
          <p:nvPr/>
        </p:nvPicPr>
        <p:blipFill>
          <a:blip r:embed="rId9"/>
          <a:stretch>
            <a:fillRect/>
          </a:stretch>
        </p:blipFill>
        <p:spPr>
          <a:xfrm>
            <a:off x="1194815" y="5681472"/>
            <a:ext cx="4554059" cy="888803"/>
          </a:xfrm>
          <a:prstGeom prst="rect">
            <a:avLst/>
          </a:prstGeom>
        </p:spPr>
      </p:pic>
      <p:pic>
        <p:nvPicPr>
          <p:cNvPr id="42" name="图片 41">
            <a:extLst>
              <a:ext uri="{FF2B5EF4-FFF2-40B4-BE49-F238E27FC236}">
                <a16:creationId xmlns:a16="http://schemas.microsoft.com/office/drawing/2014/main" id="{D0229CDA-160D-5B47-AC51-8F012A1504A0}"/>
              </a:ext>
            </a:extLst>
          </p:cNvPr>
          <p:cNvPicPr>
            <a:picLocks noChangeAspect="1"/>
          </p:cNvPicPr>
          <p:nvPr/>
        </p:nvPicPr>
        <p:blipFill>
          <a:blip r:embed="rId10"/>
          <a:stretch>
            <a:fillRect/>
          </a:stretch>
        </p:blipFill>
        <p:spPr>
          <a:xfrm>
            <a:off x="1170432" y="4501896"/>
            <a:ext cx="2804160" cy="689479"/>
          </a:xfrm>
          <a:prstGeom prst="rect">
            <a:avLst/>
          </a:prstGeom>
        </p:spPr>
      </p:pic>
      <p:sp>
        <p:nvSpPr>
          <p:cNvPr id="82" name="矩形 81">
            <a:extLst>
              <a:ext uri="{FF2B5EF4-FFF2-40B4-BE49-F238E27FC236}">
                <a16:creationId xmlns:a16="http://schemas.microsoft.com/office/drawing/2014/main" id="{FF617336-42C7-4C4F-AC87-015ED981AA8C}"/>
              </a:ext>
            </a:extLst>
          </p:cNvPr>
          <p:cNvSpPr/>
          <p:nvPr>
            <p:custDataLst>
              <p:tags r:id="rId3"/>
            </p:custDataLst>
          </p:nvPr>
        </p:nvSpPr>
        <p:spPr>
          <a:xfrm>
            <a:off x="869345" y="4008084"/>
            <a:ext cx="3446623" cy="429804"/>
          </a:xfrm>
          <a:prstGeom prst="rect">
            <a:avLst/>
          </a:prstGeom>
          <a:solidFill>
            <a:schemeClr val="bg2">
              <a:lumMod val="90000"/>
            </a:schemeClr>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US" altLang="zh-CN" dirty="0">
                <a:solidFill>
                  <a:schemeClr val="tx1"/>
                </a:solidFill>
                <a:latin typeface="Arial" panose="020B0604020202020204" pitchFamily="34" charset="0"/>
                <a:ea typeface="STKaiti" panose="02010600040101010101" pitchFamily="2" charset="-122"/>
                <a:cs typeface="Arial" panose="020B0604020202020204" pitchFamily="34" charset="0"/>
                <a:sym typeface="+mn-lt"/>
              </a:rPr>
              <a:t>Whether to open facility</a:t>
            </a:r>
          </a:p>
        </p:txBody>
      </p:sp>
      <p:sp>
        <p:nvSpPr>
          <p:cNvPr id="83" name="矩形 82">
            <a:extLst>
              <a:ext uri="{FF2B5EF4-FFF2-40B4-BE49-F238E27FC236}">
                <a16:creationId xmlns:a16="http://schemas.microsoft.com/office/drawing/2014/main" id="{9B5ED005-3B11-D345-A09C-58CB31472378}"/>
              </a:ext>
            </a:extLst>
          </p:cNvPr>
          <p:cNvSpPr/>
          <p:nvPr>
            <p:custDataLst>
              <p:tags r:id="rId4"/>
            </p:custDataLst>
          </p:nvPr>
        </p:nvSpPr>
        <p:spPr>
          <a:xfrm>
            <a:off x="863249" y="5269956"/>
            <a:ext cx="3416143" cy="429804"/>
          </a:xfrm>
          <a:prstGeom prst="rect">
            <a:avLst/>
          </a:prstGeom>
          <a:solidFill>
            <a:schemeClr val="bg2">
              <a:lumMod val="90000"/>
            </a:schemeClr>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US" altLang="zh-CN" dirty="0">
                <a:solidFill>
                  <a:schemeClr val="tx1"/>
                </a:solidFill>
                <a:latin typeface="+mj-lt"/>
              </a:rPr>
              <a:t>How to assign demands</a:t>
            </a:r>
            <a:endParaRPr lang="en-US" altLang="zh-CN" dirty="0">
              <a:solidFill>
                <a:schemeClr val="tx1"/>
              </a:solidFill>
              <a:latin typeface="+mj-lt"/>
              <a:ea typeface="STKaiti" panose="02010600040101010101" pitchFamily="2" charset="-122"/>
              <a:cs typeface="Arial" panose="020B0604020202020204" pitchFamily="34" charset="0"/>
              <a:sym typeface="+mn-lt"/>
            </a:endParaRPr>
          </a:p>
        </p:txBody>
      </p:sp>
      <p:sp>
        <p:nvSpPr>
          <p:cNvPr id="86" name="文本框 85">
            <a:extLst>
              <a:ext uri="{FF2B5EF4-FFF2-40B4-BE49-F238E27FC236}">
                <a16:creationId xmlns:a16="http://schemas.microsoft.com/office/drawing/2014/main" id="{3DE02E5F-DB25-EC4E-9509-81436E3B8D20}"/>
              </a:ext>
            </a:extLst>
          </p:cNvPr>
          <p:cNvSpPr txBox="1"/>
          <p:nvPr/>
        </p:nvSpPr>
        <p:spPr>
          <a:xfrm>
            <a:off x="6278880" y="1546598"/>
            <a:ext cx="5217795" cy="369332"/>
          </a:xfrm>
          <a:prstGeom prst="rect">
            <a:avLst/>
          </a:prstGeom>
          <a:noFill/>
        </p:spPr>
        <p:txBody>
          <a:bodyPr wrap="square">
            <a:spAutoFit/>
          </a:bodyPr>
          <a:lstStyle/>
          <a:p>
            <a:r>
              <a:rPr lang="en" altLang="zh-CN" dirty="0">
                <a:effectLst/>
              </a:rPr>
              <a:t>Each demand can only be assigned to one facility </a:t>
            </a:r>
            <a:endParaRPr lang="zh-CN" altLang="en-US" dirty="0"/>
          </a:p>
        </p:txBody>
      </p:sp>
      <p:pic>
        <p:nvPicPr>
          <p:cNvPr id="44" name="图片 43">
            <a:extLst>
              <a:ext uri="{FF2B5EF4-FFF2-40B4-BE49-F238E27FC236}">
                <a16:creationId xmlns:a16="http://schemas.microsoft.com/office/drawing/2014/main" id="{5A7EBADB-E165-284F-8226-6650C08B5F94}"/>
              </a:ext>
            </a:extLst>
          </p:cNvPr>
          <p:cNvPicPr>
            <a:picLocks noChangeAspect="1"/>
          </p:cNvPicPr>
          <p:nvPr/>
        </p:nvPicPr>
        <p:blipFill>
          <a:blip r:embed="rId11"/>
          <a:stretch>
            <a:fillRect/>
          </a:stretch>
        </p:blipFill>
        <p:spPr>
          <a:xfrm>
            <a:off x="7876032" y="2008407"/>
            <a:ext cx="2145792" cy="565675"/>
          </a:xfrm>
          <a:prstGeom prst="rect">
            <a:avLst/>
          </a:prstGeom>
        </p:spPr>
      </p:pic>
      <p:sp>
        <p:nvSpPr>
          <p:cNvPr id="88" name="文本框 87">
            <a:extLst>
              <a:ext uri="{FF2B5EF4-FFF2-40B4-BE49-F238E27FC236}">
                <a16:creationId xmlns:a16="http://schemas.microsoft.com/office/drawing/2014/main" id="{1C01617C-3BEA-9947-B19A-74226AE43887}"/>
              </a:ext>
            </a:extLst>
          </p:cNvPr>
          <p:cNvSpPr txBox="1"/>
          <p:nvPr/>
        </p:nvSpPr>
        <p:spPr>
          <a:xfrm>
            <a:off x="6303264" y="2741414"/>
            <a:ext cx="5071872" cy="369332"/>
          </a:xfrm>
          <a:prstGeom prst="rect">
            <a:avLst/>
          </a:prstGeom>
          <a:noFill/>
        </p:spPr>
        <p:txBody>
          <a:bodyPr wrap="square">
            <a:spAutoFit/>
          </a:bodyPr>
          <a:lstStyle/>
          <a:p>
            <a:r>
              <a:rPr lang="en" altLang="zh-CN" dirty="0">
                <a:effectLst/>
              </a:rPr>
              <a:t>An unopened facility cannot supply any demand</a:t>
            </a:r>
            <a:endParaRPr lang="zh-CN" altLang="en-US" dirty="0"/>
          </a:p>
        </p:txBody>
      </p:sp>
      <p:pic>
        <p:nvPicPr>
          <p:cNvPr id="48" name="图片 47">
            <a:extLst>
              <a:ext uri="{FF2B5EF4-FFF2-40B4-BE49-F238E27FC236}">
                <a16:creationId xmlns:a16="http://schemas.microsoft.com/office/drawing/2014/main" id="{06938ABE-3925-B24F-98DC-EE1048AB7441}"/>
              </a:ext>
            </a:extLst>
          </p:cNvPr>
          <p:cNvPicPr>
            <a:picLocks noChangeAspect="1"/>
          </p:cNvPicPr>
          <p:nvPr/>
        </p:nvPicPr>
        <p:blipFill>
          <a:blip r:embed="rId12"/>
          <a:stretch>
            <a:fillRect/>
          </a:stretch>
        </p:blipFill>
        <p:spPr>
          <a:xfrm>
            <a:off x="7693152" y="3277531"/>
            <a:ext cx="3008376" cy="278553"/>
          </a:xfrm>
          <a:prstGeom prst="rect">
            <a:avLst/>
          </a:prstGeom>
        </p:spPr>
      </p:pic>
      <p:sp>
        <p:nvSpPr>
          <p:cNvPr id="91" name="文本框 90">
            <a:extLst>
              <a:ext uri="{FF2B5EF4-FFF2-40B4-BE49-F238E27FC236}">
                <a16:creationId xmlns:a16="http://schemas.microsoft.com/office/drawing/2014/main" id="{455EB392-ECC4-4147-BE9C-2A15BEBF125F}"/>
              </a:ext>
            </a:extLst>
          </p:cNvPr>
          <p:cNvSpPr txBox="1"/>
          <p:nvPr/>
        </p:nvSpPr>
        <p:spPr>
          <a:xfrm>
            <a:off x="6351651" y="4638979"/>
            <a:ext cx="5145024" cy="646331"/>
          </a:xfrm>
          <a:prstGeom prst="rect">
            <a:avLst/>
          </a:prstGeom>
          <a:noFill/>
        </p:spPr>
        <p:txBody>
          <a:bodyPr wrap="square">
            <a:spAutoFit/>
          </a:bodyPr>
          <a:lstStyle/>
          <a:p>
            <a:r>
              <a:rPr lang="en" altLang="zh-CN" dirty="0">
                <a:effectLst/>
              </a:rPr>
              <a:t>Minimize the cost of opening facilities and supplying demands</a:t>
            </a:r>
            <a:endParaRPr lang="zh-CN" altLang="en-US" dirty="0"/>
          </a:p>
        </p:txBody>
      </p:sp>
      <p:sp>
        <p:nvSpPr>
          <p:cNvPr id="93" name="矩形 92">
            <a:extLst>
              <a:ext uri="{FF2B5EF4-FFF2-40B4-BE49-F238E27FC236}">
                <a16:creationId xmlns:a16="http://schemas.microsoft.com/office/drawing/2014/main" id="{D8E4AC67-39F2-9146-9438-5C29141E84EC}"/>
              </a:ext>
            </a:extLst>
          </p:cNvPr>
          <p:cNvSpPr/>
          <p:nvPr>
            <p:custDataLst>
              <p:tags r:id="rId5"/>
            </p:custDataLst>
          </p:nvPr>
        </p:nvSpPr>
        <p:spPr>
          <a:xfrm>
            <a:off x="6227138" y="3956427"/>
            <a:ext cx="2533355" cy="430530"/>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 altLang="zh-CN" b="1">
                <a:latin typeface="Arial" panose="020B0604020202020204" pitchFamily="34" charset="0"/>
                <a:ea typeface="STKaiti" panose="02010600040101010101" pitchFamily="2" charset="-122"/>
                <a:cs typeface="Arial" panose="020B0604020202020204" pitchFamily="34" charset="0"/>
              </a:rPr>
              <a:t>objective</a:t>
            </a:r>
            <a:endParaRPr lang="en-US" altLang="zh-CN" b="1" dirty="0">
              <a:latin typeface="Arial" panose="020B0604020202020204" pitchFamily="34" charset="0"/>
              <a:ea typeface="STKaiti" panose="02010600040101010101" pitchFamily="2" charset="-122"/>
              <a:cs typeface="Arial" panose="020B0604020202020204" pitchFamily="34" charset="0"/>
              <a:sym typeface="+mn-lt"/>
            </a:endParaRPr>
          </a:p>
        </p:txBody>
      </p:sp>
      <p:pic>
        <p:nvPicPr>
          <p:cNvPr id="80" name="图片 79">
            <a:extLst>
              <a:ext uri="{FF2B5EF4-FFF2-40B4-BE49-F238E27FC236}">
                <a16:creationId xmlns:a16="http://schemas.microsoft.com/office/drawing/2014/main" id="{04FAD662-5E50-BA42-B723-AB89DD6E2245}"/>
              </a:ext>
            </a:extLst>
          </p:cNvPr>
          <p:cNvPicPr>
            <a:picLocks noChangeAspect="1"/>
          </p:cNvPicPr>
          <p:nvPr/>
        </p:nvPicPr>
        <p:blipFill>
          <a:blip r:embed="rId13"/>
          <a:stretch>
            <a:fillRect/>
          </a:stretch>
        </p:blipFill>
        <p:spPr>
          <a:xfrm>
            <a:off x="7132320" y="5384800"/>
            <a:ext cx="3403346" cy="912113"/>
          </a:xfrm>
          <a:prstGeom prst="rect">
            <a:avLst/>
          </a:prstGeom>
        </p:spPr>
      </p:pic>
    </p:spTree>
    <p:extLst>
      <p:ext uri="{BB962C8B-B14F-4D97-AF65-F5344CB8AC3E}">
        <p14:creationId xmlns:p14="http://schemas.microsoft.com/office/powerpoint/2010/main" val="31818103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8217" y="1"/>
            <a:ext cx="7834767" cy="803086"/>
          </a:xfrm>
        </p:spPr>
        <p:txBody>
          <a:bodyPr>
            <a:normAutofit/>
          </a:bodyPr>
          <a:lstStyle/>
          <a:p>
            <a:pPr algn="just" hangingPunct="0">
              <a:lnSpc>
                <a:spcPct val="100000"/>
              </a:lnSpc>
            </a:pPr>
            <a:r>
              <a:rPr lang="en-US" altLang="zh-CN" sz="2800" b="1" dirty="0">
                <a:ea typeface="STKaiti" panose="02010600040101010101" pitchFamily="2" charset="-122"/>
                <a:sym typeface="+mn-lt"/>
              </a:rPr>
              <a:t>Classical Solvin</a:t>
            </a:r>
            <a:r>
              <a:rPr lang="en-US" altLang="zh-CN" sz="2800" dirty="0">
                <a:ea typeface="STKaiti" panose="02010600040101010101" pitchFamily="2" charset="-122"/>
                <a:sym typeface="+mn-lt"/>
              </a:rPr>
              <a:t>g Methods</a:t>
            </a:r>
            <a:endParaRPr lang="zh-CN" altLang="en-US" sz="2800" b="1" dirty="0">
              <a:ea typeface="STKaiti" panose="02010600040101010101" pitchFamily="2" charset="-122"/>
              <a:sym typeface="+mn-lt"/>
            </a:endParaRPr>
          </a:p>
        </p:txBody>
      </p:sp>
      <p:sp>
        <p:nvSpPr>
          <p:cNvPr id="15" name="左右箭头 14"/>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02" name="矩形: 圆角 10">
                <a:extLst>
                  <a:ext uri="{FF2B5EF4-FFF2-40B4-BE49-F238E27FC236}">
                    <a16:creationId xmlns:a16="http://schemas.microsoft.com/office/drawing/2014/main" id="{DC0EF71C-668A-2F47-BCE4-7C65BFA5344F}"/>
                  </a:ext>
                </a:extLst>
              </p:cNvPr>
              <p:cNvSpPr/>
              <p:nvPr/>
            </p:nvSpPr>
            <p:spPr>
              <a:xfrm>
                <a:off x="695325" y="4778941"/>
                <a:ext cx="5229987" cy="1036644"/>
              </a:xfrm>
              <a:prstGeom prst="rect">
                <a:avLst/>
              </a:prstGeom>
              <a:solidFill>
                <a:schemeClr val="bg2">
                  <a:lumMod val="90000"/>
                </a:schemeClr>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nSpc>
                    <a:spcPct val="150000"/>
                  </a:lnSpc>
                </a:pPr>
                <a:r>
                  <a:rPr lang="en" altLang="zh-CN" dirty="0">
                    <a:solidFill>
                      <a:schemeClr val="tx1"/>
                    </a:solidFill>
                    <a:latin typeface="Arial" panose="020B0604020202020204" pitchFamily="34" charset="0"/>
                    <a:ea typeface="STKaiti" panose="02010600040101010101" pitchFamily="2" charset="-122"/>
                    <a:cs typeface="Arial" panose="020B0604020202020204" pitchFamily="34" charset="0"/>
                  </a:rPr>
                  <a:t>Solving constraint optimization problems of any form, with </a:t>
                </a:r>
                <a:r>
                  <a:rPr lang="en" altLang="zh-CN" dirty="0">
                    <a:solidFill>
                      <a:srgbClr val="FF0000"/>
                    </a:solidFill>
                    <a:latin typeface="Arial" panose="020B0604020202020204" pitchFamily="34" charset="0"/>
                    <a:ea typeface="STKaiti" panose="02010600040101010101" pitchFamily="2" charset="-122"/>
                    <a:cs typeface="Arial" panose="020B0604020202020204" pitchFamily="34" charset="0"/>
                  </a:rPr>
                  <a:t>a worst-case complexity of </a:t>
                </a:r>
                <a14:m>
                  <m:oMath xmlns:m="http://schemas.openxmlformats.org/officeDocument/2006/math">
                    <m:sSup>
                      <m:sSupPr>
                        <m:ctrlPr>
                          <a:rPr lang="en" altLang="zh-CN" i="1" dirty="0" smtClean="0">
                            <a:solidFill>
                              <a:srgbClr val="FF0000"/>
                            </a:solidFill>
                            <a:latin typeface="Cambria Math" panose="02040503050406030204" pitchFamily="18" charset="0"/>
                            <a:ea typeface="STKaiti" panose="02010600040101010101" pitchFamily="2" charset="-122"/>
                            <a:cs typeface="Arial" panose="020B0604020202020204" pitchFamily="34" charset="0"/>
                          </a:rPr>
                        </m:ctrlPr>
                      </m:sSupPr>
                      <m:e>
                        <m:r>
                          <a:rPr lang="en" altLang="zh-CN" i="1" dirty="0" smtClean="0">
                            <a:solidFill>
                              <a:srgbClr val="FF0000"/>
                            </a:solidFill>
                            <a:latin typeface="Cambria Math" panose="02040503050406030204" pitchFamily="18" charset="0"/>
                            <a:ea typeface="STKaiti" panose="02010600040101010101" pitchFamily="2" charset="-122"/>
                            <a:cs typeface="Arial" panose="020B0604020202020204" pitchFamily="34" charset="0"/>
                          </a:rPr>
                          <m:t>2</m:t>
                        </m:r>
                      </m:e>
                      <m:sup>
                        <m:r>
                          <a:rPr lang="en" altLang="zh-CN" i="1" dirty="0" smtClean="0">
                            <a:solidFill>
                              <a:srgbClr val="FF0000"/>
                            </a:solidFill>
                            <a:latin typeface="Cambria Math" panose="02040503050406030204" pitchFamily="18" charset="0"/>
                            <a:ea typeface="STKaiti" panose="02010600040101010101" pitchFamily="2" charset="-122"/>
                            <a:cs typeface="Arial" panose="020B0604020202020204" pitchFamily="34" charset="0"/>
                          </a:rPr>
                          <m:t>𝑛</m:t>
                        </m:r>
                      </m:sup>
                    </m:sSup>
                  </m:oMath>
                </a14:m>
                <a:r>
                  <a:rPr lang="en" altLang="zh-CN" dirty="0">
                    <a:solidFill>
                      <a:srgbClr val="FF0000"/>
                    </a:solidFill>
                    <a:latin typeface="Arial" panose="020B0604020202020204" pitchFamily="34" charset="0"/>
                    <a:ea typeface="STKaiti" panose="02010600040101010101" pitchFamily="2" charset="-122"/>
                    <a:cs typeface="Arial" panose="020B0604020202020204" pitchFamily="34" charset="0"/>
                  </a:rPr>
                  <a:t>.</a:t>
                </a:r>
                <a:endParaRPr lang="zh-CN" altLang="en-US" dirty="0">
                  <a:solidFill>
                    <a:schemeClr val="tx1"/>
                  </a:solidFill>
                  <a:latin typeface="Arial" panose="020B0604020202020204" pitchFamily="34" charset="0"/>
                  <a:ea typeface="STKaiti" panose="02010600040101010101" pitchFamily="2" charset="-122"/>
                  <a:cs typeface="Arial" panose="020B0604020202020204" pitchFamily="34" charset="0"/>
                </a:endParaRPr>
              </a:p>
            </p:txBody>
          </p:sp>
        </mc:Choice>
        <mc:Fallback xmlns="">
          <p:sp>
            <p:nvSpPr>
              <p:cNvPr id="202" name="矩形: 圆角 10">
                <a:extLst>
                  <a:ext uri="{FF2B5EF4-FFF2-40B4-BE49-F238E27FC236}">
                    <a16:creationId xmlns:a16="http://schemas.microsoft.com/office/drawing/2014/main" id="{DC0EF71C-668A-2F47-BCE4-7C65BFA5344F}"/>
                  </a:ext>
                </a:extLst>
              </p:cNvPr>
              <p:cNvSpPr>
                <a:spLocks noRot="1" noChangeAspect="1" noMove="1" noResize="1" noEditPoints="1" noAdjustHandles="1" noChangeArrowheads="1" noChangeShapeType="1" noTextEdit="1"/>
              </p:cNvSpPr>
              <p:nvPr/>
            </p:nvSpPr>
            <p:spPr>
              <a:xfrm>
                <a:off x="695325" y="4778941"/>
                <a:ext cx="5229987" cy="1036644"/>
              </a:xfrm>
              <a:prstGeom prst="rect">
                <a:avLst/>
              </a:prstGeom>
              <a:blipFill>
                <a:blip r:embed="rId4"/>
                <a:stretch>
                  <a:fillRect/>
                </a:stretch>
              </a:blip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p:spPr>
            <p:txBody>
              <a:bodyPr/>
              <a:lstStyle/>
              <a:p>
                <a:r>
                  <a:rPr lang="zh-CN" altLang="en-US">
                    <a:noFill/>
                  </a:rPr>
                  <a:t> </a:t>
                </a:r>
              </a:p>
            </p:txBody>
          </p:sp>
        </mc:Fallback>
      </mc:AlternateContent>
      <p:sp>
        <p:nvSpPr>
          <p:cNvPr id="204" name="矩形 203">
            <a:extLst>
              <a:ext uri="{FF2B5EF4-FFF2-40B4-BE49-F238E27FC236}">
                <a16:creationId xmlns:a16="http://schemas.microsoft.com/office/drawing/2014/main" id="{19625477-F997-6146-A230-796E7196045B}"/>
              </a:ext>
            </a:extLst>
          </p:cNvPr>
          <p:cNvSpPr/>
          <p:nvPr/>
        </p:nvSpPr>
        <p:spPr>
          <a:xfrm>
            <a:off x="7144953" y="975081"/>
            <a:ext cx="2927301" cy="475131"/>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en" altLang="zh-CN">
                <a:solidFill>
                  <a:schemeClr val="bg1"/>
                </a:solidFill>
                <a:latin typeface="Inter"/>
              </a:rPr>
              <a:t>Approximation algorithms</a:t>
            </a:r>
            <a:endParaRPr lang="en-US" altLang="zh-CN" dirty="0">
              <a:solidFill>
                <a:schemeClr val="bg1"/>
              </a:solidFill>
              <a:latin typeface="Inter"/>
            </a:endParaRPr>
          </a:p>
        </p:txBody>
      </p:sp>
      <p:sp>
        <p:nvSpPr>
          <p:cNvPr id="205" name="矩形: 圆角 10">
            <a:extLst>
              <a:ext uri="{FF2B5EF4-FFF2-40B4-BE49-F238E27FC236}">
                <a16:creationId xmlns:a16="http://schemas.microsoft.com/office/drawing/2014/main" id="{1CD440B7-8718-AD41-B0C8-4403EEE07F73}"/>
              </a:ext>
            </a:extLst>
          </p:cNvPr>
          <p:cNvSpPr/>
          <p:nvPr/>
        </p:nvSpPr>
        <p:spPr>
          <a:xfrm>
            <a:off x="6243145" y="4767072"/>
            <a:ext cx="5412827" cy="1048512"/>
          </a:xfrm>
          <a:prstGeom prst="rect">
            <a:avLst/>
          </a:prstGeom>
          <a:solidFill>
            <a:schemeClr val="bg2">
              <a:lumMod val="90000"/>
            </a:schemeClr>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nSpc>
                <a:spcPct val="150000"/>
              </a:lnSpc>
            </a:pPr>
            <a:r>
              <a:rPr lang="en" altLang="zh-CN" dirty="0">
                <a:solidFill>
                  <a:schemeClr val="tx1"/>
                </a:solidFill>
                <a:latin typeface="Arial" panose="020B0604020202020204" pitchFamily="34" charset="0"/>
                <a:ea typeface="STKaiti" panose="02010600040101010101" pitchFamily="2" charset="-122"/>
                <a:cs typeface="Arial" panose="020B0604020202020204" pitchFamily="34" charset="0"/>
              </a:rPr>
              <a:t>Need artificially designed for particular problems. No guarantee for global optimality.</a:t>
            </a:r>
          </a:p>
        </p:txBody>
      </p:sp>
      <p:pic>
        <p:nvPicPr>
          <p:cNvPr id="207" name="图片 206">
            <a:extLst>
              <a:ext uri="{FF2B5EF4-FFF2-40B4-BE49-F238E27FC236}">
                <a16:creationId xmlns:a16="http://schemas.microsoft.com/office/drawing/2014/main" id="{75DBB5AC-BCE0-484A-A326-D7DFC4B6FF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03008" y="1870957"/>
            <a:ext cx="3379208" cy="1897633"/>
          </a:xfrm>
          <a:prstGeom prst="rect">
            <a:avLst/>
          </a:prstGeom>
        </p:spPr>
      </p:pic>
      <p:cxnSp>
        <p:nvCxnSpPr>
          <p:cNvPr id="208" name="直线箭头连接符 207">
            <a:extLst>
              <a:ext uri="{FF2B5EF4-FFF2-40B4-BE49-F238E27FC236}">
                <a16:creationId xmlns:a16="http://schemas.microsoft.com/office/drawing/2014/main" id="{54D5F8EC-ED14-5043-B063-4EF1A3F569BD}"/>
              </a:ext>
            </a:extLst>
          </p:cNvPr>
          <p:cNvCxnSpPr>
            <a:cxnSpLocks/>
          </p:cNvCxnSpPr>
          <p:nvPr/>
        </p:nvCxnSpPr>
        <p:spPr bwMode="auto">
          <a:xfrm>
            <a:off x="7114622" y="3775057"/>
            <a:ext cx="3628103" cy="0"/>
          </a:xfrm>
          <a:prstGeom prst="straightConnector1">
            <a:avLst/>
          </a:prstGeom>
          <a:ln w="25400">
            <a:solidFill>
              <a:schemeClr val="tx1">
                <a:lumMod val="65000"/>
                <a:lumOff val="35000"/>
              </a:schemeClr>
            </a:solidFill>
            <a:headEnd type="none" w="med" len="med"/>
            <a:tailEnd type="triangle"/>
          </a:ln>
        </p:spPr>
        <p:style>
          <a:lnRef idx="1">
            <a:schemeClr val="dk1"/>
          </a:lnRef>
          <a:fillRef idx="0">
            <a:schemeClr val="dk1"/>
          </a:fillRef>
          <a:effectRef idx="0">
            <a:schemeClr val="dk1"/>
          </a:effectRef>
          <a:fontRef idx="minor">
            <a:schemeClr val="tx1"/>
          </a:fontRef>
        </p:style>
      </p:cxnSp>
      <p:sp>
        <p:nvSpPr>
          <p:cNvPr id="209" name="文本框 208">
            <a:extLst>
              <a:ext uri="{FF2B5EF4-FFF2-40B4-BE49-F238E27FC236}">
                <a16:creationId xmlns:a16="http://schemas.microsoft.com/office/drawing/2014/main" id="{A1C4BFD7-088E-2043-BDBF-3F1C3C9D719D}"/>
              </a:ext>
            </a:extLst>
          </p:cNvPr>
          <p:cNvSpPr txBox="1"/>
          <p:nvPr/>
        </p:nvSpPr>
        <p:spPr>
          <a:xfrm>
            <a:off x="6690629" y="3856123"/>
            <a:ext cx="4806045" cy="646331"/>
          </a:xfrm>
          <a:prstGeom prst="rect">
            <a:avLst/>
          </a:prstGeom>
          <a:noFill/>
        </p:spPr>
        <p:txBody>
          <a:bodyPr wrap="square" rtlCol="0">
            <a:spAutoFit/>
          </a:bodyPr>
          <a:lstStyle/>
          <a:p>
            <a:r>
              <a:rPr lang="en" altLang="zh-CN" b="0" i="0" dirty="0">
                <a:solidFill>
                  <a:srgbClr val="404040"/>
                </a:solidFill>
                <a:effectLst/>
                <a:latin typeface="Inter"/>
              </a:rPr>
              <a:t>Color the vertices sequentially, ensuring that adjacent vertices are assigned different colors.</a:t>
            </a:r>
            <a:endParaRPr kumimoji="1" lang="zh-CN" altLang="en-US" dirty="0"/>
          </a:p>
        </p:txBody>
      </p:sp>
      <p:pic>
        <p:nvPicPr>
          <p:cNvPr id="210" name="图片 209">
            <a:extLst>
              <a:ext uri="{FF2B5EF4-FFF2-40B4-BE49-F238E27FC236}">
                <a16:creationId xmlns:a16="http://schemas.microsoft.com/office/drawing/2014/main" id="{49B82B9F-FE8C-2A4C-A1FA-38A10D5B3F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8800" y="1923717"/>
            <a:ext cx="3759200" cy="2667000"/>
          </a:xfrm>
          <a:prstGeom prst="rect">
            <a:avLst/>
          </a:prstGeom>
        </p:spPr>
      </p:pic>
      <p:cxnSp>
        <p:nvCxnSpPr>
          <p:cNvPr id="211" name="直线箭头连接符 210">
            <a:extLst>
              <a:ext uri="{FF2B5EF4-FFF2-40B4-BE49-F238E27FC236}">
                <a16:creationId xmlns:a16="http://schemas.microsoft.com/office/drawing/2014/main" id="{279E7623-0AA4-5544-B53F-12EBAF6C8437}"/>
              </a:ext>
            </a:extLst>
          </p:cNvPr>
          <p:cNvCxnSpPr>
            <a:cxnSpLocks/>
          </p:cNvCxnSpPr>
          <p:nvPr/>
        </p:nvCxnSpPr>
        <p:spPr bwMode="auto">
          <a:xfrm>
            <a:off x="4310319" y="2186084"/>
            <a:ext cx="0" cy="2212547"/>
          </a:xfrm>
          <a:prstGeom prst="straightConnector1">
            <a:avLst/>
          </a:prstGeom>
          <a:ln w="25400">
            <a:solidFill>
              <a:schemeClr val="tx1">
                <a:lumMod val="65000"/>
                <a:lumOff val="35000"/>
              </a:schemeClr>
            </a:solidFill>
            <a:headEnd type="none" w="med" len="med"/>
            <a:tailEnd type="triangle"/>
          </a:ln>
        </p:spPr>
        <p:style>
          <a:lnRef idx="1">
            <a:schemeClr val="dk1"/>
          </a:lnRef>
          <a:fillRef idx="0">
            <a:schemeClr val="dk1"/>
          </a:fillRef>
          <a:effectRef idx="0">
            <a:schemeClr val="dk1"/>
          </a:effectRef>
          <a:fontRef idx="minor">
            <a:schemeClr val="tx1"/>
          </a:fontRef>
        </p:style>
      </p:cxnSp>
      <p:sp>
        <p:nvSpPr>
          <p:cNvPr id="212" name="文本框 211">
            <a:extLst>
              <a:ext uri="{FF2B5EF4-FFF2-40B4-BE49-F238E27FC236}">
                <a16:creationId xmlns:a16="http://schemas.microsoft.com/office/drawing/2014/main" id="{EA5EFA6B-A44E-2C44-AAEA-4C132ADB22DA}"/>
              </a:ext>
            </a:extLst>
          </p:cNvPr>
          <p:cNvSpPr txBox="1"/>
          <p:nvPr/>
        </p:nvSpPr>
        <p:spPr>
          <a:xfrm>
            <a:off x="4468063" y="2511524"/>
            <a:ext cx="1627937" cy="1200329"/>
          </a:xfrm>
          <a:prstGeom prst="rect">
            <a:avLst/>
          </a:prstGeom>
          <a:noFill/>
        </p:spPr>
        <p:txBody>
          <a:bodyPr wrap="square" rtlCol="0">
            <a:spAutoFit/>
          </a:bodyPr>
          <a:lstStyle/>
          <a:p>
            <a:r>
              <a:rPr lang="en" altLang="zh-CN" b="0" i="0" dirty="0">
                <a:solidFill>
                  <a:srgbClr val="404040"/>
                </a:solidFill>
                <a:effectLst/>
                <a:latin typeface="Inter"/>
              </a:rPr>
              <a:t>Construct a binary tree based on the variable values.</a:t>
            </a:r>
            <a:endParaRPr kumimoji="1" lang="zh-CN" altLang="en-US" dirty="0"/>
          </a:p>
        </p:txBody>
      </p:sp>
      <p:sp>
        <p:nvSpPr>
          <p:cNvPr id="213" name="文本框 212">
            <a:extLst>
              <a:ext uri="{FF2B5EF4-FFF2-40B4-BE49-F238E27FC236}">
                <a16:creationId xmlns:a16="http://schemas.microsoft.com/office/drawing/2014/main" id="{5663643F-B331-5847-B86C-B002D569F7AE}"/>
              </a:ext>
            </a:extLst>
          </p:cNvPr>
          <p:cNvSpPr txBox="1"/>
          <p:nvPr/>
        </p:nvSpPr>
        <p:spPr>
          <a:xfrm>
            <a:off x="695325" y="6033990"/>
            <a:ext cx="10192131" cy="400110"/>
          </a:xfrm>
          <a:prstGeom prst="rect">
            <a:avLst/>
          </a:prstGeom>
          <a:noFill/>
        </p:spPr>
        <p:txBody>
          <a:bodyPr wrap="square">
            <a:spAutoFit/>
          </a:bodyPr>
          <a:lstStyle/>
          <a:p>
            <a:r>
              <a:rPr lang="en" altLang="zh-CN" sz="2000" b="0" i="0" dirty="0">
                <a:solidFill>
                  <a:srgbClr val="C00000"/>
                </a:solidFill>
                <a:effectLst/>
                <a:latin typeface="Inter"/>
              </a:rPr>
              <a:t>NP-Hard problem</a:t>
            </a:r>
            <a:r>
              <a:rPr lang="en" altLang="zh-CN" sz="2000" b="0" i="0" dirty="0">
                <a:solidFill>
                  <a:srgbClr val="404040"/>
                </a:solidFill>
                <a:effectLst/>
                <a:latin typeface="Inter"/>
              </a:rPr>
              <a:t>, and the classical algorithms for exact solutions have </a:t>
            </a:r>
            <a:r>
              <a:rPr lang="en" altLang="zh-CN" sz="2000" b="0" i="0" dirty="0">
                <a:solidFill>
                  <a:srgbClr val="C00000"/>
                </a:solidFill>
                <a:effectLst/>
                <a:latin typeface="Inter"/>
              </a:rPr>
              <a:t>exponential complexity.</a:t>
            </a:r>
            <a:endParaRPr lang="zh-CN" altLang="en-US" sz="2000" dirty="0">
              <a:solidFill>
                <a:srgbClr val="C00000"/>
              </a:solidFill>
            </a:endParaRPr>
          </a:p>
        </p:txBody>
      </p:sp>
      <p:sp>
        <p:nvSpPr>
          <p:cNvPr id="214" name="矩形 213">
            <a:extLst>
              <a:ext uri="{FF2B5EF4-FFF2-40B4-BE49-F238E27FC236}">
                <a16:creationId xmlns:a16="http://schemas.microsoft.com/office/drawing/2014/main" id="{D50EBCD2-AF85-3B45-8BA0-E5900AE74B1C}"/>
              </a:ext>
            </a:extLst>
          </p:cNvPr>
          <p:cNvSpPr/>
          <p:nvPr>
            <p:custDataLst>
              <p:tags r:id="rId1"/>
            </p:custDataLst>
          </p:nvPr>
        </p:nvSpPr>
        <p:spPr>
          <a:xfrm>
            <a:off x="1728290" y="999743"/>
            <a:ext cx="2533355" cy="428167"/>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en" altLang="zh-CN" b="0" i="0" dirty="0">
                <a:solidFill>
                  <a:schemeClr val="bg1"/>
                </a:solidFill>
                <a:effectLst/>
                <a:latin typeface="Inter"/>
              </a:rPr>
              <a:t>Exact algorithms</a:t>
            </a:r>
            <a:endParaRPr lang="en-US" altLang="zh-CN" b="1" dirty="0">
              <a:solidFill>
                <a:schemeClr val="bg1"/>
              </a:solidFill>
              <a:latin typeface="Arial" panose="020B0604020202020204" pitchFamily="34" charset="0"/>
              <a:ea typeface="STKaiti" panose="02010600040101010101" pitchFamily="2" charset="-122"/>
              <a:cs typeface="Arial" panose="020B0604020202020204" pitchFamily="34" charset="0"/>
              <a:sym typeface="+mn-lt"/>
            </a:endParaRPr>
          </a:p>
        </p:txBody>
      </p:sp>
      <p:sp>
        <p:nvSpPr>
          <p:cNvPr id="215" name="文本框 214">
            <a:extLst>
              <a:ext uri="{FF2B5EF4-FFF2-40B4-BE49-F238E27FC236}">
                <a16:creationId xmlns:a16="http://schemas.microsoft.com/office/drawing/2014/main" id="{FE0DCE5A-B044-F742-84B0-06C9A67AC9DF}"/>
              </a:ext>
            </a:extLst>
          </p:cNvPr>
          <p:cNvSpPr txBox="1"/>
          <p:nvPr/>
        </p:nvSpPr>
        <p:spPr>
          <a:xfrm>
            <a:off x="695325" y="1619750"/>
            <a:ext cx="3132963" cy="369332"/>
          </a:xfrm>
          <a:prstGeom prst="rect">
            <a:avLst/>
          </a:prstGeom>
          <a:noFill/>
        </p:spPr>
        <p:txBody>
          <a:bodyPr wrap="square">
            <a:spAutoFit/>
          </a:bodyPr>
          <a:lstStyle/>
          <a:p>
            <a:r>
              <a:rPr lang="en" altLang="zh-CN" b="0" i="0" dirty="0">
                <a:solidFill>
                  <a:srgbClr val="404040"/>
                </a:solidFill>
                <a:effectLst/>
                <a:latin typeface="Inter"/>
              </a:rPr>
              <a:t> branch and bound method.</a:t>
            </a:r>
            <a:endParaRPr lang="zh-CN" altLang="en-US" dirty="0"/>
          </a:p>
        </p:txBody>
      </p:sp>
      <p:sp>
        <p:nvSpPr>
          <p:cNvPr id="216" name="文本框 215">
            <a:extLst>
              <a:ext uri="{FF2B5EF4-FFF2-40B4-BE49-F238E27FC236}">
                <a16:creationId xmlns:a16="http://schemas.microsoft.com/office/drawing/2014/main" id="{851F8F52-0765-FB42-A4AB-1039FD916E97}"/>
              </a:ext>
            </a:extLst>
          </p:cNvPr>
          <p:cNvSpPr txBox="1"/>
          <p:nvPr/>
        </p:nvSpPr>
        <p:spPr>
          <a:xfrm>
            <a:off x="6553581" y="1601462"/>
            <a:ext cx="1858899" cy="369332"/>
          </a:xfrm>
          <a:prstGeom prst="rect">
            <a:avLst/>
          </a:prstGeom>
          <a:noFill/>
        </p:spPr>
        <p:txBody>
          <a:bodyPr wrap="square">
            <a:spAutoFit/>
          </a:bodyPr>
          <a:lstStyle/>
          <a:p>
            <a:r>
              <a:rPr lang="en" altLang="zh-CN" b="0" i="0" dirty="0">
                <a:solidFill>
                  <a:srgbClr val="404040"/>
                </a:solidFill>
                <a:effectLst/>
                <a:latin typeface="Inter"/>
              </a:rPr>
              <a:t> greedy method</a:t>
            </a:r>
            <a:endParaRPr lang="zh-CN" altLang="en-US" dirty="0"/>
          </a:p>
        </p:txBody>
      </p:sp>
    </p:spTree>
    <p:extLst>
      <p:ext uri="{BB962C8B-B14F-4D97-AF65-F5344CB8AC3E}">
        <p14:creationId xmlns:p14="http://schemas.microsoft.com/office/powerpoint/2010/main" val="31576263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8217" y="1"/>
            <a:ext cx="8182591" cy="803086"/>
          </a:xfrm>
        </p:spPr>
        <p:txBody>
          <a:bodyPr>
            <a:normAutofit/>
          </a:bodyPr>
          <a:lstStyle/>
          <a:p>
            <a:pPr algn="just" hangingPunct="0">
              <a:lnSpc>
                <a:spcPct val="100000"/>
              </a:lnSpc>
            </a:pPr>
            <a:r>
              <a:rPr lang="en-US" altLang="zh-CN" sz="2800" b="1" dirty="0">
                <a:ea typeface="STKaiti" panose="02010600040101010101" pitchFamily="2" charset="-122"/>
                <a:sym typeface="+mn-lt"/>
              </a:rPr>
              <a:t>Quantum approximation optimization algorithm</a:t>
            </a:r>
            <a:endParaRPr lang="zh-CN" altLang="en-US" sz="2800" b="1" dirty="0">
              <a:ea typeface="STKaiti" panose="02010600040101010101" pitchFamily="2" charset="-122"/>
              <a:sym typeface="+mn-lt"/>
            </a:endParaRPr>
          </a:p>
        </p:txBody>
      </p:sp>
      <p:sp>
        <p:nvSpPr>
          <p:cNvPr id="15" name="左右箭头 14"/>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67" name="文本框 166">
            <a:extLst>
              <a:ext uri="{FF2B5EF4-FFF2-40B4-BE49-F238E27FC236}">
                <a16:creationId xmlns:a16="http://schemas.microsoft.com/office/drawing/2014/main" id="{E0D6A923-CDC4-FA48-847A-17F351C9070C}"/>
              </a:ext>
            </a:extLst>
          </p:cNvPr>
          <p:cNvSpPr txBox="1"/>
          <p:nvPr/>
        </p:nvSpPr>
        <p:spPr>
          <a:xfrm>
            <a:off x="12216074" y="1454771"/>
            <a:ext cx="503160" cy="1200329"/>
          </a:xfrm>
          <a:prstGeom prst="rect">
            <a:avLst/>
          </a:prstGeom>
          <a:noFill/>
        </p:spPr>
        <p:txBody>
          <a:bodyPr wrap="square">
            <a:spAutoFit/>
          </a:bodyPr>
          <a:lstStyle/>
          <a:p>
            <a:r>
              <a:rPr kumimoji="1" lang="zh-CN" altLang="en-US" dirty="0"/>
              <a:t>绝热演化</a:t>
            </a:r>
            <a:endParaRPr lang="zh-CN" altLang="en-US" dirty="0"/>
          </a:p>
        </p:txBody>
      </p:sp>
      <p:sp>
        <p:nvSpPr>
          <p:cNvPr id="168" name="文本框 167">
            <a:extLst>
              <a:ext uri="{FF2B5EF4-FFF2-40B4-BE49-F238E27FC236}">
                <a16:creationId xmlns:a16="http://schemas.microsoft.com/office/drawing/2014/main" id="{5031872B-EFFD-6042-993A-D6B376E9B5CD}"/>
              </a:ext>
            </a:extLst>
          </p:cNvPr>
          <p:cNvSpPr txBox="1"/>
          <p:nvPr/>
        </p:nvSpPr>
        <p:spPr>
          <a:xfrm>
            <a:off x="864996" y="1611705"/>
            <a:ext cx="2102909" cy="360737"/>
          </a:xfrm>
          <a:prstGeom prst="rect">
            <a:avLst/>
          </a:prstGeom>
          <a:solidFill>
            <a:schemeClr val="bg2">
              <a:lumMod val="90000"/>
            </a:schemeClr>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nSpc>
                <a:spcPct val="150000"/>
              </a:lnSpc>
              <a:defRPr>
                <a:latin typeface="Arial" panose="020B0604020202020204" pitchFamily="34" charset="0"/>
                <a:ea typeface="STKaiti" panose="02010600040101010101" pitchFamily="2"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r>
              <a:rPr lang="en-US" altLang="zh-CN" dirty="0">
                <a:solidFill>
                  <a:schemeClr val="tx1"/>
                </a:solidFill>
              </a:rPr>
              <a:t>Driver Hamiltonian</a:t>
            </a:r>
            <a:endParaRPr lang="zh-CN" altLang="en-US" dirty="0">
              <a:solidFill>
                <a:schemeClr val="tx1"/>
              </a:solidFill>
            </a:endParaRPr>
          </a:p>
        </p:txBody>
      </p:sp>
      <p:sp>
        <p:nvSpPr>
          <p:cNvPr id="169" name="文本框 168">
            <a:extLst>
              <a:ext uri="{FF2B5EF4-FFF2-40B4-BE49-F238E27FC236}">
                <a16:creationId xmlns:a16="http://schemas.microsoft.com/office/drawing/2014/main" id="{41A6D014-2828-4D46-B829-D2B4D816891E}"/>
              </a:ext>
            </a:extLst>
          </p:cNvPr>
          <p:cNvSpPr txBox="1"/>
          <p:nvPr/>
        </p:nvSpPr>
        <p:spPr>
          <a:xfrm>
            <a:off x="6787738" y="1607407"/>
            <a:ext cx="2439225" cy="369332"/>
          </a:xfrm>
          <a:prstGeom prst="rect">
            <a:avLst/>
          </a:prstGeom>
          <a:solidFill>
            <a:schemeClr val="bg2">
              <a:lumMod val="90000"/>
            </a:schemeClr>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nSpc>
                <a:spcPct val="100000"/>
              </a:lnSpc>
              <a:defRPr>
                <a:solidFill>
                  <a:schemeClr val="lt1"/>
                </a:solidFill>
                <a:latin typeface="Arial" panose="020B0604020202020204" pitchFamily="34" charset="0"/>
                <a:ea typeface="STKaiti" panose="02010600040101010101" pitchFamily="2"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olidFill>
                  <a:schemeClr val="tx1"/>
                </a:solidFill>
              </a:rPr>
              <a:t>Objective Hamiltonian</a:t>
            </a:r>
            <a:endParaRPr lang="zh-CN" altLang="en-US" dirty="0">
              <a:solidFill>
                <a:schemeClr val="tx1"/>
              </a:solidFill>
            </a:endParaRPr>
          </a:p>
        </p:txBody>
      </p:sp>
      <p:pic>
        <p:nvPicPr>
          <p:cNvPr id="9" name="图片 8">
            <a:extLst>
              <a:ext uri="{FF2B5EF4-FFF2-40B4-BE49-F238E27FC236}">
                <a16:creationId xmlns:a16="http://schemas.microsoft.com/office/drawing/2014/main" id="{CAD52CA0-5025-B44A-9989-27A515541EAE}"/>
              </a:ext>
            </a:extLst>
          </p:cNvPr>
          <p:cNvPicPr>
            <a:picLocks noChangeAspect="1"/>
          </p:cNvPicPr>
          <p:nvPr/>
        </p:nvPicPr>
        <p:blipFill>
          <a:blip r:embed="rId5"/>
          <a:stretch>
            <a:fillRect/>
          </a:stretch>
        </p:blipFill>
        <p:spPr>
          <a:xfrm>
            <a:off x="1805289" y="3594506"/>
            <a:ext cx="8834906" cy="3154922"/>
          </a:xfrm>
          <a:prstGeom prst="rect">
            <a:avLst/>
          </a:prstGeom>
        </p:spPr>
      </p:pic>
      <p:pic>
        <p:nvPicPr>
          <p:cNvPr id="1034" name="Picture 10" descr="Annealing process's energy diagram shows raising the energy barrier for a single qubit, resulting in a 50/50 probability of ending in a classical state of 0 or 1.">
            <a:extLst>
              <a:ext uri="{FF2B5EF4-FFF2-40B4-BE49-F238E27FC236}">
                <a16:creationId xmlns:a16="http://schemas.microsoft.com/office/drawing/2014/main" id="{966C5B7B-BB28-134C-B3A0-0FD033BE49B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7587" r="6579"/>
          <a:stretch/>
        </p:blipFill>
        <p:spPr bwMode="auto">
          <a:xfrm>
            <a:off x="3117136" y="1325178"/>
            <a:ext cx="1300767" cy="1726251"/>
          </a:xfrm>
          <a:prstGeom prst="rect">
            <a:avLst/>
          </a:prstGeom>
          <a:noFill/>
          <a:extLst>
            <a:ext uri="{909E8E84-426E-40DD-AFC4-6F175D3DCCD1}">
              <a14:hiddenFill xmlns:a14="http://schemas.microsoft.com/office/drawing/2010/main">
                <a:solidFill>
                  <a:srgbClr val="FFFFFF"/>
                </a:solidFill>
              </a14:hiddenFill>
            </a:ext>
          </a:extLst>
        </p:spPr>
      </p:pic>
      <p:sp>
        <p:nvSpPr>
          <p:cNvPr id="171" name="矩形 170">
            <a:extLst>
              <a:ext uri="{FF2B5EF4-FFF2-40B4-BE49-F238E27FC236}">
                <a16:creationId xmlns:a16="http://schemas.microsoft.com/office/drawing/2014/main" id="{AA7D9CC0-B2AD-434D-A39F-1E69C8C2FFE6}"/>
              </a:ext>
            </a:extLst>
          </p:cNvPr>
          <p:cNvSpPr/>
          <p:nvPr>
            <p:custDataLst>
              <p:tags r:id="rId1"/>
            </p:custDataLst>
          </p:nvPr>
        </p:nvSpPr>
        <p:spPr>
          <a:xfrm>
            <a:off x="826769" y="935349"/>
            <a:ext cx="2533355" cy="428167"/>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en" altLang="zh-CN" b="0" i="0" dirty="0">
                <a:effectLst/>
                <a:latin typeface="Inter"/>
              </a:rPr>
              <a:t>Adiabatic Evolution</a:t>
            </a:r>
            <a:endParaRPr lang="zh-CN" altLang="en-US" dirty="0"/>
          </a:p>
        </p:txBody>
      </p:sp>
      <p:cxnSp>
        <p:nvCxnSpPr>
          <p:cNvPr id="70" name="直线箭头连接符 69">
            <a:extLst>
              <a:ext uri="{FF2B5EF4-FFF2-40B4-BE49-F238E27FC236}">
                <a16:creationId xmlns:a16="http://schemas.microsoft.com/office/drawing/2014/main" id="{D2F7BCFA-E026-1D46-AD32-527199E3B812}"/>
              </a:ext>
            </a:extLst>
          </p:cNvPr>
          <p:cNvCxnSpPr/>
          <p:nvPr/>
        </p:nvCxnSpPr>
        <p:spPr>
          <a:xfrm>
            <a:off x="4507606" y="2343955"/>
            <a:ext cx="22924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2" name="矩形 171">
            <a:extLst>
              <a:ext uri="{FF2B5EF4-FFF2-40B4-BE49-F238E27FC236}">
                <a16:creationId xmlns:a16="http://schemas.microsoft.com/office/drawing/2014/main" id="{123F2C47-2B59-3F4E-9517-E25E8F54BA95}"/>
              </a:ext>
            </a:extLst>
          </p:cNvPr>
          <p:cNvSpPr/>
          <p:nvPr>
            <p:custDataLst>
              <p:tags r:id="rId2"/>
            </p:custDataLst>
          </p:nvPr>
        </p:nvSpPr>
        <p:spPr>
          <a:xfrm>
            <a:off x="830313" y="3082711"/>
            <a:ext cx="6250971" cy="428167"/>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en-US" altLang="zh-CN" sz="1800" b="1" dirty="0">
                <a:ea typeface="STKaiti" panose="02010600040101010101" pitchFamily="2" charset="-122"/>
                <a:sym typeface="+mn-lt"/>
              </a:rPr>
              <a:t>Quantum approximation optimization algorithm (QAOA)</a:t>
            </a:r>
            <a:endParaRPr lang="en-US" altLang="zh-CN" b="1" dirty="0">
              <a:solidFill>
                <a:schemeClr val="bg1"/>
              </a:solidFill>
              <a:latin typeface="Arial" panose="020B0604020202020204" pitchFamily="34" charset="0"/>
              <a:ea typeface="STKaiti" panose="02010600040101010101" pitchFamily="2" charset="-122"/>
              <a:cs typeface="Arial" panose="020B0604020202020204" pitchFamily="34" charset="0"/>
              <a:sym typeface="+mn-lt"/>
            </a:endParaRPr>
          </a:p>
        </p:txBody>
      </p:sp>
      <p:sp>
        <p:nvSpPr>
          <p:cNvPr id="173" name="文本框 172">
            <a:extLst>
              <a:ext uri="{FF2B5EF4-FFF2-40B4-BE49-F238E27FC236}">
                <a16:creationId xmlns:a16="http://schemas.microsoft.com/office/drawing/2014/main" id="{AC87FABF-92E4-1341-A7B4-70CD80D2E440}"/>
              </a:ext>
            </a:extLst>
          </p:cNvPr>
          <p:cNvSpPr txBox="1"/>
          <p:nvPr/>
        </p:nvSpPr>
        <p:spPr>
          <a:xfrm>
            <a:off x="4564025" y="1941845"/>
            <a:ext cx="2102588" cy="369332"/>
          </a:xfrm>
          <a:prstGeom prst="rect">
            <a:avLst/>
          </a:prstGeom>
          <a:noFill/>
        </p:spPr>
        <p:txBody>
          <a:bodyPr wrap="square">
            <a:spAutoFit/>
          </a:bodyPr>
          <a:lstStyle/>
          <a:p>
            <a:r>
              <a:rPr lang="en" altLang="zh-CN" b="0" i="0" dirty="0">
                <a:effectLst/>
                <a:latin typeface="Inter"/>
              </a:rPr>
              <a:t>Adiabatic evolution</a:t>
            </a:r>
            <a:endParaRPr lang="zh-CN" altLang="en-US" dirty="0"/>
          </a:p>
        </p:txBody>
      </p:sp>
      <p:pic>
        <p:nvPicPr>
          <p:cNvPr id="1038" name="Picture 14" descr="Annealing process's energy diagram shows an external magnetic field being applied to a single qubit, resulting in a higher probability of ending in a classical state of 1.">
            <a:extLst>
              <a:ext uri="{FF2B5EF4-FFF2-40B4-BE49-F238E27FC236}">
                <a16:creationId xmlns:a16="http://schemas.microsoft.com/office/drawing/2014/main" id="{333D16DA-18ED-814D-AA79-D1E1CEDECB5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66895" t="2266" r="3556" b="-8379"/>
          <a:stretch/>
        </p:blipFill>
        <p:spPr bwMode="auto">
          <a:xfrm>
            <a:off x="9509378" y="1041990"/>
            <a:ext cx="1543318" cy="2030819"/>
          </a:xfrm>
          <a:prstGeom prst="rect">
            <a:avLst/>
          </a:prstGeom>
          <a:noFill/>
          <a:extLst>
            <a:ext uri="{909E8E84-426E-40DD-AFC4-6F175D3DCCD1}">
              <a14:hiddenFill xmlns:a14="http://schemas.microsoft.com/office/drawing/2010/main">
                <a:solidFill>
                  <a:srgbClr val="FFFFFF"/>
                </a:solidFill>
              </a14:hiddenFill>
            </a:ext>
          </a:extLst>
        </p:spPr>
      </p:pic>
      <p:sp>
        <p:nvSpPr>
          <p:cNvPr id="120" name="文本框 119">
            <a:extLst>
              <a:ext uri="{FF2B5EF4-FFF2-40B4-BE49-F238E27FC236}">
                <a16:creationId xmlns:a16="http://schemas.microsoft.com/office/drawing/2014/main" id="{9FFD9E3F-B803-394D-B518-37E87D8A44AD}"/>
              </a:ext>
            </a:extLst>
          </p:cNvPr>
          <p:cNvSpPr txBox="1"/>
          <p:nvPr/>
        </p:nvSpPr>
        <p:spPr>
          <a:xfrm>
            <a:off x="818707" y="2083981"/>
            <a:ext cx="1903228" cy="646331"/>
          </a:xfrm>
          <a:prstGeom prst="rect">
            <a:avLst/>
          </a:prstGeom>
          <a:noFill/>
        </p:spPr>
        <p:txBody>
          <a:bodyPr wrap="square" rtlCol="0">
            <a:spAutoFit/>
          </a:bodyPr>
          <a:lstStyle/>
          <a:p>
            <a:r>
              <a:rPr kumimoji="1" lang="en-US" altLang="zh-CN" dirty="0"/>
              <a:t>Simple and easy to prepare</a:t>
            </a:r>
            <a:endParaRPr kumimoji="1" lang="zh-CN" altLang="en-US" dirty="0"/>
          </a:p>
        </p:txBody>
      </p:sp>
      <p:sp>
        <p:nvSpPr>
          <p:cNvPr id="174" name="文本框 173">
            <a:extLst>
              <a:ext uri="{FF2B5EF4-FFF2-40B4-BE49-F238E27FC236}">
                <a16:creationId xmlns:a16="http://schemas.microsoft.com/office/drawing/2014/main" id="{DE006408-9022-7742-A67C-43305E0A485E}"/>
              </a:ext>
            </a:extLst>
          </p:cNvPr>
          <p:cNvSpPr txBox="1"/>
          <p:nvPr/>
        </p:nvSpPr>
        <p:spPr>
          <a:xfrm>
            <a:off x="6797749" y="2098158"/>
            <a:ext cx="1903228" cy="646331"/>
          </a:xfrm>
          <a:prstGeom prst="rect">
            <a:avLst/>
          </a:prstGeom>
          <a:noFill/>
        </p:spPr>
        <p:txBody>
          <a:bodyPr wrap="square" rtlCol="0">
            <a:spAutoFit/>
          </a:bodyPr>
          <a:lstStyle/>
          <a:p>
            <a:r>
              <a:rPr kumimoji="1" lang="en-US" altLang="zh-CN" dirty="0"/>
              <a:t>The objective to be optimized</a:t>
            </a:r>
            <a:endParaRPr kumimoji="1" lang="zh-CN" altLang="en-US" dirty="0"/>
          </a:p>
        </p:txBody>
      </p:sp>
    </p:spTree>
    <p:extLst>
      <p:ext uri="{BB962C8B-B14F-4D97-AF65-F5344CB8AC3E}">
        <p14:creationId xmlns:p14="http://schemas.microsoft.com/office/powerpoint/2010/main" val="3319817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8217" y="1"/>
            <a:ext cx="7834767" cy="803086"/>
          </a:xfrm>
        </p:spPr>
        <p:txBody>
          <a:bodyPr>
            <a:normAutofit/>
          </a:bodyPr>
          <a:lstStyle/>
          <a:p>
            <a:pPr algn="just" hangingPunct="0">
              <a:lnSpc>
                <a:spcPct val="100000"/>
              </a:lnSpc>
            </a:pPr>
            <a:r>
              <a:rPr lang="en-US" altLang="zh-CN" sz="2800" b="1" dirty="0">
                <a:ea typeface="STKaiti" panose="02010600040101010101" pitchFamily="2" charset="-122"/>
                <a:sym typeface="+mn-lt"/>
              </a:rPr>
              <a:t>QAOA</a:t>
            </a:r>
            <a:r>
              <a:rPr lang="zh-CN" altLang="en-US" sz="2800" b="1" dirty="0">
                <a:ea typeface="STKaiti" panose="02010600040101010101" pitchFamily="2" charset="-122"/>
                <a:sym typeface="+mn-lt"/>
              </a:rPr>
              <a:t> </a:t>
            </a:r>
            <a:r>
              <a:rPr lang="en-US" altLang="zh-CN" sz="2800" b="1" dirty="0">
                <a:ea typeface="STKaiti" panose="02010600040101010101" pitchFamily="2" charset="-122"/>
                <a:sym typeface="+mn-lt"/>
              </a:rPr>
              <a:t>for</a:t>
            </a:r>
            <a:r>
              <a:rPr lang="zh-CN" altLang="en-US" sz="2800" b="1" dirty="0">
                <a:ea typeface="STKaiti" panose="02010600040101010101" pitchFamily="2" charset="-122"/>
                <a:sym typeface="+mn-lt"/>
              </a:rPr>
              <a:t> </a:t>
            </a:r>
            <a:r>
              <a:rPr lang="en-US" altLang="zh-CN" sz="2800" b="1" dirty="0">
                <a:ea typeface="STKaiti" panose="02010600040101010101" pitchFamily="2" charset="-122"/>
                <a:sym typeface="+mn-lt"/>
              </a:rPr>
              <a:t>constrained</a:t>
            </a:r>
            <a:r>
              <a:rPr lang="zh-CN" altLang="en-US" sz="2800" b="1" dirty="0">
                <a:ea typeface="STKaiti" panose="02010600040101010101" pitchFamily="2" charset="-122"/>
                <a:sym typeface="+mn-lt"/>
              </a:rPr>
              <a:t> </a:t>
            </a:r>
            <a:r>
              <a:rPr lang="en-US" altLang="zh-CN" sz="2800" b="1" dirty="0">
                <a:ea typeface="STKaiti" panose="02010600040101010101" pitchFamily="2" charset="-122"/>
                <a:sym typeface="+mn-lt"/>
              </a:rPr>
              <a:t>optimization</a:t>
            </a:r>
            <a:endParaRPr lang="zh-CN" altLang="en-US" sz="2800" b="1" dirty="0">
              <a:ea typeface="STKaiti" panose="02010600040101010101" pitchFamily="2" charset="-122"/>
              <a:sym typeface="+mn-lt"/>
            </a:endParaRPr>
          </a:p>
        </p:txBody>
      </p:sp>
      <p:sp>
        <p:nvSpPr>
          <p:cNvPr id="15" name="左右箭头 14"/>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pic>
        <p:nvPicPr>
          <p:cNvPr id="5" name="图片 4">
            <a:extLst>
              <a:ext uri="{FF2B5EF4-FFF2-40B4-BE49-F238E27FC236}">
                <a16:creationId xmlns:a16="http://schemas.microsoft.com/office/drawing/2014/main" id="{0EA07078-8314-064F-AE0B-565914AB8C88}"/>
              </a:ext>
            </a:extLst>
          </p:cNvPr>
          <p:cNvPicPr>
            <a:picLocks noChangeAspect="1"/>
          </p:cNvPicPr>
          <p:nvPr/>
        </p:nvPicPr>
        <p:blipFill>
          <a:blip r:embed="rId3"/>
          <a:stretch>
            <a:fillRect/>
          </a:stretch>
        </p:blipFill>
        <p:spPr>
          <a:xfrm>
            <a:off x="1573618" y="1159735"/>
            <a:ext cx="9445701" cy="5528143"/>
          </a:xfrm>
          <a:prstGeom prst="rect">
            <a:avLst/>
          </a:prstGeom>
        </p:spPr>
      </p:pic>
    </p:spTree>
    <p:extLst>
      <p:ext uri="{BB962C8B-B14F-4D97-AF65-F5344CB8AC3E}">
        <p14:creationId xmlns:p14="http://schemas.microsoft.com/office/powerpoint/2010/main" val="31650684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标题 2">
            <a:extLst>
              <a:ext uri="{FF2B5EF4-FFF2-40B4-BE49-F238E27FC236}">
                <a16:creationId xmlns:a16="http://schemas.microsoft.com/office/drawing/2014/main" id="{58175981-523E-7125-745B-E6042BDC2FE3}"/>
              </a:ext>
            </a:extLst>
          </p:cNvPr>
          <p:cNvSpPr>
            <a:spLocks noGrp="1"/>
          </p:cNvSpPr>
          <p:nvPr>
            <p:ph type="title"/>
          </p:nvPr>
        </p:nvSpPr>
        <p:spPr>
          <a:xfrm>
            <a:off x="718218" y="124618"/>
            <a:ext cx="8821198" cy="678468"/>
          </a:xfrm>
        </p:spPr>
        <p:txBody>
          <a:bodyPr>
            <a:normAutofit/>
          </a:bodyPr>
          <a:lstStyle/>
          <a:p>
            <a:r>
              <a:rPr lang="en-US" altLang="zh-CN" sz="2800" b="1">
                <a:sym typeface="+mn-lt"/>
              </a:rPr>
              <a:t>Limitations</a:t>
            </a:r>
            <a:r>
              <a:rPr lang="zh-CN" altLang="en-US" sz="2800" b="1">
                <a:sym typeface="+mn-lt"/>
              </a:rPr>
              <a:t> </a:t>
            </a:r>
            <a:r>
              <a:rPr lang="en-US" altLang="zh-CN" sz="2800" b="1">
                <a:sym typeface="+mn-lt"/>
              </a:rPr>
              <a:t>of</a:t>
            </a:r>
            <a:r>
              <a:rPr lang="zh-CN" altLang="en-US" sz="2800" b="1">
                <a:sym typeface="+mn-lt"/>
              </a:rPr>
              <a:t> </a:t>
            </a:r>
            <a:r>
              <a:rPr lang="en-US" altLang="zh-CN" sz="2800" b="1">
                <a:sym typeface="+mn-lt"/>
              </a:rPr>
              <a:t>Current</a:t>
            </a:r>
            <a:r>
              <a:rPr lang="zh-CN" altLang="en-US" sz="2800" b="1">
                <a:sym typeface="+mn-lt"/>
              </a:rPr>
              <a:t> </a:t>
            </a:r>
            <a:r>
              <a:rPr lang="en-US" altLang="zh-CN" sz="2800" b="1">
                <a:sym typeface="+mn-lt"/>
              </a:rPr>
              <a:t>Methods</a:t>
            </a:r>
            <a:endParaRPr lang="zh-CN" altLang="en-US" sz="2800"/>
          </a:p>
        </p:txBody>
      </p:sp>
      <p:pic>
        <p:nvPicPr>
          <p:cNvPr id="5" name="图片 4">
            <a:extLst>
              <a:ext uri="{FF2B5EF4-FFF2-40B4-BE49-F238E27FC236}">
                <a16:creationId xmlns:a16="http://schemas.microsoft.com/office/drawing/2014/main" id="{3FF11FD2-BB7A-5848-BAA0-BF1E2F7D062F}"/>
              </a:ext>
            </a:extLst>
          </p:cNvPr>
          <p:cNvPicPr>
            <a:picLocks noChangeAspect="1"/>
          </p:cNvPicPr>
          <p:nvPr/>
        </p:nvPicPr>
        <p:blipFill rotWithShape="1">
          <a:blip r:embed="rId3"/>
          <a:srcRect b="13781"/>
          <a:stretch/>
        </p:blipFill>
        <p:spPr>
          <a:xfrm>
            <a:off x="2570790" y="885741"/>
            <a:ext cx="7050419" cy="3178259"/>
          </a:xfrm>
          <a:prstGeom prst="rect">
            <a:avLst/>
          </a:prstGeom>
        </p:spPr>
      </p:pic>
      <p:pic>
        <p:nvPicPr>
          <p:cNvPr id="12" name="图片 11">
            <a:extLst>
              <a:ext uri="{FF2B5EF4-FFF2-40B4-BE49-F238E27FC236}">
                <a16:creationId xmlns:a16="http://schemas.microsoft.com/office/drawing/2014/main" id="{F4A0755E-0817-1746-8F8E-F4B8190600C9}"/>
              </a:ext>
            </a:extLst>
          </p:cNvPr>
          <p:cNvPicPr>
            <a:picLocks noChangeAspect="1"/>
          </p:cNvPicPr>
          <p:nvPr/>
        </p:nvPicPr>
        <p:blipFill>
          <a:blip r:embed="rId4"/>
          <a:stretch>
            <a:fillRect/>
          </a:stretch>
        </p:blipFill>
        <p:spPr>
          <a:xfrm>
            <a:off x="2243666" y="4154487"/>
            <a:ext cx="7704667" cy="2260207"/>
          </a:xfrm>
          <a:prstGeom prst="rect">
            <a:avLst/>
          </a:prstGeom>
        </p:spPr>
      </p:pic>
    </p:spTree>
    <p:extLst>
      <p:ext uri="{BB962C8B-B14F-4D97-AF65-F5344CB8AC3E}">
        <p14:creationId xmlns:p14="http://schemas.microsoft.com/office/powerpoint/2010/main" val="27098386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a:extLst>
              <a:ext uri="{FF2B5EF4-FFF2-40B4-BE49-F238E27FC236}">
                <a16:creationId xmlns:a16="http://schemas.microsoft.com/office/drawing/2014/main" id="{B1E26818-27CA-3547-8634-F8CD29EC2AB1}"/>
              </a:ext>
            </a:extLst>
          </p:cNvPr>
          <p:cNvSpPr txBox="1"/>
          <p:nvPr/>
        </p:nvSpPr>
        <p:spPr>
          <a:xfrm>
            <a:off x="447544" y="1063555"/>
            <a:ext cx="3898576" cy="455304"/>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defRPr b="1">
                <a:latin typeface="Arial" panose="020B0604020202020204" pitchFamily="34" charset="0"/>
                <a:ea typeface="STKaiti" panose="02010600040101010101" pitchFamily="2"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Challenges</a:t>
            </a:r>
            <a:r>
              <a:rPr lang="zh-CN" altLang="en-US" dirty="0"/>
              <a:t> </a:t>
            </a:r>
            <a:r>
              <a:rPr lang="en-US" altLang="zh-CN" dirty="0"/>
              <a:t>in</a:t>
            </a:r>
            <a:r>
              <a:rPr lang="zh-CN" altLang="en-US" dirty="0"/>
              <a:t> </a:t>
            </a:r>
            <a:r>
              <a:rPr lang="en-US" altLang="zh-CN" dirty="0"/>
              <a:t>real</a:t>
            </a:r>
            <a:r>
              <a:rPr lang="zh-CN" altLang="en-US" dirty="0"/>
              <a:t> </a:t>
            </a:r>
            <a:r>
              <a:rPr lang="en-US" altLang="zh-CN" dirty="0"/>
              <a:t>word</a:t>
            </a:r>
            <a:r>
              <a:rPr lang="zh-CN" altLang="en-US" dirty="0"/>
              <a:t> </a:t>
            </a:r>
            <a:r>
              <a:rPr lang="en-US" altLang="zh-CN" dirty="0"/>
              <a:t>computer</a:t>
            </a:r>
          </a:p>
        </p:txBody>
      </p:sp>
      <p:sp>
        <p:nvSpPr>
          <p:cNvPr id="149" name="标题 2">
            <a:extLst>
              <a:ext uri="{FF2B5EF4-FFF2-40B4-BE49-F238E27FC236}">
                <a16:creationId xmlns:a16="http://schemas.microsoft.com/office/drawing/2014/main" id="{58175981-523E-7125-745B-E6042BDC2FE3}"/>
              </a:ext>
            </a:extLst>
          </p:cNvPr>
          <p:cNvSpPr>
            <a:spLocks noGrp="1"/>
          </p:cNvSpPr>
          <p:nvPr>
            <p:ph type="title"/>
          </p:nvPr>
        </p:nvSpPr>
        <p:spPr>
          <a:xfrm>
            <a:off x="718218" y="124618"/>
            <a:ext cx="8821198" cy="678468"/>
          </a:xfrm>
        </p:spPr>
        <p:txBody>
          <a:bodyPr>
            <a:normAutofit/>
          </a:bodyPr>
          <a:lstStyle/>
          <a:p>
            <a:r>
              <a:rPr lang="en-US" altLang="zh-CN" sz="2800" b="1">
                <a:sym typeface="+mn-lt"/>
              </a:rPr>
              <a:t>Limitations</a:t>
            </a:r>
            <a:r>
              <a:rPr lang="zh-CN" altLang="en-US" sz="2800" b="1">
                <a:sym typeface="+mn-lt"/>
              </a:rPr>
              <a:t> </a:t>
            </a:r>
            <a:r>
              <a:rPr lang="en-US" altLang="zh-CN" sz="2800" b="1">
                <a:sym typeface="+mn-lt"/>
              </a:rPr>
              <a:t>of</a:t>
            </a:r>
            <a:r>
              <a:rPr lang="zh-CN" altLang="en-US" sz="2800" b="1">
                <a:sym typeface="+mn-lt"/>
              </a:rPr>
              <a:t> </a:t>
            </a:r>
            <a:r>
              <a:rPr lang="en-US" altLang="zh-CN" sz="2800" b="1">
                <a:sym typeface="+mn-lt"/>
              </a:rPr>
              <a:t>Current</a:t>
            </a:r>
            <a:r>
              <a:rPr lang="zh-CN" altLang="en-US" sz="2800" b="1">
                <a:sym typeface="+mn-lt"/>
              </a:rPr>
              <a:t> </a:t>
            </a:r>
            <a:r>
              <a:rPr lang="en-US" altLang="zh-CN" sz="2800" b="1">
                <a:sym typeface="+mn-lt"/>
              </a:rPr>
              <a:t>Methods</a:t>
            </a:r>
            <a:endParaRPr lang="zh-CN" altLang="en-US" sz="2800"/>
          </a:p>
        </p:txBody>
      </p:sp>
      <p:sp>
        <p:nvSpPr>
          <p:cNvPr id="6" name="文本框 5">
            <a:extLst>
              <a:ext uri="{FF2B5EF4-FFF2-40B4-BE49-F238E27FC236}">
                <a16:creationId xmlns:a16="http://schemas.microsoft.com/office/drawing/2014/main" id="{E3DEA677-8BB2-5B43-9F1E-CF4E9A49BD6E}"/>
              </a:ext>
            </a:extLst>
          </p:cNvPr>
          <p:cNvSpPr txBox="1"/>
          <p:nvPr/>
        </p:nvSpPr>
        <p:spPr>
          <a:xfrm>
            <a:off x="447544" y="1877628"/>
            <a:ext cx="2329090" cy="369332"/>
          </a:xfrm>
          <a:prstGeom prst="rect">
            <a:avLst/>
          </a:prstGeom>
          <a:solidFill>
            <a:schemeClr val="accent2"/>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defRPr b="1">
                <a:latin typeface="Arial" panose="020B0604020202020204" pitchFamily="34" charset="0"/>
                <a:ea typeface="STKaiti" panose="02010600040101010101" pitchFamily="2"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altLang="zh-CN" dirty="0"/>
              <a:t>Large</a:t>
            </a:r>
            <a:r>
              <a:rPr lang="zh-CN" altLang="en-US" dirty="0"/>
              <a:t> </a:t>
            </a:r>
            <a:r>
              <a:rPr lang="en-US" altLang="zh-CN" dirty="0"/>
              <a:t>circuit</a:t>
            </a:r>
            <a:r>
              <a:rPr lang="zh-CN" altLang="en-US" dirty="0"/>
              <a:t> </a:t>
            </a:r>
            <a:r>
              <a:rPr lang="en-US" altLang="zh-CN" dirty="0"/>
              <a:t>depth</a:t>
            </a:r>
          </a:p>
        </p:txBody>
      </p:sp>
      <p:sp>
        <p:nvSpPr>
          <p:cNvPr id="7" name="文本框 6">
            <a:extLst>
              <a:ext uri="{FF2B5EF4-FFF2-40B4-BE49-F238E27FC236}">
                <a16:creationId xmlns:a16="http://schemas.microsoft.com/office/drawing/2014/main" id="{FA0C4115-9BBB-0C4A-A3FE-5A1AC5F67C7A}"/>
              </a:ext>
            </a:extLst>
          </p:cNvPr>
          <p:cNvSpPr txBox="1"/>
          <p:nvPr/>
        </p:nvSpPr>
        <p:spPr>
          <a:xfrm>
            <a:off x="447544" y="4263733"/>
            <a:ext cx="2367192" cy="369332"/>
          </a:xfrm>
          <a:prstGeom prst="rect">
            <a:avLst/>
          </a:prstGeom>
          <a:solidFill>
            <a:schemeClr val="accent2"/>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defRPr b="1">
                <a:solidFill>
                  <a:schemeClr val="lt1"/>
                </a:solidFill>
                <a:latin typeface="Arial" panose="020B0604020202020204" pitchFamily="34" charset="0"/>
                <a:ea typeface="STKaiti" panose="02010600040101010101" pitchFamily="2"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altLang="zh-CN" dirty="0"/>
              <a:t>Real-world noise</a:t>
            </a:r>
            <a:r>
              <a:rPr lang="zh-CN" altLang="en-US" dirty="0"/>
              <a:t> </a:t>
            </a:r>
            <a:endParaRPr lang="en-US" altLang="zh-CN" dirty="0"/>
          </a:p>
        </p:txBody>
      </p:sp>
      <p:pic>
        <p:nvPicPr>
          <p:cNvPr id="8" name="图片 7">
            <a:extLst>
              <a:ext uri="{FF2B5EF4-FFF2-40B4-BE49-F238E27FC236}">
                <a16:creationId xmlns:a16="http://schemas.microsoft.com/office/drawing/2014/main" id="{67D3DCC1-7418-FC44-B118-BBFE2DB4519B}"/>
              </a:ext>
            </a:extLst>
          </p:cNvPr>
          <p:cNvPicPr>
            <a:picLocks noChangeAspect="1"/>
          </p:cNvPicPr>
          <p:nvPr/>
        </p:nvPicPr>
        <p:blipFill>
          <a:blip r:embed="rId3"/>
          <a:stretch>
            <a:fillRect/>
          </a:stretch>
        </p:blipFill>
        <p:spPr>
          <a:xfrm>
            <a:off x="447544" y="2627765"/>
            <a:ext cx="2583542" cy="1211036"/>
          </a:xfrm>
          <a:prstGeom prst="rect">
            <a:avLst/>
          </a:prstGeom>
        </p:spPr>
      </p:pic>
      <p:sp>
        <p:nvSpPr>
          <p:cNvPr id="9" name="矩形 8">
            <a:extLst>
              <a:ext uri="{FF2B5EF4-FFF2-40B4-BE49-F238E27FC236}">
                <a16:creationId xmlns:a16="http://schemas.microsoft.com/office/drawing/2014/main" id="{184C73E6-46C5-A247-AC9F-73ABC7715B6E}"/>
              </a:ext>
            </a:extLst>
          </p:cNvPr>
          <p:cNvSpPr/>
          <p:nvPr/>
        </p:nvSpPr>
        <p:spPr>
          <a:xfrm>
            <a:off x="3346618" y="2796079"/>
            <a:ext cx="3644158" cy="874407"/>
          </a:xfrm>
          <a:prstGeom prst="rect">
            <a:avLst/>
          </a:prstGeom>
          <a:noFill/>
          <a:ln w="12700" cap="flat" cmpd="sng" algn="ctr">
            <a:noFill/>
            <a:prstDash val="solid"/>
            <a:round/>
            <a:headEnd type="none" w="med" len="med"/>
            <a:tailEnd type="none" w="med" len="med"/>
          </a:ln>
        </p:spPr>
        <p:txBody>
          <a:bodyPr vert="horz" wrap="square" lIns="91440" tIns="45720" rIns="91440" bIns="45720" numCol="1" rtlCol="0" anchor="t" anchorCtr="0" compatLnSpc="1">
            <a:spAutoFit/>
          </a:bodyPr>
          <a:lstStyle/>
          <a:p>
            <a:pPr fontAlgn="base">
              <a:lnSpc>
                <a:spcPct val="150000"/>
              </a:lnSpc>
              <a:spcAft>
                <a:spcPct val="0"/>
              </a:spcAft>
              <a:buClr>
                <a:srgbClr val="FF3300"/>
              </a:buClr>
              <a:buSzPct val="75000"/>
            </a:pPr>
            <a:r>
              <a:rPr lang="en-US" altLang="zh-CN" dirty="0">
                <a:latin typeface="Microsoft YaHei" panose="020B0503020204020204" pitchFamily="34" charset="-122"/>
                <a:ea typeface="Microsoft YaHei" panose="020B0503020204020204" pitchFamily="34" charset="-122"/>
              </a:rPr>
              <a:t>50 bits yielding more than 1040 layers of quantum gates</a:t>
            </a:r>
          </a:p>
        </p:txBody>
      </p:sp>
      <p:sp>
        <p:nvSpPr>
          <p:cNvPr id="10" name="矩形 9">
            <a:extLst>
              <a:ext uri="{FF2B5EF4-FFF2-40B4-BE49-F238E27FC236}">
                <a16:creationId xmlns:a16="http://schemas.microsoft.com/office/drawing/2014/main" id="{CF6FEDCA-06B0-AC43-8E97-ECC8690710C9}"/>
              </a:ext>
            </a:extLst>
          </p:cNvPr>
          <p:cNvSpPr/>
          <p:nvPr/>
        </p:nvSpPr>
        <p:spPr>
          <a:xfrm>
            <a:off x="3346618" y="4850462"/>
            <a:ext cx="3644158" cy="1282787"/>
          </a:xfrm>
          <a:prstGeom prst="rect">
            <a:avLst/>
          </a:prstGeom>
          <a:noFill/>
          <a:ln w="12700" cap="flat" cmpd="sng" algn="ctr">
            <a:noFill/>
            <a:prstDash val="solid"/>
            <a:round/>
            <a:headEnd type="none" w="med" len="med"/>
            <a:tailEnd type="none" w="med" len="med"/>
          </a:ln>
        </p:spPr>
        <p:txBody>
          <a:bodyPr vert="horz" wrap="square" lIns="91440" tIns="45720" rIns="91440" bIns="45720" numCol="1" rtlCol="0" anchor="t" anchorCtr="0" compatLnSpc="1">
            <a:spAutoFit/>
          </a:bodyPr>
          <a:lstStyle/>
          <a:p>
            <a:pPr fontAlgn="base">
              <a:lnSpc>
                <a:spcPct val="150000"/>
              </a:lnSpc>
              <a:spcAft>
                <a:spcPct val="0"/>
              </a:spcAft>
              <a:buClr>
                <a:srgbClr val="FF3300"/>
              </a:buClr>
              <a:buSzPct val="75000"/>
            </a:pPr>
            <a:r>
              <a:rPr lang="en" altLang="zh-CN" dirty="0">
                <a:solidFill>
                  <a:schemeClr val="tx1"/>
                </a:solidFill>
                <a:latin typeface="Verdana" panose="020B0604030504040204" pitchFamily="34" charset="0"/>
                <a:ea typeface="楷体_GB2312" panose="02010609030101010101" pitchFamily="49" charset="-122"/>
              </a:rPr>
              <a:t>The noise further exacerbates the difficulty of optimizing the parameters</a:t>
            </a:r>
            <a:endParaRPr lang="en-US" altLang="zh-CN" dirty="0">
              <a:solidFill>
                <a:srgbClr val="FF0000"/>
              </a:solidFill>
              <a:latin typeface="Verdana" panose="020B0604030504040204" pitchFamily="34" charset="0"/>
              <a:ea typeface="楷体_GB2312" panose="02010609030101010101" pitchFamily="49" charset="-122"/>
            </a:endParaRPr>
          </a:p>
        </p:txBody>
      </p:sp>
      <p:pic>
        <p:nvPicPr>
          <p:cNvPr id="11" name="Picture 4" descr="Image result for noise in quantum computing">
            <a:extLst>
              <a:ext uri="{FF2B5EF4-FFF2-40B4-BE49-F238E27FC236}">
                <a16:creationId xmlns:a16="http://schemas.microsoft.com/office/drawing/2014/main" id="{BFC978E9-935F-214E-A3A4-E7675B4252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545" y="4740814"/>
            <a:ext cx="2583542" cy="1392435"/>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22ECDBA1-373D-8B4D-B760-6E3590656DA1}"/>
              </a:ext>
            </a:extLst>
          </p:cNvPr>
          <p:cNvSpPr txBox="1"/>
          <p:nvPr/>
        </p:nvSpPr>
        <p:spPr>
          <a:xfrm>
            <a:off x="7273225" y="1063555"/>
            <a:ext cx="2354867" cy="455304"/>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defRPr b="1">
                <a:latin typeface="Arial" panose="020B0604020202020204" pitchFamily="34" charset="0"/>
                <a:ea typeface="STKaiti" panose="02010600040101010101" pitchFamily="2"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experimental result</a:t>
            </a:r>
          </a:p>
        </p:txBody>
      </p:sp>
      <p:sp>
        <p:nvSpPr>
          <p:cNvPr id="16" name="文本框 15">
            <a:extLst>
              <a:ext uri="{FF2B5EF4-FFF2-40B4-BE49-F238E27FC236}">
                <a16:creationId xmlns:a16="http://schemas.microsoft.com/office/drawing/2014/main" id="{1AC44BBD-821A-1D4A-B49E-8D44E0AA0EF7}"/>
              </a:ext>
            </a:extLst>
          </p:cNvPr>
          <p:cNvSpPr txBox="1"/>
          <p:nvPr/>
        </p:nvSpPr>
        <p:spPr>
          <a:xfrm>
            <a:off x="7273225" y="5722864"/>
            <a:ext cx="4222125" cy="923330"/>
          </a:xfrm>
          <a:prstGeom prst="rect">
            <a:avLst/>
          </a:prstGeom>
          <a:noFill/>
        </p:spPr>
        <p:txBody>
          <a:bodyPr wrap="square">
            <a:spAutoFit/>
          </a:bodyPr>
          <a:lstStyle/>
          <a:p>
            <a:r>
              <a:rPr kumimoji="1" lang="en" altLang="zh-CN" sz="1800" b="1" dirty="0">
                <a:solidFill>
                  <a:srgbClr val="FF0000"/>
                </a:solidFill>
                <a:latin typeface="Microsoft YaHei" panose="020B0503020204020204" pitchFamily="34" charset="-122"/>
                <a:ea typeface="Microsoft YaHei" panose="020B0503020204020204" pitchFamily="34" charset="-122"/>
              </a:rPr>
              <a:t>The optimization process is extremely unstable and difficult to converge to the optimal solution</a:t>
            </a:r>
            <a:endParaRPr lang="zh-CN" altLang="en-US" dirty="0">
              <a:solidFill>
                <a:srgbClr val="FF0000"/>
              </a:solidFill>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F2E69EBC-135A-7A4B-B2B8-13EBEE7A6521}"/>
              </a:ext>
            </a:extLst>
          </p:cNvPr>
          <p:cNvPicPr>
            <a:picLocks noChangeAspect="1"/>
          </p:cNvPicPr>
          <p:nvPr/>
        </p:nvPicPr>
        <p:blipFill>
          <a:blip r:embed="rId5"/>
          <a:stretch>
            <a:fillRect/>
          </a:stretch>
        </p:blipFill>
        <p:spPr>
          <a:xfrm>
            <a:off x="7273225" y="1842248"/>
            <a:ext cx="4335676" cy="3845858"/>
          </a:xfrm>
          <a:prstGeom prst="rect">
            <a:avLst/>
          </a:prstGeom>
        </p:spPr>
      </p:pic>
    </p:spTree>
    <p:extLst>
      <p:ext uri="{BB962C8B-B14F-4D97-AF65-F5344CB8AC3E}">
        <p14:creationId xmlns:p14="http://schemas.microsoft.com/office/powerpoint/2010/main" val="13075952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左右箭头 14"/>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7" name="文本框 16">
            <a:extLst>
              <a:ext uri="{FF2B5EF4-FFF2-40B4-BE49-F238E27FC236}">
                <a16:creationId xmlns:a16="http://schemas.microsoft.com/office/drawing/2014/main" id="{4D44433B-C93D-B60E-A95C-8C7D0FB037F2}"/>
              </a:ext>
            </a:extLst>
          </p:cNvPr>
          <p:cNvSpPr txBox="1"/>
          <p:nvPr/>
        </p:nvSpPr>
        <p:spPr>
          <a:xfrm>
            <a:off x="7570038" y="657063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latin typeface="Arial" panose="020B0604020202020204" pitchFamily="34" charset="0"/>
              <a:cs typeface="Arial" panose="020B0604020202020204" pitchFamily="34" charset="0"/>
            </a:endParaRPr>
          </a:p>
        </p:txBody>
      </p:sp>
      <p:sp>
        <p:nvSpPr>
          <p:cNvPr id="27" name="标题 1">
            <a:extLst>
              <a:ext uri="{FF2B5EF4-FFF2-40B4-BE49-F238E27FC236}">
                <a16:creationId xmlns:a16="http://schemas.microsoft.com/office/drawing/2014/main" id="{04777F5A-B6BD-2242-CDCD-828885D7E62B}"/>
              </a:ext>
            </a:extLst>
          </p:cNvPr>
          <p:cNvSpPr>
            <a:spLocks noGrp="1"/>
          </p:cNvSpPr>
          <p:nvPr>
            <p:ph type="title"/>
          </p:nvPr>
        </p:nvSpPr>
        <p:spPr>
          <a:xfrm>
            <a:off x="718218" y="1"/>
            <a:ext cx="6603304" cy="803086"/>
          </a:xfrm>
        </p:spPr>
        <p:txBody>
          <a:bodyPr>
            <a:normAutofit/>
          </a:bodyPr>
          <a:lstStyle/>
          <a:p>
            <a:pPr algn="just" hangingPunct="0">
              <a:lnSpc>
                <a:spcPct val="100000"/>
              </a:lnSpc>
            </a:pPr>
            <a:r>
              <a:rPr lang="en" altLang="zh-CN" sz="2800" dirty="0">
                <a:ea typeface="STKaiti" panose="02010600040101010101" pitchFamily="2" charset="-122"/>
              </a:rPr>
              <a:t>Outline</a:t>
            </a:r>
            <a:r>
              <a:rPr lang="zh-CN" altLang="en-US" sz="2800">
                <a:ea typeface="STKaiti" panose="02010600040101010101" pitchFamily="2" charset="-122"/>
              </a:rPr>
              <a:t> </a:t>
            </a:r>
            <a:r>
              <a:rPr lang="en-US" altLang="zh-CN" sz="2800" dirty="0">
                <a:ea typeface="STKaiti" panose="02010600040101010101" pitchFamily="2" charset="-122"/>
              </a:rPr>
              <a:t>of</a:t>
            </a:r>
            <a:r>
              <a:rPr lang="zh-CN" altLang="en-US" sz="2800">
                <a:ea typeface="STKaiti" panose="02010600040101010101" pitchFamily="2" charset="-122"/>
              </a:rPr>
              <a:t> </a:t>
            </a:r>
            <a:r>
              <a:rPr lang="en-US" altLang="zh-CN" sz="2800" dirty="0">
                <a:ea typeface="STKaiti" panose="02010600040101010101" pitchFamily="2" charset="-122"/>
              </a:rPr>
              <a:t>Presentation</a:t>
            </a:r>
            <a:endParaRPr lang="zh-CN" altLang="en-US" sz="2800">
              <a:ea typeface="STKaiti" panose="02010600040101010101" pitchFamily="2" charset="-122"/>
              <a:sym typeface="+mn-lt"/>
            </a:endParaRPr>
          </a:p>
        </p:txBody>
      </p:sp>
      <p:sp>
        <p:nvSpPr>
          <p:cNvPr id="2" name="文本框 1">
            <a:extLst>
              <a:ext uri="{FF2B5EF4-FFF2-40B4-BE49-F238E27FC236}">
                <a16:creationId xmlns:a16="http://schemas.microsoft.com/office/drawing/2014/main" id="{3F9D4C27-310F-81C2-6682-16570DAE191A}"/>
              </a:ext>
            </a:extLst>
          </p:cNvPr>
          <p:cNvSpPr txBox="1"/>
          <p:nvPr/>
        </p:nvSpPr>
        <p:spPr>
          <a:xfrm>
            <a:off x="535049" y="964097"/>
            <a:ext cx="10388600" cy="2343590"/>
          </a:xfrm>
          <a:prstGeom prst="rect">
            <a:avLst/>
          </a:prstGeom>
          <a:noFill/>
        </p:spPr>
        <p:txBody>
          <a:bodyPr wrap="square" rtlCol="0">
            <a:spAutoFit/>
          </a:bodyPr>
          <a:lstStyle/>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Background</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and</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challenges</a:t>
            </a:r>
          </a:p>
          <a:p>
            <a:pPr marL="342900" indent="-285750">
              <a:lnSpc>
                <a:spcPct val="150000"/>
              </a:lnSpc>
              <a:buFont typeface="Arial" panose="020B0604020202020204" pitchFamily="34" charset="0"/>
              <a:buChar char="•"/>
            </a:pPr>
            <a:r>
              <a:rPr kumimoji="1" lang="en-US" altLang="zh-CN" sz="2000" b="1" dirty="0">
                <a:latin typeface="Arial" panose="020B0604020202020204" pitchFamily="34" charset="0"/>
                <a:ea typeface="STKaiti" panose="02010600040101010101" pitchFamily="2" charset="-122"/>
                <a:cs typeface="Arial" panose="020B0604020202020204" pitchFamily="34" charset="0"/>
              </a:rPr>
              <a:t>Overview</a:t>
            </a:r>
            <a:r>
              <a:rPr kumimoji="1" lang="zh-CN" altLang="en-US" sz="2000" b="1" dirty="0">
                <a:latin typeface="Arial" panose="020B0604020202020204" pitchFamily="34" charset="0"/>
                <a:ea typeface="STKaiti" panose="02010600040101010101" pitchFamily="2" charset="-122"/>
                <a:cs typeface="Arial" panose="020B0604020202020204" pitchFamily="34" charset="0"/>
              </a:rPr>
              <a:t> </a:t>
            </a:r>
            <a:r>
              <a:rPr kumimoji="1" lang="en-US" altLang="zh-CN" sz="2000" b="1" dirty="0">
                <a:latin typeface="Arial" panose="020B0604020202020204" pitchFamily="34" charset="0"/>
                <a:ea typeface="STKaiti" panose="02010600040101010101" pitchFamily="2" charset="-122"/>
                <a:cs typeface="Arial" panose="020B0604020202020204" pitchFamily="34" charset="0"/>
              </a:rPr>
              <a:t>of</a:t>
            </a:r>
            <a:r>
              <a:rPr kumimoji="1" lang="zh-CN" altLang="en-US" sz="2000" b="1" dirty="0">
                <a:latin typeface="Arial" panose="020B0604020202020204" pitchFamily="34" charset="0"/>
                <a:ea typeface="STKaiti" panose="02010600040101010101" pitchFamily="2" charset="-122"/>
                <a:cs typeface="Arial" panose="020B0604020202020204" pitchFamily="34" charset="0"/>
              </a:rPr>
              <a:t> </a:t>
            </a:r>
            <a:r>
              <a:rPr kumimoji="1" lang="en-US" altLang="zh-CN" sz="2000" b="1" dirty="0">
                <a:latin typeface="Arial" panose="020B0604020202020204" pitchFamily="34" charset="0"/>
                <a:ea typeface="STKaiti" panose="02010600040101010101" pitchFamily="2" charset="-122"/>
                <a:cs typeface="Arial" panose="020B0604020202020204" pitchFamily="34" charset="0"/>
              </a:rPr>
              <a:t>Choco-Q</a:t>
            </a: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Choco-Q characterization</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and</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calibration</a:t>
            </a: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Experiment</a:t>
            </a:r>
            <a:endParaRPr kumimoji="1" lang="en-US" altLang="zh-CN" sz="2000" b="1" dirty="0">
              <a:latin typeface="Arial" panose="020B0604020202020204" pitchFamily="34" charset="0"/>
              <a:ea typeface="STKaiti" panose="02010600040101010101" pitchFamily="2" charset="-122"/>
              <a:cs typeface="Arial" panose="020B0604020202020204" pitchFamily="34" charset="0"/>
            </a:endParaRP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API</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of</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Choco-Q</a:t>
            </a:r>
          </a:p>
        </p:txBody>
      </p:sp>
    </p:spTree>
    <p:extLst>
      <p:ext uri="{BB962C8B-B14F-4D97-AF65-F5344CB8AC3E}">
        <p14:creationId xmlns:p14="http://schemas.microsoft.com/office/powerpoint/2010/main" val="21330544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标题 1">
            <a:extLst>
              <a:ext uri="{FF2B5EF4-FFF2-40B4-BE49-F238E27FC236}">
                <a16:creationId xmlns:a16="http://schemas.microsoft.com/office/drawing/2014/main" id="{CFCAF8D9-31F2-51B4-265F-AA1C2F60CD4F}"/>
              </a:ext>
            </a:extLst>
          </p:cNvPr>
          <p:cNvSpPr>
            <a:spLocks noGrp="1"/>
          </p:cNvSpPr>
          <p:nvPr>
            <p:ph type="title"/>
          </p:nvPr>
        </p:nvSpPr>
        <p:spPr>
          <a:xfrm>
            <a:off x="718217" y="124618"/>
            <a:ext cx="9132336" cy="678468"/>
          </a:xfrm>
        </p:spPr>
        <p:txBody>
          <a:bodyPr>
            <a:normAutofit/>
          </a:bodyPr>
          <a:lstStyle/>
          <a:p>
            <a:r>
              <a:rPr lang="en-US" altLang="zh-CN" sz="2800" dirty="0"/>
              <a:t>Heisenberg picture</a:t>
            </a:r>
            <a:endParaRPr lang="zh-CN" altLang="en-US" sz="2800" dirty="0"/>
          </a:p>
        </p:txBody>
      </p:sp>
      <mc:AlternateContent xmlns:mc="http://schemas.openxmlformats.org/markup-compatibility/2006" xmlns:a14="http://schemas.microsoft.com/office/drawing/2010/main">
        <mc:Choice Requires="a14">
          <p:sp>
            <p:nvSpPr>
              <p:cNvPr id="440" name="文本框 439">
                <a:extLst>
                  <a:ext uri="{FF2B5EF4-FFF2-40B4-BE49-F238E27FC236}">
                    <a16:creationId xmlns:a16="http://schemas.microsoft.com/office/drawing/2014/main" id="{A9C5726F-E394-BB4C-AEB1-86814825E8D4}"/>
                  </a:ext>
                </a:extLst>
              </p:cNvPr>
              <p:cNvSpPr txBox="1"/>
              <p:nvPr/>
            </p:nvSpPr>
            <p:spPr>
              <a:xfrm>
                <a:off x="1521997" y="2592147"/>
                <a:ext cx="1848262" cy="1237968"/>
              </a:xfrm>
              <a:prstGeom prst="rect">
                <a:avLst/>
              </a:prstGeom>
              <a:noFill/>
            </p:spPr>
            <p:txBody>
              <a:bodyPr wrap="none" lIns="0" tIns="0" rIns="0" bIns="0" rtlCol="0">
                <a:spAutoFit/>
              </a:bodyPr>
              <a:lstStyle/>
              <a:p>
                <a:pPr>
                  <a:lnSpc>
                    <a:spcPct val="150000"/>
                  </a:lnSpc>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r>
                            <m:rPr>
                              <m:sty m:val="p"/>
                            </m:rPr>
                            <a:rPr kumimoji="1" lang="en-US" altLang="zh-CN" i="1">
                              <a:latin typeface="Cambria Math" panose="02040503050406030204" pitchFamily="18" charset="0"/>
                            </a:rPr>
                            <m:t>dA</m:t>
                          </m:r>
                        </m:num>
                        <m:den>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t</m:t>
                          </m:r>
                        </m:den>
                      </m:f>
                      <m:r>
                        <a:rPr kumimoji="1" lang="en-US" altLang="zh-CN" b="0" i="1" smtClean="0">
                          <a:latin typeface="Cambria Math" panose="02040503050406030204" pitchFamily="18" charset="0"/>
                        </a:rPr>
                        <m:t>=</m:t>
                      </m:r>
                      <m:r>
                        <a:rPr kumimoji="1" lang="zh-CN" altLang="en-US" b="0" i="1" smtClean="0">
                          <a:latin typeface="Cambria Math" panose="02040503050406030204" pitchFamily="18" charset="0"/>
                        </a:rPr>
                        <m:t> </m:t>
                      </m:r>
                      <m:f>
                        <m:fPr>
                          <m:ctrlPr>
                            <a:rPr kumimoji="1" lang="en-US" altLang="zh-CN" b="0" i="1" smtClean="0">
                              <a:latin typeface="Cambria Math" panose="02040503050406030204" pitchFamily="18" charset="0"/>
                            </a:rPr>
                          </m:ctrlPr>
                        </m:fPr>
                        <m:num>
                          <m:r>
                            <m:rPr>
                              <m:sty m:val="p"/>
                            </m:rPr>
                            <a:rPr kumimoji="1" lang="en-US" altLang="zh-CN" i="1">
                              <a:latin typeface="Cambria Math" panose="02040503050406030204" pitchFamily="18" charset="0"/>
                            </a:rPr>
                            <m:t>i</m:t>
                          </m:r>
                        </m:num>
                        <m:den>
                          <m:r>
                            <a:rPr kumimoji="1" lang="en-US" altLang="zh-CN" b="0" i="1" smtClean="0">
                              <a:latin typeface="Cambria Math" panose="02040503050406030204" pitchFamily="18" charset="0"/>
                              <a:ea typeface="Cambria Math" panose="02040503050406030204" pitchFamily="18" charset="0"/>
                            </a:rPr>
                            <m:t>ℏ</m:t>
                          </m:r>
                        </m:den>
                      </m:f>
                      <m:r>
                        <a:rPr kumimoji="1" lang="en-US" altLang="zh-CN" b="0" i="1" smtClean="0">
                          <a:latin typeface="Cambria Math" panose="02040503050406030204" pitchFamily="18" charset="0"/>
                        </a:rPr>
                        <m:t> </m:t>
                      </m:r>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m:t>
                          </m:r>
                        </m:e>
                      </m:d>
                    </m:oMath>
                  </m:oMathPara>
                </a14:m>
                <a:endParaRPr kumimoji="1" lang="en-US" altLang="zh-CN" b="0" dirty="0"/>
              </a:p>
              <a:p>
                <a:pPr>
                  <a:lnSpc>
                    <a:spcPct val="150000"/>
                  </a:lnSpc>
                </a:pPr>
                <a14:m>
                  <m:oMathPara xmlns:m="http://schemas.openxmlformats.org/officeDocument/2006/math">
                    <m:oMathParaPr>
                      <m:jc m:val="centerGroup"/>
                    </m:oMathParaPr>
                    <m:oMath xmlns:m="http://schemas.openxmlformats.org/officeDocument/2006/math">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𝐴𝐻</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𝐻𝐴</m:t>
                      </m:r>
                    </m:oMath>
                  </m:oMathPara>
                </a14:m>
                <a:endParaRPr kumimoji="1" lang="zh-CN" altLang="en-US" dirty="0"/>
              </a:p>
            </p:txBody>
          </p:sp>
        </mc:Choice>
        <mc:Fallback xmlns="">
          <p:sp>
            <p:nvSpPr>
              <p:cNvPr id="440" name="文本框 439">
                <a:extLst>
                  <a:ext uri="{FF2B5EF4-FFF2-40B4-BE49-F238E27FC236}">
                    <a16:creationId xmlns:a16="http://schemas.microsoft.com/office/drawing/2014/main" id="{A9C5726F-E394-BB4C-AEB1-86814825E8D4}"/>
                  </a:ext>
                </a:extLst>
              </p:cNvPr>
              <p:cNvSpPr txBox="1">
                <a:spLocks noRot="1" noChangeAspect="1" noMove="1" noResize="1" noEditPoints="1" noAdjustHandles="1" noChangeArrowheads="1" noChangeShapeType="1" noTextEdit="1"/>
              </p:cNvSpPr>
              <p:nvPr/>
            </p:nvSpPr>
            <p:spPr>
              <a:xfrm>
                <a:off x="1521997" y="2592147"/>
                <a:ext cx="1848262" cy="1237968"/>
              </a:xfrm>
              <a:prstGeom prst="rect">
                <a:avLst/>
              </a:prstGeom>
              <a:blipFill>
                <a:blip r:embed="rId3"/>
                <a:stretch>
                  <a:fillRect r="-2055"/>
                </a:stretch>
              </a:blipFill>
            </p:spPr>
            <p:txBody>
              <a:bodyPr/>
              <a:lstStyle/>
              <a:p>
                <a:r>
                  <a:rPr lang="zh-CN" altLang="en-US">
                    <a:noFill/>
                  </a:rPr>
                  <a:t> </a:t>
                </a:r>
              </a:p>
            </p:txBody>
          </p:sp>
        </mc:Fallback>
      </mc:AlternateContent>
      <p:sp>
        <p:nvSpPr>
          <p:cNvPr id="442" name="文本框 441">
            <a:extLst>
              <a:ext uri="{FF2B5EF4-FFF2-40B4-BE49-F238E27FC236}">
                <a16:creationId xmlns:a16="http://schemas.microsoft.com/office/drawing/2014/main" id="{6A8839B9-F4F1-1C40-B6FA-3F3E4C4E5BD8}"/>
              </a:ext>
            </a:extLst>
          </p:cNvPr>
          <p:cNvSpPr txBox="1"/>
          <p:nvPr/>
        </p:nvSpPr>
        <p:spPr>
          <a:xfrm>
            <a:off x="201595" y="1112351"/>
            <a:ext cx="4980005" cy="455304"/>
          </a:xfrm>
          <a:prstGeom prst="rect">
            <a:avLst/>
          </a:prstGeom>
          <a:gradFill>
            <a:gsLst>
              <a:gs pos="0">
                <a:srgbClr val="3062C9"/>
              </a:gs>
              <a:gs pos="100000">
                <a:srgbClr val="6096E6"/>
              </a:gs>
              <a:gs pos="100000">
                <a:srgbClr val="0A7AE2"/>
              </a:gs>
            </a:gsLst>
            <a:lin ang="10260000" scaled="1"/>
          </a:gra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dirty="0">
                <a:latin typeface="+mn-ea"/>
              </a:rPr>
              <a:t>H</a:t>
            </a:r>
            <a:r>
              <a:rPr kumimoji="1" lang="en-US" altLang="zh-CN" sz="1800" b="1" dirty="0">
                <a:latin typeface="+mn-ea"/>
              </a:rPr>
              <a:t>eisenberg</a:t>
            </a:r>
            <a:r>
              <a:rPr kumimoji="1" lang="zh-CN" altLang="en-US" sz="1800" b="1" dirty="0">
                <a:latin typeface="+mn-ea"/>
              </a:rPr>
              <a:t> </a:t>
            </a:r>
            <a:r>
              <a:rPr kumimoji="1" lang="en-US" altLang="zh-CN" sz="1800" b="1" dirty="0">
                <a:latin typeface="+mn-ea"/>
              </a:rPr>
              <a:t>Picture</a:t>
            </a:r>
          </a:p>
        </p:txBody>
      </p:sp>
      <p:cxnSp>
        <p:nvCxnSpPr>
          <p:cNvPr id="443" name="直接箭头连接符 9">
            <a:extLst>
              <a:ext uri="{FF2B5EF4-FFF2-40B4-BE49-F238E27FC236}">
                <a16:creationId xmlns:a16="http://schemas.microsoft.com/office/drawing/2014/main" id="{605F49AD-9C41-B24B-AE9E-BC083A54C929}"/>
              </a:ext>
            </a:extLst>
          </p:cNvPr>
          <p:cNvCxnSpPr>
            <a:cxnSpLocks/>
            <a:endCxn id="446" idx="2"/>
          </p:cNvCxnSpPr>
          <p:nvPr/>
        </p:nvCxnSpPr>
        <p:spPr bwMode="auto">
          <a:xfrm flipH="1" flipV="1">
            <a:off x="861796" y="2650912"/>
            <a:ext cx="699654" cy="422360"/>
          </a:xfrm>
          <a:prstGeom prst="straightConnector1">
            <a:avLst/>
          </a:prstGeom>
          <a:ln w="12700">
            <a:solidFill>
              <a:schemeClr val="tx1">
                <a:lumMod val="65000"/>
                <a:lumOff val="35000"/>
              </a:schemeClr>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44" name="直接箭头连接符 10">
            <a:extLst>
              <a:ext uri="{FF2B5EF4-FFF2-40B4-BE49-F238E27FC236}">
                <a16:creationId xmlns:a16="http://schemas.microsoft.com/office/drawing/2014/main" id="{360F5E12-AAE2-FB4D-899C-992494966948}"/>
              </a:ext>
            </a:extLst>
          </p:cNvPr>
          <p:cNvCxnSpPr>
            <a:cxnSpLocks/>
            <a:endCxn id="447" idx="1"/>
          </p:cNvCxnSpPr>
          <p:nvPr/>
        </p:nvCxnSpPr>
        <p:spPr bwMode="auto">
          <a:xfrm>
            <a:off x="2761488" y="3255264"/>
            <a:ext cx="885952" cy="173736"/>
          </a:xfrm>
          <a:prstGeom prst="straightConnector1">
            <a:avLst/>
          </a:prstGeom>
          <a:ln w="12700">
            <a:solidFill>
              <a:schemeClr val="tx1">
                <a:lumMod val="65000"/>
                <a:lumOff val="35000"/>
              </a:schemeClr>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45" name="直接箭头连接符 15">
            <a:extLst>
              <a:ext uri="{FF2B5EF4-FFF2-40B4-BE49-F238E27FC236}">
                <a16:creationId xmlns:a16="http://schemas.microsoft.com/office/drawing/2014/main" id="{F2BD880A-C943-3042-8DAF-295E0933469C}"/>
              </a:ext>
            </a:extLst>
          </p:cNvPr>
          <p:cNvCxnSpPr>
            <a:cxnSpLocks/>
            <a:endCxn id="448" idx="2"/>
          </p:cNvCxnSpPr>
          <p:nvPr/>
        </p:nvCxnSpPr>
        <p:spPr bwMode="auto">
          <a:xfrm flipV="1">
            <a:off x="2999232" y="2525128"/>
            <a:ext cx="937260" cy="446672"/>
          </a:xfrm>
          <a:prstGeom prst="straightConnector1">
            <a:avLst/>
          </a:prstGeom>
          <a:ln w="12700">
            <a:solidFill>
              <a:schemeClr val="tx1">
                <a:lumMod val="65000"/>
                <a:lumOff val="35000"/>
              </a:schemeClr>
            </a:solidFill>
            <a:headEnd type="none" w="med" len="med"/>
            <a:tailEnd type="triangle"/>
          </a:ln>
        </p:spPr>
        <p:style>
          <a:lnRef idx="1">
            <a:schemeClr val="dk1"/>
          </a:lnRef>
          <a:fillRef idx="0">
            <a:schemeClr val="dk1"/>
          </a:fillRef>
          <a:effectRef idx="0">
            <a:schemeClr val="dk1"/>
          </a:effectRef>
          <a:fontRef idx="minor">
            <a:schemeClr val="tx1"/>
          </a:fontRef>
        </p:style>
      </p:cxnSp>
      <p:sp>
        <p:nvSpPr>
          <p:cNvPr id="446" name="文本框 445">
            <a:extLst>
              <a:ext uri="{FF2B5EF4-FFF2-40B4-BE49-F238E27FC236}">
                <a16:creationId xmlns:a16="http://schemas.microsoft.com/office/drawing/2014/main" id="{E570BB3E-B43E-1843-B957-B7FB0F134AC8}"/>
              </a:ext>
            </a:extLst>
          </p:cNvPr>
          <p:cNvSpPr txBox="1"/>
          <p:nvPr/>
        </p:nvSpPr>
        <p:spPr>
          <a:xfrm>
            <a:off x="201595" y="2242497"/>
            <a:ext cx="1320402" cy="408415"/>
          </a:xfrm>
          <a:prstGeom prst="rect">
            <a:avLst/>
          </a:prstGeom>
          <a:solidFill>
            <a:schemeClr val="accent4">
              <a:lumMod val="75000"/>
            </a:schemeClr>
          </a:solid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dirty="0">
                <a:latin typeface="+mn-ea"/>
              </a:rPr>
              <a:t>V</a:t>
            </a:r>
            <a:r>
              <a:rPr kumimoji="1" lang="en-US" altLang="zh-CN" sz="1800" b="1" dirty="0">
                <a:latin typeface="+mn-ea"/>
              </a:rPr>
              <a:t>ariation</a:t>
            </a:r>
          </a:p>
        </p:txBody>
      </p:sp>
      <p:sp>
        <p:nvSpPr>
          <p:cNvPr id="447" name="文本框 446">
            <a:extLst>
              <a:ext uri="{FF2B5EF4-FFF2-40B4-BE49-F238E27FC236}">
                <a16:creationId xmlns:a16="http://schemas.microsoft.com/office/drawing/2014/main" id="{27300A3E-B785-A944-9B8C-6E7A350B63BA}"/>
              </a:ext>
            </a:extLst>
          </p:cNvPr>
          <p:cNvSpPr txBox="1"/>
          <p:nvPr/>
        </p:nvSpPr>
        <p:spPr>
          <a:xfrm>
            <a:off x="3647440" y="3104046"/>
            <a:ext cx="1454912" cy="649907"/>
          </a:xfrm>
          <a:prstGeom prst="rect">
            <a:avLst/>
          </a:prstGeom>
          <a:solidFill>
            <a:schemeClr val="accent4">
              <a:lumMod val="75000"/>
            </a:schemeClr>
          </a:solid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sz="1800" b="1" dirty="0">
                <a:latin typeface="+mn-ea"/>
              </a:rPr>
              <a:t>Arbitrary</a:t>
            </a:r>
            <a:r>
              <a:rPr kumimoji="1" lang="zh-CN" altLang="en-US" sz="1800" b="1" dirty="0">
                <a:latin typeface="+mn-ea"/>
              </a:rPr>
              <a:t> </a:t>
            </a:r>
            <a:r>
              <a:rPr kumimoji="1" lang="en-US" altLang="zh-CN" dirty="0">
                <a:latin typeface="+mn-ea"/>
              </a:rPr>
              <a:t>o</a:t>
            </a:r>
            <a:r>
              <a:rPr kumimoji="1" lang="en-US" altLang="zh-CN" sz="1800" b="1" dirty="0">
                <a:latin typeface="+mn-ea"/>
              </a:rPr>
              <a:t>perator</a:t>
            </a:r>
          </a:p>
        </p:txBody>
      </p:sp>
      <p:sp>
        <p:nvSpPr>
          <p:cNvPr id="448" name="文本框 447">
            <a:extLst>
              <a:ext uri="{FF2B5EF4-FFF2-40B4-BE49-F238E27FC236}">
                <a16:creationId xmlns:a16="http://schemas.microsoft.com/office/drawing/2014/main" id="{602D93D8-9E89-B34D-89E9-EE0CC7236DFE}"/>
              </a:ext>
            </a:extLst>
          </p:cNvPr>
          <p:cNvSpPr txBox="1"/>
          <p:nvPr/>
        </p:nvSpPr>
        <p:spPr>
          <a:xfrm>
            <a:off x="2770632" y="2116713"/>
            <a:ext cx="2331720" cy="408415"/>
          </a:xfrm>
          <a:prstGeom prst="rect">
            <a:avLst/>
          </a:prstGeom>
          <a:solidFill>
            <a:schemeClr val="accent4">
              <a:lumMod val="75000"/>
            </a:schemeClr>
          </a:solid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dirty="0">
                <a:latin typeface="+mn-ea"/>
              </a:rPr>
              <a:t>System</a:t>
            </a:r>
            <a:r>
              <a:rPr kumimoji="1" lang="zh-CN" altLang="en-US" dirty="0">
                <a:latin typeface="+mn-ea"/>
              </a:rPr>
              <a:t> </a:t>
            </a:r>
            <a:r>
              <a:rPr kumimoji="1" lang="en-US" altLang="zh-CN" dirty="0">
                <a:latin typeface="+mn-ea"/>
              </a:rPr>
              <a:t>Hamiltonian</a:t>
            </a:r>
            <a:endParaRPr kumimoji="1" lang="en-US" altLang="zh-CN" sz="1800" b="1" dirty="0">
              <a:latin typeface="+mn-ea"/>
            </a:endParaRPr>
          </a:p>
        </p:txBody>
      </p:sp>
      <p:sp>
        <p:nvSpPr>
          <p:cNvPr id="449" name="文本框 448">
            <a:extLst>
              <a:ext uri="{FF2B5EF4-FFF2-40B4-BE49-F238E27FC236}">
                <a16:creationId xmlns:a16="http://schemas.microsoft.com/office/drawing/2014/main" id="{DEDDF89B-FFA4-D346-AC42-D0A599D20532}"/>
              </a:ext>
            </a:extLst>
          </p:cNvPr>
          <p:cNvSpPr txBox="1"/>
          <p:nvPr/>
        </p:nvSpPr>
        <p:spPr>
          <a:xfrm>
            <a:off x="71728" y="3905596"/>
            <a:ext cx="2375633" cy="369332"/>
          </a:xfrm>
          <a:prstGeom prst="rect">
            <a:avLst/>
          </a:prstGeom>
          <a:noFill/>
        </p:spPr>
        <p:txBody>
          <a:bodyPr wrap="square" rtlCol="0">
            <a:spAutoFit/>
          </a:bodyPr>
          <a:lstStyle/>
          <a:p>
            <a:r>
              <a:rPr kumimoji="1" lang="en-US" altLang="zh-CN" b="1" dirty="0">
                <a:solidFill>
                  <a:srgbClr val="FF0000"/>
                </a:solidFill>
                <a:latin typeface="+mj-lt"/>
              </a:rPr>
              <a:t>If</a:t>
            </a:r>
            <a:r>
              <a:rPr kumimoji="1" lang="zh-CN" altLang="en-US" b="1" dirty="0">
                <a:solidFill>
                  <a:srgbClr val="FF0000"/>
                </a:solidFill>
                <a:latin typeface="+mj-lt"/>
              </a:rPr>
              <a:t> </a:t>
            </a:r>
            <a:r>
              <a:rPr kumimoji="1" lang="en-US" altLang="zh-CN" b="1" dirty="0">
                <a:solidFill>
                  <a:srgbClr val="FF0000"/>
                </a:solidFill>
                <a:latin typeface="+mj-lt"/>
              </a:rPr>
              <a:t>A</a:t>
            </a:r>
            <a:r>
              <a:rPr kumimoji="1" lang="zh-CN" altLang="en-US" b="1" dirty="0">
                <a:solidFill>
                  <a:srgbClr val="FF0000"/>
                </a:solidFill>
                <a:latin typeface="+mj-lt"/>
              </a:rPr>
              <a:t> </a:t>
            </a:r>
            <a:r>
              <a:rPr kumimoji="1" lang="en-US" altLang="zh-CN" b="1" dirty="0">
                <a:solidFill>
                  <a:srgbClr val="FF0000"/>
                </a:solidFill>
                <a:latin typeface="+mj-lt"/>
              </a:rPr>
              <a:t>Commutes</a:t>
            </a:r>
            <a:r>
              <a:rPr kumimoji="1" lang="zh-CN" altLang="en-US" b="1" dirty="0">
                <a:solidFill>
                  <a:srgbClr val="FF0000"/>
                </a:solidFill>
                <a:latin typeface="+mj-lt"/>
              </a:rPr>
              <a:t> </a:t>
            </a:r>
            <a:r>
              <a:rPr kumimoji="1" lang="en-US" altLang="zh-CN" b="1" dirty="0">
                <a:solidFill>
                  <a:srgbClr val="FF0000"/>
                </a:solidFill>
                <a:latin typeface="+mj-lt"/>
              </a:rPr>
              <a:t>with</a:t>
            </a:r>
            <a:r>
              <a:rPr kumimoji="1" lang="zh-CN" altLang="en-US" b="1" dirty="0">
                <a:solidFill>
                  <a:srgbClr val="FF0000"/>
                </a:solidFill>
                <a:latin typeface="+mj-lt"/>
              </a:rPr>
              <a:t> </a:t>
            </a:r>
            <a:r>
              <a:rPr kumimoji="1" lang="en-US" altLang="zh-CN" b="1" dirty="0">
                <a:solidFill>
                  <a:srgbClr val="FF0000"/>
                </a:solidFill>
                <a:latin typeface="+mj-lt"/>
              </a:rPr>
              <a:t>H</a:t>
            </a:r>
            <a:endParaRPr kumimoji="1" lang="zh-CN" altLang="en-US" b="1" dirty="0">
              <a:solidFill>
                <a:srgbClr val="FF0000"/>
              </a:solidFill>
              <a:latin typeface="+mj-lt"/>
            </a:endParaRPr>
          </a:p>
        </p:txBody>
      </p:sp>
      <p:cxnSp>
        <p:nvCxnSpPr>
          <p:cNvPr id="450" name="直线连接符 19">
            <a:extLst>
              <a:ext uri="{FF2B5EF4-FFF2-40B4-BE49-F238E27FC236}">
                <a16:creationId xmlns:a16="http://schemas.microsoft.com/office/drawing/2014/main" id="{893CA6DA-F9A1-1841-A849-7AA3984B8AAC}"/>
              </a:ext>
            </a:extLst>
          </p:cNvPr>
          <p:cNvCxnSpPr>
            <a:cxnSpLocks/>
          </p:cNvCxnSpPr>
          <p:nvPr/>
        </p:nvCxnSpPr>
        <p:spPr>
          <a:xfrm>
            <a:off x="2644308" y="3765493"/>
            <a:ext cx="0" cy="74177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51" name="文本框 450">
            <a:extLst>
              <a:ext uri="{FF2B5EF4-FFF2-40B4-BE49-F238E27FC236}">
                <a16:creationId xmlns:a16="http://schemas.microsoft.com/office/drawing/2014/main" id="{256F50C5-D9F3-2247-BED9-DB589FA09E4E}"/>
              </a:ext>
            </a:extLst>
          </p:cNvPr>
          <p:cNvSpPr txBox="1"/>
          <p:nvPr/>
        </p:nvSpPr>
        <p:spPr>
          <a:xfrm>
            <a:off x="745188" y="5648275"/>
            <a:ext cx="3956818" cy="458455"/>
          </a:xfrm>
          <a:prstGeom prst="rect">
            <a:avLst/>
          </a:prstGeom>
          <a:solidFill>
            <a:schemeClr val="accent4">
              <a:lumMod val="75000"/>
            </a:schemeClr>
          </a:solid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sz="1800" b="1" dirty="0">
                <a:latin typeface="+mn-ea"/>
              </a:rPr>
              <a:t>The</a:t>
            </a:r>
            <a:r>
              <a:rPr kumimoji="1" lang="zh-CN" altLang="en-US" sz="1800" b="1" dirty="0">
                <a:latin typeface="+mn-ea"/>
              </a:rPr>
              <a:t> </a:t>
            </a:r>
            <a:r>
              <a:rPr kumimoji="1" lang="en-US" altLang="zh-CN" sz="1800" b="1" dirty="0">
                <a:latin typeface="+mn-ea"/>
              </a:rPr>
              <a:t>operator</a:t>
            </a:r>
            <a:r>
              <a:rPr kumimoji="1" lang="zh-CN" altLang="en-US" sz="1800" b="1" dirty="0">
                <a:latin typeface="+mn-ea"/>
              </a:rPr>
              <a:t> </a:t>
            </a:r>
            <a:r>
              <a:rPr kumimoji="1" lang="en-US" altLang="zh-CN" sz="1800" b="1" dirty="0">
                <a:latin typeface="+mn-ea"/>
              </a:rPr>
              <a:t>is</a:t>
            </a:r>
            <a:r>
              <a:rPr kumimoji="1" lang="zh-CN" altLang="en-US" sz="1800" b="1" dirty="0">
                <a:latin typeface="+mn-ea"/>
              </a:rPr>
              <a:t> </a:t>
            </a:r>
            <a:r>
              <a:rPr kumimoji="1" lang="en-US" altLang="zh-CN" sz="1800" b="1" dirty="0">
                <a:latin typeface="+mn-ea"/>
              </a:rPr>
              <a:t>unchanged</a:t>
            </a:r>
          </a:p>
        </p:txBody>
      </p:sp>
      <mc:AlternateContent xmlns:mc="http://schemas.openxmlformats.org/markup-compatibility/2006" xmlns:a14="http://schemas.microsoft.com/office/drawing/2010/main">
        <mc:Choice Requires="a14">
          <p:sp>
            <p:nvSpPr>
              <p:cNvPr id="452" name="文本框 451">
                <a:extLst>
                  <a:ext uri="{FF2B5EF4-FFF2-40B4-BE49-F238E27FC236}">
                    <a16:creationId xmlns:a16="http://schemas.microsoft.com/office/drawing/2014/main" id="{93D58ADD-C9EC-CD45-9F67-2A2A0872FE18}"/>
                  </a:ext>
                </a:extLst>
              </p:cNvPr>
              <p:cNvSpPr txBox="1"/>
              <p:nvPr/>
            </p:nvSpPr>
            <p:spPr>
              <a:xfrm>
                <a:off x="2770833" y="3954070"/>
                <a:ext cx="125855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m:t>
                          </m:r>
                        </m:e>
                      </m:d>
                      <m:r>
                        <a:rPr kumimoji="1" lang="en-US" altLang="zh-CN" b="0" i="1" smtClean="0">
                          <a:latin typeface="Cambria Math" panose="02040503050406030204" pitchFamily="18" charset="0"/>
                        </a:rPr>
                        <m:t>=0</m:t>
                      </m:r>
                    </m:oMath>
                  </m:oMathPara>
                </a14:m>
                <a:endParaRPr kumimoji="1" lang="zh-CN" altLang="en-US" dirty="0"/>
              </a:p>
            </p:txBody>
          </p:sp>
        </mc:Choice>
        <mc:Fallback xmlns="">
          <p:sp>
            <p:nvSpPr>
              <p:cNvPr id="452" name="文本框 451">
                <a:extLst>
                  <a:ext uri="{FF2B5EF4-FFF2-40B4-BE49-F238E27FC236}">
                    <a16:creationId xmlns:a16="http://schemas.microsoft.com/office/drawing/2014/main" id="{93D58ADD-C9EC-CD45-9F67-2A2A0872FE18}"/>
                  </a:ext>
                </a:extLst>
              </p:cNvPr>
              <p:cNvSpPr txBox="1">
                <a:spLocks noRot="1" noChangeAspect="1" noMove="1" noResize="1" noEditPoints="1" noAdjustHandles="1" noChangeArrowheads="1" noChangeShapeType="1" noTextEdit="1"/>
              </p:cNvSpPr>
              <p:nvPr/>
            </p:nvSpPr>
            <p:spPr>
              <a:xfrm>
                <a:off x="2770833" y="3954070"/>
                <a:ext cx="1258556"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3" name="文本框 452">
                <a:extLst>
                  <a:ext uri="{FF2B5EF4-FFF2-40B4-BE49-F238E27FC236}">
                    <a16:creationId xmlns:a16="http://schemas.microsoft.com/office/drawing/2014/main" id="{489AE499-11B2-CD41-AB4E-F870B77EEC63}"/>
                  </a:ext>
                </a:extLst>
              </p:cNvPr>
              <p:cNvSpPr txBox="1"/>
              <p:nvPr/>
            </p:nvSpPr>
            <p:spPr>
              <a:xfrm>
                <a:off x="2186629" y="4515757"/>
                <a:ext cx="1105318" cy="6183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A</m:t>
                          </m:r>
                        </m:num>
                        <m:den>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t</m:t>
                          </m:r>
                        </m:den>
                      </m:f>
                      <m:r>
                        <a:rPr kumimoji="1" lang="en-US" altLang="zh-CN" b="0" i="1" smtClean="0">
                          <a:latin typeface="Cambria Math" panose="02040503050406030204" pitchFamily="18" charset="0"/>
                        </a:rPr>
                        <m:t>=0</m:t>
                      </m:r>
                    </m:oMath>
                  </m:oMathPara>
                </a14:m>
                <a:endParaRPr lang="zh-CN" altLang="en-US" dirty="0"/>
              </a:p>
            </p:txBody>
          </p:sp>
        </mc:Choice>
        <mc:Fallback xmlns="">
          <p:sp>
            <p:nvSpPr>
              <p:cNvPr id="453" name="文本框 452">
                <a:extLst>
                  <a:ext uri="{FF2B5EF4-FFF2-40B4-BE49-F238E27FC236}">
                    <a16:creationId xmlns:a16="http://schemas.microsoft.com/office/drawing/2014/main" id="{489AE499-11B2-CD41-AB4E-F870B77EEC63}"/>
                  </a:ext>
                </a:extLst>
              </p:cNvPr>
              <p:cNvSpPr txBox="1">
                <a:spLocks noRot="1" noChangeAspect="1" noMove="1" noResize="1" noEditPoints="1" noAdjustHandles="1" noChangeArrowheads="1" noChangeShapeType="1" noTextEdit="1"/>
              </p:cNvSpPr>
              <p:nvPr/>
            </p:nvSpPr>
            <p:spPr>
              <a:xfrm>
                <a:off x="2186629" y="4515757"/>
                <a:ext cx="1105318" cy="618374"/>
              </a:xfrm>
              <a:prstGeom prst="rect">
                <a:avLst/>
              </a:prstGeom>
              <a:blipFill>
                <a:blip r:embed="rId5"/>
                <a:stretch>
                  <a:fillRect b="-18000"/>
                </a:stretch>
              </a:blipFill>
            </p:spPr>
            <p:txBody>
              <a:bodyPr/>
              <a:lstStyle/>
              <a:p>
                <a:r>
                  <a:rPr lang="zh-CN" altLang="en-US">
                    <a:noFill/>
                  </a:rPr>
                  <a:t> </a:t>
                </a:r>
              </a:p>
            </p:txBody>
          </p:sp>
        </mc:Fallback>
      </mc:AlternateContent>
      <p:cxnSp>
        <p:nvCxnSpPr>
          <p:cNvPr id="454" name="直线连接符 19">
            <a:extLst>
              <a:ext uri="{FF2B5EF4-FFF2-40B4-BE49-F238E27FC236}">
                <a16:creationId xmlns:a16="http://schemas.microsoft.com/office/drawing/2014/main" id="{AA90219C-7B89-6B41-9414-D370F4D3295C}"/>
              </a:ext>
            </a:extLst>
          </p:cNvPr>
          <p:cNvCxnSpPr>
            <a:cxnSpLocks/>
          </p:cNvCxnSpPr>
          <p:nvPr/>
        </p:nvCxnSpPr>
        <p:spPr>
          <a:xfrm>
            <a:off x="2634868" y="5196435"/>
            <a:ext cx="0" cy="387069"/>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2480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标题 1">
            <a:extLst>
              <a:ext uri="{FF2B5EF4-FFF2-40B4-BE49-F238E27FC236}">
                <a16:creationId xmlns:a16="http://schemas.microsoft.com/office/drawing/2014/main" id="{CFCAF8D9-31F2-51B4-265F-AA1C2F60CD4F}"/>
              </a:ext>
            </a:extLst>
          </p:cNvPr>
          <p:cNvSpPr>
            <a:spLocks noGrp="1"/>
          </p:cNvSpPr>
          <p:nvPr>
            <p:ph type="title"/>
          </p:nvPr>
        </p:nvSpPr>
        <p:spPr>
          <a:xfrm>
            <a:off x="718217" y="124618"/>
            <a:ext cx="9132336" cy="678468"/>
          </a:xfrm>
        </p:spPr>
        <p:txBody>
          <a:bodyPr>
            <a:normAutofit/>
          </a:bodyPr>
          <a:lstStyle/>
          <a:p>
            <a:r>
              <a:rPr lang="en-US" altLang="zh-CN" sz="2800" dirty="0"/>
              <a:t>Heisenberg picture</a:t>
            </a:r>
            <a:endParaRPr lang="zh-CN" altLang="en-US" sz="2800" dirty="0"/>
          </a:p>
        </p:txBody>
      </p:sp>
      <mc:AlternateContent xmlns:mc="http://schemas.openxmlformats.org/markup-compatibility/2006" xmlns:a14="http://schemas.microsoft.com/office/drawing/2010/main">
        <mc:Choice Requires="a14">
          <p:sp>
            <p:nvSpPr>
              <p:cNvPr id="440" name="文本框 439">
                <a:extLst>
                  <a:ext uri="{FF2B5EF4-FFF2-40B4-BE49-F238E27FC236}">
                    <a16:creationId xmlns:a16="http://schemas.microsoft.com/office/drawing/2014/main" id="{A9C5726F-E394-BB4C-AEB1-86814825E8D4}"/>
                  </a:ext>
                </a:extLst>
              </p:cNvPr>
              <p:cNvSpPr txBox="1"/>
              <p:nvPr/>
            </p:nvSpPr>
            <p:spPr>
              <a:xfrm>
                <a:off x="1521997" y="2592147"/>
                <a:ext cx="1848262" cy="1237968"/>
              </a:xfrm>
              <a:prstGeom prst="rect">
                <a:avLst/>
              </a:prstGeom>
              <a:noFill/>
            </p:spPr>
            <p:txBody>
              <a:bodyPr wrap="none" lIns="0" tIns="0" rIns="0" bIns="0" rtlCol="0">
                <a:spAutoFit/>
              </a:bodyPr>
              <a:lstStyle/>
              <a:p>
                <a:pPr>
                  <a:lnSpc>
                    <a:spcPct val="150000"/>
                  </a:lnSpc>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r>
                            <m:rPr>
                              <m:sty m:val="p"/>
                            </m:rPr>
                            <a:rPr kumimoji="1" lang="en-US" altLang="zh-CN" i="1">
                              <a:latin typeface="Cambria Math" panose="02040503050406030204" pitchFamily="18" charset="0"/>
                            </a:rPr>
                            <m:t>dA</m:t>
                          </m:r>
                        </m:num>
                        <m:den>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t</m:t>
                          </m:r>
                        </m:den>
                      </m:f>
                      <m:r>
                        <a:rPr kumimoji="1" lang="en-US" altLang="zh-CN" b="0" i="1" smtClean="0">
                          <a:latin typeface="Cambria Math" panose="02040503050406030204" pitchFamily="18" charset="0"/>
                        </a:rPr>
                        <m:t>=</m:t>
                      </m:r>
                      <m:r>
                        <a:rPr kumimoji="1" lang="zh-CN" altLang="en-US" b="0" i="1" smtClean="0">
                          <a:latin typeface="Cambria Math" panose="02040503050406030204" pitchFamily="18" charset="0"/>
                        </a:rPr>
                        <m:t> </m:t>
                      </m:r>
                      <m:f>
                        <m:fPr>
                          <m:ctrlPr>
                            <a:rPr kumimoji="1" lang="en-US" altLang="zh-CN" b="0" i="1" smtClean="0">
                              <a:latin typeface="Cambria Math" panose="02040503050406030204" pitchFamily="18" charset="0"/>
                            </a:rPr>
                          </m:ctrlPr>
                        </m:fPr>
                        <m:num>
                          <m:r>
                            <m:rPr>
                              <m:sty m:val="p"/>
                            </m:rPr>
                            <a:rPr kumimoji="1" lang="en-US" altLang="zh-CN" i="1">
                              <a:latin typeface="Cambria Math" panose="02040503050406030204" pitchFamily="18" charset="0"/>
                            </a:rPr>
                            <m:t>i</m:t>
                          </m:r>
                        </m:num>
                        <m:den>
                          <m:r>
                            <a:rPr kumimoji="1" lang="en-US" altLang="zh-CN" b="0" i="1" smtClean="0">
                              <a:latin typeface="Cambria Math" panose="02040503050406030204" pitchFamily="18" charset="0"/>
                              <a:ea typeface="Cambria Math" panose="02040503050406030204" pitchFamily="18" charset="0"/>
                            </a:rPr>
                            <m:t>ℏ</m:t>
                          </m:r>
                        </m:den>
                      </m:f>
                      <m:r>
                        <a:rPr kumimoji="1" lang="en-US" altLang="zh-CN" b="0" i="1" smtClean="0">
                          <a:latin typeface="Cambria Math" panose="02040503050406030204" pitchFamily="18" charset="0"/>
                        </a:rPr>
                        <m:t> </m:t>
                      </m:r>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m:t>
                          </m:r>
                        </m:e>
                      </m:d>
                    </m:oMath>
                  </m:oMathPara>
                </a14:m>
                <a:endParaRPr kumimoji="1" lang="en-US" altLang="zh-CN" b="0" dirty="0"/>
              </a:p>
              <a:p>
                <a:pPr>
                  <a:lnSpc>
                    <a:spcPct val="150000"/>
                  </a:lnSpc>
                </a:pPr>
                <a14:m>
                  <m:oMathPara xmlns:m="http://schemas.openxmlformats.org/officeDocument/2006/math">
                    <m:oMathParaPr>
                      <m:jc m:val="centerGroup"/>
                    </m:oMathParaPr>
                    <m:oMath xmlns:m="http://schemas.openxmlformats.org/officeDocument/2006/math">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𝐴𝐻</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𝐻𝐴</m:t>
                      </m:r>
                    </m:oMath>
                  </m:oMathPara>
                </a14:m>
                <a:endParaRPr kumimoji="1" lang="zh-CN" altLang="en-US" dirty="0"/>
              </a:p>
            </p:txBody>
          </p:sp>
        </mc:Choice>
        <mc:Fallback xmlns="">
          <p:sp>
            <p:nvSpPr>
              <p:cNvPr id="440" name="文本框 439">
                <a:extLst>
                  <a:ext uri="{FF2B5EF4-FFF2-40B4-BE49-F238E27FC236}">
                    <a16:creationId xmlns:a16="http://schemas.microsoft.com/office/drawing/2014/main" id="{A9C5726F-E394-BB4C-AEB1-86814825E8D4}"/>
                  </a:ext>
                </a:extLst>
              </p:cNvPr>
              <p:cNvSpPr txBox="1">
                <a:spLocks noRot="1" noChangeAspect="1" noMove="1" noResize="1" noEditPoints="1" noAdjustHandles="1" noChangeArrowheads="1" noChangeShapeType="1" noTextEdit="1"/>
              </p:cNvSpPr>
              <p:nvPr/>
            </p:nvSpPr>
            <p:spPr>
              <a:xfrm>
                <a:off x="1521997" y="2592147"/>
                <a:ext cx="1848262" cy="1237968"/>
              </a:xfrm>
              <a:prstGeom prst="rect">
                <a:avLst/>
              </a:prstGeom>
              <a:blipFill>
                <a:blip r:embed="rId3"/>
                <a:stretch>
                  <a:fillRect r="-2055"/>
                </a:stretch>
              </a:blipFill>
            </p:spPr>
            <p:txBody>
              <a:bodyPr/>
              <a:lstStyle/>
              <a:p>
                <a:r>
                  <a:rPr lang="zh-CN" altLang="en-US">
                    <a:noFill/>
                  </a:rPr>
                  <a:t> </a:t>
                </a:r>
              </a:p>
            </p:txBody>
          </p:sp>
        </mc:Fallback>
      </mc:AlternateContent>
      <p:sp>
        <p:nvSpPr>
          <p:cNvPr id="442" name="文本框 441">
            <a:extLst>
              <a:ext uri="{FF2B5EF4-FFF2-40B4-BE49-F238E27FC236}">
                <a16:creationId xmlns:a16="http://schemas.microsoft.com/office/drawing/2014/main" id="{6A8839B9-F4F1-1C40-B6FA-3F3E4C4E5BD8}"/>
              </a:ext>
            </a:extLst>
          </p:cNvPr>
          <p:cNvSpPr txBox="1"/>
          <p:nvPr/>
        </p:nvSpPr>
        <p:spPr>
          <a:xfrm>
            <a:off x="201595" y="1112351"/>
            <a:ext cx="4980005" cy="455304"/>
          </a:xfrm>
          <a:prstGeom prst="rect">
            <a:avLst/>
          </a:prstGeom>
          <a:gradFill>
            <a:gsLst>
              <a:gs pos="0">
                <a:srgbClr val="3062C9"/>
              </a:gs>
              <a:gs pos="100000">
                <a:srgbClr val="6096E6"/>
              </a:gs>
              <a:gs pos="100000">
                <a:srgbClr val="0A7AE2"/>
              </a:gs>
            </a:gsLst>
            <a:lin ang="10260000" scaled="1"/>
          </a:gra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dirty="0">
                <a:latin typeface="+mn-ea"/>
              </a:rPr>
              <a:t>H</a:t>
            </a:r>
            <a:r>
              <a:rPr kumimoji="1" lang="en-US" altLang="zh-CN" sz="1800" b="1" dirty="0">
                <a:latin typeface="+mn-ea"/>
              </a:rPr>
              <a:t>eisenberg</a:t>
            </a:r>
            <a:r>
              <a:rPr kumimoji="1" lang="zh-CN" altLang="en-US" sz="1800" b="1" dirty="0">
                <a:latin typeface="+mn-ea"/>
              </a:rPr>
              <a:t> </a:t>
            </a:r>
            <a:r>
              <a:rPr kumimoji="1" lang="en-US" altLang="zh-CN" sz="1800" b="1" dirty="0">
                <a:latin typeface="+mn-ea"/>
              </a:rPr>
              <a:t>Picture</a:t>
            </a:r>
          </a:p>
        </p:txBody>
      </p:sp>
      <p:cxnSp>
        <p:nvCxnSpPr>
          <p:cNvPr id="443" name="直接箭头连接符 9">
            <a:extLst>
              <a:ext uri="{FF2B5EF4-FFF2-40B4-BE49-F238E27FC236}">
                <a16:creationId xmlns:a16="http://schemas.microsoft.com/office/drawing/2014/main" id="{605F49AD-9C41-B24B-AE9E-BC083A54C929}"/>
              </a:ext>
            </a:extLst>
          </p:cNvPr>
          <p:cNvCxnSpPr>
            <a:cxnSpLocks/>
            <a:endCxn id="446" idx="2"/>
          </p:cNvCxnSpPr>
          <p:nvPr/>
        </p:nvCxnSpPr>
        <p:spPr bwMode="auto">
          <a:xfrm flipH="1" flipV="1">
            <a:off x="851930" y="2650912"/>
            <a:ext cx="709520" cy="422360"/>
          </a:xfrm>
          <a:prstGeom prst="straightConnector1">
            <a:avLst/>
          </a:prstGeom>
          <a:ln w="12700">
            <a:solidFill>
              <a:schemeClr val="tx1">
                <a:lumMod val="65000"/>
                <a:lumOff val="35000"/>
              </a:schemeClr>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44" name="直接箭头连接符 10">
            <a:extLst>
              <a:ext uri="{FF2B5EF4-FFF2-40B4-BE49-F238E27FC236}">
                <a16:creationId xmlns:a16="http://schemas.microsoft.com/office/drawing/2014/main" id="{360F5E12-AAE2-FB4D-899C-992494966948}"/>
              </a:ext>
            </a:extLst>
          </p:cNvPr>
          <p:cNvCxnSpPr>
            <a:cxnSpLocks/>
            <a:endCxn id="447" idx="1"/>
          </p:cNvCxnSpPr>
          <p:nvPr/>
        </p:nvCxnSpPr>
        <p:spPr bwMode="auto">
          <a:xfrm>
            <a:off x="2761488" y="3255264"/>
            <a:ext cx="1024524" cy="173736"/>
          </a:xfrm>
          <a:prstGeom prst="straightConnector1">
            <a:avLst/>
          </a:prstGeom>
          <a:ln w="12700">
            <a:solidFill>
              <a:schemeClr val="tx1">
                <a:lumMod val="65000"/>
                <a:lumOff val="35000"/>
              </a:schemeClr>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45" name="直接箭头连接符 15">
            <a:extLst>
              <a:ext uri="{FF2B5EF4-FFF2-40B4-BE49-F238E27FC236}">
                <a16:creationId xmlns:a16="http://schemas.microsoft.com/office/drawing/2014/main" id="{F2BD880A-C943-3042-8DAF-295E0933469C}"/>
              </a:ext>
            </a:extLst>
          </p:cNvPr>
          <p:cNvCxnSpPr>
            <a:cxnSpLocks/>
            <a:endCxn id="448" idx="2"/>
          </p:cNvCxnSpPr>
          <p:nvPr/>
        </p:nvCxnSpPr>
        <p:spPr bwMode="auto">
          <a:xfrm flipV="1">
            <a:off x="2999232" y="2525128"/>
            <a:ext cx="937260" cy="446672"/>
          </a:xfrm>
          <a:prstGeom prst="straightConnector1">
            <a:avLst/>
          </a:prstGeom>
          <a:ln w="12700">
            <a:solidFill>
              <a:schemeClr val="tx1">
                <a:lumMod val="65000"/>
                <a:lumOff val="35000"/>
              </a:schemeClr>
            </a:solidFill>
            <a:headEnd type="none" w="med" len="med"/>
            <a:tailEnd type="triangle"/>
          </a:ln>
        </p:spPr>
        <p:style>
          <a:lnRef idx="1">
            <a:schemeClr val="dk1"/>
          </a:lnRef>
          <a:fillRef idx="0">
            <a:schemeClr val="dk1"/>
          </a:fillRef>
          <a:effectRef idx="0">
            <a:schemeClr val="dk1"/>
          </a:effectRef>
          <a:fontRef idx="minor">
            <a:schemeClr val="tx1"/>
          </a:fontRef>
        </p:style>
      </p:cxnSp>
      <p:sp>
        <p:nvSpPr>
          <p:cNvPr id="446" name="文本框 445">
            <a:extLst>
              <a:ext uri="{FF2B5EF4-FFF2-40B4-BE49-F238E27FC236}">
                <a16:creationId xmlns:a16="http://schemas.microsoft.com/office/drawing/2014/main" id="{E570BB3E-B43E-1843-B957-B7FB0F134AC8}"/>
              </a:ext>
            </a:extLst>
          </p:cNvPr>
          <p:cNvSpPr txBox="1"/>
          <p:nvPr/>
        </p:nvSpPr>
        <p:spPr>
          <a:xfrm>
            <a:off x="201595" y="2242497"/>
            <a:ext cx="1300669" cy="408415"/>
          </a:xfrm>
          <a:prstGeom prst="rect">
            <a:avLst/>
          </a:prstGeom>
          <a:solidFill>
            <a:schemeClr val="accent4">
              <a:lumMod val="75000"/>
            </a:schemeClr>
          </a:solid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dirty="0">
                <a:latin typeface="+mn-ea"/>
              </a:rPr>
              <a:t>V</a:t>
            </a:r>
            <a:r>
              <a:rPr kumimoji="1" lang="en-US" altLang="zh-CN" sz="1800" b="1" dirty="0">
                <a:latin typeface="+mn-ea"/>
              </a:rPr>
              <a:t>ariation</a:t>
            </a:r>
          </a:p>
        </p:txBody>
      </p:sp>
      <p:sp>
        <p:nvSpPr>
          <p:cNvPr id="447" name="文本框 446">
            <a:extLst>
              <a:ext uri="{FF2B5EF4-FFF2-40B4-BE49-F238E27FC236}">
                <a16:creationId xmlns:a16="http://schemas.microsoft.com/office/drawing/2014/main" id="{27300A3E-B785-A944-9B8C-6E7A350B63BA}"/>
              </a:ext>
            </a:extLst>
          </p:cNvPr>
          <p:cNvSpPr txBox="1"/>
          <p:nvPr/>
        </p:nvSpPr>
        <p:spPr>
          <a:xfrm>
            <a:off x="3786012" y="3104046"/>
            <a:ext cx="1278449" cy="649907"/>
          </a:xfrm>
          <a:prstGeom prst="rect">
            <a:avLst/>
          </a:prstGeom>
          <a:solidFill>
            <a:schemeClr val="accent4">
              <a:lumMod val="75000"/>
            </a:schemeClr>
          </a:solid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sz="1800" b="1" dirty="0">
                <a:latin typeface="+mn-ea"/>
              </a:rPr>
              <a:t>Arbitrary</a:t>
            </a:r>
            <a:r>
              <a:rPr kumimoji="1" lang="zh-CN" altLang="en-US" sz="1800" b="1" dirty="0">
                <a:latin typeface="+mn-ea"/>
              </a:rPr>
              <a:t> </a:t>
            </a:r>
            <a:r>
              <a:rPr kumimoji="1" lang="en-US" altLang="zh-CN" dirty="0">
                <a:latin typeface="+mn-ea"/>
              </a:rPr>
              <a:t>o</a:t>
            </a:r>
            <a:r>
              <a:rPr kumimoji="1" lang="en-US" altLang="zh-CN" sz="1800" b="1" dirty="0">
                <a:latin typeface="+mn-ea"/>
              </a:rPr>
              <a:t>perator</a:t>
            </a:r>
          </a:p>
        </p:txBody>
      </p:sp>
      <p:sp>
        <p:nvSpPr>
          <p:cNvPr id="448" name="文本框 447">
            <a:extLst>
              <a:ext uri="{FF2B5EF4-FFF2-40B4-BE49-F238E27FC236}">
                <a16:creationId xmlns:a16="http://schemas.microsoft.com/office/drawing/2014/main" id="{602D93D8-9E89-B34D-89E9-EE0CC7236DFE}"/>
              </a:ext>
            </a:extLst>
          </p:cNvPr>
          <p:cNvSpPr txBox="1"/>
          <p:nvPr/>
        </p:nvSpPr>
        <p:spPr>
          <a:xfrm>
            <a:off x="2770632" y="2116713"/>
            <a:ext cx="2331720" cy="408415"/>
          </a:xfrm>
          <a:prstGeom prst="rect">
            <a:avLst/>
          </a:prstGeom>
          <a:solidFill>
            <a:schemeClr val="accent4">
              <a:lumMod val="75000"/>
            </a:schemeClr>
          </a:solid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dirty="0">
                <a:latin typeface="+mn-ea"/>
              </a:rPr>
              <a:t>System</a:t>
            </a:r>
            <a:r>
              <a:rPr kumimoji="1" lang="zh-CN" altLang="en-US" dirty="0">
                <a:latin typeface="+mn-ea"/>
              </a:rPr>
              <a:t> </a:t>
            </a:r>
            <a:r>
              <a:rPr kumimoji="1" lang="en-US" altLang="zh-CN" dirty="0">
                <a:latin typeface="+mn-ea"/>
              </a:rPr>
              <a:t>Hamiltonian</a:t>
            </a:r>
            <a:endParaRPr kumimoji="1" lang="en-US" altLang="zh-CN" sz="1800" b="1" dirty="0">
              <a:latin typeface="+mn-ea"/>
            </a:endParaRPr>
          </a:p>
        </p:txBody>
      </p:sp>
      <p:cxnSp>
        <p:nvCxnSpPr>
          <p:cNvPr id="450" name="直线连接符 19">
            <a:extLst>
              <a:ext uri="{FF2B5EF4-FFF2-40B4-BE49-F238E27FC236}">
                <a16:creationId xmlns:a16="http://schemas.microsoft.com/office/drawing/2014/main" id="{893CA6DA-F9A1-1841-A849-7AA3984B8AAC}"/>
              </a:ext>
            </a:extLst>
          </p:cNvPr>
          <p:cNvCxnSpPr>
            <a:cxnSpLocks/>
          </p:cNvCxnSpPr>
          <p:nvPr/>
        </p:nvCxnSpPr>
        <p:spPr>
          <a:xfrm>
            <a:off x="2644308" y="3765493"/>
            <a:ext cx="0" cy="74177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51" name="文本框 450">
            <a:extLst>
              <a:ext uri="{FF2B5EF4-FFF2-40B4-BE49-F238E27FC236}">
                <a16:creationId xmlns:a16="http://schemas.microsoft.com/office/drawing/2014/main" id="{256F50C5-D9F3-2247-BED9-DB589FA09E4E}"/>
              </a:ext>
            </a:extLst>
          </p:cNvPr>
          <p:cNvSpPr txBox="1"/>
          <p:nvPr/>
        </p:nvSpPr>
        <p:spPr>
          <a:xfrm>
            <a:off x="745188" y="5648275"/>
            <a:ext cx="3956818" cy="458455"/>
          </a:xfrm>
          <a:prstGeom prst="rect">
            <a:avLst/>
          </a:prstGeom>
          <a:solidFill>
            <a:schemeClr val="accent4">
              <a:lumMod val="75000"/>
            </a:schemeClr>
          </a:solid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sz="1800" b="1" dirty="0">
                <a:latin typeface="+mn-ea"/>
              </a:rPr>
              <a:t>The</a:t>
            </a:r>
            <a:r>
              <a:rPr kumimoji="1" lang="zh-CN" altLang="en-US" sz="1800" b="1" dirty="0">
                <a:latin typeface="+mn-ea"/>
              </a:rPr>
              <a:t> </a:t>
            </a:r>
            <a:r>
              <a:rPr kumimoji="1" lang="en-US" altLang="zh-CN" sz="1800" b="1" dirty="0">
                <a:latin typeface="+mn-ea"/>
              </a:rPr>
              <a:t>operator</a:t>
            </a:r>
            <a:r>
              <a:rPr kumimoji="1" lang="zh-CN" altLang="en-US" sz="1800" b="1" dirty="0">
                <a:latin typeface="+mn-ea"/>
              </a:rPr>
              <a:t> </a:t>
            </a:r>
            <a:r>
              <a:rPr kumimoji="1" lang="en-US" altLang="zh-CN" sz="1800" b="1" dirty="0">
                <a:latin typeface="+mn-ea"/>
              </a:rPr>
              <a:t>is</a:t>
            </a:r>
            <a:r>
              <a:rPr kumimoji="1" lang="zh-CN" altLang="en-US" sz="1800" b="1" dirty="0">
                <a:latin typeface="+mn-ea"/>
              </a:rPr>
              <a:t> </a:t>
            </a:r>
            <a:r>
              <a:rPr kumimoji="1" lang="en-US" altLang="zh-CN" sz="1800" b="1" dirty="0">
                <a:latin typeface="+mn-ea"/>
              </a:rPr>
              <a:t>unchanged</a:t>
            </a:r>
          </a:p>
        </p:txBody>
      </p:sp>
      <mc:AlternateContent xmlns:mc="http://schemas.openxmlformats.org/markup-compatibility/2006" xmlns:a14="http://schemas.microsoft.com/office/drawing/2010/main">
        <mc:Choice Requires="a14">
          <p:sp>
            <p:nvSpPr>
              <p:cNvPr id="452" name="文本框 451">
                <a:extLst>
                  <a:ext uri="{FF2B5EF4-FFF2-40B4-BE49-F238E27FC236}">
                    <a16:creationId xmlns:a16="http://schemas.microsoft.com/office/drawing/2014/main" id="{93D58ADD-C9EC-CD45-9F67-2A2A0872FE18}"/>
                  </a:ext>
                </a:extLst>
              </p:cNvPr>
              <p:cNvSpPr txBox="1"/>
              <p:nvPr/>
            </p:nvSpPr>
            <p:spPr>
              <a:xfrm>
                <a:off x="2770833" y="3954070"/>
                <a:ext cx="125855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m:t>
                          </m:r>
                        </m:e>
                      </m:d>
                      <m:r>
                        <a:rPr kumimoji="1" lang="en-US" altLang="zh-CN" b="0" i="1" smtClean="0">
                          <a:latin typeface="Cambria Math" panose="02040503050406030204" pitchFamily="18" charset="0"/>
                        </a:rPr>
                        <m:t>=0</m:t>
                      </m:r>
                    </m:oMath>
                  </m:oMathPara>
                </a14:m>
                <a:endParaRPr kumimoji="1" lang="zh-CN" altLang="en-US" dirty="0"/>
              </a:p>
            </p:txBody>
          </p:sp>
        </mc:Choice>
        <mc:Fallback xmlns="">
          <p:sp>
            <p:nvSpPr>
              <p:cNvPr id="452" name="文本框 451">
                <a:extLst>
                  <a:ext uri="{FF2B5EF4-FFF2-40B4-BE49-F238E27FC236}">
                    <a16:creationId xmlns:a16="http://schemas.microsoft.com/office/drawing/2014/main" id="{93D58ADD-C9EC-CD45-9F67-2A2A0872FE18}"/>
                  </a:ext>
                </a:extLst>
              </p:cNvPr>
              <p:cNvSpPr txBox="1">
                <a:spLocks noRot="1" noChangeAspect="1" noMove="1" noResize="1" noEditPoints="1" noAdjustHandles="1" noChangeArrowheads="1" noChangeShapeType="1" noTextEdit="1"/>
              </p:cNvSpPr>
              <p:nvPr/>
            </p:nvSpPr>
            <p:spPr>
              <a:xfrm>
                <a:off x="2770833" y="3954070"/>
                <a:ext cx="1258556"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3" name="文本框 452">
                <a:extLst>
                  <a:ext uri="{FF2B5EF4-FFF2-40B4-BE49-F238E27FC236}">
                    <a16:creationId xmlns:a16="http://schemas.microsoft.com/office/drawing/2014/main" id="{489AE499-11B2-CD41-AB4E-F870B77EEC63}"/>
                  </a:ext>
                </a:extLst>
              </p:cNvPr>
              <p:cNvSpPr txBox="1"/>
              <p:nvPr/>
            </p:nvSpPr>
            <p:spPr>
              <a:xfrm>
                <a:off x="2186629" y="4515757"/>
                <a:ext cx="1105318" cy="6183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A</m:t>
                          </m:r>
                        </m:num>
                        <m:den>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t</m:t>
                          </m:r>
                        </m:den>
                      </m:f>
                      <m:r>
                        <a:rPr kumimoji="1" lang="en-US" altLang="zh-CN" b="0" i="1" smtClean="0">
                          <a:latin typeface="Cambria Math" panose="02040503050406030204" pitchFamily="18" charset="0"/>
                        </a:rPr>
                        <m:t>=0</m:t>
                      </m:r>
                    </m:oMath>
                  </m:oMathPara>
                </a14:m>
                <a:endParaRPr lang="zh-CN" altLang="en-US" dirty="0"/>
              </a:p>
            </p:txBody>
          </p:sp>
        </mc:Choice>
        <mc:Fallback xmlns="">
          <p:sp>
            <p:nvSpPr>
              <p:cNvPr id="453" name="文本框 452">
                <a:extLst>
                  <a:ext uri="{FF2B5EF4-FFF2-40B4-BE49-F238E27FC236}">
                    <a16:creationId xmlns:a16="http://schemas.microsoft.com/office/drawing/2014/main" id="{489AE499-11B2-CD41-AB4E-F870B77EEC63}"/>
                  </a:ext>
                </a:extLst>
              </p:cNvPr>
              <p:cNvSpPr txBox="1">
                <a:spLocks noRot="1" noChangeAspect="1" noMove="1" noResize="1" noEditPoints="1" noAdjustHandles="1" noChangeArrowheads="1" noChangeShapeType="1" noTextEdit="1"/>
              </p:cNvSpPr>
              <p:nvPr/>
            </p:nvSpPr>
            <p:spPr>
              <a:xfrm>
                <a:off x="2186629" y="4515757"/>
                <a:ext cx="1105318" cy="618374"/>
              </a:xfrm>
              <a:prstGeom prst="rect">
                <a:avLst/>
              </a:prstGeom>
              <a:blipFill>
                <a:blip r:embed="rId5"/>
                <a:stretch>
                  <a:fillRect b="-18000"/>
                </a:stretch>
              </a:blipFill>
            </p:spPr>
            <p:txBody>
              <a:bodyPr/>
              <a:lstStyle/>
              <a:p>
                <a:r>
                  <a:rPr lang="zh-CN" altLang="en-US">
                    <a:noFill/>
                  </a:rPr>
                  <a:t> </a:t>
                </a:r>
              </a:p>
            </p:txBody>
          </p:sp>
        </mc:Fallback>
      </mc:AlternateContent>
      <p:cxnSp>
        <p:nvCxnSpPr>
          <p:cNvPr id="454" name="直线连接符 19">
            <a:extLst>
              <a:ext uri="{FF2B5EF4-FFF2-40B4-BE49-F238E27FC236}">
                <a16:creationId xmlns:a16="http://schemas.microsoft.com/office/drawing/2014/main" id="{AA90219C-7B89-6B41-9414-D370F4D3295C}"/>
              </a:ext>
            </a:extLst>
          </p:cNvPr>
          <p:cNvCxnSpPr>
            <a:cxnSpLocks/>
          </p:cNvCxnSpPr>
          <p:nvPr/>
        </p:nvCxnSpPr>
        <p:spPr>
          <a:xfrm>
            <a:off x="2634868" y="5196435"/>
            <a:ext cx="0" cy="387069"/>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455" name="直线连接符 19">
            <a:extLst>
              <a:ext uri="{FF2B5EF4-FFF2-40B4-BE49-F238E27FC236}">
                <a16:creationId xmlns:a16="http://schemas.microsoft.com/office/drawing/2014/main" id="{278B6922-5C27-3D40-A753-13C8015AAF73}"/>
              </a:ext>
            </a:extLst>
          </p:cNvPr>
          <p:cNvCxnSpPr>
            <a:cxnSpLocks/>
            <a:stCxn id="448" idx="3"/>
          </p:cNvCxnSpPr>
          <p:nvPr/>
        </p:nvCxnSpPr>
        <p:spPr>
          <a:xfrm>
            <a:off x="5102352" y="2320921"/>
            <a:ext cx="1322258"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456" name="直线连接符 19">
            <a:extLst>
              <a:ext uri="{FF2B5EF4-FFF2-40B4-BE49-F238E27FC236}">
                <a16:creationId xmlns:a16="http://schemas.microsoft.com/office/drawing/2014/main" id="{F2A5DD74-45DE-8A42-98C6-D5DD445FA684}"/>
              </a:ext>
            </a:extLst>
          </p:cNvPr>
          <p:cNvCxnSpPr>
            <a:cxnSpLocks/>
            <a:endCxn id="457" idx="1"/>
          </p:cNvCxnSpPr>
          <p:nvPr/>
        </p:nvCxnSpPr>
        <p:spPr>
          <a:xfrm>
            <a:off x="5081132" y="3399296"/>
            <a:ext cx="2974297" cy="25087"/>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7" name="文本框 456">
                <a:extLst>
                  <a:ext uri="{FF2B5EF4-FFF2-40B4-BE49-F238E27FC236}">
                    <a16:creationId xmlns:a16="http://schemas.microsoft.com/office/drawing/2014/main" id="{A88A2783-0C80-D64E-B0E1-38B118423908}"/>
                  </a:ext>
                </a:extLst>
              </p:cNvPr>
              <p:cNvSpPr txBox="1"/>
              <p:nvPr/>
            </p:nvSpPr>
            <p:spPr>
              <a:xfrm>
                <a:off x="8055429" y="3220175"/>
                <a:ext cx="2908661" cy="408415"/>
              </a:xfrm>
              <a:prstGeom prst="rect">
                <a:avLst/>
              </a:prstGeom>
              <a:solidFill>
                <a:schemeClr val="accent4">
                  <a:lumMod val="75000"/>
                </a:schemeClr>
              </a:solid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sz="1800" b="1" dirty="0"/>
                  <a:t>Constraints operator</a:t>
                </a:r>
                <a14:m>
                  <m:oMath xmlns:m="http://schemas.openxmlformats.org/officeDocument/2006/math">
                    <m:r>
                      <a:rPr kumimoji="1" lang="en-US" altLang="zh-CN" sz="1800" b="1" i="0" dirty="0" smtClean="0">
                        <a:latin typeface="Cambria Math" panose="02040503050406030204" pitchFamily="18" charset="0"/>
                      </a:rPr>
                      <m:t> </m:t>
                    </m:r>
                    <m:r>
                      <a:rPr kumimoji="1" lang="en-US" altLang="zh-CN" sz="1800" b="1" i="1" dirty="0" smtClean="0">
                        <a:latin typeface="Cambria Math" panose="02040503050406030204" pitchFamily="18" charset="0"/>
                      </a:rPr>
                      <m:t>𝑪</m:t>
                    </m:r>
                  </m:oMath>
                </a14:m>
                <a:endParaRPr kumimoji="1" lang="en-US" altLang="zh-CN" sz="1800" b="1" dirty="0">
                  <a:latin typeface="+mn-ea"/>
                </a:endParaRPr>
              </a:p>
            </p:txBody>
          </p:sp>
        </mc:Choice>
        <mc:Fallback xmlns="">
          <p:sp>
            <p:nvSpPr>
              <p:cNvPr id="457" name="文本框 456">
                <a:extLst>
                  <a:ext uri="{FF2B5EF4-FFF2-40B4-BE49-F238E27FC236}">
                    <a16:creationId xmlns:a16="http://schemas.microsoft.com/office/drawing/2014/main" id="{A88A2783-0C80-D64E-B0E1-38B118423908}"/>
                  </a:ext>
                </a:extLst>
              </p:cNvPr>
              <p:cNvSpPr txBox="1">
                <a:spLocks noRot="1" noChangeAspect="1" noMove="1" noResize="1" noEditPoints="1" noAdjustHandles="1" noChangeArrowheads="1" noChangeShapeType="1" noTextEdit="1"/>
              </p:cNvSpPr>
              <p:nvPr/>
            </p:nvSpPr>
            <p:spPr>
              <a:xfrm>
                <a:off x="8055429" y="3220175"/>
                <a:ext cx="2908661" cy="408415"/>
              </a:xfrm>
              <a:prstGeom prst="rect">
                <a:avLst/>
              </a:prstGeom>
              <a:blipFill>
                <a:blip r:embed="rId6"/>
                <a:stretch>
                  <a:fillRect/>
                </a:stretch>
              </a:blip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8" name="文本框 457">
                <a:extLst>
                  <a:ext uri="{FF2B5EF4-FFF2-40B4-BE49-F238E27FC236}">
                    <a16:creationId xmlns:a16="http://schemas.microsoft.com/office/drawing/2014/main" id="{55D4E435-5174-1942-A11B-4C1D71D940C7}"/>
                  </a:ext>
                </a:extLst>
              </p:cNvPr>
              <p:cNvSpPr txBox="1"/>
              <p:nvPr/>
            </p:nvSpPr>
            <p:spPr>
              <a:xfrm>
                <a:off x="6444343" y="2107068"/>
                <a:ext cx="5519058" cy="408415"/>
              </a:xfrm>
              <a:prstGeom prst="rect">
                <a:avLst/>
              </a:prstGeom>
              <a:solidFill>
                <a:schemeClr val="accent4">
                  <a:lumMod val="75000"/>
                </a:schemeClr>
              </a:solid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sz="1800" b="1" dirty="0">
                    <a:latin typeface="+mn-ea"/>
                  </a:rPr>
                  <a:t>Object Hamiltonian +</a:t>
                </a:r>
                <a:r>
                  <a:rPr kumimoji="1" lang="zh-CN" altLang="en-US" sz="1800" b="1" dirty="0">
                    <a:latin typeface="+mn-ea"/>
                  </a:rPr>
                  <a:t> </a:t>
                </a:r>
                <a:r>
                  <a:rPr kumimoji="1" lang="en-US" altLang="zh-CN" sz="1800" b="1" dirty="0">
                    <a:latin typeface="+mn-ea"/>
                  </a:rPr>
                  <a:t>Driver Hamiltonian</a:t>
                </a:r>
                <a14:m>
                  <m:oMath xmlns:m="http://schemas.openxmlformats.org/officeDocument/2006/math">
                    <m:sSup>
                      <m:sSupPr>
                        <m:ctrlPr>
                          <a:rPr kumimoji="1" lang="en-US" altLang="zh-CN" sz="1800" b="1" i="1" smtClean="0">
                            <a:latin typeface="Cambria Math" panose="02040503050406030204" pitchFamily="18" charset="0"/>
                          </a:rPr>
                        </m:ctrlPr>
                      </m:sSupPr>
                      <m:e>
                        <m:r>
                          <m:rPr>
                            <m:sty m:val="p"/>
                          </m:rPr>
                          <a:rPr kumimoji="1" lang="en-US" altLang="zh-CN" i="1">
                            <a:latin typeface="Cambria Math" panose="02040503050406030204" pitchFamily="18" charset="0"/>
                          </a:rPr>
                          <m:t>H</m:t>
                        </m:r>
                      </m:e>
                      <m:sup>
                        <m:r>
                          <m:rPr>
                            <m:sty m:val="p"/>
                          </m:rPr>
                          <a:rPr kumimoji="1" lang="en-US" altLang="zh-CN" i="1">
                            <a:latin typeface="Cambria Math" panose="02040503050406030204" pitchFamily="18" charset="0"/>
                          </a:rPr>
                          <m:t>d</m:t>
                        </m:r>
                      </m:sup>
                    </m:sSup>
                  </m:oMath>
                </a14:m>
                <a:endParaRPr kumimoji="1" lang="en-US" altLang="zh-CN" sz="1800" b="1" dirty="0">
                  <a:latin typeface="+mn-ea"/>
                </a:endParaRPr>
              </a:p>
            </p:txBody>
          </p:sp>
        </mc:Choice>
        <mc:Fallback xmlns="">
          <p:sp>
            <p:nvSpPr>
              <p:cNvPr id="458" name="文本框 457">
                <a:extLst>
                  <a:ext uri="{FF2B5EF4-FFF2-40B4-BE49-F238E27FC236}">
                    <a16:creationId xmlns:a16="http://schemas.microsoft.com/office/drawing/2014/main" id="{55D4E435-5174-1942-A11B-4C1D71D940C7}"/>
                  </a:ext>
                </a:extLst>
              </p:cNvPr>
              <p:cNvSpPr txBox="1">
                <a:spLocks noRot="1" noChangeAspect="1" noMove="1" noResize="1" noEditPoints="1" noAdjustHandles="1" noChangeArrowheads="1" noChangeShapeType="1" noTextEdit="1"/>
              </p:cNvSpPr>
              <p:nvPr/>
            </p:nvSpPr>
            <p:spPr>
              <a:xfrm>
                <a:off x="6444343" y="2107068"/>
                <a:ext cx="5519058" cy="408415"/>
              </a:xfrm>
              <a:prstGeom prst="rect">
                <a:avLst/>
              </a:prstGeom>
              <a:blipFill>
                <a:blip r:embed="rId7"/>
                <a:stretch>
                  <a:fillRect/>
                </a:stretch>
              </a:blip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p:spPr>
            <p:txBody>
              <a:bodyPr/>
              <a:lstStyle/>
              <a:p>
                <a:r>
                  <a:rPr lang="zh-CN" altLang="en-US">
                    <a:noFill/>
                  </a:rPr>
                  <a:t> </a:t>
                </a:r>
              </a:p>
            </p:txBody>
          </p:sp>
        </mc:Fallback>
      </mc:AlternateContent>
      <p:cxnSp>
        <p:nvCxnSpPr>
          <p:cNvPr id="459" name="直线连接符 19">
            <a:extLst>
              <a:ext uri="{FF2B5EF4-FFF2-40B4-BE49-F238E27FC236}">
                <a16:creationId xmlns:a16="http://schemas.microsoft.com/office/drawing/2014/main" id="{11D6D57F-1471-624D-A512-95C38AC3E889}"/>
              </a:ext>
            </a:extLst>
          </p:cNvPr>
          <p:cNvCxnSpPr>
            <a:cxnSpLocks/>
            <a:stCxn id="457" idx="0"/>
          </p:cNvCxnSpPr>
          <p:nvPr/>
        </p:nvCxnSpPr>
        <p:spPr>
          <a:xfrm flipH="1" flipV="1">
            <a:off x="8151224" y="2508069"/>
            <a:ext cx="1358536" cy="712106"/>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0" name="文本框 459">
            <a:extLst>
              <a:ext uri="{FF2B5EF4-FFF2-40B4-BE49-F238E27FC236}">
                <a16:creationId xmlns:a16="http://schemas.microsoft.com/office/drawing/2014/main" id="{EFBEB39B-528C-EF46-ADE6-DFE0818450FB}"/>
              </a:ext>
            </a:extLst>
          </p:cNvPr>
          <p:cNvSpPr txBox="1"/>
          <p:nvPr/>
        </p:nvSpPr>
        <p:spPr>
          <a:xfrm>
            <a:off x="6553200" y="2655603"/>
            <a:ext cx="2383791" cy="369332"/>
          </a:xfrm>
          <a:prstGeom prst="rect">
            <a:avLst/>
          </a:prstGeom>
          <a:solidFill>
            <a:schemeClr val="bg2"/>
          </a:solidFill>
        </p:spPr>
        <p:txBody>
          <a:bodyPr wrap="square" rtlCol="0">
            <a:spAutoFit/>
          </a:bodyPr>
          <a:lstStyle/>
          <a:p>
            <a:r>
              <a:rPr kumimoji="1" lang="en-US" altLang="zh-CN" b="1" dirty="0">
                <a:solidFill>
                  <a:srgbClr val="FF0000"/>
                </a:solidFill>
                <a:latin typeface="+mj-lt"/>
              </a:rPr>
              <a:t>Always commute</a:t>
            </a:r>
            <a:endParaRPr kumimoji="1" lang="zh-CN" altLang="en-US" b="1" dirty="0">
              <a:solidFill>
                <a:srgbClr val="FF0000"/>
              </a:solidFill>
              <a:latin typeface="+mj-lt"/>
            </a:endParaRPr>
          </a:p>
        </p:txBody>
      </p:sp>
      <p:cxnSp>
        <p:nvCxnSpPr>
          <p:cNvPr id="462" name="直线连接符 19">
            <a:extLst>
              <a:ext uri="{FF2B5EF4-FFF2-40B4-BE49-F238E27FC236}">
                <a16:creationId xmlns:a16="http://schemas.microsoft.com/office/drawing/2014/main" id="{D5EDAC63-6E16-AE4A-A0B3-0D5F166F9847}"/>
              </a:ext>
            </a:extLst>
          </p:cNvPr>
          <p:cNvCxnSpPr>
            <a:cxnSpLocks/>
            <a:stCxn id="457" idx="0"/>
          </p:cNvCxnSpPr>
          <p:nvPr/>
        </p:nvCxnSpPr>
        <p:spPr>
          <a:xfrm flipV="1">
            <a:off x="9509760" y="2484583"/>
            <a:ext cx="1204422" cy="73559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1" name="文本框 460">
            <a:extLst>
              <a:ext uri="{FF2B5EF4-FFF2-40B4-BE49-F238E27FC236}">
                <a16:creationId xmlns:a16="http://schemas.microsoft.com/office/drawing/2014/main" id="{01285FF7-E74F-7B40-B72E-0C51CF7B5DE8}"/>
              </a:ext>
            </a:extLst>
          </p:cNvPr>
          <p:cNvSpPr txBox="1"/>
          <p:nvPr/>
        </p:nvSpPr>
        <p:spPr>
          <a:xfrm>
            <a:off x="9605555" y="2693224"/>
            <a:ext cx="2403747" cy="369332"/>
          </a:xfrm>
          <a:prstGeom prst="rect">
            <a:avLst/>
          </a:prstGeom>
          <a:solidFill>
            <a:schemeClr val="bg2"/>
          </a:solidFill>
        </p:spPr>
        <p:txBody>
          <a:bodyPr wrap="square" rtlCol="0">
            <a:spAutoFit/>
          </a:bodyPr>
          <a:lstStyle/>
          <a:p>
            <a:r>
              <a:rPr kumimoji="1" lang="en-US" altLang="zh-CN" b="1" dirty="0">
                <a:solidFill>
                  <a:srgbClr val="FF0000"/>
                </a:solidFill>
                <a:latin typeface="+mj-lt"/>
              </a:rPr>
              <a:t>Expect to commute</a:t>
            </a:r>
            <a:endParaRPr kumimoji="1" lang="zh-CN" altLang="en-US" b="1" dirty="0">
              <a:solidFill>
                <a:srgbClr val="FF0000"/>
              </a:solidFill>
              <a:latin typeface="+mj-lt"/>
            </a:endParaRPr>
          </a:p>
        </p:txBody>
      </p:sp>
      <p:cxnSp>
        <p:nvCxnSpPr>
          <p:cNvPr id="463" name="直线连接符 19">
            <a:extLst>
              <a:ext uri="{FF2B5EF4-FFF2-40B4-BE49-F238E27FC236}">
                <a16:creationId xmlns:a16="http://schemas.microsoft.com/office/drawing/2014/main" id="{566D7A6A-BD15-2F4A-B82D-F44E4CB71EDE}"/>
              </a:ext>
            </a:extLst>
          </p:cNvPr>
          <p:cNvCxnSpPr>
            <a:cxnSpLocks/>
            <a:stCxn id="451" idx="3"/>
          </p:cNvCxnSpPr>
          <p:nvPr/>
        </p:nvCxnSpPr>
        <p:spPr>
          <a:xfrm>
            <a:off x="4702006" y="5877503"/>
            <a:ext cx="349988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64" name="文本框 463">
            <a:extLst>
              <a:ext uri="{FF2B5EF4-FFF2-40B4-BE49-F238E27FC236}">
                <a16:creationId xmlns:a16="http://schemas.microsoft.com/office/drawing/2014/main" id="{2FFE7F2F-835C-5E46-B65B-7A683526C70F}"/>
              </a:ext>
            </a:extLst>
          </p:cNvPr>
          <p:cNvSpPr txBox="1"/>
          <p:nvPr/>
        </p:nvSpPr>
        <p:spPr>
          <a:xfrm>
            <a:off x="8090266" y="5651969"/>
            <a:ext cx="3356536" cy="408415"/>
          </a:xfrm>
          <a:prstGeom prst="rect">
            <a:avLst/>
          </a:prstGeom>
          <a:solidFill>
            <a:schemeClr val="accent4">
              <a:lumMod val="75000"/>
            </a:schemeClr>
          </a:solid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sz="1800" b="1" dirty="0">
                <a:latin typeface="+mn-ea"/>
              </a:rPr>
              <a:t>Constraints are satisfied</a:t>
            </a:r>
          </a:p>
        </p:txBody>
      </p:sp>
      <p:sp>
        <p:nvSpPr>
          <p:cNvPr id="466" name="文本框 465">
            <a:extLst>
              <a:ext uri="{FF2B5EF4-FFF2-40B4-BE49-F238E27FC236}">
                <a16:creationId xmlns:a16="http://schemas.microsoft.com/office/drawing/2014/main" id="{E846D615-AFC1-7245-8C5F-F1DF792BEECC}"/>
              </a:ext>
            </a:extLst>
          </p:cNvPr>
          <p:cNvSpPr txBox="1"/>
          <p:nvPr/>
        </p:nvSpPr>
        <p:spPr>
          <a:xfrm>
            <a:off x="6428224" y="1112351"/>
            <a:ext cx="5566926" cy="455304"/>
          </a:xfrm>
          <a:prstGeom prst="rect">
            <a:avLst/>
          </a:prstGeom>
          <a:gradFill>
            <a:gsLst>
              <a:gs pos="0">
                <a:srgbClr val="3062C9"/>
              </a:gs>
              <a:gs pos="100000">
                <a:srgbClr val="6096E6"/>
              </a:gs>
              <a:gs pos="100000">
                <a:srgbClr val="0A7AE2"/>
              </a:gs>
            </a:gsLst>
            <a:lin ang="10260000" scaled="1"/>
          </a:gra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dirty="0">
                <a:latin typeface="+mn-ea"/>
              </a:rPr>
              <a:t>Apply to constrained binary optimization</a:t>
            </a:r>
            <a:endParaRPr kumimoji="1" lang="zh-CN" altLang="en-US" dirty="0">
              <a:latin typeface="+mn-ea"/>
            </a:endParaRPr>
          </a:p>
        </p:txBody>
      </p:sp>
      <p:cxnSp>
        <p:nvCxnSpPr>
          <p:cNvPr id="468" name="直线连接符 19">
            <a:extLst>
              <a:ext uri="{FF2B5EF4-FFF2-40B4-BE49-F238E27FC236}">
                <a16:creationId xmlns:a16="http://schemas.microsoft.com/office/drawing/2014/main" id="{AAF53717-DDF7-E648-A081-F226E0170AE8}"/>
              </a:ext>
            </a:extLst>
          </p:cNvPr>
          <p:cNvCxnSpPr>
            <a:cxnSpLocks/>
          </p:cNvCxnSpPr>
          <p:nvPr/>
        </p:nvCxnSpPr>
        <p:spPr>
          <a:xfrm>
            <a:off x="4076371" y="4174782"/>
            <a:ext cx="4088683"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5" name="文本框 464">
                <a:extLst>
                  <a:ext uri="{FF2B5EF4-FFF2-40B4-BE49-F238E27FC236}">
                    <a16:creationId xmlns:a16="http://schemas.microsoft.com/office/drawing/2014/main" id="{4E646BB8-36BA-5741-8EBF-220E6A86FD8D}"/>
                  </a:ext>
                </a:extLst>
              </p:cNvPr>
              <p:cNvSpPr txBox="1"/>
              <p:nvPr/>
            </p:nvSpPr>
            <p:spPr>
              <a:xfrm>
                <a:off x="8209201" y="3988338"/>
                <a:ext cx="1458338" cy="412164"/>
              </a:xfrm>
              <a:prstGeom prst="rect">
                <a:avLst/>
              </a:prstGeom>
              <a:solidFill>
                <a:schemeClr val="bg2"/>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sz="2000" b="1" i="1" smtClean="0">
                          <a:solidFill>
                            <a:srgbClr val="FF0000"/>
                          </a:solidFill>
                          <a:latin typeface="Cambria Math" panose="02040503050406030204" pitchFamily="18" charset="0"/>
                        </a:rPr>
                        <m:t>[</m:t>
                      </m:r>
                      <m:r>
                        <a:rPr kumimoji="1" lang="en-US" altLang="zh-CN" sz="2000" b="1" i="1" smtClean="0">
                          <a:solidFill>
                            <a:srgbClr val="FF0000"/>
                          </a:solidFill>
                          <a:latin typeface="Cambria Math" panose="02040503050406030204" pitchFamily="18" charset="0"/>
                        </a:rPr>
                        <m:t>𝑪</m:t>
                      </m:r>
                      <m:r>
                        <a:rPr kumimoji="1" lang="en-US" altLang="zh-CN" sz="2000" b="1" i="1" smtClean="0">
                          <a:solidFill>
                            <a:srgbClr val="FF0000"/>
                          </a:solidFill>
                          <a:latin typeface="Cambria Math" panose="02040503050406030204" pitchFamily="18" charset="0"/>
                        </a:rPr>
                        <m:t>,</m:t>
                      </m:r>
                      <m:sSup>
                        <m:sSupPr>
                          <m:ctrlPr>
                            <a:rPr kumimoji="1" lang="en-US" altLang="zh-CN" sz="2000" b="1" i="1" smtClean="0">
                              <a:solidFill>
                                <a:srgbClr val="FF0000"/>
                              </a:solidFill>
                              <a:latin typeface="Cambria Math" panose="02040503050406030204" pitchFamily="18" charset="0"/>
                            </a:rPr>
                          </m:ctrlPr>
                        </m:sSupPr>
                        <m:e>
                          <m:r>
                            <a:rPr kumimoji="1" lang="en-US" altLang="zh-CN" sz="2000" b="1" i="1" smtClean="0">
                              <a:solidFill>
                                <a:srgbClr val="FF0000"/>
                              </a:solidFill>
                              <a:latin typeface="Cambria Math" panose="02040503050406030204" pitchFamily="18" charset="0"/>
                            </a:rPr>
                            <m:t>𝑯</m:t>
                          </m:r>
                        </m:e>
                        <m:sup>
                          <m:r>
                            <a:rPr kumimoji="1" lang="en-US" altLang="zh-CN" sz="2000" b="1" i="1" smtClean="0">
                              <a:solidFill>
                                <a:srgbClr val="FF0000"/>
                              </a:solidFill>
                              <a:latin typeface="Cambria Math" panose="02040503050406030204" pitchFamily="18" charset="0"/>
                            </a:rPr>
                            <m:t>𝒅</m:t>
                          </m:r>
                        </m:sup>
                      </m:sSup>
                      <m:r>
                        <a:rPr kumimoji="1" lang="en-US" altLang="zh-CN" sz="2000" b="1" i="1" smtClean="0">
                          <a:solidFill>
                            <a:srgbClr val="FF0000"/>
                          </a:solidFill>
                          <a:latin typeface="Cambria Math" panose="02040503050406030204" pitchFamily="18" charset="0"/>
                        </a:rPr>
                        <m:t>]=</m:t>
                      </m:r>
                      <m:r>
                        <a:rPr kumimoji="1" lang="en-US" altLang="zh-CN" sz="2000" b="1" i="1" smtClean="0">
                          <a:solidFill>
                            <a:srgbClr val="FF0000"/>
                          </a:solidFill>
                          <a:latin typeface="Cambria Math" panose="02040503050406030204" pitchFamily="18" charset="0"/>
                        </a:rPr>
                        <m:t>𝟎</m:t>
                      </m:r>
                    </m:oMath>
                  </m:oMathPara>
                </a14:m>
                <a:endParaRPr kumimoji="1" lang="zh-CN" altLang="en-US" sz="2000" b="1" dirty="0">
                  <a:solidFill>
                    <a:srgbClr val="FF0000"/>
                  </a:solidFill>
                  <a:latin typeface="+mj-lt"/>
                </a:endParaRPr>
              </a:p>
            </p:txBody>
          </p:sp>
        </mc:Choice>
        <mc:Fallback xmlns="">
          <p:sp>
            <p:nvSpPr>
              <p:cNvPr id="465" name="文本框 464">
                <a:extLst>
                  <a:ext uri="{FF2B5EF4-FFF2-40B4-BE49-F238E27FC236}">
                    <a16:creationId xmlns:a16="http://schemas.microsoft.com/office/drawing/2014/main" id="{4E646BB8-36BA-5741-8EBF-220E6A86FD8D}"/>
                  </a:ext>
                </a:extLst>
              </p:cNvPr>
              <p:cNvSpPr txBox="1">
                <a:spLocks noRot="1" noChangeAspect="1" noMove="1" noResize="1" noEditPoints="1" noAdjustHandles="1" noChangeArrowheads="1" noChangeShapeType="1" noTextEdit="1"/>
              </p:cNvSpPr>
              <p:nvPr/>
            </p:nvSpPr>
            <p:spPr>
              <a:xfrm>
                <a:off x="8209201" y="3988338"/>
                <a:ext cx="1458338" cy="412164"/>
              </a:xfrm>
              <a:prstGeom prst="rect">
                <a:avLst/>
              </a:prstGeom>
              <a:blipFill>
                <a:blip r:embed="rId8"/>
                <a:stretch>
                  <a:fillRect l="-862" b="-11765"/>
                </a:stretch>
              </a:blipFill>
            </p:spPr>
            <p:txBody>
              <a:bodyPr/>
              <a:lstStyle/>
              <a:p>
                <a:r>
                  <a:rPr lang="zh-CN" altLang="en-US">
                    <a:noFill/>
                  </a:rPr>
                  <a:t> </a:t>
                </a:r>
              </a:p>
            </p:txBody>
          </p:sp>
        </mc:Fallback>
      </mc:AlternateContent>
      <p:cxnSp>
        <p:nvCxnSpPr>
          <p:cNvPr id="42" name="直线连接符 19">
            <a:extLst>
              <a:ext uri="{FF2B5EF4-FFF2-40B4-BE49-F238E27FC236}">
                <a16:creationId xmlns:a16="http://schemas.microsoft.com/office/drawing/2014/main" id="{229AE14B-A460-3749-9E5E-6112C066EEB5}"/>
              </a:ext>
            </a:extLst>
          </p:cNvPr>
          <p:cNvCxnSpPr>
            <a:cxnSpLocks/>
          </p:cNvCxnSpPr>
          <p:nvPr/>
        </p:nvCxnSpPr>
        <p:spPr>
          <a:xfrm>
            <a:off x="9799935" y="3638195"/>
            <a:ext cx="0" cy="1019867"/>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DE8AFC5C-3913-114A-B47A-89F2A67ADE89}"/>
                  </a:ext>
                </a:extLst>
              </p:cNvPr>
              <p:cNvSpPr txBox="1"/>
              <p:nvPr/>
            </p:nvSpPr>
            <p:spPr>
              <a:xfrm>
                <a:off x="9148620" y="4625126"/>
                <a:ext cx="1105318" cy="6183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C</m:t>
                          </m:r>
                        </m:num>
                        <m:den>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t</m:t>
                          </m:r>
                        </m:den>
                      </m:f>
                      <m:r>
                        <a:rPr kumimoji="1" lang="en-US" altLang="zh-CN" b="0" i="1" smtClean="0">
                          <a:latin typeface="Cambria Math" panose="02040503050406030204" pitchFamily="18" charset="0"/>
                        </a:rPr>
                        <m:t>=0</m:t>
                      </m:r>
                    </m:oMath>
                  </m:oMathPara>
                </a14:m>
                <a:endParaRPr lang="zh-CN" altLang="en-US" dirty="0"/>
              </a:p>
            </p:txBody>
          </p:sp>
        </mc:Choice>
        <mc:Fallback xmlns="">
          <p:sp>
            <p:nvSpPr>
              <p:cNvPr id="44" name="文本框 43">
                <a:extLst>
                  <a:ext uri="{FF2B5EF4-FFF2-40B4-BE49-F238E27FC236}">
                    <a16:creationId xmlns:a16="http://schemas.microsoft.com/office/drawing/2014/main" id="{DE8AFC5C-3913-114A-B47A-89F2A67ADE89}"/>
                  </a:ext>
                </a:extLst>
              </p:cNvPr>
              <p:cNvSpPr txBox="1">
                <a:spLocks noRot="1" noChangeAspect="1" noMove="1" noResize="1" noEditPoints="1" noAdjustHandles="1" noChangeArrowheads="1" noChangeShapeType="1" noTextEdit="1"/>
              </p:cNvSpPr>
              <p:nvPr/>
            </p:nvSpPr>
            <p:spPr>
              <a:xfrm>
                <a:off x="9148620" y="4625126"/>
                <a:ext cx="1105318" cy="618374"/>
              </a:xfrm>
              <a:prstGeom prst="rect">
                <a:avLst/>
              </a:prstGeom>
              <a:blipFill>
                <a:blip r:embed="rId9"/>
                <a:stretch>
                  <a:fillRect b="-18367"/>
                </a:stretch>
              </a:blipFill>
            </p:spPr>
            <p:txBody>
              <a:bodyPr/>
              <a:lstStyle/>
              <a:p>
                <a:r>
                  <a:rPr lang="zh-CN" altLang="en-US">
                    <a:noFill/>
                  </a:rPr>
                  <a:t> </a:t>
                </a:r>
              </a:p>
            </p:txBody>
          </p:sp>
        </mc:Fallback>
      </mc:AlternateContent>
      <p:cxnSp>
        <p:nvCxnSpPr>
          <p:cNvPr id="45" name="直线连接符 19">
            <a:extLst>
              <a:ext uri="{FF2B5EF4-FFF2-40B4-BE49-F238E27FC236}">
                <a16:creationId xmlns:a16="http://schemas.microsoft.com/office/drawing/2014/main" id="{181F33AE-879F-7F4B-A315-8475325CDA31}"/>
              </a:ext>
            </a:extLst>
          </p:cNvPr>
          <p:cNvCxnSpPr>
            <a:cxnSpLocks/>
          </p:cNvCxnSpPr>
          <p:nvPr/>
        </p:nvCxnSpPr>
        <p:spPr>
          <a:xfrm>
            <a:off x="9790496" y="5230501"/>
            <a:ext cx="0" cy="387069"/>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34665D7B-68A7-AF79-8332-9A676207428D}"/>
              </a:ext>
            </a:extLst>
          </p:cNvPr>
          <p:cNvSpPr txBox="1"/>
          <p:nvPr/>
        </p:nvSpPr>
        <p:spPr>
          <a:xfrm>
            <a:off x="71728" y="3905596"/>
            <a:ext cx="2375633" cy="369332"/>
          </a:xfrm>
          <a:prstGeom prst="rect">
            <a:avLst/>
          </a:prstGeom>
          <a:noFill/>
        </p:spPr>
        <p:txBody>
          <a:bodyPr wrap="square" rtlCol="0">
            <a:spAutoFit/>
          </a:bodyPr>
          <a:lstStyle/>
          <a:p>
            <a:r>
              <a:rPr kumimoji="1" lang="en-US" altLang="zh-CN" b="1" dirty="0">
                <a:solidFill>
                  <a:srgbClr val="FF0000"/>
                </a:solidFill>
                <a:latin typeface="+mj-lt"/>
              </a:rPr>
              <a:t>If</a:t>
            </a:r>
            <a:r>
              <a:rPr kumimoji="1" lang="zh-CN" altLang="en-US" b="1" dirty="0">
                <a:solidFill>
                  <a:srgbClr val="FF0000"/>
                </a:solidFill>
                <a:latin typeface="+mj-lt"/>
              </a:rPr>
              <a:t> </a:t>
            </a:r>
            <a:r>
              <a:rPr kumimoji="1" lang="en-US" altLang="zh-CN" b="1" dirty="0">
                <a:solidFill>
                  <a:srgbClr val="FF0000"/>
                </a:solidFill>
                <a:latin typeface="+mj-lt"/>
              </a:rPr>
              <a:t>A</a:t>
            </a:r>
            <a:r>
              <a:rPr kumimoji="1" lang="zh-CN" altLang="en-US" b="1" dirty="0">
                <a:solidFill>
                  <a:srgbClr val="FF0000"/>
                </a:solidFill>
                <a:latin typeface="+mj-lt"/>
              </a:rPr>
              <a:t> </a:t>
            </a:r>
            <a:r>
              <a:rPr kumimoji="1" lang="en-US" altLang="zh-CN" b="1" dirty="0">
                <a:solidFill>
                  <a:srgbClr val="FF0000"/>
                </a:solidFill>
                <a:latin typeface="+mj-lt"/>
              </a:rPr>
              <a:t>Commutes</a:t>
            </a:r>
            <a:r>
              <a:rPr kumimoji="1" lang="zh-CN" altLang="en-US" b="1" dirty="0">
                <a:solidFill>
                  <a:srgbClr val="FF0000"/>
                </a:solidFill>
                <a:latin typeface="+mj-lt"/>
              </a:rPr>
              <a:t> </a:t>
            </a:r>
            <a:r>
              <a:rPr kumimoji="1" lang="en-US" altLang="zh-CN" b="1" dirty="0">
                <a:solidFill>
                  <a:srgbClr val="FF0000"/>
                </a:solidFill>
                <a:latin typeface="+mj-lt"/>
              </a:rPr>
              <a:t>with</a:t>
            </a:r>
            <a:r>
              <a:rPr kumimoji="1" lang="zh-CN" altLang="en-US" b="1" dirty="0">
                <a:solidFill>
                  <a:srgbClr val="FF0000"/>
                </a:solidFill>
                <a:latin typeface="+mj-lt"/>
              </a:rPr>
              <a:t> </a:t>
            </a:r>
            <a:r>
              <a:rPr kumimoji="1" lang="en-US" altLang="zh-CN" b="1" dirty="0">
                <a:solidFill>
                  <a:srgbClr val="FF0000"/>
                </a:solidFill>
                <a:latin typeface="+mj-lt"/>
              </a:rPr>
              <a:t>H</a:t>
            </a:r>
            <a:endParaRPr kumimoji="1" lang="zh-CN" altLang="en-US" b="1" dirty="0">
              <a:solidFill>
                <a:srgbClr val="FF0000"/>
              </a:solidFill>
              <a:latin typeface="+mj-lt"/>
            </a:endParaRPr>
          </a:p>
        </p:txBody>
      </p:sp>
    </p:spTree>
    <p:extLst>
      <p:ext uri="{BB962C8B-B14F-4D97-AF65-F5344CB8AC3E}">
        <p14:creationId xmlns:p14="http://schemas.microsoft.com/office/powerpoint/2010/main" val="32278330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12">
            <a:extLst>
              <a:ext uri="{FF2B5EF4-FFF2-40B4-BE49-F238E27FC236}">
                <a16:creationId xmlns:a16="http://schemas.microsoft.com/office/drawing/2014/main" id="{B9A87766-45D5-41BF-469C-B89617F74231}"/>
              </a:ext>
            </a:extLst>
          </p:cNvPr>
          <p:cNvSpPr>
            <a:spLocks noGrp="1"/>
          </p:cNvSpPr>
          <p:nvPr>
            <p:ph type="title"/>
          </p:nvPr>
        </p:nvSpPr>
        <p:spPr>
          <a:xfrm>
            <a:off x="718218" y="124618"/>
            <a:ext cx="8821198" cy="678468"/>
          </a:xfrm>
        </p:spPr>
        <p:txBody>
          <a:bodyPr>
            <a:normAutofit/>
          </a:bodyPr>
          <a:lstStyle/>
          <a:p>
            <a:r>
              <a:rPr lang="en-US" altLang="zh-CN" sz="2800" dirty="0"/>
              <a:t>Commute Hamiltonian</a:t>
            </a:r>
            <a:r>
              <a:rPr lang="zh-CN" altLang="en-US" sz="2800" b="1" dirty="0"/>
              <a:t> </a:t>
            </a:r>
            <a:r>
              <a:rPr lang="en-US" altLang="zh-CN" sz="2800" b="1" dirty="0"/>
              <a:t>formulation</a:t>
            </a:r>
            <a:endParaRPr lang="zh-CN" altLang="en-US" sz="2800" dirty="0"/>
          </a:p>
        </p:txBody>
      </p:sp>
      <p:pic>
        <p:nvPicPr>
          <p:cNvPr id="6" name="图片 5">
            <a:extLst>
              <a:ext uri="{FF2B5EF4-FFF2-40B4-BE49-F238E27FC236}">
                <a16:creationId xmlns:a16="http://schemas.microsoft.com/office/drawing/2014/main" id="{B616F35A-BFC3-584F-A077-5FBA2C2C5181}"/>
              </a:ext>
            </a:extLst>
          </p:cNvPr>
          <p:cNvPicPr>
            <a:picLocks noChangeAspect="1"/>
          </p:cNvPicPr>
          <p:nvPr/>
        </p:nvPicPr>
        <p:blipFill>
          <a:blip r:embed="rId3"/>
          <a:stretch>
            <a:fillRect/>
          </a:stretch>
        </p:blipFill>
        <p:spPr>
          <a:xfrm>
            <a:off x="1105848" y="3429000"/>
            <a:ext cx="10299599" cy="2879411"/>
          </a:xfrm>
          <a:prstGeom prst="rect">
            <a:avLst/>
          </a:prstGeom>
        </p:spPr>
      </p:pic>
      <p:pic>
        <p:nvPicPr>
          <p:cNvPr id="331" name="图形 330">
            <a:extLst>
              <a:ext uri="{FF2B5EF4-FFF2-40B4-BE49-F238E27FC236}">
                <a16:creationId xmlns:a16="http://schemas.microsoft.com/office/drawing/2014/main" id="{B30A0FEC-507C-B547-8B22-BE39C4AD16D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19924" y="1202064"/>
            <a:ext cx="6140076" cy="1827743"/>
          </a:xfrm>
          <a:prstGeom prst="rect">
            <a:avLst/>
          </a:prstGeom>
        </p:spPr>
      </p:pic>
      <p:sp>
        <p:nvSpPr>
          <p:cNvPr id="332" name="文本框 331">
            <a:extLst>
              <a:ext uri="{FF2B5EF4-FFF2-40B4-BE49-F238E27FC236}">
                <a16:creationId xmlns:a16="http://schemas.microsoft.com/office/drawing/2014/main" id="{A36D0F8F-CAC8-7542-9A81-DE0FFB1E7A49}"/>
              </a:ext>
            </a:extLst>
          </p:cNvPr>
          <p:cNvSpPr txBox="1"/>
          <p:nvPr/>
        </p:nvSpPr>
        <p:spPr>
          <a:xfrm>
            <a:off x="481965" y="1320331"/>
            <a:ext cx="3324599" cy="1375355"/>
          </a:xfrm>
          <a:prstGeom prst="rect">
            <a:avLst/>
          </a:prstGeom>
          <a:gradFill>
            <a:gsLst>
              <a:gs pos="0">
                <a:srgbClr val="3062C9"/>
              </a:gs>
              <a:gs pos="100000">
                <a:srgbClr val="6096E6"/>
              </a:gs>
              <a:gs pos="100000">
                <a:srgbClr val="0A7AE2"/>
              </a:gs>
            </a:gsLst>
            <a:lin ang="10260000" scaled="1"/>
          </a:gra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sz="1800" b="1" dirty="0">
                <a:latin typeface="+mn-ea"/>
              </a:rPr>
              <a:t>T</a:t>
            </a:r>
            <a:r>
              <a:rPr kumimoji="1" lang="en-US" altLang="zh-CN" dirty="0">
                <a:latin typeface="+mn-ea"/>
              </a:rPr>
              <a:t>he</a:t>
            </a:r>
            <a:r>
              <a:rPr kumimoji="1" lang="zh-CN" altLang="en-US" dirty="0">
                <a:latin typeface="+mn-ea"/>
              </a:rPr>
              <a:t> </a:t>
            </a:r>
            <a:r>
              <a:rPr kumimoji="1" lang="en-US" altLang="zh-CN" dirty="0">
                <a:latin typeface="+mn-ea"/>
              </a:rPr>
              <a:t>Hamiltonian</a:t>
            </a:r>
            <a:r>
              <a:rPr kumimoji="1" lang="zh-CN" altLang="en-US" dirty="0">
                <a:latin typeface="+mn-ea"/>
              </a:rPr>
              <a:t> </a:t>
            </a:r>
            <a:r>
              <a:rPr kumimoji="1" lang="en-US" altLang="zh-CN" dirty="0">
                <a:latin typeface="+mn-ea"/>
              </a:rPr>
              <a:t>commutes</a:t>
            </a:r>
            <a:r>
              <a:rPr kumimoji="1" lang="zh-CN" altLang="en-US" dirty="0">
                <a:latin typeface="+mn-ea"/>
              </a:rPr>
              <a:t> </a:t>
            </a:r>
            <a:r>
              <a:rPr kumimoji="1" lang="en-US" altLang="zh-CN" dirty="0">
                <a:latin typeface="+mn-ea"/>
              </a:rPr>
              <a:t>with</a:t>
            </a:r>
            <a:r>
              <a:rPr kumimoji="1" lang="zh-CN" altLang="en-US" dirty="0">
                <a:latin typeface="+mn-ea"/>
              </a:rPr>
              <a:t> </a:t>
            </a:r>
            <a:r>
              <a:rPr kumimoji="1" lang="en-US" altLang="zh-CN" dirty="0">
                <a:latin typeface="+mn-ea"/>
              </a:rPr>
              <a:t>constraints</a:t>
            </a:r>
            <a:r>
              <a:rPr kumimoji="1" lang="zh-CN" altLang="en-US" dirty="0">
                <a:latin typeface="+mn-ea"/>
              </a:rPr>
              <a:t> </a:t>
            </a:r>
            <a:r>
              <a:rPr kumimoji="1" lang="en-US" altLang="zh-CN" dirty="0">
                <a:latin typeface="+mn-ea"/>
              </a:rPr>
              <a:t>operator</a:t>
            </a:r>
            <a:endParaRPr kumimoji="1" lang="en-US" altLang="zh-CN" sz="1800" b="1" dirty="0">
              <a:latin typeface="+mn-ea"/>
            </a:endParaRPr>
          </a:p>
        </p:txBody>
      </p:sp>
    </p:spTree>
    <p:extLst>
      <p:ext uri="{BB962C8B-B14F-4D97-AF65-F5344CB8AC3E}">
        <p14:creationId xmlns:p14="http://schemas.microsoft.com/office/powerpoint/2010/main" val="2529785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12">
            <a:extLst>
              <a:ext uri="{FF2B5EF4-FFF2-40B4-BE49-F238E27FC236}">
                <a16:creationId xmlns:a16="http://schemas.microsoft.com/office/drawing/2014/main" id="{B9A87766-45D5-41BF-469C-B89617F74231}"/>
              </a:ext>
            </a:extLst>
          </p:cNvPr>
          <p:cNvSpPr>
            <a:spLocks noGrp="1"/>
          </p:cNvSpPr>
          <p:nvPr>
            <p:ph type="title"/>
          </p:nvPr>
        </p:nvSpPr>
        <p:spPr>
          <a:xfrm>
            <a:off x="718218" y="124618"/>
            <a:ext cx="8821198" cy="678468"/>
          </a:xfrm>
        </p:spPr>
        <p:txBody>
          <a:bodyPr>
            <a:normAutofit/>
          </a:bodyPr>
          <a:lstStyle/>
          <a:p>
            <a:r>
              <a:rPr lang="en-US" altLang="zh-CN" sz="2800" dirty="0"/>
              <a:t>Circuit</a:t>
            </a:r>
            <a:r>
              <a:rPr lang="zh-CN" altLang="en-US" sz="2800" dirty="0"/>
              <a:t> </a:t>
            </a:r>
            <a:r>
              <a:rPr lang="en-US" altLang="zh-CN" sz="2800" dirty="0"/>
              <a:t>Implementation</a:t>
            </a:r>
            <a:endParaRPr lang="zh-CN" altLang="en-US" sz="2800" dirty="0"/>
          </a:p>
        </p:txBody>
      </p:sp>
      <p:pic>
        <p:nvPicPr>
          <p:cNvPr id="3" name="图片 2">
            <a:extLst>
              <a:ext uri="{FF2B5EF4-FFF2-40B4-BE49-F238E27FC236}">
                <a16:creationId xmlns:a16="http://schemas.microsoft.com/office/drawing/2014/main" id="{F1E87441-CFB7-7240-93AF-C826408E39DB}"/>
              </a:ext>
            </a:extLst>
          </p:cNvPr>
          <p:cNvPicPr>
            <a:picLocks noChangeAspect="1"/>
          </p:cNvPicPr>
          <p:nvPr/>
        </p:nvPicPr>
        <p:blipFill rotWithShape="1">
          <a:blip r:embed="rId3"/>
          <a:srcRect r="64697"/>
          <a:stretch/>
        </p:blipFill>
        <p:spPr>
          <a:xfrm>
            <a:off x="1261533" y="1201213"/>
            <a:ext cx="3413337" cy="4946062"/>
          </a:xfrm>
          <a:prstGeom prst="rect">
            <a:avLst/>
          </a:prstGeom>
        </p:spPr>
      </p:pic>
      <p:sp>
        <p:nvSpPr>
          <p:cNvPr id="4" name="矩形 3">
            <a:extLst>
              <a:ext uri="{FF2B5EF4-FFF2-40B4-BE49-F238E27FC236}">
                <a16:creationId xmlns:a16="http://schemas.microsoft.com/office/drawing/2014/main" id="{57E693A8-BE6D-AE42-9FC3-B38C8CF240C6}"/>
              </a:ext>
            </a:extLst>
          </p:cNvPr>
          <p:cNvSpPr/>
          <p:nvPr/>
        </p:nvSpPr>
        <p:spPr>
          <a:xfrm>
            <a:off x="3897630" y="1131570"/>
            <a:ext cx="1348740" cy="2114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6311415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12">
            <a:extLst>
              <a:ext uri="{FF2B5EF4-FFF2-40B4-BE49-F238E27FC236}">
                <a16:creationId xmlns:a16="http://schemas.microsoft.com/office/drawing/2014/main" id="{B9A87766-45D5-41BF-469C-B89617F74231}"/>
              </a:ext>
            </a:extLst>
          </p:cNvPr>
          <p:cNvSpPr>
            <a:spLocks noGrp="1"/>
          </p:cNvSpPr>
          <p:nvPr>
            <p:ph type="title"/>
          </p:nvPr>
        </p:nvSpPr>
        <p:spPr>
          <a:xfrm>
            <a:off x="718218" y="124618"/>
            <a:ext cx="8821198" cy="678468"/>
          </a:xfrm>
        </p:spPr>
        <p:txBody>
          <a:bodyPr>
            <a:normAutofit/>
          </a:bodyPr>
          <a:lstStyle/>
          <a:p>
            <a:r>
              <a:rPr lang="en-US" altLang="zh-CN" sz="2800" dirty="0"/>
              <a:t>Circuit</a:t>
            </a:r>
            <a:r>
              <a:rPr lang="zh-CN" altLang="en-US" sz="2800" dirty="0"/>
              <a:t> </a:t>
            </a:r>
            <a:r>
              <a:rPr lang="en-US" altLang="zh-CN" sz="2800" dirty="0"/>
              <a:t>Implementation</a:t>
            </a:r>
            <a:endParaRPr lang="zh-CN" altLang="en-US" sz="2800" dirty="0"/>
          </a:p>
        </p:txBody>
      </p:sp>
      <p:pic>
        <p:nvPicPr>
          <p:cNvPr id="3" name="图片 2">
            <a:extLst>
              <a:ext uri="{FF2B5EF4-FFF2-40B4-BE49-F238E27FC236}">
                <a16:creationId xmlns:a16="http://schemas.microsoft.com/office/drawing/2014/main" id="{F1E87441-CFB7-7240-93AF-C826408E39DB}"/>
              </a:ext>
            </a:extLst>
          </p:cNvPr>
          <p:cNvPicPr>
            <a:picLocks noChangeAspect="1"/>
          </p:cNvPicPr>
          <p:nvPr/>
        </p:nvPicPr>
        <p:blipFill>
          <a:blip r:embed="rId3"/>
          <a:stretch>
            <a:fillRect/>
          </a:stretch>
        </p:blipFill>
        <p:spPr>
          <a:xfrm>
            <a:off x="1261533" y="1201213"/>
            <a:ext cx="9668933" cy="4946062"/>
          </a:xfrm>
          <a:prstGeom prst="rect">
            <a:avLst/>
          </a:prstGeom>
        </p:spPr>
      </p:pic>
      <p:sp>
        <p:nvSpPr>
          <p:cNvPr id="5" name="矩形 4">
            <a:extLst>
              <a:ext uri="{FF2B5EF4-FFF2-40B4-BE49-F238E27FC236}">
                <a16:creationId xmlns:a16="http://schemas.microsoft.com/office/drawing/2014/main" id="{1DFB6890-0619-7E47-AC3B-06C344286767}"/>
              </a:ext>
            </a:extLst>
          </p:cNvPr>
          <p:cNvSpPr/>
          <p:nvPr/>
        </p:nvSpPr>
        <p:spPr>
          <a:xfrm>
            <a:off x="4686300" y="3124200"/>
            <a:ext cx="6337300" cy="317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041760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12">
            <a:extLst>
              <a:ext uri="{FF2B5EF4-FFF2-40B4-BE49-F238E27FC236}">
                <a16:creationId xmlns:a16="http://schemas.microsoft.com/office/drawing/2014/main" id="{B9A87766-45D5-41BF-469C-B89617F74231}"/>
              </a:ext>
            </a:extLst>
          </p:cNvPr>
          <p:cNvSpPr>
            <a:spLocks noGrp="1"/>
          </p:cNvSpPr>
          <p:nvPr>
            <p:ph type="title"/>
          </p:nvPr>
        </p:nvSpPr>
        <p:spPr>
          <a:xfrm>
            <a:off x="718218" y="124618"/>
            <a:ext cx="8821198" cy="678468"/>
          </a:xfrm>
        </p:spPr>
        <p:txBody>
          <a:bodyPr>
            <a:normAutofit/>
          </a:bodyPr>
          <a:lstStyle/>
          <a:p>
            <a:r>
              <a:rPr lang="en-US" altLang="zh-CN" sz="2800" dirty="0"/>
              <a:t>Circuit</a:t>
            </a:r>
            <a:r>
              <a:rPr lang="zh-CN" altLang="en-US" sz="2800" dirty="0"/>
              <a:t> </a:t>
            </a:r>
            <a:r>
              <a:rPr lang="en-US" altLang="zh-CN" sz="2800" dirty="0"/>
              <a:t>Implementation</a:t>
            </a:r>
            <a:endParaRPr lang="zh-CN" altLang="en-US" sz="2800" dirty="0"/>
          </a:p>
        </p:txBody>
      </p:sp>
      <p:pic>
        <p:nvPicPr>
          <p:cNvPr id="3" name="图片 2">
            <a:extLst>
              <a:ext uri="{FF2B5EF4-FFF2-40B4-BE49-F238E27FC236}">
                <a16:creationId xmlns:a16="http://schemas.microsoft.com/office/drawing/2014/main" id="{F1E87441-CFB7-7240-93AF-C826408E39DB}"/>
              </a:ext>
            </a:extLst>
          </p:cNvPr>
          <p:cNvPicPr>
            <a:picLocks noChangeAspect="1"/>
          </p:cNvPicPr>
          <p:nvPr/>
        </p:nvPicPr>
        <p:blipFill>
          <a:blip r:embed="rId3"/>
          <a:stretch>
            <a:fillRect/>
          </a:stretch>
        </p:blipFill>
        <p:spPr>
          <a:xfrm>
            <a:off x="1261533" y="1201213"/>
            <a:ext cx="9668933" cy="4946062"/>
          </a:xfrm>
          <a:prstGeom prst="rect">
            <a:avLst/>
          </a:prstGeom>
        </p:spPr>
      </p:pic>
      <p:sp>
        <p:nvSpPr>
          <p:cNvPr id="5" name="矩形 4">
            <a:extLst>
              <a:ext uri="{FF2B5EF4-FFF2-40B4-BE49-F238E27FC236}">
                <a16:creationId xmlns:a16="http://schemas.microsoft.com/office/drawing/2014/main" id="{1DFB6890-0619-7E47-AC3B-06C344286767}"/>
              </a:ext>
            </a:extLst>
          </p:cNvPr>
          <p:cNvSpPr/>
          <p:nvPr/>
        </p:nvSpPr>
        <p:spPr>
          <a:xfrm>
            <a:off x="8521700" y="3632200"/>
            <a:ext cx="2501900" cy="266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79C3C079-1992-174B-813F-1C2F7E0D3D35}"/>
              </a:ext>
            </a:extLst>
          </p:cNvPr>
          <p:cNvSpPr/>
          <p:nvPr/>
        </p:nvSpPr>
        <p:spPr>
          <a:xfrm>
            <a:off x="7708900" y="5524500"/>
            <a:ext cx="2501900"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9560833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12">
            <a:extLst>
              <a:ext uri="{FF2B5EF4-FFF2-40B4-BE49-F238E27FC236}">
                <a16:creationId xmlns:a16="http://schemas.microsoft.com/office/drawing/2014/main" id="{B9A87766-45D5-41BF-469C-B89617F74231}"/>
              </a:ext>
            </a:extLst>
          </p:cNvPr>
          <p:cNvSpPr>
            <a:spLocks noGrp="1"/>
          </p:cNvSpPr>
          <p:nvPr>
            <p:ph type="title"/>
          </p:nvPr>
        </p:nvSpPr>
        <p:spPr>
          <a:xfrm>
            <a:off x="718218" y="124618"/>
            <a:ext cx="8821198" cy="678468"/>
          </a:xfrm>
        </p:spPr>
        <p:txBody>
          <a:bodyPr>
            <a:normAutofit/>
          </a:bodyPr>
          <a:lstStyle/>
          <a:p>
            <a:r>
              <a:rPr lang="en-US" altLang="zh-CN" sz="2800" dirty="0"/>
              <a:t>Circuit</a:t>
            </a:r>
            <a:r>
              <a:rPr lang="zh-CN" altLang="en-US" sz="2800" dirty="0"/>
              <a:t> </a:t>
            </a:r>
            <a:r>
              <a:rPr lang="en-US" altLang="zh-CN" sz="2800" dirty="0"/>
              <a:t>Implementation</a:t>
            </a:r>
            <a:endParaRPr lang="zh-CN" altLang="en-US" sz="2800" dirty="0"/>
          </a:p>
        </p:txBody>
      </p:sp>
      <p:pic>
        <p:nvPicPr>
          <p:cNvPr id="3" name="图片 2">
            <a:extLst>
              <a:ext uri="{FF2B5EF4-FFF2-40B4-BE49-F238E27FC236}">
                <a16:creationId xmlns:a16="http://schemas.microsoft.com/office/drawing/2014/main" id="{F1E87441-CFB7-7240-93AF-C826408E39DB}"/>
              </a:ext>
            </a:extLst>
          </p:cNvPr>
          <p:cNvPicPr>
            <a:picLocks noChangeAspect="1"/>
          </p:cNvPicPr>
          <p:nvPr/>
        </p:nvPicPr>
        <p:blipFill>
          <a:blip r:embed="rId3"/>
          <a:stretch>
            <a:fillRect/>
          </a:stretch>
        </p:blipFill>
        <p:spPr>
          <a:xfrm>
            <a:off x="1261533" y="1201213"/>
            <a:ext cx="9668933" cy="4946062"/>
          </a:xfrm>
          <a:prstGeom prst="rect">
            <a:avLst/>
          </a:prstGeom>
        </p:spPr>
      </p:pic>
    </p:spTree>
    <p:extLst>
      <p:ext uri="{BB962C8B-B14F-4D97-AF65-F5344CB8AC3E}">
        <p14:creationId xmlns:p14="http://schemas.microsoft.com/office/powerpoint/2010/main" val="25991536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左右箭头 14"/>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7" name="文本框 16">
            <a:extLst>
              <a:ext uri="{FF2B5EF4-FFF2-40B4-BE49-F238E27FC236}">
                <a16:creationId xmlns:a16="http://schemas.microsoft.com/office/drawing/2014/main" id="{4D44433B-C93D-B60E-A95C-8C7D0FB037F2}"/>
              </a:ext>
            </a:extLst>
          </p:cNvPr>
          <p:cNvSpPr txBox="1"/>
          <p:nvPr/>
        </p:nvSpPr>
        <p:spPr>
          <a:xfrm>
            <a:off x="7570038" y="657063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latin typeface="Arial" panose="020B0604020202020204" pitchFamily="34" charset="0"/>
              <a:cs typeface="Arial" panose="020B0604020202020204" pitchFamily="34" charset="0"/>
            </a:endParaRPr>
          </a:p>
        </p:txBody>
      </p:sp>
      <p:sp>
        <p:nvSpPr>
          <p:cNvPr id="27" name="标题 1">
            <a:extLst>
              <a:ext uri="{FF2B5EF4-FFF2-40B4-BE49-F238E27FC236}">
                <a16:creationId xmlns:a16="http://schemas.microsoft.com/office/drawing/2014/main" id="{04777F5A-B6BD-2242-CDCD-828885D7E62B}"/>
              </a:ext>
            </a:extLst>
          </p:cNvPr>
          <p:cNvSpPr>
            <a:spLocks noGrp="1"/>
          </p:cNvSpPr>
          <p:nvPr>
            <p:ph type="title"/>
          </p:nvPr>
        </p:nvSpPr>
        <p:spPr>
          <a:xfrm>
            <a:off x="718218" y="1"/>
            <a:ext cx="6603304" cy="803086"/>
          </a:xfrm>
        </p:spPr>
        <p:txBody>
          <a:bodyPr>
            <a:normAutofit/>
          </a:bodyPr>
          <a:lstStyle/>
          <a:p>
            <a:pPr algn="just" hangingPunct="0">
              <a:lnSpc>
                <a:spcPct val="100000"/>
              </a:lnSpc>
            </a:pPr>
            <a:r>
              <a:rPr lang="en" altLang="zh-CN" sz="2800" dirty="0">
                <a:ea typeface="STKaiti" panose="02010600040101010101" pitchFamily="2" charset="-122"/>
              </a:rPr>
              <a:t>Outline</a:t>
            </a:r>
            <a:r>
              <a:rPr lang="zh-CN" altLang="en-US" sz="2800">
                <a:ea typeface="STKaiti" panose="02010600040101010101" pitchFamily="2" charset="-122"/>
              </a:rPr>
              <a:t> </a:t>
            </a:r>
            <a:r>
              <a:rPr lang="en-US" altLang="zh-CN" sz="2800" dirty="0">
                <a:ea typeface="STKaiti" panose="02010600040101010101" pitchFamily="2" charset="-122"/>
              </a:rPr>
              <a:t>of</a:t>
            </a:r>
            <a:r>
              <a:rPr lang="zh-CN" altLang="en-US" sz="2800">
                <a:ea typeface="STKaiti" panose="02010600040101010101" pitchFamily="2" charset="-122"/>
              </a:rPr>
              <a:t> </a:t>
            </a:r>
            <a:r>
              <a:rPr lang="en-US" altLang="zh-CN" sz="2800" dirty="0">
                <a:ea typeface="STKaiti" panose="02010600040101010101" pitchFamily="2" charset="-122"/>
              </a:rPr>
              <a:t>Presentation</a:t>
            </a:r>
            <a:endParaRPr lang="zh-CN" altLang="en-US" sz="2800">
              <a:ea typeface="STKaiti" panose="02010600040101010101" pitchFamily="2" charset="-122"/>
              <a:sym typeface="+mn-lt"/>
            </a:endParaRPr>
          </a:p>
        </p:txBody>
      </p:sp>
      <p:sp>
        <p:nvSpPr>
          <p:cNvPr id="3" name="文本框 2">
            <a:extLst>
              <a:ext uri="{FF2B5EF4-FFF2-40B4-BE49-F238E27FC236}">
                <a16:creationId xmlns:a16="http://schemas.microsoft.com/office/drawing/2014/main" id="{A6DC8165-6763-3D37-2F54-BCECE08A3212}"/>
              </a:ext>
            </a:extLst>
          </p:cNvPr>
          <p:cNvSpPr txBox="1"/>
          <p:nvPr/>
        </p:nvSpPr>
        <p:spPr>
          <a:xfrm>
            <a:off x="535049" y="964097"/>
            <a:ext cx="10388600" cy="2343590"/>
          </a:xfrm>
          <a:prstGeom prst="rect">
            <a:avLst/>
          </a:prstGeom>
          <a:noFill/>
        </p:spPr>
        <p:txBody>
          <a:bodyPr wrap="square" rtlCol="0">
            <a:spAutoFit/>
          </a:bodyPr>
          <a:lstStyle/>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Background</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and</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challenges</a:t>
            </a: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Overview</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of</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Choco-Q</a:t>
            </a:r>
          </a:p>
          <a:p>
            <a:pPr marL="342900" indent="-285750">
              <a:lnSpc>
                <a:spcPct val="150000"/>
              </a:lnSpc>
              <a:buFont typeface="Arial" panose="020B0604020202020204" pitchFamily="34" charset="0"/>
              <a:buChar char="•"/>
            </a:pPr>
            <a:r>
              <a:rPr kumimoji="1" lang="en-US" altLang="zh-CN" sz="2000" b="1" dirty="0">
                <a:latin typeface="Arial" panose="020B0604020202020204" pitchFamily="34" charset="0"/>
                <a:ea typeface="STKaiti" panose="02010600040101010101" pitchFamily="2" charset="-122"/>
                <a:cs typeface="Arial" panose="020B0604020202020204" pitchFamily="34" charset="0"/>
              </a:rPr>
              <a:t>Choco-Q Optimization</a:t>
            </a: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Experiment</a:t>
            </a:r>
            <a:endParaRPr kumimoji="1" lang="en-US" altLang="zh-CN" sz="2000" b="1" dirty="0">
              <a:latin typeface="Arial" panose="020B0604020202020204" pitchFamily="34" charset="0"/>
              <a:ea typeface="STKaiti" panose="02010600040101010101" pitchFamily="2" charset="-122"/>
              <a:cs typeface="Arial" panose="020B0604020202020204" pitchFamily="34" charset="0"/>
            </a:endParaRP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API</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of</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Choco-Q</a:t>
            </a:r>
          </a:p>
        </p:txBody>
      </p:sp>
    </p:spTree>
    <p:extLst>
      <p:ext uri="{BB962C8B-B14F-4D97-AF65-F5344CB8AC3E}">
        <p14:creationId xmlns:p14="http://schemas.microsoft.com/office/powerpoint/2010/main" val="39042335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B9DB176D-0EEE-B513-AC48-7B6EECFB4381}"/>
              </a:ext>
            </a:extLst>
          </p:cNvPr>
          <p:cNvSpPr>
            <a:spLocks noGrp="1"/>
          </p:cNvSpPr>
          <p:nvPr>
            <p:ph type="title"/>
          </p:nvPr>
        </p:nvSpPr>
        <p:spPr>
          <a:xfrm>
            <a:off x="718218" y="124618"/>
            <a:ext cx="8821198" cy="678468"/>
          </a:xfrm>
        </p:spPr>
        <p:txBody>
          <a:bodyPr>
            <a:normAutofit/>
          </a:bodyPr>
          <a:lstStyle/>
          <a:p>
            <a:r>
              <a:rPr lang="en-US" altLang="zh-CN" sz="2800" dirty="0"/>
              <a:t>Hamiltonian</a:t>
            </a:r>
            <a:r>
              <a:rPr lang="zh-CN" altLang="en-US" sz="2800" dirty="0"/>
              <a:t> </a:t>
            </a:r>
            <a:r>
              <a:rPr lang="en-US" altLang="zh-CN" sz="2800" dirty="0"/>
              <a:t>Serialization</a:t>
            </a:r>
            <a:endParaRPr lang="zh-CN" altLang="en-US" sz="2800" dirty="0"/>
          </a:p>
        </p:txBody>
      </p:sp>
      <p:pic>
        <p:nvPicPr>
          <p:cNvPr id="77" name="图片 76">
            <a:extLst>
              <a:ext uri="{FF2B5EF4-FFF2-40B4-BE49-F238E27FC236}">
                <a16:creationId xmlns:a16="http://schemas.microsoft.com/office/drawing/2014/main" id="{174F8ED2-9D42-5E42-88F6-1FEF2A39AF75}"/>
              </a:ext>
            </a:extLst>
          </p:cNvPr>
          <p:cNvPicPr>
            <a:picLocks noChangeAspect="1"/>
          </p:cNvPicPr>
          <p:nvPr/>
        </p:nvPicPr>
        <p:blipFill rotWithShape="1">
          <a:blip r:embed="rId4"/>
          <a:srcRect b="55512"/>
          <a:stretch/>
        </p:blipFill>
        <p:spPr>
          <a:xfrm>
            <a:off x="4451154" y="937433"/>
            <a:ext cx="7333461" cy="2516031"/>
          </a:xfrm>
          <a:prstGeom prst="rect">
            <a:avLst/>
          </a:prstGeom>
        </p:spPr>
      </p:pic>
      <p:sp>
        <p:nvSpPr>
          <p:cNvPr id="81" name="矩形 80">
            <a:extLst>
              <a:ext uri="{FF2B5EF4-FFF2-40B4-BE49-F238E27FC236}">
                <a16:creationId xmlns:a16="http://schemas.microsoft.com/office/drawing/2014/main" id="{E11BF5B6-402F-AF43-9666-96F46E13B0DE}"/>
              </a:ext>
            </a:extLst>
          </p:cNvPr>
          <p:cNvSpPr/>
          <p:nvPr>
            <p:custDataLst>
              <p:tags r:id="rId1"/>
            </p:custDataLst>
          </p:nvPr>
        </p:nvSpPr>
        <p:spPr>
          <a:xfrm>
            <a:off x="2450644" y="1747201"/>
            <a:ext cx="1727202" cy="1114532"/>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US" altLang="zh-CN" b="1" dirty="0">
                <a:latin typeface="Arial" panose="020B0604020202020204" pitchFamily="34" charset="0"/>
                <a:ea typeface="STKaiti" panose="02010600040101010101" pitchFamily="2" charset="-122"/>
                <a:cs typeface="Arial" panose="020B0604020202020204" pitchFamily="34" charset="0"/>
                <a:sym typeface="+mn-lt"/>
              </a:rPr>
              <a:t>Prior</a:t>
            </a:r>
            <a:r>
              <a:rPr lang="zh-CN" altLang="en-US" b="1" dirty="0">
                <a:latin typeface="Arial" panose="020B0604020202020204" pitchFamily="34" charset="0"/>
                <a:ea typeface="STKaiti" panose="02010600040101010101" pitchFamily="2" charset="-122"/>
                <a:cs typeface="Arial" panose="020B0604020202020204" pitchFamily="34" charset="0"/>
                <a:sym typeface="+mn-lt"/>
              </a:rPr>
              <a:t> </a:t>
            </a:r>
            <a:r>
              <a:rPr lang="en-US" altLang="zh-CN" b="1" dirty="0">
                <a:latin typeface="Arial" panose="020B0604020202020204" pitchFamily="34" charset="0"/>
                <a:ea typeface="STKaiti" panose="02010600040101010101" pitchFamily="2" charset="-122"/>
                <a:cs typeface="Arial" panose="020B0604020202020204" pitchFamily="34" charset="0"/>
                <a:sym typeface="+mn-lt"/>
              </a:rPr>
              <a:t>method</a:t>
            </a:r>
            <a:r>
              <a:rPr lang="zh-CN" altLang="en-US" b="1" dirty="0">
                <a:latin typeface="Arial" panose="020B0604020202020204" pitchFamily="34" charset="0"/>
                <a:ea typeface="STKaiti" panose="02010600040101010101" pitchFamily="2" charset="-122"/>
                <a:cs typeface="Arial" panose="020B0604020202020204" pitchFamily="34" charset="0"/>
                <a:sym typeface="+mn-lt"/>
              </a:rPr>
              <a:t>：</a:t>
            </a:r>
            <a:endParaRPr lang="en-US" altLang="zh-CN" b="1" dirty="0">
              <a:latin typeface="Arial" panose="020B0604020202020204" pitchFamily="34" charset="0"/>
              <a:ea typeface="STKaiti" panose="02010600040101010101" pitchFamily="2" charset="-122"/>
              <a:cs typeface="Arial" panose="020B0604020202020204" pitchFamily="34" charset="0"/>
              <a:sym typeface="+mn-lt"/>
            </a:endParaRPr>
          </a:p>
          <a:p>
            <a:r>
              <a:rPr lang="en-US" altLang="zh-CN" dirty="0">
                <a:latin typeface="Arial" panose="020B0604020202020204" pitchFamily="34" charset="0"/>
                <a:ea typeface="STKaiti" panose="02010600040101010101" pitchFamily="2" charset="-122"/>
                <a:cs typeface="Arial" panose="020B0604020202020204" pitchFamily="34" charset="0"/>
                <a:sym typeface="+mn-lt"/>
              </a:rPr>
              <a:t>Trotter</a:t>
            </a:r>
            <a:r>
              <a:rPr lang="zh-CN" altLang="en-US" dirty="0">
                <a:latin typeface="Arial" panose="020B0604020202020204" pitchFamily="34" charset="0"/>
                <a:ea typeface="STKaiti" panose="02010600040101010101" pitchFamily="2" charset="-122"/>
                <a:cs typeface="Arial" panose="020B0604020202020204" pitchFamily="34" charset="0"/>
                <a:sym typeface="+mn-lt"/>
              </a:rPr>
              <a:t> </a:t>
            </a:r>
            <a:r>
              <a:rPr lang="en-US" altLang="zh-CN" dirty="0">
                <a:latin typeface="Arial" panose="020B0604020202020204" pitchFamily="34" charset="0"/>
                <a:ea typeface="STKaiti" panose="02010600040101010101" pitchFamily="2" charset="-122"/>
                <a:cs typeface="Arial" panose="020B0604020202020204" pitchFamily="34" charset="0"/>
                <a:sym typeface="+mn-lt"/>
              </a:rPr>
              <a:t>decomposition</a:t>
            </a:r>
          </a:p>
        </p:txBody>
      </p:sp>
      <p:pic>
        <p:nvPicPr>
          <p:cNvPr id="2" name="图片 1">
            <a:extLst>
              <a:ext uri="{FF2B5EF4-FFF2-40B4-BE49-F238E27FC236}">
                <a16:creationId xmlns:a16="http://schemas.microsoft.com/office/drawing/2014/main" id="{35F38195-E898-9F4B-9C20-C3BACEF17DDD}"/>
              </a:ext>
            </a:extLst>
          </p:cNvPr>
          <p:cNvPicPr>
            <a:picLocks noChangeAspect="1"/>
          </p:cNvPicPr>
          <p:nvPr/>
        </p:nvPicPr>
        <p:blipFill>
          <a:blip r:embed="rId5"/>
          <a:stretch>
            <a:fillRect/>
          </a:stretch>
        </p:blipFill>
        <p:spPr>
          <a:xfrm>
            <a:off x="422031" y="2927153"/>
            <a:ext cx="2438303" cy="1574510"/>
          </a:xfrm>
          <a:prstGeom prst="rect">
            <a:avLst/>
          </a:prstGeom>
        </p:spPr>
      </p:pic>
    </p:spTree>
    <p:extLst>
      <p:ext uri="{BB962C8B-B14F-4D97-AF65-F5344CB8AC3E}">
        <p14:creationId xmlns:p14="http://schemas.microsoft.com/office/powerpoint/2010/main" val="34402227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B9DB176D-0EEE-B513-AC48-7B6EECFB4381}"/>
              </a:ext>
            </a:extLst>
          </p:cNvPr>
          <p:cNvSpPr>
            <a:spLocks noGrp="1"/>
          </p:cNvSpPr>
          <p:nvPr>
            <p:ph type="title"/>
          </p:nvPr>
        </p:nvSpPr>
        <p:spPr>
          <a:xfrm>
            <a:off x="718218" y="124618"/>
            <a:ext cx="8821198" cy="678468"/>
          </a:xfrm>
        </p:spPr>
        <p:txBody>
          <a:bodyPr>
            <a:normAutofit/>
          </a:bodyPr>
          <a:lstStyle/>
          <a:p>
            <a:r>
              <a:rPr lang="en-US" altLang="zh-CN" sz="2800" dirty="0"/>
              <a:t>Hamiltonian</a:t>
            </a:r>
            <a:r>
              <a:rPr lang="zh-CN" altLang="en-US" sz="2800" dirty="0"/>
              <a:t> </a:t>
            </a:r>
            <a:r>
              <a:rPr lang="en-US" altLang="zh-CN" sz="2800" dirty="0"/>
              <a:t>Serialization</a:t>
            </a:r>
            <a:endParaRPr lang="zh-CN" altLang="en-US" sz="2800" dirty="0"/>
          </a:p>
        </p:txBody>
      </p:sp>
      <p:pic>
        <p:nvPicPr>
          <p:cNvPr id="77" name="图片 76">
            <a:extLst>
              <a:ext uri="{FF2B5EF4-FFF2-40B4-BE49-F238E27FC236}">
                <a16:creationId xmlns:a16="http://schemas.microsoft.com/office/drawing/2014/main" id="{174F8ED2-9D42-5E42-88F6-1FEF2A39AF75}"/>
              </a:ext>
            </a:extLst>
          </p:cNvPr>
          <p:cNvPicPr>
            <a:picLocks noChangeAspect="1"/>
          </p:cNvPicPr>
          <p:nvPr/>
        </p:nvPicPr>
        <p:blipFill rotWithShape="1">
          <a:blip r:embed="rId5"/>
          <a:srcRect b="55512"/>
          <a:stretch/>
        </p:blipFill>
        <p:spPr>
          <a:xfrm>
            <a:off x="4451154" y="937433"/>
            <a:ext cx="7333461" cy="2516031"/>
          </a:xfrm>
          <a:prstGeom prst="rect">
            <a:avLst/>
          </a:prstGeom>
        </p:spPr>
      </p:pic>
      <p:pic>
        <p:nvPicPr>
          <p:cNvPr id="80" name="图片 79">
            <a:extLst>
              <a:ext uri="{FF2B5EF4-FFF2-40B4-BE49-F238E27FC236}">
                <a16:creationId xmlns:a16="http://schemas.microsoft.com/office/drawing/2014/main" id="{4748F143-9B78-5F47-8A1C-C51C5BA7F8B6}"/>
              </a:ext>
            </a:extLst>
          </p:cNvPr>
          <p:cNvPicPr>
            <a:picLocks noChangeAspect="1"/>
          </p:cNvPicPr>
          <p:nvPr/>
        </p:nvPicPr>
        <p:blipFill rotWithShape="1">
          <a:blip r:embed="rId5"/>
          <a:srcRect t="55612" b="-816"/>
          <a:stretch/>
        </p:blipFill>
        <p:spPr>
          <a:xfrm>
            <a:off x="4375051" y="3793645"/>
            <a:ext cx="7426497" cy="2588981"/>
          </a:xfrm>
          <a:prstGeom prst="rect">
            <a:avLst/>
          </a:prstGeom>
        </p:spPr>
      </p:pic>
      <p:sp>
        <p:nvSpPr>
          <p:cNvPr id="81" name="矩形 80">
            <a:extLst>
              <a:ext uri="{FF2B5EF4-FFF2-40B4-BE49-F238E27FC236}">
                <a16:creationId xmlns:a16="http://schemas.microsoft.com/office/drawing/2014/main" id="{E11BF5B6-402F-AF43-9666-96F46E13B0DE}"/>
              </a:ext>
            </a:extLst>
          </p:cNvPr>
          <p:cNvSpPr/>
          <p:nvPr>
            <p:custDataLst>
              <p:tags r:id="rId1"/>
            </p:custDataLst>
          </p:nvPr>
        </p:nvSpPr>
        <p:spPr>
          <a:xfrm>
            <a:off x="2450644" y="1747201"/>
            <a:ext cx="1727202" cy="1114532"/>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US" altLang="zh-CN" b="1" dirty="0">
                <a:latin typeface="Arial" panose="020B0604020202020204" pitchFamily="34" charset="0"/>
                <a:ea typeface="STKaiti" panose="02010600040101010101" pitchFamily="2" charset="-122"/>
                <a:cs typeface="Arial" panose="020B0604020202020204" pitchFamily="34" charset="0"/>
                <a:sym typeface="+mn-lt"/>
              </a:rPr>
              <a:t>Prior</a:t>
            </a:r>
            <a:r>
              <a:rPr lang="zh-CN" altLang="en-US" b="1" dirty="0">
                <a:latin typeface="Arial" panose="020B0604020202020204" pitchFamily="34" charset="0"/>
                <a:ea typeface="STKaiti" panose="02010600040101010101" pitchFamily="2" charset="-122"/>
                <a:cs typeface="Arial" panose="020B0604020202020204" pitchFamily="34" charset="0"/>
                <a:sym typeface="+mn-lt"/>
              </a:rPr>
              <a:t> </a:t>
            </a:r>
            <a:r>
              <a:rPr lang="en-US" altLang="zh-CN" b="1" dirty="0">
                <a:latin typeface="Arial" panose="020B0604020202020204" pitchFamily="34" charset="0"/>
                <a:ea typeface="STKaiti" panose="02010600040101010101" pitchFamily="2" charset="-122"/>
                <a:cs typeface="Arial" panose="020B0604020202020204" pitchFamily="34" charset="0"/>
                <a:sym typeface="+mn-lt"/>
              </a:rPr>
              <a:t>method</a:t>
            </a:r>
            <a:r>
              <a:rPr lang="zh-CN" altLang="en-US" b="1" dirty="0">
                <a:latin typeface="Arial" panose="020B0604020202020204" pitchFamily="34" charset="0"/>
                <a:ea typeface="STKaiti" panose="02010600040101010101" pitchFamily="2" charset="-122"/>
                <a:cs typeface="Arial" panose="020B0604020202020204" pitchFamily="34" charset="0"/>
                <a:sym typeface="+mn-lt"/>
              </a:rPr>
              <a:t>：</a:t>
            </a:r>
            <a:endParaRPr lang="en-US" altLang="zh-CN" b="1" dirty="0">
              <a:latin typeface="Arial" panose="020B0604020202020204" pitchFamily="34" charset="0"/>
              <a:ea typeface="STKaiti" panose="02010600040101010101" pitchFamily="2" charset="-122"/>
              <a:cs typeface="Arial" panose="020B0604020202020204" pitchFamily="34" charset="0"/>
              <a:sym typeface="+mn-lt"/>
            </a:endParaRPr>
          </a:p>
          <a:p>
            <a:r>
              <a:rPr lang="en-US" altLang="zh-CN" dirty="0">
                <a:latin typeface="Arial" panose="020B0604020202020204" pitchFamily="34" charset="0"/>
                <a:ea typeface="STKaiti" panose="02010600040101010101" pitchFamily="2" charset="-122"/>
                <a:cs typeface="Arial" panose="020B0604020202020204" pitchFamily="34" charset="0"/>
                <a:sym typeface="+mn-lt"/>
              </a:rPr>
              <a:t>Trotter</a:t>
            </a:r>
            <a:r>
              <a:rPr lang="zh-CN" altLang="en-US" dirty="0">
                <a:latin typeface="Arial" panose="020B0604020202020204" pitchFamily="34" charset="0"/>
                <a:ea typeface="STKaiti" panose="02010600040101010101" pitchFamily="2" charset="-122"/>
                <a:cs typeface="Arial" panose="020B0604020202020204" pitchFamily="34" charset="0"/>
                <a:sym typeface="+mn-lt"/>
              </a:rPr>
              <a:t> </a:t>
            </a:r>
            <a:r>
              <a:rPr lang="en-US" altLang="zh-CN" dirty="0">
                <a:latin typeface="Arial" panose="020B0604020202020204" pitchFamily="34" charset="0"/>
                <a:ea typeface="STKaiti" panose="02010600040101010101" pitchFamily="2" charset="-122"/>
                <a:cs typeface="Arial" panose="020B0604020202020204" pitchFamily="34" charset="0"/>
                <a:sym typeface="+mn-lt"/>
              </a:rPr>
              <a:t>decomposition</a:t>
            </a:r>
          </a:p>
        </p:txBody>
      </p:sp>
      <p:sp>
        <p:nvSpPr>
          <p:cNvPr id="82" name="矩形 81">
            <a:extLst>
              <a:ext uri="{FF2B5EF4-FFF2-40B4-BE49-F238E27FC236}">
                <a16:creationId xmlns:a16="http://schemas.microsoft.com/office/drawing/2014/main" id="{C9825109-8DF0-0542-A4BC-6CE1BDBD491C}"/>
              </a:ext>
            </a:extLst>
          </p:cNvPr>
          <p:cNvSpPr/>
          <p:nvPr>
            <p:custDataLst>
              <p:tags r:id="rId2"/>
            </p:custDataLst>
          </p:nvPr>
        </p:nvSpPr>
        <p:spPr>
          <a:xfrm>
            <a:off x="2450644" y="4541201"/>
            <a:ext cx="1727202" cy="1114532"/>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US" altLang="zh-CN" b="1" dirty="0">
                <a:latin typeface="Arial" panose="020B0604020202020204" pitchFamily="34" charset="0"/>
                <a:ea typeface="STKaiti" panose="02010600040101010101" pitchFamily="2" charset="-122"/>
                <a:cs typeface="Arial" panose="020B0604020202020204" pitchFamily="34" charset="0"/>
                <a:sym typeface="+mn-lt"/>
              </a:rPr>
              <a:t>Our</a:t>
            </a:r>
            <a:r>
              <a:rPr lang="zh-CN" altLang="en-US" b="1" dirty="0">
                <a:latin typeface="Arial" panose="020B0604020202020204" pitchFamily="34" charset="0"/>
                <a:ea typeface="STKaiti" panose="02010600040101010101" pitchFamily="2" charset="-122"/>
                <a:cs typeface="Arial" panose="020B0604020202020204" pitchFamily="34" charset="0"/>
                <a:sym typeface="+mn-lt"/>
              </a:rPr>
              <a:t> </a:t>
            </a:r>
            <a:r>
              <a:rPr lang="en-US" altLang="zh-CN" b="1" dirty="0">
                <a:latin typeface="Arial" panose="020B0604020202020204" pitchFamily="34" charset="0"/>
                <a:ea typeface="STKaiti" panose="02010600040101010101" pitchFamily="2" charset="-122"/>
                <a:cs typeface="Arial" panose="020B0604020202020204" pitchFamily="34" charset="0"/>
                <a:sym typeface="+mn-lt"/>
              </a:rPr>
              <a:t>method</a:t>
            </a:r>
            <a:r>
              <a:rPr lang="zh-CN" altLang="en-US" b="1" dirty="0">
                <a:latin typeface="Arial" panose="020B0604020202020204" pitchFamily="34" charset="0"/>
                <a:ea typeface="STKaiti" panose="02010600040101010101" pitchFamily="2" charset="-122"/>
                <a:cs typeface="Arial" panose="020B0604020202020204" pitchFamily="34" charset="0"/>
                <a:sym typeface="+mn-lt"/>
              </a:rPr>
              <a:t>：</a:t>
            </a:r>
            <a:r>
              <a:rPr lang="en-US" altLang="zh-CN" dirty="0">
                <a:latin typeface="Arial" panose="020B0604020202020204" pitchFamily="34" charset="0"/>
                <a:ea typeface="STKaiti" panose="02010600040101010101" pitchFamily="2" charset="-122"/>
                <a:cs typeface="Arial" panose="020B0604020202020204" pitchFamily="34" charset="0"/>
                <a:sym typeface="+mn-lt"/>
              </a:rPr>
              <a:t>Serialization</a:t>
            </a:r>
          </a:p>
        </p:txBody>
      </p:sp>
      <p:pic>
        <p:nvPicPr>
          <p:cNvPr id="2" name="图片 1">
            <a:extLst>
              <a:ext uri="{FF2B5EF4-FFF2-40B4-BE49-F238E27FC236}">
                <a16:creationId xmlns:a16="http://schemas.microsoft.com/office/drawing/2014/main" id="{35F38195-E898-9F4B-9C20-C3BACEF17DDD}"/>
              </a:ext>
            </a:extLst>
          </p:cNvPr>
          <p:cNvPicPr>
            <a:picLocks noChangeAspect="1"/>
          </p:cNvPicPr>
          <p:nvPr/>
        </p:nvPicPr>
        <p:blipFill>
          <a:blip r:embed="rId6"/>
          <a:stretch>
            <a:fillRect/>
          </a:stretch>
        </p:blipFill>
        <p:spPr>
          <a:xfrm>
            <a:off x="422031" y="2927153"/>
            <a:ext cx="2438303" cy="1574510"/>
          </a:xfrm>
          <a:prstGeom prst="rect">
            <a:avLst/>
          </a:prstGeom>
        </p:spPr>
      </p:pic>
    </p:spTree>
    <p:extLst>
      <p:ext uri="{BB962C8B-B14F-4D97-AF65-F5344CB8AC3E}">
        <p14:creationId xmlns:p14="http://schemas.microsoft.com/office/powerpoint/2010/main" val="35372290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88C84D1B-DB45-96F4-697B-71F23B90A660}"/>
              </a:ext>
            </a:extLst>
          </p:cNvPr>
          <p:cNvSpPr>
            <a:spLocks noGrp="1"/>
          </p:cNvSpPr>
          <p:nvPr>
            <p:ph type="title"/>
          </p:nvPr>
        </p:nvSpPr>
        <p:spPr>
          <a:xfrm>
            <a:off x="718218" y="124618"/>
            <a:ext cx="8821198" cy="678468"/>
          </a:xfrm>
        </p:spPr>
        <p:txBody>
          <a:bodyPr>
            <a:normAutofit/>
          </a:bodyPr>
          <a:lstStyle/>
          <a:p>
            <a:r>
              <a:rPr lang="en-US" altLang="zh-CN" sz="2800" dirty="0"/>
              <a:t>Hamiltonian Decomposition</a:t>
            </a:r>
            <a:endParaRPr lang="zh-CN" altLang="en-US" sz="2800" dirty="0"/>
          </a:p>
        </p:txBody>
      </p:sp>
      <p:pic>
        <p:nvPicPr>
          <p:cNvPr id="166" name="图片 165">
            <a:extLst>
              <a:ext uri="{FF2B5EF4-FFF2-40B4-BE49-F238E27FC236}">
                <a16:creationId xmlns:a16="http://schemas.microsoft.com/office/drawing/2014/main" id="{1961E05F-BEE2-0C4A-AF56-ED987070E56F}"/>
              </a:ext>
            </a:extLst>
          </p:cNvPr>
          <p:cNvPicPr>
            <a:picLocks noChangeAspect="1"/>
          </p:cNvPicPr>
          <p:nvPr/>
        </p:nvPicPr>
        <p:blipFill rotWithShape="1">
          <a:blip r:embed="rId3"/>
          <a:srcRect l="51860" t="6479"/>
          <a:stretch/>
        </p:blipFill>
        <p:spPr>
          <a:xfrm>
            <a:off x="731838" y="1499615"/>
            <a:ext cx="1173793" cy="1472507"/>
          </a:xfrm>
          <a:prstGeom prst="rect">
            <a:avLst/>
          </a:prstGeom>
        </p:spPr>
      </p:pic>
      <p:pic>
        <p:nvPicPr>
          <p:cNvPr id="3" name="图片 2">
            <a:extLst>
              <a:ext uri="{FF2B5EF4-FFF2-40B4-BE49-F238E27FC236}">
                <a16:creationId xmlns:a16="http://schemas.microsoft.com/office/drawing/2014/main" id="{D5221B44-E3F1-A646-9CFE-122AC05E9107}"/>
              </a:ext>
            </a:extLst>
          </p:cNvPr>
          <p:cNvPicPr>
            <a:picLocks noChangeAspect="1"/>
          </p:cNvPicPr>
          <p:nvPr/>
        </p:nvPicPr>
        <p:blipFill>
          <a:blip r:embed="rId4"/>
          <a:stretch>
            <a:fillRect/>
          </a:stretch>
        </p:blipFill>
        <p:spPr>
          <a:xfrm>
            <a:off x="5961888" y="1024001"/>
            <a:ext cx="3450336" cy="2048384"/>
          </a:xfrm>
          <a:prstGeom prst="rect">
            <a:avLst/>
          </a:prstGeom>
        </p:spPr>
      </p:pic>
      <p:cxnSp>
        <p:nvCxnSpPr>
          <p:cNvPr id="6" name="直线箭头连接符 5">
            <a:extLst>
              <a:ext uri="{FF2B5EF4-FFF2-40B4-BE49-F238E27FC236}">
                <a16:creationId xmlns:a16="http://schemas.microsoft.com/office/drawing/2014/main" id="{784A157F-548C-E84D-BD36-6159A52325E6}"/>
              </a:ext>
            </a:extLst>
          </p:cNvPr>
          <p:cNvCxnSpPr>
            <a:cxnSpLocks/>
          </p:cNvCxnSpPr>
          <p:nvPr/>
        </p:nvCxnSpPr>
        <p:spPr>
          <a:xfrm>
            <a:off x="2145792" y="2145792"/>
            <a:ext cx="342595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0" name="文本框 169">
            <a:extLst>
              <a:ext uri="{FF2B5EF4-FFF2-40B4-BE49-F238E27FC236}">
                <a16:creationId xmlns:a16="http://schemas.microsoft.com/office/drawing/2014/main" id="{C24BC876-3A48-ED4B-A962-3EFD804917AF}"/>
              </a:ext>
            </a:extLst>
          </p:cNvPr>
          <p:cNvSpPr txBox="1"/>
          <p:nvPr/>
        </p:nvSpPr>
        <p:spPr>
          <a:xfrm>
            <a:off x="2438400" y="1729478"/>
            <a:ext cx="2816352" cy="369332"/>
          </a:xfrm>
          <a:prstGeom prst="rect">
            <a:avLst/>
          </a:prstGeom>
          <a:noFill/>
        </p:spPr>
        <p:txBody>
          <a:bodyPr wrap="square">
            <a:spAutoFit/>
          </a:bodyPr>
          <a:lstStyle/>
          <a:p>
            <a:r>
              <a:rPr lang="en-US" altLang="zh-CN" sz="1800" dirty="0"/>
              <a:t>Hamiltonian</a:t>
            </a:r>
            <a:r>
              <a:rPr lang="zh-CN" altLang="en-US" sz="1800" dirty="0"/>
              <a:t> </a:t>
            </a:r>
            <a:r>
              <a:rPr lang="en-US" altLang="zh-CN" sz="1800" dirty="0"/>
              <a:t>Serialization</a:t>
            </a:r>
            <a:endParaRPr lang="zh-CN" altLang="en-US" dirty="0"/>
          </a:p>
        </p:txBody>
      </p:sp>
    </p:spTree>
    <p:extLst>
      <p:ext uri="{BB962C8B-B14F-4D97-AF65-F5344CB8AC3E}">
        <p14:creationId xmlns:p14="http://schemas.microsoft.com/office/powerpoint/2010/main" val="4148021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78D33596-830F-3843-9C2C-E5330E58C6DE}"/>
              </a:ext>
            </a:extLst>
          </p:cNvPr>
          <p:cNvSpPr/>
          <p:nvPr/>
        </p:nvSpPr>
        <p:spPr>
          <a:xfrm>
            <a:off x="5437632" y="3304032"/>
            <a:ext cx="5693664" cy="16946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标题 1">
            <a:extLst>
              <a:ext uri="{FF2B5EF4-FFF2-40B4-BE49-F238E27FC236}">
                <a16:creationId xmlns:a16="http://schemas.microsoft.com/office/drawing/2014/main" id="{88C84D1B-DB45-96F4-697B-71F23B90A660}"/>
              </a:ext>
            </a:extLst>
          </p:cNvPr>
          <p:cNvSpPr>
            <a:spLocks noGrp="1"/>
          </p:cNvSpPr>
          <p:nvPr>
            <p:ph type="title"/>
          </p:nvPr>
        </p:nvSpPr>
        <p:spPr>
          <a:xfrm>
            <a:off x="718218" y="124618"/>
            <a:ext cx="8821198" cy="678468"/>
          </a:xfrm>
        </p:spPr>
        <p:txBody>
          <a:bodyPr>
            <a:normAutofit/>
          </a:bodyPr>
          <a:lstStyle/>
          <a:p>
            <a:r>
              <a:rPr lang="en-US" altLang="zh-CN" sz="2800" dirty="0"/>
              <a:t>Hamiltonian Decomposition</a:t>
            </a:r>
            <a:endParaRPr lang="zh-CN" altLang="en-US" sz="2800" dirty="0"/>
          </a:p>
        </p:txBody>
      </p:sp>
      <p:pic>
        <p:nvPicPr>
          <p:cNvPr id="164" name="图片 163">
            <a:extLst>
              <a:ext uri="{FF2B5EF4-FFF2-40B4-BE49-F238E27FC236}">
                <a16:creationId xmlns:a16="http://schemas.microsoft.com/office/drawing/2014/main" id="{F357A019-CADB-3740-A7A2-8DF3D3427AA6}"/>
              </a:ext>
            </a:extLst>
          </p:cNvPr>
          <p:cNvPicPr>
            <a:picLocks noChangeAspect="1"/>
          </p:cNvPicPr>
          <p:nvPr/>
        </p:nvPicPr>
        <p:blipFill>
          <a:blip r:embed="rId4"/>
          <a:stretch>
            <a:fillRect/>
          </a:stretch>
        </p:blipFill>
        <p:spPr>
          <a:xfrm>
            <a:off x="4283127" y="3429000"/>
            <a:ext cx="6834753" cy="1417701"/>
          </a:xfrm>
          <a:prstGeom prst="rect">
            <a:avLst/>
          </a:prstGeom>
        </p:spPr>
      </p:pic>
      <p:pic>
        <p:nvPicPr>
          <p:cNvPr id="166" name="图片 165">
            <a:extLst>
              <a:ext uri="{FF2B5EF4-FFF2-40B4-BE49-F238E27FC236}">
                <a16:creationId xmlns:a16="http://schemas.microsoft.com/office/drawing/2014/main" id="{1961E05F-BEE2-0C4A-AF56-ED987070E56F}"/>
              </a:ext>
            </a:extLst>
          </p:cNvPr>
          <p:cNvPicPr>
            <a:picLocks noChangeAspect="1"/>
          </p:cNvPicPr>
          <p:nvPr/>
        </p:nvPicPr>
        <p:blipFill rotWithShape="1">
          <a:blip r:embed="rId5"/>
          <a:srcRect l="51860" t="6479"/>
          <a:stretch/>
        </p:blipFill>
        <p:spPr>
          <a:xfrm>
            <a:off x="731838" y="1499615"/>
            <a:ext cx="1173793" cy="1472507"/>
          </a:xfrm>
          <a:prstGeom prst="rect">
            <a:avLst/>
          </a:prstGeom>
        </p:spPr>
      </p:pic>
      <p:sp>
        <p:nvSpPr>
          <p:cNvPr id="168" name="矩形 167">
            <a:extLst>
              <a:ext uri="{FF2B5EF4-FFF2-40B4-BE49-F238E27FC236}">
                <a16:creationId xmlns:a16="http://schemas.microsoft.com/office/drawing/2014/main" id="{C60F35C4-5FFC-F64B-9336-56A301F95B05}"/>
              </a:ext>
            </a:extLst>
          </p:cNvPr>
          <p:cNvSpPr/>
          <p:nvPr>
            <p:custDataLst>
              <p:tags r:id="rId1"/>
            </p:custDataLst>
          </p:nvPr>
        </p:nvSpPr>
        <p:spPr>
          <a:xfrm>
            <a:off x="979747" y="3906591"/>
            <a:ext cx="2981715" cy="618516"/>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US" altLang="zh-CN" b="1" dirty="0">
                <a:latin typeface="Arial" panose="020B0604020202020204" pitchFamily="34" charset="0"/>
                <a:ea typeface="STKaiti" panose="02010600040101010101" pitchFamily="2" charset="-122"/>
                <a:cs typeface="Arial" panose="020B0604020202020204" pitchFamily="34" charset="0"/>
                <a:sym typeface="+mn-lt"/>
              </a:rPr>
              <a:t>Linear decomposition by Phase gate</a:t>
            </a:r>
          </a:p>
        </p:txBody>
      </p:sp>
      <p:pic>
        <p:nvPicPr>
          <p:cNvPr id="3" name="图片 2">
            <a:extLst>
              <a:ext uri="{FF2B5EF4-FFF2-40B4-BE49-F238E27FC236}">
                <a16:creationId xmlns:a16="http://schemas.microsoft.com/office/drawing/2014/main" id="{D5221B44-E3F1-A646-9CFE-122AC05E9107}"/>
              </a:ext>
            </a:extLst>
          </p:cNvPr>
          <p:cNvPicPr>
            <a:picLocks noChangeAspect="1"/>
          </p:cNvPicPr>
          <p:nvPr/>
        </p:nvPicPr>
        <p:blipFill>
          <a:blip r:embed="rId6"/>
          <a:stretch>
            <a:fillRect/>
          </a:stretch>
        </p:blipFill>
        <p:spPr>
          <a:xfrm>
            <a:off x="5961888" y="1024001"/>
            <a:ext cx="3450336" cy="2048384"/>
          </a:xfrm>
          <a:prstGeom prst="rect">
            <a:avLst/>
          </a:prstGeom>
        </p:spPr>
      </p:pic>
      <p:cxnSp>
        <p:nvCxnSpPr>
          <p:cNvPr id="6" name="直线箭头连接符 5">
            <a:extLst>
              <a:ext uri="{FF2B5EF4-FFF2-40B4-BE49-F238E27FC236}">
                <a16:creationId xmlns:a16="http://schemas.microsoft.com/office/drawing/2014/main" id="{784A157F-548C-E84D-BD36-6159A52325E6}"/>
              </a:ext>
            </a:extLst>
          </p:cNvPr>
          <p:cNvCxnSpPr>
            <a:cxnSpLocks/>
          </p:cNvCxnSpPr>
          <p:nvPr/>
        </p:nvCxnSpPr>
        <p:spPr>
          <a:xfrm>
            <a:off x="2145792" y="2145792"/>
            <a:ext cx="342595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0" name="文本框 169">
            <a:extLst>
              <a:ext uri="{FF2B5EF4-FFF2-40B4-BE49-F238E27FC236}">
                <a16:creationId xmlns:a16="http://schemas.microsoft.com/office/drawing/2014/main" id="{C24BC876-3A48-ED4B-A962-3EFD804917AF}"/>
              </a:ext>
            </a:extLst>
          </p:cNvPr>
          <p:cNvSpPr txBox="1"/>
          <p:nvPr/>
        </p:nvSpPr>
        <p:spPr>
          <a:xfrm>
            <a:off x="2438400" y="1729478"/>
            <a:ext cx="2816352" cy="369332"/>
          </a:xfrm>
          <a:prstGeom prst="rect">
            <a:avLst/>
          </a:prstGeom>
          <a:noFill/>
        </p:spPr>
        <p:txBody>
          <a:bodyPr wrap="square">
            <a:spAutoFit/>
          </a:bodyPr>
          <a:lstStyle/>
          <a:p>
            <a:r>
              <a:rPr lang="en-US" altLang="zh-CN" sz="1800" dirty="0"/>
              <a:t>Hamiltonian</a:t>
            </a:r>
            <a:r>
              <a:rPr lang="zh-CN" altLang="en-US" sz="1800" dirty="0"/>
              <a:t> </a:t>
            </a:r>
            <a:r>
              <a:rPr lang="en-US" altLang="zh-CN" sz="1800" dirty="0"/>
              <a:t>Serialization</a:t>
            </a:r>
            <a:endParaRPr lang="zh-CN" altLang="en-US" dirty="0"/>
          </a:p>
        </p:txBody>
      </p:sp>
      <p:cxnSp>
        <p:nvCxnSpPr>
          <p:cNvPr id="10" name="直线连接符 9">
            <a:extLst>
              <a:ext uri="{FF2B5EF4-FFF2-40B4-BE49-F238E27FC236}">
                <a16:creationId xmlns:a16="http://schemas.microsoft.com/office/drawing/2014/main" id="{E3F899CD-D96A-3A41-8E9E-9AC94CF2C5AB}"/>
              </a:ext>
            </a:extLst>
          </p:cNvPr>
          <p:cNvCxnSpPr>
            <a:cxnSpLocks/>
          </p:cNvCxnSpPr>
          <p:nvPr/>
        </p:nvCxnSpPr>
        <p:spPr>
          <a:xfrm flipH="1">
            <a:off x="5425440" y="2535936"/>
            <a:ext cx="2011680" cy="768096"/>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71" name="直线连接符 170">
            <a:extLst>
              <a:ext uri="{FF2B5EF4-FFF2-40B4-BE49-F238E27FC236}">
                <a16:creationId xmlns:a16="http://schemas.microsoft.com/office/drawing/2014/main" id="{4B19561A-1681-904A-9B8D-F57B4D7D401E}"/>
              </a:ext>
            </a:extLst>
          </p:cNvPr>
          <p:cNvCxnSpPr>
            <a:cxnSpLocks/>
          </p:cNvCxnSpPr>
          <p:nvPr/>
        </p:nvCxnSpPr>
        <p:spPr>
          <a:xfrm>
            <a:off x="7936992" y="2548128"/>
            <a:ext cx="3169920" cy="755904"/>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845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78D33596-830F-3843-9C2C-E5330E58C6DE}"/>
              </a:ext>
            </a:extLst>
          </p:cNvPr>
          <p:cNvSpPr/>
          <p:nvPr/>
        </p:nvSpPr>
        <p:spPr>
          <a:xfrm>
            <a:off x="5437632" y="3304032"/>
            <a:ext cx="5693664" cy="1694688"/>
          </a:xfrm>
          <a:prstGeom prst="rect">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标题 1">
            <a:extLst>
              <a:ext uri="{FF2B5EF4-FFF2-40B4-BE49-F238E27FC236}">
                <a16:creationId xmlns:a16="http://schemas.microsoft.com/office/drawing/2014/main" id="{88C84D1B-DB45-96F4-697B-71F23B90A660}"/>
              </a:ext>
            </a:extLst>
          </p:cNvPr>
          <p:cNvSpPr>
            <a:spLocks noGrp="1"/>
          </p:cNvSpPr>
          <p:nvPr>
            <p:ph type="title"/>
          </p:nvPr>
        </p:nvSpPr>
        <p:spPr>
          <a:xfrm>
            <a:off x="718218" y="124618"/>
            <a:ext cx="8821198" cy="678468"/>
          </a:xfrm>
        </p:spPr>
        <p:txBody>
          <a:bodyPr>
            <a:normAutofit/>
          </a:bodyPr>
          <a:lstStyle/>
          <a:p>
            <a:r>
              <a:rPr lang="en-US" altLang="zh-CN" sz="2800" dirty="0"/>
              <a:t>Hamiltonian Decomposition</a:t>
            </a:r>
            <a:endParaRPr lang="zh-CN" altLang="en-US" sz="2800" dirty="0"/>
          </a:p>
        </p:txBody>
      </p:sp>
      <p:pic>
        <p:nvPicPr>
          <p:cNvPr id="164" name="图片 163">
            <a:extLst>
              <a:ext uri="{FF2B5EF4-FFF2-40B4-BE49-F238E27FC236}">
                <a16:creationId xmlns:a16="http://schemas.microsoft.com/office/drawing/2014/main" id="{F357A019-CADB-3740-A7A2-8DF3D3427AA6}"/>
              </a:ext>
            </a:extLst>
          </p:cNvPr>
          <p:cNvPicPr>
            <a:picLocks noChangeAspect="1"/>
          </p:cNvPicPr>
          <p:nvPr/>
        </p:nvPicPr>
        <p:blipFill>
          <a:blip r:embed="rId5"/>
          <a:stretch>
            <a:fillRect/>
          </a:stretch>
        </p:blipFill>
        <p:spPr>
          <a:xfrm>
            <a:off x="4283127" y="3429000"/>
            <a:ext cx="6834753" cy="1417701"/>
          </a:xfrm>
          <a:prstGeom prst="rect">
            <a:avLst/>
          </a:prstGeom>
        </p:spPr>
      </p:pic>
      <p:pic>
        <p:nvPicPr>
          <p:cNvPr id="165" name="图片 164">
            <a:extLst>
              <a:ext uri="{FF2B5EF4-FFF2-40B4-BE49-F238E27FC236}">
                <a16:creationId xmlns:a16="http://schemas.microsoft.com/office/drawing/2014/main" id="{A9C4CEE8-528C-8244-A22F-63A098453E0A}"/>
              </a:ext>
            </a:extLst>
          </p:cNvPr>
          <p:cNvPicPr>
            <a:picLocks noChangeAspect="1"/>
          </p:cNvPicPr>
          <p:nvPr/>
        </p:nvPicPr>
        <p:blipFill>
          <a:blip r:embed="rId6"/>
          <a:stretch>
            <a:fillRect/>
          </a:stretch>
        </p:blipFill>
        <p:spPr>
          <a:xfrm>
            <a:off x="4416686" y="5327141"/>
            <a:ext cx="6874329" cy="995948"/>
          </a:xfrm>
          <a:prstGeom prst="rect">
            <a:avLst/>
          </a:prstGeom>
        </p:spPr>
      </p:pic>
      <p:pic>
        <p:nvPicPr>
          <p:cNvPr id="166" name="图片 165">
            <a:extLst>
              <a:ext uri="{FF2B5EF4-FFF2-40B4-BE49-F238E27FC236}">
                <a16:creationId xmlns:a16="http://schemas.microsoft.com/office/drawing/2014/main" id="{1961E05F-BEE2-0C4A-AF56-ED987070E56F}"/>
              </a:ext>
            </a:extLst>
          </p:cNvPr>
          <p:cNvPicPr>
            <a:picLocks noChangeAspect="1"/>
          </p:cNvPicPr>
          <p:nvPr/>
        </p:nvPicPr>
        <p:blipFill rotWithShape="1">
          <a:blip r:embed="rId7"/>
          <a:srcRect l="51860" t="6479"/>
          <a:stretch/>
        </p:blipFill>
        <p:spPr>
          <a:xfrm>
            <a:off x="731838" y="1499615"/>
            <a:ext cx="1173793" cy="1472507"/>
          </a:xfrm>
          <a:prstGeom prst="rect">
            <a:avLst/>
          </a:prstGeom>
        </p:spPr>
      </p:pic>
      <p:sp>
        <p:nvSpPr>
          <p:cNvPr id="168" name="矩形 167">
            <a:extLst>
              <a:ext uri="{FF2B5EF4-FFF2-40B4-BE49-F238E27FC236}">
                <a16:creationId xmlns:a16="http://schemas.microsoft.com/office/drawing/2014/main" id="{C60F35C4-5FFC-F64B-9336-56A301F95B05}"/>
              </a:ext>
            </a:extLst>
          </p:cNvPr>
          <p:cNvSpPr/>
          <p:nvPr>
            <p:custDataLst>
              <p:tags r:id="rId1"/>
            </p:custDataLst>
          </p:nvPr>
        </p:nvSpPr>
        <p:spPr>
          <a:xfrm>
            <a:off x="979747" y="3906591"/>
            <a:ext cx="2981715" cy="618516"/>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US" altLang="zh-CN" b="1" dirty="0">
                <a:latin typeface="Arial" panose="020B0604020202020204" pitchFamily="34" charset="0"/>
                <a:ea typeface="STKaiti" panose="02010600040101010101" pitchFamily="2" charset="-122"/>
                <a:cs typeface="Arial" panose="020B0604020202020204" pitchFamily="34" charset="0"/>
                <a:sym typeface="+mn-lt"/>
              </a:rPr>
              <a:t>Linear decomposition by Phase gate</a:t>
            </a:r>
          </a:p>
        </p:txBody>
      </p:sp>
      <p:sp>
        <p:nvSpPr>
          <p:cNvPr id="169" name="矩形 168">
            <a:extLst>
              <a:ext uri="{FF2B5EF4-FFF2-40B4-BE49-F238E27FC236}">
                <a16:creationId xmlns:a16="http://schemas.microsoft.com/office/drawing/2014/main" id="{8823BB5E-9C75-A54F-9409-E7072E1A02D0}"/>
              </a:ext>
            </a:extLst>
          </p:cNvPr>
          <p:cNvSpPr/>
          <p:nvPr>
            <p:custDataLst>
              <p:tags r:id="rId2"/>
            </p:custDataLst>
          </p:nvPr>
        </p:nvSpPr>
        <p:spPr>
          <a:xfrm>
            <a:off x="958645" y="5315705"/>
            <a:ext cx="2981715" cy="618516"/>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US" altLang="zh-CN" b="1" dirty="0">
                <a:latin typeface="Arial" panose="020B0604020202020204" pitchFamily="34" charset="0"/>
                <a:ea typeface="STKaiti" panose="02010600040101010101" pitchFamily="2" charset="-122"/>
                <a:cs typeface="Arial" panose="020B0604020202020204" pitchFamily="34" charset="0"/>
                <a:sym typeface="+mn-lt"/>
              </a:rPr>
              <a:t>Linear decomposition of Phase gate</a:t>
            </a:r>
          </a:p>
        </p:txBody>
      </p:sp>
      <p:pic>
        <p:nvPicPr>
          <p:cNvPr id="3" name="图片 2">
            <a:extLst>
              <a:ext uri="{FF2B5EF4-FFF2-40B4-BE49-F238E27FC236}">
                <a16:creationId xmlns:a16="http://schemas.microsoft.com/office/drawing/2014/main" id="{D5221B44-E3F1-A646-9CFE-122AC05E9107}"/>
              </a:ext>
            </a:extLst>
          </p:cNvPr>
          <p:cNvPicPr>
            <a:picLocks noChangeAspect="1"/>
          </p:cNvPicPr>
          <p:nvPr/>
        </p:nvPicPr>
        <p:blipFill>
          <a:blip r:embed="rId8"/>
          <a:stretch>
            <a:fillRect/>
          </a:stretch>
        </p:blipFill>
        <p:spPr>
          <a:xfrm>
            <a:off x="5961888" y="1024001"/>
            <a:ext cx="3450336" cy="2048384"/>
          </a:xfrm>
          <a:prstGeom prst="rect">
            <a:avLst/>
          </a:prstGeom>
        </p:spPr>
      </p:pic>
      <p:cxnSp>
        <p:nvCxnSpPr>
          <p:cNvPr id="6" name="直线箭头连接符 5">
            <a:extLst>
              <a:ext uri="{FF2B5EF4-FFF2-40B4-BE49-F238E27FC236}">
                <a16:creationId xmlns:a16="http://schemas.microsoft.com/office/drawing/2014/main" id="{784A157F-548C-E84D-BD36-6159A52325E6}"/>
              </a:ext>
            </a:extLst>
          </p:cNvPr>
          <p:cNvCxnSpPr>
            <a:cxnSpLocks/>
          </p:cNvCxnSpPr>
          <p:nvPr/>
        </p:nvCxnSpPr>
        <p:spPr>
          <a:xfrm>
            <a:off x="2145792" y="2145792"/>
            <a:ext cx="342595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0" name="文本框 169">
            <a:extLst>
              <a:ext uri="{FF2B5EF4-FFF2-40B4-BE49-F238E27FC236}">
                <a16:creationId xmlns:a16="http://schemas.microsoft.com/office/drawing/2014/main" id="{C24BC876-3A48-ED4B-A962-3EFD804917AF}"/>
              </a:ext>
            </a:extLst>
          </p:cNvPr>
          <p:cNvSpPr txBox="1"/>
          <p:nvPr/>
        </p:nvSpPr>
        <p:spPr>
          <a:xfrm>
            <a:off x="2438400" y="1729478"/>
            <a:ext cx="2816352" cy="369332"/>
          </a:xfrm>
          <a:prstGeom prst="rect">
            <a:avLst/>
          </a:prstGeom>
          <a:noFill/>
        </p:spPr>
        <p:txBody>
          <a:bodyPr wrap="square">
            <a:spAutoFit/>
          </a:bodyPr>
          <a:lstStyle/>
          <a:p>
            <a:r>
              <a:rPr lang="en-US" altLang="zh-CN" sz="1800" dirty="0"/>
              <a:t>Hamiltonian</a:t>
            </a:r>
            <a:r>
              <a:rPr lang="zh-CN" altLang="en-US" sz="1800" dirty="0"/>
              <a:t> </a:t>
            </a:r>
            <a:r>
              <a:rPr lang="en-US" altLang="zh-CN" sz="1800" dirty="0"/>
              <a:t>Serialization</a:t>
            </a:r>
            <a:endParaRPr lang="zh-CN" altLang="en-US" dirty="0"/>
          </a:p>
        </p:txBody>
      </p:sp>
      <p:cxnSp>
        <p:nvCxnSpPr>
          <p:cNvPr id="10" name="直线连接符 9">
            <a:extLst>
              <a:ext uri="{FF2B5EF4-FFF2-40B4-BE49-F238E27FC236}">
                <a16:creationId xmlns:a16="http://schemas.microsoft.com/office/drawing/2014/main" id="{E3F899CD-D96A-3A41-8E9E-9AC94CF2C5AB}"/>
              </a:ext>
            </a:extLst>
          </p:cNvPr>
          <p:cNvCxnSpPr>
            <a:cxnSpLocks/>
          </p:cNvCxnSpPr>
          <p:nvPr/>
        </p:nvCxnSpPr>
        <p:spPr>
          <a:xfrm flipH="1">
            <a:off x="5425440" y="2535936"/>
            <a:ext cx="2011680" cy="7680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1" name="直线连接符 170">
            <a:extLst>
              <a:ext uri="{FF2B5EF4-FFF2-40B4-BE49-F238E27FC236}">
                <a16:creationId xmlns:a16="http://schemas.microsoft.com/office/drawing/2014/main" id="{4B19561A-1681-904A-9B8D-F57B4D7D401E}"/>
              </a:ext>
            </a:extLst>
          </p:cNvPr>
          <p:cNvCxnSpPr>
            <a:cxnSpLocks/>
          </p:cNvCxnSpPr>
          <p:nvPr/>
        </p:nvCxnSpPr>
        <p:spPr>
          <a:xfrm>
            <a:off x="7936992" y="2548128"/>
            <a:ext cx="3169920" cy="755904"/>
          </a:xfrm>
          <a:prstGeom prst="line">
            <a:avLst/>
          </a:prstGeom>
        </p:spPr>
        <p:style>
          <a:lnRef idx="1">
            <a:schemeClr val="accent1"/>
          </a:lnRef>
          <a:fillRef idx="0">
            <a:schemeClr val="accent1"/>
          </a:fillRef>
          <a:effectRef idx="0">
            <a:schemeClr val="accent1"/>
          </a:effectRef>
          <a:fontRef idx="minor">
            <a:schemeClr val="tx1"/>
          </a:fontRef>
        </p:style>
      </p:cxnSp>
      <p:sp>
        <p:nvSpPr>
          <p:cNvPr id="172" name="矩形 171">
            <a:extLst>
              <a:ext uri="{FF2B5EF4-FFF2-40B4-BE49-F238E27FC236}">
                <a16:creationId xmlns:a16="http://schemas.microsoft.com/office/drawing/2014/main" id="{6F0F28E1-75E9-9F4B-98BF-8E865DD72675}"/>
              </a:ext>
            </a:extLst>
          </p:cNvPr>
          <p:cNvSpPr/>
          <p:nvPr/>
        </p:nvSpPr>
        <p:spPr>
          <a:xfrm>
            <a:off x="4309872" y="5273040"/>
            <a:ext cx="7065264" cy="1152144"/>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73" name="直线连接符 172">
            <a:extLst>
              <a:ext uri="{FF2B5EF4-FFF2-40B4-BE49-F238E27FC236}">
                <a16:creationId xmlns:a16="http://schemas.microsoft.com/office/drawing/2014/main" id="{3750EFCF-3861-D14E-BDAF-5E7C35CD70CF}"/>
              </a:ext>
            </a:extLst>
          </p:cNvPr>
          <p:cNvCxnSpPr>
            <a:cxnSpLocks/>
          </p:cNvCxnSpPr>
          <p:nvPr/>
        </p:nvCxnSpPr>
        <p:spPr>
          <a:xfrm flipH="1">
            <a:off x="4303776" y="4840224"/>
            <a:ext cx="3243072" cy="42672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74" name="直线连接符 173">
            <a:extLst>
              <a:ext uri="{FF2B5EF4-FFF2-40B4-BE49-F238E27FC236}">
                <a16:creationId xmlns:a16="http://schemas.microsoft.com/office/drawing/2014/main" id="{F2E3577B-7D9C-E74B-9F21-6B18A5C3E02E}"/>
              </a:ext>
            </a:extLst>
          </p:cNvPr>
          <p:cNvCxnSpPr>
            <a:cxnSpLocks/>
          </p:cNvCxnSpPr>
          <p:nvPr/>
        </p:nvCxnSpPr>
        <p:spPr>
          <a:xfrm>
            <a:off x="7900416" y="4840224"/>
            <a:ext cx="3474720" cy="438912"/>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175" name="矩形 174">
            <a:extLst>
              <a:ext uri="{FF2B5EF4-FFF2-40B4-BE49-F238E27FC236}">
                <a16:creationId xmlns:a16="http://schemas.microsoft.com/office/drawing/2014/main" id="{5FC152B6-C772-B744-B709-48FA4B4101E0}"/>
              </a:ext>
            </a:extLst>
          </p:cNvPr>
          <p:cNvSpPr/>
          <p:nvPr/>
        </p:nvSpPr>
        <p:spPr>
          <a:xfrm>
            <a:off x="7559040" y="3456432"/>
            <a:ext cx="341376" cy="1383792"/>
          </a:xfrm>
          <a:prstGeom prst="rect">
            <a:avLst/>
          </a:prstGeom>
          <a:noFill/>
          <a:ln w="254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385760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DAF63318-5817-A8F3-744F-4067FCB9CB42}"/>
              </a:ext>
            </a:extLst>
          </p:cNvPr>
          <p:cNvSpPr>
            <a:spLocks noGrp="1"/>
          </p:cNvSpPr>
          <p:nvPr>
            <p:ph type="title"/>
          </p:nvPr>
        </p:nvSpPr>
        <p:spPr>
          <a:xfrm>
            <a:off x="718218" y="124618"/>
            <a:ext cx="8821198" cy="678468"/>
          </a:xfrm>
        </p:spPr>
        <p:txBody>
          <a:bodyPr>
            <a:normAutofit/>
          </a:bodyPr>
          <a:lstStyle/>
          <a:p>
            <a:r>
              <a:rPr lang="en-US" altLang="zh-CN" sz="2800" dirty="0"/>
              <a:t>Variable Elimination</a:t>
            </a:r>
          </a:p>
        </p:txBody>
      </p:sp>
      <p:pic>
        <p:nvPicPr>
          <p:cNvPr id="264" name="图片 263">
            <a:extLst>
              <a:ext uri="{FF2B5EF4-FFF2-40B4-BE49-F238E27FC236}">
                <a16:creationId xmlns:a16="http://schemas.microsoft.com/office/drawing/2014/main" id="{AAF823F6-1DF2-534F-8E3A-82512478C610}"/>
              </a:ext>
            </a:extLst>
          </p:cNvPr>
          <p:cNvPicPr>
            <a:picLocks noChangeAspect="1"/>
          </p:cNvPicPr>
          <p:nvPr/>
        </p:nvPicPr>
        <p:blipFill>
          <a:blip r:embed="rId3"/>
          <a:stretch>
            <a:fillRect/>
          </a:stretch>
        </p:blipFill>
        <p:spPr>
          <a:xfrm>
            <a:off x="1862210" y="1431377"/>
            <a:ext cx="8467579" cy="4492715"/>
          </a:xfrm>
          <a:prstGeom prst="rect">
            <a:avLst/>
          </a:prstGeom>
        </p:spPr>
      </p:pic>
    </p:spTree>
    <p:extLst>
      <p:ext uri="{BB962C8B-B14F-4D97-AF65-F5344CB8AC3E}">
        <p14:creationId xmlns:p14="http://schemas.microsoft.com/office/powerpoint/2010/main" val="6883040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左右箭头 14"/>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7" name="文本框 16">
            <a:extLst>
              <a:ext uri="{FF2B5EF4-FFF2-40B4-BE49-F238E27FC236}">
                <a16:creationId xmlns:a16="http://schemas.microsoft.com/office/drawing/2014/main" id="{4D44433B-C93D-B60E-A95C-8C7D0FB037F2}"/>
              </a:ext>
            </a:extLst>
          </p:cNvPr>
          <p:cNvSpPr txBox="1"/>
          <p:nvPr/>
        </p:nvSpPr>
        <p:spPr>
          <a:xfrm>
            <a:off x="7570038" y="657063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latin typeface="Arial" panose="020B0604020202020204" pitchFamily="34" charset="0"/>
              <a:cs typeface="Arial" panose="020B0604020202020204" pitchFamily="34" charset="0"/>
            </a:endParaRPr>
          </a:p>
        </p:txBody>
      </p:sp>
      <p:sp>
        <p:nvSpPr>
          <p:cNvPr id="27" name="标题 1">
            <a:extLst>
              <a:ext uri="{FF2B5EF4-FFF2-40B4-BE49-F238E27FC236}">
                <a16:creationId xmlns:a16="http://schemas.microsoft.com/office/drawing/2014/main" id="{04777F5A-B6BD-2242-CDCD-828885D7E62B}"/>
              </a:ext>
            </a:extLst>
          </p:cNvPr>
          <p:cNvSpPr>
            <a:spLocks noGrp="1"/>
          </p:cNvSpPr>
          <p:nvPr>
            <p:ph type="title"/>
          </p:nvPr>
        </p:nvSpPr>
        <p:spPr>
          <a:xfrm>
            <a:off x="718218" y="1"/>
            <a:ext cx="6603304" cy="803086"/>
          </a:xfrm>
        </p:spPr>
        <p:txBody>
          <a:bodyPr>
            <a:normAutofit/>
          </a:bodyPr>
          <a:lstStyle/>
          <a:p>
            <a:pPr algn="just" hangingPunct="0">
              <a:lnSpc>
                <a:spcPct val="100000"/>
              </a:lnSpc>
            </a:pPr>
            <a:r>
              <a:rPr lang="en" altLang="zh-CN" sz="2800" dirty="0">
                <a:ea typeface="STKaiti" panose="02010600040101010101" pitchFamily="2" charset="-122"/>
              </a:rPr>
              <a:t>Outline</a:t>
            </a:r>
            <a:r>
              <a:rPr lang="zh-CN" altLang="en-US" sz="2800">
                <a:ea typeface="STKaiti" panose="02010600040101010101" pitchFamily="2" charset="-122"/>
              </a:rPr>
              <a:t> </a:t>
            </a:r>
            <a:r>
              <a:rPr lang="en-US" altLang="zh-CN" sz="2800" dirty="0">
                <a:ea typeface="STKaiti" panose="02010600040101010101" pitchFamily="2" charset="-122"/>
              </a:rPr>
              <a:t>of</a:t>
            </a:r>
            <a:r>
              <a:rPr lang="zh-CN" altLang="en-US" sz="2800">
                <a:ea typeface="STKaiti" panose="02010600040101010101" pitchFamily="2" charset="-122"/>
              </a:rPr>
              <a:t> </a:t>
            </a:r>
            <a:r>
              <a:rPr lang="en-US" altLang="zh-CN" sz="2800" dirty="0">
                <a:ea typeface="STKaiti" panose="02010600040101010101" pitchFamily="2" charset="-122"/>
              </a:rPr>
              <a:t>Presentation</a:t>
            </a:r>
            <a:endParaRPr lang="zh-CN" altLang="en-US" sz="2800">
              <a:ea typeface="STKaiti" panose="02010600040101010101" pitchFamily="2" charset="-122"/>
              <a:sym typeface="+mn-lt"/>
            </a:endParaRPr>
          </a:p>
        </p:txBody>
      </p:sp>
      <p:sp>
        <p:nvSpPr>
          <p:cNvPr id="2" name="文本框 1">
            <a:extLst>
              <a:ext uri="{FF2B5EF4-FFF2-40B4-BE49-F238E27FC236}">
                <a16:creationId xmlns:a16="http://schemas.microsoft.com/office/drawing/2014/main" id="{663C5C80-9766-21C7-D8BC-14F78C1FBCEF}"/>
              </a:ext>
            </a:extLst>
          </p:cNvPr>
          <p:cNvSpPr txBox="1"/>
          <p:nvPr/>
        </p:nvSpPr>
        <p:spPr>
          <a:xfrm>
            <a:off x="535049" y="964097"/>
            <a:ext cx="10388600" cy="2343590"/>
          </a:xfrm>
          <a:prstGeom prst="rect">
            <a:avLst/>
          </a:prstGeom>
          <a:noFill/>
        </p:spPr>
        <p:txBody>
          <a:bodyPr wrap="square" rtlCol="0">
            <a:spAutoFit/>
          </a:bodyPr>
          <a:lstStyle/>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Background</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and</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challenges</a:t>
            </a: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Overview</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of</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Choco-Q</a:t>
            </a: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Choco-Q Optimization</a:t>
            </a:r>
          </a:p>
          <a:p>
            <a:pPr marL="342900" indent="-285750">
              <a:lnSpc>
                <a:spcPct val="150000"/>
              </a:lnSpc>
              <a:buFont typeface="Arial" panose="020B0604020202020204" pitchFamily="34" charset="0"/>
              <a:buChar char="•"/>
            </a:pPr>
            <a:r>
              <a:rPr kumimoji="1" lang="en-US" altLang="zh-CN" sz="2000" b="1" dirty="0">
                <a:latin typeface="Arial" panose="020B0604020202020204" pitchFamily="34" charset="0"/>
                <a:ea typeface="STKaiti" panose="02010600040101010101" pitchFamily="2" charset="-122"/>
                <a:cs typeface="Arial" panose="020B0604020202020204" pitchFamily="34" charset="0"/>
              </a:rPr>
              <a:t>Experiment</a:t>
            </a: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API</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of</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Choco-Q</a:t>
            </a:r>
          </a:p>
        </p:txBody>
      </p:sp>
    </p:spTree>
    <p:extLst>
      <p:ext uri="{BB962C8B-B14F-4D97-AF65-F5344CB8AC3E}">
        <p14:creationId xmlns:p14="http://schemas.microsoft.com/office/powerpoint/2010/main" val="949613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31A3D4B-63FB-21C7-0F62-E288AE5FEA9F}"/>
              </a:ext>
            </a:extLst>
          </p:cNvPr>
          <p:cNvSpPr>
            <a:spLocks noGrp="1"/>
          </p:cNvSpPr>
          <p:nvPr>
            <p:ph type="title"/>
          </p:nvPr>
        </p:nvSpPr>
        <p:spPr>
          <a:xfrm>
            <a:off x="718218" y="1"/>
            <a:ext cx="6603304" cy="803086"/>
          </a:xfrm>
        </p:spPr>
        <p:txBody>
          <a:bodyPr>
            <a:normAutofit/>
          </a:bodyPr>
          <a:lstStyle/>
          <a:p>
            <a:pPr algn="just" hangingPunct="0">
              <a:lnSpc>
                <a:spcPct val="100000"/>
              </a:lnSpc>
            </a:pPr>
            <a:r>
              <a:rPr lang="en-US" altLang="zh-CN" sz="2800" dirty="0">
                <a:ea typeface="STKaiti" panose="02010600040101010101" pitchFamily="2" charset="-122"/>
                <a:sym typeface="+mn-lt"/>
              </a:rPr>
              <a:t>Experiment: benchmarks</a:t>
            </a:r>
            <a:endParaRPr lang="zh-CN" altLang="en-US" sz="2800" b="1" dirty="0">
              <a:ea typeface="STKaiti" panose="02010600040101010101" pitchFamily="2" charset="-122"/>
              <a:sym typeface="+mn-lt"/>
            </a:endParaRPr>
          </a:p>
        </p:txBody>
      </p:sp>
      <p:sp>
        <p:nvSpPr>
          <p:cNvPr id="15" name="左右箭头 14">
            <a:extLst>
              <a:ext uri="{FF2B5EF4-FFF2-40B4-BE49-F238E27FC236}">
                <a16:creationId xmlns:a16="http://schemas.microsoft.com/office/drawing/2014/main" id="{5486FD12-D1AE-C5EC-FFB5-EF289F8E7A10}"/>
              </a:ext>
            </a:extLst>
          </p:cNvPr>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E2CB028F-A193-1348-BB8A-AC3CD53CA7D2}"/>
              </a:ext>
            </a:extLst>
          </p:cNvPr>
          <p:cNvPicPr>
            <a:picLocks noChangeAspect="1"/>
          </p:cNvPicPr>
          <p:nvPr/>
        </p:nvPicPr>
        <p:blipFill>
          <a:blip r:embed="rId3"/>
          <a:stretch>
            <a:fillRect/>
          </a:stretch>
        </p:blipFill>
        <p:spPr>
          <a:xfrm>
            <a:off x="948531" y="915922"/>
            <a:ext cx="10294938" cy="5243266"/>
          </a:xfrm>
          <a:prstGeom prst="rect">
            <a:avLst/>
          </a:prstGeom>
        </p:spPr>
      </p:pic>
      <p:sp>
        <p:nvSpPr>
          <p:cNvPr id="6" name="文本框 5">
            <a:extLst>
              <a:ext uri="{FF2B5EF4-FFF2-40B4-BE49-F238E27FC236}">
                <a16:creationId xmlns:a16="http://schemas.microsoft.com/office/drawing/2014/main" id="{1B5A18BE-704C-7844-A5AF-76D5BE2D7BDA}"/>
              </a:ext>
            </a:extLst>
          </p:cNvPr>
          <p:cNvSpPr txBox="1"/>
          <p:nvPr/>
        </p:nvSpPr>
        <p:spPr>
          <a:xfrm>
            <a:off x="1471930" y="6172651"/>
            <a:ext cx="1727200" cy="369332"/>
          </a:xfrm>
          <a:prstGeom prst="rect">
            <a:avLst/>
          </a:prstGeom>
          <a:noFill/>
        </p:spPr>
        <p:txBody>
          <a:bodyPr wrap="square">
            <a:spAutoFit/>
          </a:bodyPr>
          <a:lstStyle/>
          <a:p>
            <a:r>
              <a:rPr lang="en-US" altLang="zh-CN" dirty="0"/>
              <a:t>Facility location</a:t>
            </a:r>
            <a:endParaRPr lang="zh-CN" altLang="en-US" dirty="0"/>
          </a:p>
        </p:txBody>
      </p:sp>
      <p:sp>
        <p:nvSpPr>
          <p:cNvPr id="7" name="文本框 6">
            <a:extLst>
              <a:ext uri="{FF2B5EF4-FFF2-40B4-BE49-F238E27FC236}">
                <a16:creationId xmlns:a16="http://schemas.microsoft.com/office/drawing/2014/main" id="{8A14816E-6469-214D-9ED2-BC03312A8F35}"/>
              </a:ext>
            </a:extLst>
          </p:cNvPr>
          <p:cNvSpPr txBox="1"/>
          <p:nvPr/>
        </p:nvSpPr>
        <p:spPr>
          <a:xfrm>
            <a:off x="5119370" y="6176665"/>
            <a:ext cx="1727200" cy="369332"/>
          </a:xfrm>
          <a:prstGeom prst="rect">
            <a:avLst/>
          </a:prstGeom>
          <a:noFill/>
        </p:spPr>
        <p:txBody>
          <a:bodyPr wrap="square">
            <a:spAutoFit/>
          </a:bodyPr>
          <a:lstStyle/>
          <a:p>
            <a:r>
              <a:rPr lang="en-US" altLang="zh-CN" dirty="0"/>
              <a:t>Graph coloring</a:t>
            </a:r>
            <a:endParaRPr lang="zh-CN" altLang="en-US" dirty="0"/>
          </a:p>
        </p:txBody>
      </p:sp>
      <p:sp>
        <p:nvSpPr>
          <p:cNvPr id="9" name="文本框 8">
            <a:extLst>
              <a:ext uri="{FF2B5EF4-FFF2-40B4-BE49-F238E27FC236}">
                <a16:creationId xmlns:a16="http://schemas.microsoft.com/office/drawing/2014/main" id="{63B8245A-E669-0B48-B38B-521279D925FB}"/>
              </a:ext>
            </a:extLst>
          </p:cNvPr>
          <p:cNvSpPr txBox="1"/>
          <p:nvPr/>
        </p:nvSpPr>
        <p:spPr>
          <a:xfrm>
            <a:off x="8890000" y="6172651"/>
            <a:ext cx="1605280" cy="369332"/>
          </a:xfrm>
          <a:prstGeom prst="rect">
            <a:avLst/>
          </a:prstGeom>
          <a:noFill/>
        </p:spPr>
        <p:txBody>
          <a:bodyPr wrap="square">
            <a:spAutoFit/>
          </a:bodyPr>
          <a:lstStyle/>
          <a:p>
            <a:r>
              <a:rPr lang="en-US" altLang="zh-CN" dirty="0"/>
              <a:t>K-partitioning</a:t>
            </a:r>
            <a:endParaRPr lang="zh-CN" altLang="en-US" dirty="0"/>
          </a:p>
        </p:txBody>
      </p:sp>
    </p:spTree>
    <p:extLst>
      <p:ext uri="{BB962C8B-B14F-4D97-AF65-F5344CB8AC3E}">
        <p14:creationId xmlns:p14="http://schemas.microsoft.com/office/powerpoint/2010/main" val="5689898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31A3D4B-63FB-21C7-0F62-E288AE5FEA9F}"/>
              </a:ext>
            </a:extLst>
          </p:cNvPr>
          <p:cNvSpPr>
            <a:spLocks noGrp="1"/>
          </p:cNvSpPr>
          <p:nvPr>
            <p:ph type="title"/>
          </p:nvPr>
        </p:nvSpPr>
        <p:spPr>
          <a:xfrm>
            <a:off x="718218" y="1"/>
            <a:ext cx="6603304" cy="803086"/>
          </a:xfrm>
        </p:spPr>
        <p:txBody>
          <a:bodyPr>
            <a:normAutofit/>
          </a:bodyPr>
          <a:lstStyle/>
          <a:p>
            <a:pPr algn="just" hangingPunct="0">
              <a:lnSpc>
                <a:spcPct val="100000"/>
              </a:lnSpc>
            </a:pPr>
            <a:r>
              <a:rPr lang="en-US" altLang="zh-CN" sz="2800" b="1" dirty="0">
                <a:ea typeface="STKaiti" panose="02010600040101010101" pitchFamily="2" charset="-122"/>
                <a:sym typeface="+mn-lt"/>
              </a:rPr>
              <a:t>Noise-free</a:t>
            </a:r>
            <a:r>
              <a:rPr lang="zh-CN" altLang="en-US" sz="2800" b="1" dirty="0">
                <a:ea typeface="STKaiti" panose="02010600040101010101" pitchFamily="2" charset="-122"/>
                <a:sym typeface="+mn-lt"/>
              </a:rPr>
              <a:t> </a:t>
            </a:r>
            <a:r>
              <a:rPr lang="en-US" altLang="zh-CN" sz="2800" b="1" dirty="0">
                <a:ea typeface="STKaiti" panose="02010600040101010101" pitchFamily="2" charset="-122"/>
                <a:sym typeface="+mn-lt"/>
              </a:rPr>
              <a:t>Evaluation</a:t>
            </a:r>
            <a:endParaRPr lang="zh-CN" altLang="en-US" sz="2800" b="1" dirty="0">
              <a:ea typeface="STKaiti" panose="02010600040101010101" pitchFamily="2" charset="-122"/>
              <a:sym typeface="+mn-lt"/>
            </a:endParaRPr>
          </a:p>
        </p:txBody>
      </p:sp>
      <p:sp>
        <p:nvSpPr>
          <p:cNvPr id="15" name="左右箭头 14">
            <a:extLst>
              <a:ext uri="{FF2B5EF4-FFF2-40B4-BE49-F238E27FC236}">
                <a16:creationId xmlns:a16="http://schemas.microsoft.com/office/drawing/2014/main" id="{5486FD12-D1AE-C5EC-FFB5-EF289F8E7A10}"/>
              </a:ext>
            </a:extLst>
          </p:cNvPr>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429" name="图片 428">
            <a:extLst>
              <a:ext uri="{FF2B5EF4-FFF2-40B4-BE49-F238E27FC236}">
                <a16:creationId xmlns:a16="http://schemas.microsoft.com/office/drawing/2014/main" id="{945E7B85-68DE-FD44-9286-2224EF515C4F}"/>
              </a:ext>
            </a:extLst>
          </p:cNvPr>
          <p:cNvPicPr>
            <a:picLocks noChangeAspect="1"/>
          </p:cNvPicPr>
          <p:nvPr/>
        </p:nvPicPr>
        <p:blipFill rotWithShape="1">
          <a:blip r:embed="rId3"/>
          <a:srcRect t="10163" r="21072" b="9944"/>
          <a:stretch/>
        </p:blipFill>
        <p:spPr>
          <a:xfrm>
            <a:off x="693529" y="861392"/>
            <a:ext cx="10903739" cy="5208104"/>
          </a:xfrm>
          <a:prstGeom prst="rect">
            <a:avLst/>
          </a:prstGeom>
        </p:spPr>
      </p:pic>
      <p:sp>
        <p:nvSpPr>
          <p:cNvPr id="430" name="矩形 429">
            <a:extLst>
              <a:ext uri="{FF2B5EF4-FFF2-40B4-BE49-F238E27FC236}">
                <a16:creationId xmlns:a16="http://schemas.microsoft.com/office/drawing/2014/main" id="{6D1B5699-1D9E-C74F-B512-1567BF8C500A}"/>
              </a:ext>
            </a:extLst>
          </p:cNvPr>
          <p:cNvSpPr/>
          <p:nvPr/>
        </p:nvSpPr>
        <p:spPr>
          <a:xfrm>
            <a:off x="8144759" y="1170904"/>
            <a:ext cx="688156" cy="4826940"/>
          </a:xfrm>
          <a:prstGeom prst="rect">
            <a:avLst/>
          </a:prstGeom>
          <a:noFill/>
          <a:ln w="38100">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431" name="矩形 430">
            <a:extLst>
              <a:ext uri="{FF2B5EF4-FFF2-40B4-BE49-F238E27FC236}">
                <a16:creationId xmlns:a16="http://schemas.microsoft.com/office/drawing/2014/main" id="{ED958D85-CACB-3B43-B54B-6209C0C2152D}"/>
              </a:ext>
            </a:extLst>
          </p:cNvPr>
          <p:cNvSpPr/>
          <p:nvPr/>
        </p:nvSpPr>
        <p:spPr>
          <a:xfrm>
            <a:off x="10909030" y="1183819"/>
            <a:ext cx="724439" cy="4826940"/>
          </a:xfrm>
          <a:prstGeom prst="rect">
            <a:avLst/>
          </a:prstGeom>
          <a:noFill/>
          <a:ln w="38100">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Tree>
    <p:extLst>
      <p:ext uri="{BB962C8B-B14F-4D97-AF65-F5344CB8AC3E}">
        <p14:creationId xmlns:p14="http://schemas.microsoft.com/office/powerpoint/2010/main" val="34200646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31A3D4B-63FB-21C7-0F62-E288AE5FEA9F}"/>
              </a:ext>
            </a:extLst>
          </p:cNvPr>
          <p:cNvSpPr>
            <a:spLocks noGrp="1"/>
          </p:cNvSpPr>
          <p:nvPr>
            <p:ph type="title"/>
          </p:nvPr>
        </p:nvSpPr>
        <p:spPr>
          <a:xfrm>
            <a:off x="718218" y="1"/>
            <a:ext cx="6603304" cy="803086"/>
          </a:xfrm>
        </p:spPr>
        <p:txBody>
          <a:bodyPr>
            <a:normAutofit/>
          </a:bodyPr>
          <a:lstStyle/>
          <a:p>
            <a:pPr algn="just" hangingPunct="0">
              <a:lnSpc>
                <a:spcPct val="100000"/>
              </a:lnSpc>
            </a:pPr>
            <a:r>
              <a:rPr lang="en-US" altLang="zh-CN" sz="2800" b="1" dirty="0">
                <a:ea typeface="STKaiti" panose="02010600040101010101" pitchFamily="2" charset="-122"/>
                <a:sym typeface="+mn-lt"/>
              </a:rPr>
              <a:t>Evaluation</a:t>
            </a:r>
            <a:r>
              <a:rPr lang="zh-CN" altLang="en-US" sz="2800" b="1" dirty="0">
                <a:ea typeface="STKaiti" panose="02010600040101010101" pitchFamily="2" charset="-122"/>
                <a:sym typeface="+mn-lt"/>
              </a:rPr>
              <a:t> </a:t>
            </a:r>
            <a:r>
              <a:rPr lang="en-US" altLang="zh-CN" sz="2800" b="1" dirty="0">
                <a:ea typeface="STKaiti" panose="02010600040101010101" pitchFamily="2" charset="-122"/>
                <a:sym typeface="+mn-lt"/>
              </a:rPr>
              <a:t>on</a:t>
            </a:r>
            <a:r>
              <a:rPr lang="zh-CN" altLang="en-US" sz="2800" b="1" dirty="0">
                <a:ea typeface="STKaiti" panose="02010600040101010101" pitchFamily="2" charset="-122"/>
                <a:sym typeface="+mn-lt"/>
              </a:rPr>
              <a:t> </a:t>
            </a:r>
            <a:r>
              <a:rPr lang="en-US" altLang="zh-CN" sz="2800" b="1" dirty="0">
                <a:ea typeface="STKaiti" panose="02010600040101010101" pitchFamily="2" charset="-122"/>
                <a:sym typeface="+mn-lt"/>
              </a:rPr>
              <a:t>quantum</a:t>
            </a:r>
            <a:r>
              <a:rPr lang="zh-CN" altLang="en-US" sz="2800" b="1" dirty="0">
                <a:ea typeface="STKaiti" panose="02010600040101010101" pitchFamily="2" charset="-122"/>
                <a:sym typeface="+mn-lt"/>
              </a:rPr>
              <a:t> </a:t>
            </a:r>
            <a:r>
              <a:rPr lang="en-US" altLang="zh-CN" sz="2800" b="1" dirty="0">
                <a:ea typeface="STKaiti" panose="02010600040101010101" pitchFamily="2" charset="-122"/>
                <a:sym typeface="+mn-lt"/>
              </a:rPr>
              <a:t>computer</a:t>
            </a:r>
            <a:endParaRPr lang="zh-CN" altLang="en-US" sz="2800" b="1" dirty="0">
              <a:ea typeface="STKaiti" panose="02010600040101010101" pitchFamily="2" charset="-122"/>
              <a:sym typeface="+mn-lt"/>
            </a:endParaRPr>
          </a:p>
        </p:txBody>
      </p:sp>
      <p:sp>
        <p:nvSpPr>
          <p:cNvPr id="15" name="左右箭头 14">
            <a:extLst>
              <a:ext uri="{FF2B5EF4-FFF2-40B4-BE49-F238E27FC236}">
                <a16:creationId xmlns:a16="http://schemas.microsoft.com/office/drawing/2014/main" id="{5486FD12-D1AE-C5EC-FFB5-EF289F8E7A10}"/>
              </a:ext>
            </a:extLst>
          </p:cNvPr>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80DE278A-E263-7844-A49C-39022EBEB1D2}"/>
              </a:ext>
            </a:extLst>
          </p:cNvPr>
          <p:cNvPicPr>
            <a:picLocks noChangeAspect="1"/>
          </p:cNvPicPr>
          <p:nvPr/>
        </p:nvPicPr>
        <p:blipFill>
          <a:blip r:embed="rId3"/>
          <a:stretch>
            <a:fillRect/>
          </a:stretch>
        </p:blipFill>
        <p:spPr>
          <a:xfrm>
            <a:off x="585333" y="968992"/>
            <a:ext cx="6596255" cy="5588758"/>
          </a:xfrm>
          <a:prstGeom prst="rect">
            <a:avLst/>
          </a:prstGeom>
        </p:spPr>
      </p:pic>
      <p:pic>
        <p:nvPicPr>
          <p:cNvPr id="6" name="图片 5">
            <a:extLst>
              <a:ext uri="{FF2B5EF4-FFF2-40B4-BE49-F238E27FC236}">
                <a16:creationId xmlns:a16="http://schemas.microsoft.com/office/drawing/2014/main" id="{0F5591B1-71FB-4B4D-AADA-50BFAEBA1EBC}"/>
              </a:ext>
            </a:extLst>
          </p:cNvPr>
          <p:cNvPicPr>
            <a:picLocks noChangeAspect="1"/>
          </p:cNvPicPr>
          <p:nvPr/>
        </p:nvPicPr>
        <p:blipFill>
          <a:blip r:embed="rId4"/>
          <a:stretch>
            <a:fillRect/>
          </a:stretch>
        </p:blipFill>
        <p:spPr>
          <a:xfrm>
            <a:off x="7861198" y="1975512"/>
            <a:ext cx="3175963" cy="2623783"/>
          </a:xfrm>
          <a:prstGeom prst="rect">
            <a:avLst/>
          </a:prstGeom>
        </p:spPr>
      </p:pic>
      <p:sp>
        <p:nvSpPr>
          <p:cNvPr id="16" name="文本框 15">
            <a:extLst>
              <a:ext uri="{FF2B5EF4-FFF2-40B4-BE49-F238E27FC236}">
                <a16:creationId xmlns:a16="http://schemas.microsoft.com/office/drawing/2014/main" id="{4018683C-E648-E04F-867D-18FE2F5181E8}"/>
              </a:ext>
            </a:extLst>
          </p:cNvPr>
          <p:cNvSpPr txBox="1"/>
          <p:nvPr/>
        </p:nvSpPr>
        <p:spPr>
          <a:xfrm>
            <a:off x="7526740" y="4781097"/>
            <a:ext cx="3778866" cy="646331"/>
          </a:xfrm>
          <a:prstGeom prst="rect">
            <a:avLst/>
          </a:prstGeom>
          <a:noFill/>
        </p:spPr>
        <p:txBody>
          <a:bodyPr wrap="square">
            <a:spAutoFit/>
          </a:bodyPr>
          <a:lstStyle/>
          <a:p>
            <a:r>
              <a:rPr lang="en" altLang="zh-CN" dirty="0">
                <a:effectLst/>
              </a:rPr>
              <a:t>End-to-end Latency breakdown for F</a:t>
            </a:r>
            <a:r>
              <a:rPr lang="en-US" altLang="zh-CN" dirty="0">
                <a:effectLst/>
              </a:rPr>
              <a:t>1</a:t>
            </a:r>
            <a:r>
              <a:rPr lang="zh-CN" altLang="en-US" dirty="0">
                <a:effectLst/>
              </a:rPr>
              <a:t> </a:t>
            </a:r>
            <a:r>
              <a:rPr lang="en" altLang="zh-CN" dirty="0">
                <a:effectLst/>
              </a:rPr>
              <a:t>benchmarks on the Fez device.</a:t>
            </a:r>
            <a:endParaRPr lang="zh-CN" altLang="en-US" dirty="0"/>
          </a:p>
        </p:txBody>
      </p:sp>
    </p:spTree>
    <p:extLst>
      <p:ext uri="{BB962C8B-B14F-4D97-AF65-F5344CB8AC3E}">
        <p14:creationId xmlns:p14="http://schemas.microsoft.com/office/powerpoint/2010/main" val="2021433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31A3D4B-63FB-21C7-0F62-E288AE5FEA9F}"/>
              </a:ext>
            </a:extLst>
          </p:cNvPr>
          <p:cNvSpPr>
            <a:spLocks noGrp="1"/>
          </p:cNvSpPr>
          <p:nvPr>
            <p:ph type="title"/>
          </p:nvPr>
        </p:nvSpPr>
        <p:spPr>
          <a:xfrm>
            <a:off x="718218" y="1"/>
            <a:ext cx="6603304" cy="803086"/>
          </a:xfrm>
        </p:spPr>
        <p:txBody>
          <a:bodyPr>
            <a:normAutofit/>
          </a:bodyPr>
          <a:lstStyle/>
          <a:p>
            <a:pPr algn="just" hangingPunct="0">
              <a:lnSpc>
                <a:spcPct val="100000"/>
              </a:lnSpc>
            </a:pPr>
            <a:r>
              <a:rPr lang="en-US" altLang="zh-CN" sz="2800" b="1" dirty="0">
                <a:ea typeface="STKaiti" panose="02010600040101010101" pitchFamily="2" charset="-122"/>
                <a:sym typeface="+mn-lt"/>
              </a:rPr>
              <a:t>Detailed</a:t>
            </a:r>
            <a:r>
              <a:rPr lang="zh-CN" altLang="en-US" sz="2800" b="1" dirty="0">
                <a:ea typeface="STKaiti" panose="02010600040101010101" pitchFamily="2" charset="-122"/>
                <a:sym typeface="+mn-lt"/>
              </a:rPr>
              <a:t> </a:t>
            </a:r>
            <a:r>
              <a:rPr lang="en-US" altLang="zh-CN" sz="2800" b="1" dirty="0">
                <a:ea typeface="STKaiti" panose="02010600040101010101" pitchFamily="2" charset="-122"/>
                <a:sym typeface="+mn-lt"/>
              </a:rPr>
              <a:t>evaluation</a:t>
            </a:r>
            <a:r>
              <a:rPr lang="zh-CN" altLang="en-US" sz="2800" b="1" dirty="0">
                <a:ea typeface="STKaiti" panose="02010600040101010101" pitchFamily="2" charset="-122"/>
                <a:sym typeface="+mn-lt"/>
              </a:rPr>
              <a:t> </a:t>
            </a:r>
            <a:r>
              <a:rPr lang="en-US" altLang="zh-CN" sz="2800" b="1" dirty="0">
                <a:ea typeface="STKaiti" panose="02010600040101010101" pitchFamily="2" charset="-122"/>
                <a:sym typeface="+mn-lt"/>
              </a:rPr>
              <a:t>of</a:t>
            </a:r>
            <a:r>
              <a:rPr lang="zh-CN" altLang="en-US" sz="2800" b="1" dirty="0">
                <a:ea typeface="STKaiti" panose="02010600040101010101" pitchFamily="2" charset="-122"/>
                <a:sym typeface="+mn-lt"/>
              </a:rPr>
              <a:t> </a:t>
            </a:r>
            <a:r>
              <a:rPr lang="en-US" altLang="zh-CN" sz="2800" b="1" dirty="0">
                <a:ea typeface="STKaiti" panose="02010600040101010101" pitchFamily="2" charset="-122"/>
                <a:sym typeface="+mn-lt"/>
              </a:rPr>
              <a:t>techniques</a:t>
            </a:r>
            <a:endParaRPr lang="zh-CN" altLang="en-US" sz="2800" b="1" dirty="0">
              <a:ea typeface="STKaiti" panose="02010600040101010101" pitchFamily="2" charset="-122"/>
              <a:sym typeface="+mn-lt"/>
            </a:endParaRPr>
          </a:p>
        </p:txBody>
      </p:sp>
      <p:sp>
        <p:nvSpPr>
          <p:cNvPr id="15" name="左右箭头 14">
            <a:extLst>
              <a:ext uri="{FF2B5EF4-FFF2-40B4-BE49-F238E27FC236}">
                <a16:creationId xmlns:a16="http://schemas.microsoft.com/office/drawing/2014/main" id="{5486FD12-D1AE-C5EC-FFB5-EF289F8E7A10}"/>
              </a:ext>
            </a:extLst>
          </p:cNvPr>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3491B910-6317-1942-856B-1911D24FDA7F}"/>
              </a:ext>
            </a:extLst>
          </p:cNvPr>
          <p:cNvPicPr>
            <a:picLocks noChangeAspect="1"/>
          </p:cNvPicPr>
          <p:nvPr/>
        </p:nvPicPr>
        <p:blipFill>
          <a:blip r:embed="rId5"/>
          <a:stretch>
            <a:fillRect/>
          </a:stretch>
        </p:blipFill>
        <p:spPr>
          <a:xfrm>
            <a:off x="4010038" y="872197"/>
            <a:ext cx="6609981" cy="2921881"/>
          </a:xfrm>
          <a:prstGeom prst="rect">
            <a:avLst/>
          </a:prstGeom>
        </p:spPr>
      </p:pic>
      <p:pic>
        <p:nvPicPr>
          <p:cNvPr id="14" name="图片 13">
            <a:extLst>
              <a:ext uri="{FF2B5EF4-FFF2-40B4-BE49-F238E27FC236}">
                <a16:creationId xmlns:a16="http://schemas.microsoft.com/office/drawing/2014/main" id="{397D7977-2007-A945-A230-848197865A2E}"/>
              </a:ext>
            </a:extLst>
          </p:cNvPr>
          <p:cNvPicPr>
            <a:picLocks noChangeAspect="1"/>
          </p:cNvPicPr>
          <p:nvPr/>
        </p:nvPicPr>
        <p:blipFill>
          <a:blip r:embed="rId6"/>
          <a:stretch>
            <a:fillRect/>
          </a:stretch>
        </p:blipFill>
        <p:spPr>
          <a:xfrm>
            <a:off x="4071119" y="4234375"/>
            <a:ext cx="6450888" cy="2371123"/>
          </a:xfrm>
          <a:prstGeom prst="rect">
            <a:avLst/>
          </a:prstGeom>
        </p:spPr>
      </p:pic>
      <p:sp>
        <p:nvSpPr>
          <p:cNvPr id="18" name="矩形 17">
            <a:extLst>
              <a:ext uri="{FF2B5EF4-FFF2-40B4-BE49-F238E27FC236}">
                <a16:creationId xmlns:a16="http://schemas.microsoft.com/office/drawing/2014/main" id="{9BB7D732-7A22-8D40-B419-D030AEE3E922}"/>
              </a:ext>
            </a:extLst>
          </p:cNvPr>
          <p:cNvSpPr/>
          <p:nvPr>
            <p:custDataLst>
              <p:tags r:id="rId1"/>
            </p:custDataLst>
          </p:nvPr>
        </p:nvSpPr>
        <p:spPr>
          <a:xfrm>
            <a:off x="770801" y="2254366"/>
            <a:ext cx="2981715" cy="618516"/>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US" altLang="zh-CN" b="1" dirty="0">
                <a:latin typeface="Arial" panose="020B0604020202020204" pitchFamily="34" charset="0"/>
                <a:ea typeface="STKaiti" panose="02010600040101010101" pitchFamily="2" charset="-122"/>
                <a:cs typeface="Arial" panose="020B0604020202020204" pitchFamily="34" charset="0"/>
                <a:sym typeface="+mn-lt"/>
              </a:rPr>
              <a:t>Hamiltonian</a:t>
            </a:r>
            <a:r>
              <a:rPr lang="zh-CN" altLang="en-US" b="1" dirty="0">
                <a:latin typeface="Arial" panose="020B0604020202020204" pitchFamily="34" charset="0"/>
                <a:ea typeface="STKaiti" panose="02010600040101010101" pitchFamily="2" charset="-122"/>
                <a:cs typeface="Arial" panose="020B0604020202020204" pitchFamily="34" charset="0"/>
                <a:sym typeface="+mn-lt"/>
              </a:rPr>
              <a:t> </a:t>
            </a:r>
            <a:r>
              <a:rPr lang="en-US" altLang="zh-CN" b="1" dirty="0">
                <a:latin typeface="Arial" panose="020B0604020202020204" pitchFamily="34" charset="0"/>
                <a:ea typeface="STKaiti" panose="02010600040101010101" pitchFamily="2" charset="-122"/>
                <a:cs typeface="Arial" panose="020B0604020202020204" pitchFamily="34" charset="0"/>
                <a:sym typeface="+mn-lt"/>
              </a:rPr>
              <a:t>serialization</a:t>
            </a:r>
            <a:r>
              <a:rPr lang="zh-CN" altLang="en-US" b="1" dirty="0">
                <a:latin typeface="Arial" panose="020B0604020202020204" pitchFamily="34" charset="0"/>
                <a:ea typeface="STKaiti" panose="02010600040101010101" pitchFamily="2" charset="-122"/>
                <a:cs typeface="Arial" panose="020B0604020202020204" pitchFamily="34" charset="0"/>
                <a:sym typeface="+mn-lt"/>
              </a:rPr>
              <a:t> </a:t>
            </a:r>
            <a:r>
              <a:rPr lang="en-US" altLang="zh-CN" b="1" dirty="0">
                <a:latin typeface="Arial" panose="020B0604020202020204" pitchFamily="34" charset="0"/>
                <a:ea typeface="STKaiti" panose="02010600040101010101" pitchFamily="2" charset="-122"/>
                <a:cs typeface="Arial" panose="020B0604020202020204" pitchFamily="34" charset="0"/>
                <a:sym typeface="+mn-lt"/>
              </a:rPr>
              <a:t>&amp;decomposition</a:t>
            </a:r>
          </a:p>
        </p:txBody>
      </p:sp>
      <p:sp>
        <p:nvSpPr>
          <p:cNvPr id="19" name="矩形 18">
            <a:extLst>
              <a:ext uri="{FF2B5EF4-FFF2-40B4-BE49-F238E27FC236}">
                <a16:creationId xmlns:a16="http://schemas.microsoft.com/office/drawing/2014/main" id="{60465BA6-F80F-CC45-87ED-0BAFCD4C84C4}"/>
              </a:ext>
            </a:extLst>
          </p:cNvPr>
          <p:cNvSpPr/>
          <p:nvPr>
            <p:custDataLst>
              <p:tags r:id="rId2"/>
            </p:custDataLst>
          </p:nvPr>
        </p:nvSpPr>
        <p:spPr>
          <a:xfrm>
            <a:off x="786568" y="5107924"/>
            <a:ext cx="2981715" cy="618516"/>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US" altLang="zh-CN" b="1" dirty="0">
                <a:latin typeface="Arial" panose="020B0604020202020204" pitchFamily="34" charset="0"/>
                <a:ea typeface="STKaiti" panose="02010600040101010101" pitchFamily="2" charset="-122"/>
                <a:cs typeface="Arial" panose="020B0604020202020204" pitchFamily="34" charset="0"/>
                <a:sym typeface="+mn-lt"/>
              </a:rPr>
              <a:t>Variable</a:t>
            </a:r>
            <a:r>
              <a:rPr lang="zh-CN" altLang="en-US" b="1" dirty="0">
                <a:latin typeface="Arial" panose="020B0604020202020204" pitchFamily="34" charset="0"/>
                <a:ea typeface="STKaiti" panose="02010600040101010101" pitchFamily="2" charset="-122"/>
                <a:cs typeface="Arial" panose="020B0604020202020204" pitchFamily="34" charset="0"/>
                <a:sym typeface="+mn-lt"/>
              </a:rPr>
              <a:t> </a:t>
            </a:r>
            <a:r>
              <a:rPr lang="en-US" altLang="zh-CN" b="1" dirty="0">
                <a:latin typeface="Arial" panose="020B0604020202020204" pitchFamily="34" charset="0"/>
                <a:ea typeface="STKaiti" panose="02010600040101010101" pitchFamily="2" charset="-122"/>
                <a:cs typeface="Arial" panose="020B0604020202020204" pitchFamily="34" charset="0"/>
                <a:sym typeface="+mn-lt"/>
              </a:rPr>
              <a:t>elimination</a:t>
            </a:r>
          </a:p>
        </p:txBody>
      </p:sp>
    </p:spTree>
    <p:extLst>
      <p:ext uri="{BB962C8B-B14F-4D97-AF65-F5344CB8AC3E}">
        <p14:creationId xmlns:p14="http://schemas.microsoft.com/office/powerpoint/2010/main" val="2673782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左右箭头 14"/>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7" name="文本框 16">
            <a:extLst>
              <a:ext uri="{FF2B5EF4-FFF2-40B4-BE49-F238E27FC236}">
                <a16:creationId xmlns:a16="http://schemas.microsoft.com/office/drawing/2014/main" id="{4D44433B-C93D-B60E-A95C-8C7D0FB037F2}"/>
              </a:ext>
            </a:extLst>
          </p:cNvPr>
          <p:cNvSpPr txBox="1"/>
          <p:nvPr/>
        </p:nvSpPr>
        <p:spPr>
          <a:xfrm>
            <a:off x="7570038" y="657063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latin typeface="Arial" panose="020B0604020202020204" pitchFamily="34" charset="0"/>
              <a:cs typeface="Arial" panose="020B0604020202020204" pitchFamily="34" charset="0"/>
            </a:endParaRPr>
          </a:p>
        </p:txBody>
      </p:sp>
      <p:sp>
        <p:nvSpPr>
          <p:cNvPr id="27" name="标题 1">
            <a:extLst>
              <a:ext uri="{FF2B5EF4-FFF2-40B4-BE49-F238E27FC236}">
                <a16:creationId xmlns:a16="http://schemas.microsoft.com/office/drawing/2014/main" id="{04777F5A-B6BD-2242-CDCD-828885D7E62B}"/>
              </a:ext>
            </a:extLst>
          </p:cNvPr>
          <p:cNvSpPr>
            <a:spLocks noGrp="1"/>
          </p:cNvSpPr>
          <p:nvPr>
            <p:ph type="title"/>
          </p:nvPr>
        </p:nvSpPr>
        <p:spPr>
          <a:xfrm>
            <a:off x="718218" y="1"/>
            <a:ext cx="6603304" cy="803086"/>
          </a:xfrm>
        </p:spPr>
        <p:txBody>
          <a:bodyPr>
            <a:normAutofit/>
          </a:bodyPr>
          <a:lstStyle/>
          <a:p>
            <a:pPr algn="just" hangingPunct="0">
              <a:lnSpc>
                <a:spcPct val="100000"/>
              </a:lnSpc>
            </a:pPr>
            <a:r>
              <a:rPr lang="en" altLang="zh-CN" sz="2800" dirty="0">
                <a:ea typeface="STKaiti" panose="02010600040101010101" pitchFamily="2" charset="-122"/>
              </a:rPr>
              <a:t>Outline</a:t>
            </a:r>
            <a:r>
              <a:rPr lang="zh-CN" altLang="en-US" sz="2800">
                <a:ea typeface="STKaiti" panose="02010600040101010101" pitchFamily="2" charset="-122"/>
              </a:rPr>
              <a:t> </a:t>
            </a:r>
            <a:r>
              <a:rPr lang="en-US" altLang="zh-CN" sz="2800" dirty="0">
                <a:ea typeface="STKaiti" panose="02010600040101010101" pitchFamily="2" charset="-122"/>
              </a:rPr>
              <a:t>of</a:t>
            </a:r>
            <a:r>
              <a:rPr lang="zh-CN" altLang="en-US" sz="2800">
                <a:ea typeface="STKaiti" panose="02010600040101010101" pitchFamily="2" charset="-122"/>
              </a:rPr>
              <a:t> </a:t>
            </a:r>
            <a:r>
              <a:rPr lang="en-US" altLang="zh-CN" sz="2800" dirty="0">
                <a:ea typeface="STKaiti" panose="02010600040101010101" pitchFamily="2" charset="-122"/>
              </a:rPr>
              <a:t>Presentation</a:t>
            </a:r>
            <a:endParaRPr lang="zh-CN" altLang="en-US" sz="2800">
              <a:ea typeface="STKaiti" panose="02010600040101010101" pitchFamily="2" charset="-122"/>
              <a:sym typeface="+mn-lt"/>
            </a:endParaRPr>
          </a:p>
        </p:txBody>
      </p:sp>
      <p:sp>
        <p:nvSpPr>
          <p:cNvPr id="3" name="文本框 2">
            <a:extLst>
              <a:ext uri="{FF2B5EF4-FFF2-40B4-BE49-F238E27FC236}">
                <a16:creationId xmlns:a16="http://schemas.microsoft.com/office/drawing/2014/main" id="{8CB9B292-9467-E3DD-960D-5F95504D24D9}"/>
              </a:ext>
            </a:extLst>
          </p:cNvPr>
          <p:cNvSpPr txBox="1"/>
          <p:nvPr/>
        </p:nvSpPr>
        <p:spPr>
          <a:xfrm>
            <a:off x="535049" y="964097"/>
            <a:ext cx="10388600" cy="2343655"/>
          </a:xfrm>
          <a:prstGeom prst="rect">
            <a:avLst/>
          </a:prstGeom>
          <a:noFill/>
        </p:spPr>
        <p:txBody>
          <a:bodyPr wrap="square" rtlCol="0">
            <a:spAutoFit/>
          </a:bodyPr>
          <a:lstStyle/>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Background</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and</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challenges</a:t>
            </a: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Overview</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of</a:t>
            </a:r>
            <a:r>
              <a:rPr kumimoji="1" lang="zh-CN" altLang="en-US"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 </a:t>
            </a: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Choco-Q</a:t>
            </a: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Choco-Q Optimization</a:t>
            </a:r>
          </a:p>
          <a:p>
            <a:pPr marL="342900" indent="-285750">
              <a:lnSpc>
                <a:spcPct val="150000"/>
              </a:lnSpc>
              <a:buFont typeface="Arial" panose="020B0604020202020204" pitchFamily="34" charset="0"/>
              <a:buChar char="•"/>
            </a:pPr>
            <a:r>
              <a:rPr kumimoji="1" lang="en-US" altLang="zh-CN" sz="2000" dirty="0">
                <a:solidFill>
                  <a:schemeClr val="bg2">
                    <a:lumMod val="75000"/>
                  </a:schemeClr>
                </a:solidFill>
                <a:latin typeface="Arial" panose="020B0604020202020204" pitchFamily="34" charset="0"/>
                <a:ea typeface="STKaiti" panose="02010600040101010101" pitchFamily="2" charset="-122"/>
                <a:cs typeface="Arial" panose="020B0604020202020204" pitchFamily="34" charset="0"/>
              </a:rPr>
              <a:t>Experiment</a:t>
            </a:r>
            <a:endParaRPr kumimoji="1" lang="en-US" altLang="zh-CN" sz="2000" b="1" dirty="0">
              <a:latin typeface="Arial" panose="020B0604020202020204" pitchFamily="34" charset="0"/>
              <a:ea typeface="STKaiti" panose="02010600040101010101" pitchFamily="2" charset="-122"/>
              <a:cs typeface="Arial" panose="020B0604020202020204" pitchFamily="34" charset="0"/>
            </a:endParaRPr>
          </a:p>
          <a:p>
            <a:pPr marL="342900" indent="-285750">
              <a:lnSpc>
                <a:spcPct val="150000"/>
              </a:lnSpc>
              <a:buFont typeface="Arial" panose="020B0604020202020204" pitchFamily="34" charset="0"/>
              <a:buChar char="•"/>
            </a:pPr>
            <a:r>
              <a:rPr kumimoji="1" lang="en-US" altLang="zh-CN" sz="2000" b="1" dirty="0">
                <a:latin typeface="Arial" panose="020B0604020202020204" pitchFamily="34" charset="0"/>
                <a:ea typeface="STKaiti" panose="02010600040101010101" pitchFamily="2" charset="-122"/>
                <a:cs typeface="Arial" panose="020B0604020202020204" pitchFamily="34" charset="0"/>
              </a:rPr>
              <a:t>API</a:t>
            </a:r>
            <a:r>
              <a:rPr kumimoji="1" lang="zh-CN" altLang="en-US" sz="2000" b="1" dirty="0">
                <a:latin typeface="Arial" panose="020B0604020202020204" pitchFamily="34" charset="0"/>
                <a:ea typeface="STKaiti" panose="02010600040101010101" pitchFamily="2" charset="-122"/>
                <a:cs typeface="Arial" panose="020B0604020202020204" pitchFamily="34" charset="0"/>
              </a:rPr>
              <a:t> </a:t>
            </a:r>
            <a:r>
              <a:rPr kumimoji="1" lang="en-US" altLang="zh-CN" sz="2000" b="1" dirty="0">
                <a:latin typeface="Arial" panose="020B0604020202020204" pitchFamily="34" charset="0"/>
                <a:ea typeface="STKaiti" panose="02010600040101010101" pitchFamily="2" charset="-122"/>
                <a:cs typeface="Arial" panose="020B0604020202020204" pitchFamily="34" charset="0"/>
              </a:rPr>
              <a:t>of</a:t>
            </a:r>
            <a:r>
              <a:rPr kumimoji="1" lang="zh-CN" altLang="en-US" sz="2000" b="1" dirty="0">
                <a:latin typeface="Arial" panose="020B0604020202020204" pitchFamily="34" charset="0"/>
                <a:ea typeface="STKaiti" panose="02010600040101010101" pitchFamily="2" charset="-122"/>
                <a:cs typeface="Arial" panose="020B0604020202020204" pitchFamily="34" charset="0"/>
              </a:rPr>
              <a:t> </a:t>
            </a:r>
            <a:r>
              <a:rPr kumimoji="1" lang="en-US" altLang="zh-CN" sz="2000" b="1" dirty="0">
                <a:latin typeface="Arial" panose="020B0604020202020204" pitchFamily="34" charset="0"/>
                <a:ea typeface="STKaiti" panose="02010600040101010101" pitchFamily="2" charset="-122"/>
                <a:cs typeface="Arial" panose="020B0604020202020204" pitchFamily="34" charset="0"/>
              </a:rPr>
              <a:t>Choco-Q</a:t>
            </a:r>
          </a:p>
        </p:txBody>
      </p:sp>
    </p:spTree>
    <p:extLst>
      <p:ext uri="{BB962C8B-B14F-4D97-AF65-F5344CB8AC3E}">
        <p14:creationId xmlns:p14="http://schemas.microsoft.com/office/powerpoint/2010/main" val="31115346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D7CCCE8C-B96E-EEB3-DA93-599E666F9E4C}"/>
              </a:ext>
            </a:extLst>
          </p:cNvPr>
          <p:cNvSpPr/>
          <p:nvPr/>
        </p:nvSpPr>
        <p:spPr>
          <a:xfrm>
            <a:off x="3128964" y="1913504"/>
            <a:ext cx="8367712" cy="4302000"/>
          </a:xfrm>
          <a:prstGeom prst="rect">
            <a:avLst/>
          </a:prstGeom>
          <a:solidFill>
            <a:srgbClr val="18181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b="0" dirty="0">
                <a:solidFill>
                  <a:srgbClr val="C586C0"/>
                </a:solidFill>
                <a:effectLst/>
                <a:latin typeface="Arial" panose="020B0604020202020204" pitchFamily="34" charset="0"/>
                <a:cs typeface="Arial" panose="020B0604020202020204" pitchFamily="34" charset="0"/>
              </a:rPr>
              <a:t>from</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4EC9B0"/>
                </a:solidFill>
                <a:effectLst/>
                <a:latin typeface="Arial" panose="020B0604020202020204" pitchFamily="34" charset="0"/>
                <a:cs typeface="Arial" panose="020B0604020202020204" pitchFamily="34" charset="0"/>
              </a:rPr>
              <a:t>janusq</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application</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chocoq</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chocoq</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model</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C586C0"/>
                </a:solidFill>
                <a:effectLst/>
                <a:latin typeface="Arial" panose="020B0604020202020204" pitchFamily="34" charset="0"/>
                <a:cs typeface="Arial" panose="020B0604020202020204" pitchFamily="34" charset="0"/>
              </a:rPr>
              <a:t>import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4EC9B0"/>
                </a:solidFill>
                <a:effectLst/>
                <a:latin typeface="Arial" panose="020B0604020202020204" pitchFamily="34" charset="0"/>
                <a:cs typeface="Arial" panose="020B0604020202020204" pitchFamily="34" charset="0"/>
              </a:rPr>
              <a:t>LinearConstrainedBinaryOptimization</a:t>
            </a:r>
            <a:endParaRPr lang="en-US" altLang="zh-CN" sz="1600" b="0" dirty="0">
              <a:solidFill>
                <a:srgbClr val="CCCCCC"/>
              </a:solidFill>
              <a:effectLst/>
              <a:latin typeface="Arial" panose="020B0604020202020204" pitchFamily="34" charset="0"/>
              <a:cs typeface="Arial" panose="020B0604020202020204" pitchFamily="34" charset="0"/>
            </a:endParaRPr>
          </a:p>
          <a:p>
            <a:r>
              <a:rPr lang="en-US" altLang="zh-CN" sz="1600" b="0" dirty="0">
                <a:solidFill>
                  <a:srgbClr val="C586C0"/>
                </a:solidFill>
                <a:effectLst/>
                <a:latin typeface="Arial" panose="020B0604020202020204" pitchFamily="34" charset="0"/>
                <a:cs typeface="Arial" panose="020B0604020202020204" pitchFamily="34" charset="0"/>
              </a:rPr>
              <a:t>from</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4EC9B0"/>
                </a:solidFill>
                <a:effectLst/>
                <a:latin typeface="Arial" panose="020B0604020202020204" pitchFamily="34" charset="0"/>
                <a:cs typeface="Arial" panose="020B0604020202020204" pitchFamily="34" charset="0"/>
              </a:rPr>
              <a:t>janusq</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application</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chocoq</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chocoq</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solvers</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optimizers</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C586C0"/>
                </a:solidFill>
                <a:effectLst/>
                <a:latin typeface="Arial" panose="020B0604020202020204" pitchFamily="34" charset="0"/>
                <a:cs typeface="Arial" panose="020B0604020202020204" pitchFamily="34" charset="0"/>
              </a:rPr>
              <a:t>import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4EC9B0"/>
                </a:solidFill>
                <a:effectLst/>
                <a:latin typeface="Arial" panose="020B0604020202020204" pitchFamily="34" charset="0"/>
                <a:cs typeface="Arial" panose="020B0604020202020204" pitchFamily="34" charset="0"/>
              </a:rPr>
              <a:t>CobylaOptimizer</a:t>
            </a:r>
            <a:endParaRPr lang="en-US" altLang="zh-CN" sz="1600" b="0" dirty="0">
              <a:solidFill>
                <a:srgbClr val="4EC9B0"/>
              </a:solidFill>
              <a:effectLst/>
              <a:latin typeface="Arial" panose="020B0604020202020204" pitchFamily="34" charset="0"/>
              <a:cs typeface="Arial" panose="020B0604020202020204" pitchFamily="34" charset="0"/>
            </a:endParaRPr>
          </a:p>
          <a:p>
            <a:r>
              <a:rPr lang="en-US" altLang="zh-CN" sz="1600" b="0" dirty="0">
                <a:solidFill>
                  <a:srgbClr val="C586C0"/>
                </a:solidFill>
                <a:effectLst/>
                <a:latin typeface="Arial" panose="020B0604020202020204" pitchFamily="34" charset="0"/>
                <a:cs typeface="Arial" panose="020B0604020202020204" pitchFamily="34" charset="0"/>
              </a:rPr>
              <a:t>from</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4EC9B0"/>
                </a:solidFill>
                <a:effectLst/>
                <a:latin typeface="Arial" panose="020B0604020202020204" pitchFamily="34" charset="0"/>
                <a:cs typeface="Arial" panose="020B0604020202020204" pitchFamily="34" charset="0"/>
              </a:rPr>
              <a:t>janusq</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application</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chocoq</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chocoq</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solvers</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4EC9B0"/>
                </a:solidFill>
                <a:effectLst/>
                <a:latin typeface="Arial" panose="020B0604020202020204" pitchFamily="34" charset="0"/>
                <a:cs typeface="Arial" panose="020B0604020202020204" pitchFamily="34" charset="0"/>
              </a:rPr>
              <a:t>qiskit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C586C0"/>
                </a:solidFill>
                <a:effectLst/>
                <a:latin typeface="Arial" panose="020B0604020202020204" pitchFamily="34" charset="0"/>
                <a:cs typeface="Arial" panose="020B0604020202020204" pitchFamily="34" charset="0"/>
              </a:rPr>
              <a:t>import</a:t>
            </a:r>
            <a:r>
              <a:rPr lang="en-US" altLang="zh-CN" sz="1600" dirty="0">
                <a:solidFill>
                  <a:srgbClr val="CCCCCC"/>
                </a:solidFill>
                <a:latin typeface="Arial" panose="020B0604020202020204" pitchFamily="34" charset="0"/>
                <a:cs typeface="Arial" panose="020B0604020202020204" pitchFamily="34" charset="0"/>
              </a:rPr>
              <a:t> </a:t>
            </a:r>
            <a:r>
              <a:rPr lang="en-US" altLang="zh-CN" sz="1600" b="0" dirty="0" err="1">
                <a:solidFill>
                  <a:srgbClr val="4EC9B0"/>
                </a:solidFill>
                <a:effectLst/>
                <a:latin typeface="Arial" panose="020B0604020202020204" pitchFamily="34" charset="0"/>
                <a:cs typeface="Arial" panose="020B0604020202020204" pitchFamily="34" charset="0"/>
              </a:rPr>
              <a:t>ChocoSolver</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4EC9B0"/>
                </a:solidFill>
                <a:effectLst/>
                <a:latin typeface="Arial" panose="020B0604020202020204" pitchFamily="34" charset="0"/>
                <a:cs typeface="Arial" panose="020B0604020202020204" pitchFamily="34" charset="0"/>
              </a:rPr>
              <a:t>DdsimProvider</a:t>
            </a:r>
            <a:endParaRPr lang="en-US" altLang="zh-CN" sz="1600" b="0" dirty="0">
              <a:solidFill>
                <a:srgbClr val="CCCCCC"/>
              </a:solidFill>
              <a:effectLst/>
              <a:latin typeface="Arial" panose="020B0604020202020204" pitchFamily="34" charset="0"/>
              <a:cs typeface="Arial" panose="020B0604020202020204" pitchFamily="34" charset="0"/>
            </a:endParaRPr>
          </a:p>
          <a:p>
            <a:br>
              <a:rPr lang="en-US" altLang="zh-CN" sz="1600" b="0" dirty="0">
                <a:solidFill>
                  <a:srgbClr val="CCCCCC"/>
                </a:solidFill>
                <a:effectLst/>
                <a:latin typeface="Arial" panose="020B0604020202020204" pitchFamily="34" charset="0"/>
                <a:cs typeface="Arial" panose="020B0604020202020204" pitchFamily="34" charset="0"/>
              </a:rPr>
            </a:br>
            <a:r>
              <a:rPr lang="en-US" altLang="zh-CN" sz="1600" b="0" dirty="0">
                <a:solidFill>
                  <a:srgbClr val="9CDCFE"/>
                </a:solidFill>
                <a:effectLst/>
                <a:latin typeface="Arial" panose="020B0604020202020204" pitchFamily="34" charset="0"/>
                <a:cs typeface="Arial" panose="020B0604020202020204" pitchFamily="34" charset="0"/>
              </a:rPr>
              <a:t>m</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4EC9B0"/>
                </a:solidFill>
                <a:effectLst/>
                <a:latin typeface="Arial" panose="020B0604020202020204" pitchFamily="34" charset="0"/>
                <a:cs typeface="Arial" panose="020B0604020202020204" pitchFamily="34" charset="0"/>
              </a:rPr>
              <a:t>LinearConstrainedBinaryOptimization</a:t>
            </a:r>
            <a:r>
              <a:rPr lang="en-US" altLang="zh-CN" sz="1600" b="0" dirty="0">
                <a:solidFill>
                  <a:srgbClr val="CCCCCC"/>
                </a:solidFill>
                <a:effectLst/>
                <a:latin typeface="Arial" panose="020B0604020202020204" pitchFamily="34" charset="0"/>
                <a:cs typeface="Arial" panose="020B0604020202020204" pitchFamily="34" charset="0"/>
              </a:rPr>
              <a:t>()</a:t>
            </a:r>
          </a:p>
          <a:p>
            <a:r>
              <a:rPr lang="en-US" altLang="zh-CN" sz="1600" b="0" dirty="0">
                <a:solidFill>
                  <a:srgbClr val="9CDCFE"/>
                </a:solidFill>
                <a:effectLst/>
                <a:latin typeface="Arial" panose="020B0604020202020204" pitchFamily="34" charset="0"/>
                <a:cs typeface="Arial" panose="020B0604020202020204" pitchFamily="34" charset="0"/>
              </a:rPr>
              <a:t>x</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9CDCFE"/>
                </a:solidFill>
                <a:effectLst/>
                <a:latin typeface="Arial" panose="020B0604020202020204" pitchFamily="34" charset="0"/>
                <a:cs typeface="Arial" panose="020B0604020202020204" pitchFamily="34" charset="0"/>
              </a:rPr>
              <a:t>m</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DCDCAA"/>
                </a:solidFill>
                <a:effectLst/>
                <a:latin typeface="Arial" panose="020B0604020202020204" pitchFamily="34" charset="0"/>
                <a:cs typeface="Arial" panose="020B0604020202020204" pitchFamily="34" charset="0"/>
              </a:rPr>
              <a:t>addVars</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B5CEA8"/>
                </a:solidFill>
                <a:effectLst/>
                <a:latin typeface="Arial" panose="020B0604020202020204" pitchFamily="34" charset="0"/>
                <a:cs typeface="Arial" panose="020B0604020202020204" pitchFamily="34" charset="0"/>
              </a:rPr>
              <a:t>5</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name</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CE9178"/>
                </a:solidFill>
                <a:effectLst/>
                <a:latin typeface="Arial" panose="020B0604020202020204" pitchFamily="34" charset="0"/>
                <a:cs typeface="Arial" panose="020B0604020202020204" pitchFamily="34" charset="0"/>
              </a:rPr>
              <a:t>"x"</a:t>
            </a:r>
            <a:r>
              <a:rPr lang="en-US" altLang="zh-CN" sz="1600" b="0" dirty="0">
                <a:solidFill>
                  <a:srgbClr val="CCCCCC"/>
                </a:solidFill>
                <a:effectLst/>
                <a:latin typeface="Arial" panose="020B0604020202020204" pitchFamily="34" charset="0"/>
                <a:cs typeface="Arial" panose="020B0604020202020204" pitchFamily="34" charset="0"/>
              </a:rPr>
              <a:t>) </a:t>
            </a:r>
          </a:p>
          <a:p>
            <a:r>
              <a:rPr lang="en-US" altLang="zh-CN" sz="1600" b="0" dirty="0" err="1">
                <a:solidFill>
                  <a:srgbClr val="9CDCFE"/>
                </a:solidFill>
                <a:effectLst/>
                <a:latin typeface="Arial" panose="020B0604020202020204" pitchFamily="34" charset="0"/>
                <a:cs typeface="Arial" panose="020B0604020202020204" pitchFamily="34" charset="0"/>
              </a:rPr>
              <a:t>m</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DCDCAA"/>
                </a:solidFill>
                <a:effectLst/>
                <a:latin typeface="Arial" panose="020B0604020202020204" pitchFamily="34" charset="0"/>
                <a:cs typeface="Arial" panose="020B0604020202020204" pitchFamily="34" charset="0"/>
              </a:rPr>
              <a:t>setObjective</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9CDCFE"/>
                </a:solidFill>
                <a:effectLst/>
                <a:latin typeface="Arial" panose="020B0604020202020204" pitchFamily="34" charset="0"/>
                <a:cs typeface="Arial" panose="020B0604020202020204" pitchFamily="34" charset="0"/>
              </a:rPr>
              <a:t>x</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B5CEA8"/>
                </a:solidFill>
                <a:effectLst/>
                <a:latin typeface="Arial" panose="020B0604020202020204" pitchFamily="34" charset="0"/>
                <a:cs typeface="Arial" panose="020B0604020202020204" pitchFamily="34" charset="0"/>
              </a:rPr>
              <a:t>0</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CDCAA"/>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x</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B5CEA8"/>
                </a:solidFill>
                <a:effectLst/>
                <a:latin typeface="Arial" panose="020B0604020202020204" pitchFamily="34" charset="0"/>
                <a:cs typeface="Arial" panose="020B0604020202020204" pitchFamily="34" charset="0"/>
              </a:rPr>
              <a:t>1</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DCDCAA"/>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x</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B5CEA8"/>
                </a:solidFill>
                <a:effectLst/>
                <a:latin typeface="Arial" panose="020B0604020202020204" pitchFamily="34" charset="0"/>
                <a:cs typeface="Arial" panose="020B0604020202020204" pitchFamily="34" charset="0"/>
              </a:rPr>
              <a:t>3</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CDCAA"/>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x</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B5CEA8"/>
                </a:solidFill>
                <a:effectLst/>
                <a:latin typeface="Arial" panose="020B0604020202020204" pitchFamily="34" charset="0"/>
                <a:cs typeface="Arial" panose="020B0604020202020204" pitchFamily="34" charset="0"/>
              </a:rPr>
              <a:t>2</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CE9178"/>
                </a:solidFill>
                <a:effectLst/>
                <a:latin typeface="Arial" panose="020B0604020202020204" pitchFamily="34" charset="0"/>
                <a:cs typeface="Arial" panose="020B0604020202020204" pitchFamily="34" charset="0"/>
              </a:rPr>
              <a:t>"max"</a:t>
            </a:r>
            <a:r>
              <a:rPr lang="en-US" altLang="zh-CN" sz="1600" b="0" dirty="0">
                <a:solidFill>
                  <a:srgbClr val="CCCCCC"/>
                </a:solidFill>
                <a:effectLst/>
                <a:latin typeface="Arial" panose="020B0604020202020204" pitchFamily="34" charset="0"/>
                <a:cs typeface="Arial" panose="020B0604020202020204" pitchFamily="34" charset="0"/>
              </a:rPr>
              <a:t>) </a:t>
            </a:r>
          </a:p>
          <a:p>
            <a:r>
              <a:rPr lang="en-US" altLang="zh-CN" sz="1600" b="0" dirty="0" err="1">
                <a:solidFill>
                  <a:srgbClr val="9CDCFE"/>
                </a:solidFill>
                <a:effectLst/>
                <a:latin typeface="Arial" panose="020B0604020202020204" pitchFamily="34" charset="0"/>
                <a:cs typeface="Arial" panose="020B0604020202020204" pitchFamily="34" charset="0"/>
              </a:rPr>
              <a:t>m</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DCDCAA"/>
                </a:solidFill>
                <a:effectLst/>
                <a:latin typeface="Arial" panose="020B0604020202020204" pitchFamily="34" charset="0"/>
                <a:cs typeface="Arial" panose="020B0604020202020204" pitchFamily="34" charset="0"/>
              </a:rPr>
              <a:t>addConstr</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9CDCFE"/>
                </a:solidFill>
                <a:effectLst/>
                <a:latin typeface="Arial" panose="020B0604020202020204" pitchFamily="34" charset="0"/>
                <a:cs typeface="Arial" panose="020B0604020202020204" pitchFamily="34" charset="0"/>
              </a:rPr>
              <a:t>x</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B5CEA8"/>
                </a:solidFill>
                <a:effectLst/>
                <a:latin typeface="Arial" panose="020B0604020202020204" pitchFamily="34" charset="0"/>
                <a:cs typeface="Arial" panose="020B0604020202020204" pitchFamily="34" charset="0"/>
              </a:rPr>
              <a:t>0</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CDCAA"/>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x</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B5CEA8"/>
                </a:solidFill>
                <a:effectLst/>
                <a:latin typeface="Arial" panose="020B0604020202020204" pitchFamily="34" charset="0"/>
                <a:cs typeface="Arial" panose="020B0604020202020204" pitchFamily="34" charset="0"/>
              </a:rPr>
              <a:t>1</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CDCAA"/>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x</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B5CEA8"/>
                </a:solidFill>
                <a:effectLst/>
                <a:latin typeface="Arial" panose="020B0604020202020204" pitchFamily="34" charset="0"/>
                <a:cs typeface="Arial" panose="020B0604020202020204" pitchFamily="34" charset="0"/>
              </a:rPr>
              <a:t>2</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B5CEA8"/>
                </a:solidFill>
                <a:effectLst/>
                <a:latin typeface="Arial" panose="020B0604020202020204" pitchFamily="34" charset="0"/>
                <a:cs typeface="Arial" panose="020B0604020202020204" pitchFamily="34" charset="0"/>
              </a:rPr>
              <a:t>0</a:t>
            </a:r>
            <a:r>
              <a:rPr lang="en-US" altLang="zh-CN" sz="1600" b="0" dirty="0">
                <a:solidFill>
                  <a:srgbClr val="CCCCCC"/>
                </a:solidFill>
                <a:effectLst/>
                <a:latin typeface="Arial" panose="020B0604020202020204" pitchFamily="34" charset="0"/>
                <a:cs typeface="Arial" panose="020B0604020202020204" pitchFamily="34" charset="0"/>
              </a:rPr>
              <a:t>)</a:t>
            </a:r>
          </a:p>
          <a:p>
            <a:r>
              <a:rPr lang="en-US" altLang="zh-CN" sz="1600" b="0" dirty="0" err="1">
                <a:solidFill>
                  <a:srgbClr val="9CDCFE"/>
                </a:solidFill>
                <a:effectLst/>
                <a:latin typeface="Arial" panose="020B0604020202020204" pitchFamily="34" charset="0"/>
                <a:cs typeface="Arial" panose="020B0604020202020204" pitchFamily="34" charset="0"/>
              </a:rPr>
              <a:t>m</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DCDCAA"/>
                </a:solidFill>
                <a:effectLst/>
                <a:latin typeface="Arial" panose="020B0604020202020204" pitchFamily="34" charset="0"/>
                <a:cs typeface="Arial" panose="020B0604020202020204" pitchFamily="34" charset="0"/>
              </a:rPr>
              <a:t>addConstr</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9CDCFE"/>
                </a:solidFill>
                <a:effectLst/>
                <a:latin typeface="Arial" panose="020B0604020202020204" pitchFamily="34" charset="0"/>
                <a:cs typeface="Arial" panose="020B0604020202020204" pitchFamily="34" charset="0"/>
              </a:rPr>
              <a:t>x</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B5CEA8"/>
                </a:solidFill>
                <a:effectLst/>
                <a:latin typeface="Arial" panose="020B0604020202020204" pitchFamily="34" charset="0"/>
                <a:cs typeface="Arial" panose="020B0604020202020204" pitchFamily="34" charset="0"/>
              </a:rPr>
              <a:t>2</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CDCAA"/>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x</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B5CEA8"/>
                </a:solidFill>
                <a:effectLst/>
                <a:latin typeface="Arial" panose="020B0604020202020204" pitchFamily="34" charset="0"/>
                <a:cs typeface="Arial" panose="020B0604020202020204" pitchFamily="34" charset="0"/>
              </a:rPr>
              <a:t>3</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CDCAA"/>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x</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a:solidFill>
                  <a:srgbClr val="B5CEA8"/>
                </a:solidFill>
                <a:effectLst/>
                <a:latin typeface="Arial" panose="020B0604020202020204" pitchFamily="34" charset="0"/>
                <a:cs typeface="Arial" panose="020B0604020202020204" pitchFamily="34" charset="0"/>
              </a:rPr>
              <a:t>4</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B5CEA8"/>
                </a:solidFill>
                <a:effectLst/>
                <a:latin typeface="Arial" panose="020B0604020202020204" pitchFamily="34" charset="0"/>
                <a:cs typeface="Arial" panose="020B0604020202020204" pitchFamily="34" charset="0"/>
              </a:rPr>
              <a:t>1</a:t>
            </a:r>
            <a:r>
              <a:rPr lang="en-US" altLang="zh-CN" sz="1600" b="0" dirty="0">
                <a:solidFill>
                  <a:srgbClr val="CCCCCC"/>
                </a:solidFill>
                <a:effectLst/>
                <a:latin typeface="Arial" panose="020B0604020202020204" pitchFamily="34" charset="0"/>
                <a:cs typeface="Arial" panose="020B0604020202020204" pitchFamily="34" charset="0"/>
              </a:rPr>
              <a:t>)</a:t>
            </a:r>
          </a:p>
          <a:p>
            <a:endParaRPr lang="en-US" altLang="zh-CN" sz="1600" dirty="0">
              <a:solidFill>
                <a:srgbClr val="CCCCCC"/>
              </a:solidFill>
              <a:latin typeface="Arial" panose="020B0604020202020204" pitchFamily="34" charset="0"/>
              <a:cs typeface="Arial" panose="020B0604020202020204" pitchFamily="34" charset="0"/>
            </a:endParaRPr>
          </a:p>
          <a:p>
            <a:r>
              <a:rPr lang="en-US" altLang="zh-CN" sz="1600" b="0" dirty="0">
                <a:solidFill>
                  <a:srgbClr val="9CDCFE"/>
                </a:solidFill>
                <a:effectLst/>
                <a:latin typeface="Arial" panose="020B0604020202020204" pitchFamily="34" charset="0"/>
                <a:cs typeface="Arial" panose="020B0604020202020204" pitchFamily="34" charset="0"/>
              </a:rPr>
              <a:t>opt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4EC9B0"/>
                </a:solidFill>
                <a:effectLst/>
                <a:latin typeface="Arial" panose="020B0604020202020204" pitchFamily="34" charset="0"/>
                <a:cs typeface="Arial" panose="020B0604020202020204" pitchFamily="34" charset="0"/>
              </a:rPr>
              <a:t>CobylaOptimizer</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err="1">
                <a:solidFill>
                  <a:srgbClr val="9CDCFE"/>
                </a:solidFill>
                <a:effectLst/>
                <a:latin typeface="Arial" panose="020B0604020202020204" pitchFamily="34" charset="0"/>
                <a:cs typeface="Arial" panose="020B0604020202020204" pitchFamily="34" charset="0"/>
              </a:rPr>
              <a:t>max_iter</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B5CEA8"/>
                </a:solidFill>
                <a:effectLst/>
                <a:latin typeface="Arial" panose="020B0604020202020204" pitchFamily="34" charset="0"/>
                <a:cs typeface="Arial" panose="020B0604020202020204" pitchFamily="34" charset="0"/>
              </a:rPr>
              <a:t>200</a:t>
            </a:r>
            <a:r>
              <a:rPr lang="en-US" altLang="zh-CN" sz="1600" b="0" dirty="0">
                <a:solidFill>
                  <a:srgbClr val="CCCCCC"/>
                </a:solidFill>
                <a:effectLst/>
                <a:latin typeface="Arial" panose="020B0604020202020204" pitchFamily="34" charset="0"/>
                <a:cs typeface="Arial" panose="020B0604020202020204" pitchFamily="34" charset="0"/>
              </a:rPr>
              <a:t>) </a:t>
            </a:r>
          </a:p>
          <a:p>
            <a:r>
              <a:rPr lang="en-US" altLang="zh-CN" sz="1600" b="0" dirty="0" err="1">
                <a:solidFill>
                  <a:srgbClr val="9CDCFE"/>
                </a:solidFill>
                <a:effectLst/>
                <a:latin typeface="Arial" panose="020B0604020202020204" pitchFamily="34" charset="0"/>
                <a:cs typeface="Arial" panose="020B0604020202020204" pitchFamily="34" charset="0"/>
              </a:rPr>
              <a:t>aer</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4EC9B0"/>
                </a:solidFill>
                <a:effectLst/>
                <a:latin typeface="Arial" panose="020B0604020202020204" pitchFamily="34" charset="0"/>
                <a:cs typeface="Arial" panose="020B0604020202020204" pitchFamily="34" charset="0"/>
              </a:rPr>
              <a:t>DdsimProvider</a:t>
            </a:r>
            <a:r>
              <a:rPr lang="en-US" altLang="zh-CN" sz="1600" b="0" dirty="0">
                <a:solidFill>
                  <a:srgbClr val="CCCCCC"/>
                </a:solidFill>
                <a:effectLst/>
                <a:latin typeface="Arial" panose="020B0604020202020204" pitchFamily="34" charset="0"/>
                <a:cs typeface="Arial" panose="020B0604020202020204" pitchFamily="34" charset="0"/>
              </a:rPr>
              <a:t>()</a:t>
            </a:r>
          </a:p>
          <a:p>
            <a:r>
              <a:rPr lang="en-US" altLang="zh-CN" sz="1600" b="0" dirty="0">
                <a:solidFill>
                  <a:srgbClr val="9CDCFE"/>
                </a:solidFill>
                <a:effectLst/>
                <a:latin typeface="Arial" panose="020B0604020202020204" pitchFamily="34" charset="0"/>
                <a:cs typeface="Arial" panose="020B0604020202020204" pitchFamily="34" charset="0"/>
              </a:rPr>
              <a:t>solver</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4EC9B0"/>
                </a:solidFill>
                <a:effectLst/>
                <a:latin typeface="Arial" panose="020B0604020202020204" pitchFamily="34" charset="0"/>
                <a:cs typeface="Arial" panose="020B0604020202020204" pitchFamily="34" charset="0"/>
              </a:rPr>
              <a:t>ChocoSolver</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err="1">
                <a:solidFill>
                  <a:srgbClr val="9CDCFE"/>
                </a:solidFill>
                <a:effectLst/>
                <a:latin typeface="Arial" panose="020B0604020202020204" pitchFamily="34" charset="0"/>
                <a:cs typeface="Arial" panose="020B0604020202020204" pitchFamily="34" charset="0"/>
              </a:rPr>
              <a:t>prb_model</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9CDCFE"/>
                </a:solidFill>
                <a:effectLst/>
                <a:latin typeface="Arial" panose="020B0604020202020204" pitchFamily="34" charset="0"/>
                <a:cs typeface="Arial" panose="020B0604020202020204" pitchFamily="34" charset="0"/>
              </a:rPr>
              <a:t>m</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optimizer</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9CDCFE"/>
                </a:solidFill>
                <a:effectLst/>
                <a:latin typeface="Arial" panose="020B0604020202020204" pitchFamily="34" charset="0"/>
                <a:cs typeface="Arial" panose="020B0604020202020204" pitchFamily="34" charset="0"/>
              </a:rPr>
              <a:t>opt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provider</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err="1">
                <a:solidFill>
                  <a:srgbClr val="9CDCFE"/>
                </a:solidFill>
                <a:effectLst/>
                <a:latin typeface="Arial" panose="020B0604020202020204" pitchFamily="34" charset="0"/>
                <a:cs typeface="Arial" panose="020B0604020202020204" pitchFamily="34" charset="0"/>
              </a:rPr>
              <a:t>aer</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9CDCFE"/>
                </a:solidFill>
                <a:effectLst/>
                <a:latin typeface="Arial" panose="020B0604020202020204" pitchFamily="34" charset="0"/>
                <a:cs typeface="Arial" panose="020B0604020202020204" pitchFamily="34" charset="0"/>
              </a:rPr>
              <a:t>num_layers</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B5CEA8"/>
                </a:solidFill>
                <a:effectLst/>
                <a:latin typeface="Arial" panose="020B0604020202020204" pitchFamily="34" charset="0"/>
                <a:cs typeface="Arial" panose="020B0604020202020204" pitchFamily="34" charset="0"/>
              </a:rPr>
              <a:t>1</a:t>
            </a:r>
            <a:r>
              <a:rPr lang="en-US" altLang="zh-CN" sz="1600" b="0" dirty="0">
                <a:solidFill>
                  <a:srgbClr val="CCCCCC"/>
                </a:solidFill>
                <a:effectLst/>
                <a:latin typeface="Arial" panose="020B0604020202020204" pitchFamily="34" charset="0"/>
                <a:cs typeface="Arial" panose="020B0604020202020204" pitchFamily="34" charset="0"/>
              </a:rPr>
              <a:t>)</a:t>
            </a:r>
          </a:p>
          <a:p>
            <a:endParaRPr lang="en-US" altLang="zh-CN" sz="1600" b="0" dirty="0">
              <a:solidFill>
                <a:srgbClr val="CCCCCC"/>
              </a:solidFill>
              <a:effectLst/>
              <a:latin typeface="Arial" panose="020B0604020202020204" pitchFamily="34" charset="0"/>
              <a:cs typeface="Arial" panose="020B0604020202020204" pitchFamily="34" charset="0"/>
            </a:endParaRPr>
          </a:p>
          <a:p>
            <a:r>
              <a:rPr lang="en-US" altLang="zh-CN" sz="1600" b="0" dirty="0" err="1">
                <a:solidFill>
                  <a:srgbClr val="9CDCFE"/>
                </a:solidFill>
                <a:effectLst/>
                <a:latin typeface="Arial" panose="020B0604020202020204" pitchFamily="34" charset="0"/>
                <a:cs typeface="Arial" panose="020B0604020202020204" pitchFamily="34" charset="0"/>
              </a:rPr>
              <a:t>state_list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9CDCFE"/>
                </a:solidFill>
                <a:effectLst/>
                <a:latin typeface="Arial" panose="020B0604020202020204" pitchFamily="34" charset="0"/>
                <a:cs typeface="Arial" panose="020B0604020202020204" pitchFamily="34" charset="0"/>
              </a:rPr>
              <a:t>prob_list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9CDCFE"/>
                </a:solidFill>
                <a:effectLst/>
                <a:latin typeface="Arial" panose="020B0604020202020204" pitchFamily="34" charset="0"/>
                <a:cs typeface="Arial" panose="020B0604020202020204" pitchFamily="34" charset="0"/>
              </a:rPr>
              <a:t>iter_count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9CDCFE"/>
                </a:solidFill>
                <a:effectLst/>
                <a:latin typeface="Arial" panose="020B0604020202020204" pitchFamily="34" charset="0"/>
                <a:cs typeface="Arial" panose="020B0604020202020204" pitchFamily="34" charset="0"/>
              </a:rPr>
              <a:t>solver</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DCDCAA"/>
                </a:solidFill>
                <a:effectLst/>
                <a:latin typeface="Arial" panose="020B0604020202020204" pitchFamily="34" charset="0"/>
                <a:cs typeface="Arial" panose="020B0604020202020204" pitchFamily="34" charset="0"/>
              </a:rPr>
              <a:t>solve</a:t>
            </a:r>
            <a:r>
              <a:rPr lang="en-US" altLang="zh-CN" sz="1600" b="0" dirty="0">
                <a:solidFill>
                  <a:srgbClr val="CCCCCC"/>
                </a:solidFill>
                <a:effectLst/>
                <a:latin typeface="Arial" panose="020B0604020202020204" pitchFamily="34" charset="0"/>
                <a:cs typeface="Arial" panose="020B0604020202020204" pitchFamily="34" charset="0"/>
              </a:rPr>
              <a:t>()</a:t>
            </a:r>
          </a:p>
          <a:p>
            <a:r>
              <a:rPr lang="en-US" altLang="zh-CN" sz="1600" b="0" dirty="0" err="1">
                <a:solidFill>
                  <a:srgbClr val="9CDCFE"/>
                </a:solidFill>
                <a:effectLst/>
                <a:latin typeface="Arial" panose="020B0604020202020204" pitchFamily="34" charset="0"/>
                <a:cs typeface="Arial" panose="020B0604020202020204" pitchFamily="34" charset="0"/>
              </a:rPr>
              <a:t>result_dict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prob</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state</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C586C0"/>
                </a:solidFill>
                <a:effectLst/>
                <a:latin typeface="Arial" panose="020B0604020202020204" pitchFamily="34" charset="0"/>
                <a:cs typeface="Arial" panose="020B0604020202020204" pitchFamily="34" charset="0"/>
              </a:rPr>
              <a:t>for</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state</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9CDCFE"/>
                </a:solidFill>
                <a:effectLst/>
                <a:latin typeface="Arial" panose="020B0604020202020204" pitchFamily="34" charset="0"/>
                <a:cs typeface="Arial" panose="020B0604020202020204" pitchFamily="34" charset="0"/>
              </a:rPr>
              <a:t>prob</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C586C0"/>
                </a:solidFill>
                <a:effectLst/>
                <a:latin typeface="Arial" panose="020B0604020202020204" pitchFamily="34" charset="0"/>
                <a:cs typeface="Arial" panose="020B0604020202020204" pitchFamily="34" charset="0"/>
              </a:rPr>
              <a:t>in</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4EC9B0"/>
                </a:solidFill>
                <a:effectLst/>
                <a:latin typeface="Arial" panose="020B0604020202020204" pitchFamily="34" charset="0"/>
                <a:cs typeface="Arial" panose="020B0604020202020204" pitchFamily="34" charset="0"/>
              </a:rPr>
              <a:t>zip</a:t>
            </a:r>
            <a:r>
              <a:rPr lang="en-US" altLang="zh-CN" sz="1600" b="0" dirty="0">
                <a:solidFill>
                  <a:srgbClr val="CCCCCC"/>
                </a:solidFill>
                <a:effectLst/>
                <a:latin typeface="Arial" panose="020B0604020202020204" pitchFamily="34" charset="0"/>
                <a:cs typeface="Arial" panose="020B0604020202020204" pitchFamily="34" charset="0"/>
              </a:rPr>
              <a:t>(</a:t>
            </a:r>
            <a:r>
              <a:rPr lang="en-US" altLang="zh-CN" sz="1600" b="0" dirty="0" err="1">
                <a:solidFill>
                  <a:srgbClr val="9CDCFE"/>
                </a:solidFill>
                <a:effectLst/>
                <a:latin typeface="Arial" panose="020B0604020202020204" pitchFamily="34" charset="0"/>
                <a:cs typeface="Arial" panose="020B0604020202020204" pitchFamily="34" charset="0"/>
              </a:rPr>
              <a:t>state_list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9CDCFE"/>
                </a:solidFill>
                <a:effectLst/>
                <a:latin typeface="Arial" panose="020B0604020202020204" pitchFamily="34" charset="0"/>
                <a:cs typeface="Arial" panose="020B0604020202020204" pitchFamily="34" charset="0"/>
              </a:rPr>
              <a:t>prob_list</a:t>
            </a:r>
            <a:r>
              <a:rPr lang="en-US" altLang="zh-CN" sz="1600" b="0" dirty="0">
                <a:solidFill>
                  <a:srgbClr val="CCCCCC"/>
                </a:solidFill>
                <a:effectLst/>
                <a:latin typeface="Arial" panose="020B0604020202020204" pitchFamily="34" charset="0"/>
                <a:cs typeface="Arial" panose="020B0604020202020204" pitchFamily="34" charset="0"/>
              </a:rPr>
              <a:t>)}</a:t>
            </a:r>
          </a:p>
          <a:p>
            <a:r>
              <a:rPr lang="en-US" altLang="zh-CN" sz="1600" b="0" dirty="0" err="1">
                <a:solidFill>
                  <a:srgbClr val="9CDCFE"/>
                </a:solidFill>
                <a:effectLst/>
                <a:latin typeface="Arial" panose="020B0604020202020204" pitchFamily="34" charset="0"/>
                <a:cs typeface="Arial" panose="020B0604020202020204" pitchFamily="34" charset="0"/>
              </a:rPr>
              <a:t>best_solution_prob</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9CDCFE"/>
                </a:solidFill>
                <a:effectLst/>
                <a:latin typeface="Arial" panose="020B0604020202020204" pitchFamily="34" charset="0"/>
                <a:cs typeface="Arial" panose="020B0604020202020204" pitchFamily="34" charset="0"/>
              </a:rPr>
              <a:t>in_constraints_prob</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4FC1FF"/>
                </a:solidFill>
                <a:effectLst/>
                <a:latin typeface="Arial" panose="020B0604020202020204" pitchFamily="34" charset="0"/>
                <a:cs typeface="Arial" panose="020B0604020202020204" pitchFamily="34" charset="0"/>
              </a:rPr>
              <a:t>ARG</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9CDCFE"/>
                </a:solidFill>
                <a:effectLst/>
                <a:latin typeface="Arial" panose="020B0604020202020204" pitchFamily="34" charset="0"/>
                <a:cs typeface="Arial" panose="020B0604020202020204" pitchFamily="34" charset="0"/>
              </a:rPr>
              <a:t>iter_count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a:solidFill>
                  <a:srgbClr val="D4D4D4"/>
                </a:solidFill>
                <a:effectLst/>
                <a:latin typeface="Arial" panose="020B0604020202020204" pitchFamily="34" charset="0"/>
                <a:cs typeface="Arial" panose="020B0604020202020204" pitchFamily="34" charset="0"/>
              </a:rPr>
              <a:t>=</a:t>
            </a:r>
            <a:r>
              <a:rPr lang="en-US" altLang="zh-CN" sz="1600" b="0" dirty="0">
                <a:solidFill>
                  <a:srgbClr val="CCCCCC"/>
                </a:solidFill>
                <a:effectLst/>
                <a:latin typeface="Arial" panose="020B0604020202020204" pitchFamily="34" charset="0"/>
                <a:cs typeface="Arial" panose="020B0604020202020204" pitchFamily="34" charset="0"/>
              </a:rPr>
              <a:t> </a:t>
            </a:r>
            <a:r>
              <a:rPr lang="en-US" altLang="zh-CN" sz="1600" b="0" dirty="0" err="1">
                <a:solidFill>
                  <a:srgbClr val="9CDCFE"/>
                </a:solidFill>
                <a:effectLst/>
                <a:latin typeface="Arial" panose="020B0604020202020204" pitchFamily="34" charset="0"/>
                <a:cs typeface="Arial" panose="020B0604020202020204" pitchFamily="34" charset="0"/>
              </a:rPr>
              <a:t>solver</a:t>
            </a:r>
            <a:r>
              <a:rPr lang="en-US" altLang="zh-CN" sz="1600" b="0" dirty="0" err="1">
                <a:solidFill>
                  <a:srgbClr val="CCCCCC"/>
                </a:solidFill>
                <a:effectLst/>
                <a:latin typeface="Arial" panose="020B0604020202020204" pitchFamily="34" charset="0"/>
                <a:cs typeface="Arial" panose="020B0604020202020204" pitchFamily="34" charset="0"/>
              </a:rPr>
              <a:t>.</a:t>
            </a:r>
            <a:r>
              <a:rPr lang="en-US" altLang="zh-CN" sz="1600" b="0" dirty="0" err="1">
                <a:solidFill>
                  <a:srgbClr val="DCDCAA"/>
                </a:solidFill>
                <a:effectLst/>
                <a:latin typeface="Arial" panose="020B0604020202020204" pitchFamily="34" charset="0"/>
                <a:cs typeface="Arial" panose="020B0604020202020204" pitchFamily="34" charset="0"/>
              </a:rPr>
              <a:t>evaluation</a:t>
            </a:r>
            <a:r>
              <a:rPr lang="en-US" altLang="zh-CN" sz="1600" b="0" dirty="0">
                <a:solidFill>
                  <a:srgbClr val="CCCCCC"/>
                </a:solidFill>
                <a:effectLst/>
                <a:latin typeface="Arial" panose="020B0604020202020204" pitchFamily="34" charset="0"/>
                <a:cs typeface="Arial" panose="020B0604020202020204" pitchFamily="34" charset="0"/>
              </a:rPr>
              <a:t>()</a:t>
            </a:r>
          </a:p>
        </p:txBody>
      </p:sp>
      <p:sp>
        <p:nvSpPr>
          <p:cNvPr id="2" name="标题 1"/>
          <p:cNvSpPr>
            <a:spLocks noGrp="1"/>
          </p:cNvSpPr>
          <p:nvPr>
            <p:ph type="title"/>
          </p:nvPr>
        </p:nvSpPr>
        <p:spPr>
          <a:xfrm>
            <a:off x="827808" y="0"/>
            <a:ext cx="8805792" cy="803086"/>
          </a:xfrm>
        </p:spPr>
        <p:txBody>
          <a:bodyPr>
            <a:normAutofit/>
          </a:bodyPr>
          <a:lstStyle/>
          <a:p>
            <a:pPr algn="just" hangingPunct="0">
              <a:lnSpc>
                <a:spcPct val="100000"/>
              </a:lnSpc>
            </a:pPr>
            <a:r>
              <a:rPr lang="en-US" altLang="zh-CN" sz="2800" dirty="0">
                <a:ea typeface="STKaiti" panose="02010600040101010101" pitchFamily="2" charset="-122"/>
              </a:rPr>
              <a:t>API</a:t>
            </a:r>
            <a:r>
              <a:rPr lang="zh-CN" altLang="en-US" sz="2800" dirty="0">
                <a:ea typeface="STKaiti" panose="02010600040101010101" pitchFamily="2" charset="-122"/>
              </a:rPr>
              <a:t> </a:t>
            </a:r>
            <a:r>
              <a:rPr lang="en-US" altLang="zh-CN" sz="2800" dirty="0">
                <a:ea typeface="STKaiti" panose="02010600040101010101" pitchFamily="2" charset="-122"/>
              </a:rPr>
              <a:t>of</a:t>
            </a:r>
            <a:r>
              <a:rPr lang="zh-CN" altLang="en-US" sz="2800" dirty="0">
                <a:ea typeface="STKaiti" panose="02010600040101010101" pitchFamily="2" charset="-122"/>
              </a:rPr>
              <a:t> </a:t>
            </a:r>
            <a:r>
              <a:rPr lang="en-US" altLang="zh-CN" sz="2800">
                <a:ea typeface="STKaiti" panose="02010600040101010101" pitchFamily="2" charset="-122"/>
              </a:rPr>
              <a:t>Choco-Q</a:t>
            </a:r>
            <a:endParaRPr lang="zh-CN" altLang="en-US" sz="2800" dirty="0">
              <a:ea typeface="STKaiti" panose="02010600040101010101" pitchFamily="2" charset="-122"/>
              <a:sym typeface="+mn-lt"/>
            </a:endParaRPr>
          </a:p>
        </p:txBody>
      </p:sp>
      <p:sp>
        <p:nvSpPr>
          <p:cNvPr id="15" name="左右箭头 14"/>
          <p:cNvSpPr/>
          <p:nvPr/>
        </p:nvSpPr>
        <p:spPr>
          <a:xfrm>
            <a:off x="2259965" y="-1496695"/>
            <a:ext cx="75565" cy="75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4D44433B-C93D-B60E-A95C-8C7D0FB037F2}"/>
              </a:ext>
            </a:extLst>
          </p:cNvPr>
          <p:cNvSpPr txBox="1"/>
          <p:nvPr/>
        </p:nvSpPr>
        <p:spPr>
          <a:xfrm>
            <a:off x="8349685" y="6501364"/>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dirty="0"/>
          </a:p>
        </p:txBody>
      </p:sp>
      <p:grpSp>
        <p:nvGrpSpPr>
          <p:cNvPr id="5" name="组合 4">
            <a:extLst>
              <a:ext uri="{FF2B5EF4-FFF2-40B4-BE49-F238E27FC236}">
                <a16:creationId xmlns:a16="http://schemas.microsoft.com/office/drawing/2014/main" id="{0597AFBC-B7F2-3F53-62D1-E91B6B85AC43}"/>
              </a:ext>
            </a:extLst>
          </p:cNvPr>
          <p:cNvGrpSpPr/>
          <p:nvPr/>
        </p:nvGrpSpPr>
        <p:grpSpPr>
          <a:xfrm>
            <a:off x="758732" y="4473954"/>
            <a:ext cx="2202140" cy="648000"/>
            <a:chOff x="1304888" y="3616331"/>
            <a:chExt cx="2202140" cy="648000"/>
          </a:xfrm>
        </p:grpSpPr>
        <p:sp>
          <p:nvSpPr>
            <p:cNvPr id="14" name="右大括号 13">
              <a:extLst>
                <a:ext uri="{FF2B5EF4-FFF2-40B4-BE49-F238E27FC236}">
                  <a16:creationId xmlns:a16="http://schemas.microsoft.com/office/drawing/2014/main" id="{7DA65069-7BE1-5712-71FA-D27289155DE6}"/>
                </a:ext>
              </a:extLst>
            </p:cNvPr>
            <p:cNvSpPr/>
            <p:nvPr/>
          </p:nvSpPr>
          <p:spPr>
            <a:xfrm flipH="1">
              <a:off x="3219028" y="3616331"/>
              <a:ext cx="288000" cy="648000"/>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3602B844-A583-EA9F-D5D2-B75D80F6F2AD}"/>
                </a:ext>
              </a:extLst>
            </p:cNvPr>
            <p:cNvSpPr txBox="1"/>
            <p:nvPr/>
          </p:nvSpPr>
          <p:spPr>
            <a:xfrm>
              <a:off x="1304888" y="3771054"/>
              <a:ext cx="1851809" cy="338554"/>
            </a:xfrm>
            <a:prstGeom prst="rect">
              <a:avLst/>
            </a:prstGeom>
            <a:noFill/>
          </p:spPr>
          <p:txBody>
            <a:bodyPr wrap="square" rtlCol="0">
              <a:spAutoFit/>
            </a:bodyPr>
            <a:lstStyle/>
            <a:p>
              <a:pPr algn="r"/>
              <a:r>
                <a:rPr kumimoji="1" lang="en-US" altLang="zh-CN" sz="1600" dirty="0">
                  <a:latin typeface="Arial" panose="020B0604020202020204" pitchFamily="34" charset="0"/>
                  <a:cs typeface="Arial" panose="020B0604020202020204" pitchFamily="34" charset="0"/>
                </a:rPr>
                <a:t>construct solver</a:t>
              </a:r>
              <a:endParaRPr kumimoji="1" lang="zh-CN" altLang="en-US" sz="1600" dirty="0">
                <a:latin typeface="Arial" panose="020B0604020202020204" pitchFamily="34" charset="0"/>
                <a:cs typeface="Arial" panose="020B0604020202020204" pitchFamily="34" charset="0"/>
              </a:endParaRPr>
            </a:p>
          </p:txBody>
        </p:sp>
      </p:grpSp>
      <p:grpSp>
        <p:nvGrpSpPr>
          <p:cNvPr id="6" name="组合 5">
            <a:extLst>
              <a:ext uri="{FF2B5EF4-FFF2-40B4-BE49-F238E27FC236}">
                <a16:creationId xmlns:a16="http://schemas.microsoft.com/office/drawing/2014/main" id="{52E81E98-DC5A-4770-8C71-E97379D68E6A}"/>
              </a:ext>
            </a:extLst>
          </p:cNvPr>
          <p:cNvGrpSpPr/>
          <p:nvPr/>
        </p:nvGrpSpPr>
        <p:grpSpPr>
          <a:xfrm>
            <a:off x="758732" y="5459022"/>
            <a:ext cx="2202140" cy="648000"/>
            <a:chOff x="1304888" y="4601399"/>
            <a:chExt cx="2202140" cy="648000"/>
          </a:xfrm>
        </p:grpSpPr>
        <p:sp>
          <p:nvSpPr>
            <p:cNvPr id="18" name="文本框 17">
              <a:extLst>
                <a:ext uri="{FF2B5EF4-FFF2-40B4-BE49-F238E27FC236}">
                  <a16:creationId xmlns:a16="http://schemas.microsoft.com/office/drawing/2014/main" id="{5D6A4BF0-666F-4577-0153-3C0E6314CEA8}"/>
                </a:ext>
              </a:extLst>
            </p:cNvPr>
            <p:cNvSpPr txBox="1"/>
            <p:nvPr/>
          </p:nvSpPr>
          <p:spPr>
            <a:xfrm>
              <a:off x="1304888" y="4756122"/>
              <a:ext cx="1851809" cy="338554"/>
            </a:xfrm>
            <a:prstGeom prst="rect">
              <a:avLst/>
            </a:prstGeom>
            <a:noFill/>
          </p:spPr>
          <p:txBody>
            <a:bodyPr wrap="square" rtlCol="0">
              <a:spAutoFit/>
            </a:bodyPr>
            <a:lstStyle/>
            <a:p>
              <a:pPr algn="r"/>
              <a:r>
                <a:rPr kumimoji="1" lang="en-US" altLang="zh-CN" sz="1600" dirty="0">
                  <a:latin typeface="Arial" panose="020B0604020202020204" pitchFamily="34" charset="0"/>
                  <a:cs typeface="Arial" panose="020B0604020202020204" pitchFamily="34" charset="0"/>
                </a:rPr>
                <a:t>solve by Choco-Q</a:t>
              </a:r>
              <a:endParaRPr kumimoji="1" lang="zh-CN" altLang="en-US" sz="1600" dirty="0">
                <a:latin typeface="Arial" panose="020B0604020202020204" pitchFamily="34" charset="0"/>
                <a:cs typeface="Arial" panose="020B0604020202020204" pitchFamily="34" charset="0"/>
              </a:endParaRPr>
            </a:p>
          </p:txBody>
        </p:sp>
        <p:sp>
          <p:nvSpPr>
            <p:cNvPr id="19" name="右大括号 18">
              <a:extLst>
                <a:ext uri="{FF2B5EF4-FFF2-40B4-BE49-F238E27FC236}">
                  <a16:creationId xmlns:a16="http://schemas.microsoft.com/office/drawing/2014/main" id="{5319F4AE-66A4-11C7-CB32-036C36BCF72B}"/>
                </a:ext>
              </a:extLst>
            </p:cNvPr>
            <p:cNvSpPr/>
            <p:nvPr/>
          </p:nvSpPr>
          <p:spPr>
            <a:xfrm flipH="1">
              <a:off x="3219028" y="4601399"/>
              <a:ext cx="288000" cy="648000"/>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grpSp>
      <p:sp>
        <p:nvSpPr>
          <p:cNvPr id="3" name="矩形 2">
            <a:extLst>
              <a:ext uri="{FF2B5EF4-FFF2-40B4-BE49-F238E27FC236}">
                <a16:creationId xmlns:a16="http://schemas.microsoft.com/office/drawing/2014/main" id="{9C20AEFA-AD0D-A6B3-1608-8CAAEC81ECCC}"/>
              </a:ext>
            </a:extLst>
          </p:cNvPr>
          <p:cNvSpPr/>
          <p:nvPr>
            <p:custDataLst>
              <p:tags r:id="rId1"/>
            </p:custDataLst>
          </p:nvPr>
        </p:nvSpPr>
        <p:spPr>
          <a:xfrm>
            <a:off x="696000" y="956854"/>
            <a:ext cx="10800000" cy="864000"/>
          </a:xfrm>
          <a:prstGeom prst="rect">
            <a:avLst/>
          </a:prstGeom>
          <a:solidFill>
            <a:srgbClr val="05428A"/>
          </a:solidFill>
          <a:ln w="19050">
            <a:gradFill>
              <a:gsLst>
                <a:gs pos="0">
                  <a:schemeClr val="accent1">
                    <a:lumMod val="40000"/>
                    <a:lumOff val="60000"/>
                  </a:schemeClr>
                </a:gs>
                <a:gs pos="48000">
                  <a:schemeClr val="accent1">
                    <a:lumMod val="20000"/>
                    <a:lumOff val="80000"/>
                  </a:schemeClr>
                </a:gs>
                <a:gs pos="100000">
                  <a:schemeClr val="bg1"/>
                </a:gs>
              </a:gsLst>
              <a:lin ang="5400000" scaled="1"/>
            </a:gradFill>
          </a:ln>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r>
              <a:rPr lang="en-US" altLang="zh-CN" sz="1600" dirty="0">
                <a:latin typeface="Arial" panose="020B0604020202020204" pitchFamily="34" charset="0"/>
                <a:ea typeface="STKaiti" panose="02010600040101010101" pitchFamily="2" charset="-122"/>
                <a:cs typeface="Arial" panose="020B0604020202020204" pitchFamily="34" charset="0"/>
              </a:rPr>
              <a:t>File:</a:t>
            </a:r>
          </a:p>
          <a:p>
            <a:pPr marL="285750" indent="-285750">
              <a:buFont typeface="Arial" panose="020B0604020202020204" pitchFamily="34" charset="0"/>
              <a:buChar char="•"/>
            </a:pPr>
            <a:r>
              <a:rPr lang="en-US" altLang="zh-CN" sz="1600" dirty="0" err="1">
                <a:latin typeface="Arial" panose="020B0604020202020204" pitchFamily="34" charset="0"/>
                <a:ea typeface="STKaiti" panose="02010600040101010101" pitchFamily="2" charset="-122"/>
                <a:cs typeface="Arial" panose="020B0604020202020204" pitchFamily="34" charset="0"/>
              </a:rPr>
              <a:t>JanusQ</a:t>
            </a:r>
            <a:r>
              <a:rPr lang="en-US" altLang="zh-CN" sz="1600" dirty="0">
                <a:latin typeface="Arial" panose="020B0604020202020204" pitchFamily="34" charset="0"/>
                <a:ea typeface="STKaiti" panose="02010600040101010101" pitchFamily="2" charset="-122"/>
                <a:cs typeface="Arial" panose="020B0604020202020204" pitchFamily="34" charset="0"/>
              </a:rPr>
              <a:t>/examples/</a:t>
            </a:r>
            <a:r>
              <a:rPr lang="en-US" altLang="zh-CN" sz="1600" dirty="0" err="1">
                <a:latin typeface="Arial" panose="020B0604020202020204" pitchFamily="34" charset="0"/>
                <a:ea typeface="STKaiti" panose="02010600040101010101" pitchFamily="2" charset="-122"/>
                <a:cs typeface="Arial" panose="020B0604020202020204" pitchFamily="34" charset="0"/>
              </a:rPr>
              <a:t>ipynb</a:t>
            </a:r>
            <a:r>
              <a:rPr lang="en-US" altLang="zh-CN" sz="1600" dirty="0">
                <a:latin typeface="Arial" panose="020B0604020202020204" pitchFamily="34" charset="0"/>
                <a:ea typeface="STKaiti" panose="02010600040101010101" pitchFamily="2" charset="-122"/>
                <a:cs typeface="Arial" panose="020B0604020202020204" pitchFamily="34" charset="0"/>
              </a:rPr>
              <a:t>/6_1_constrained_binary_optimization.ipynb</a:t>
            </a:r>
          </a:p>
          <a:p>
            <a:pPr marL="285750" indent="-285750">
              <a:buFont typeface="Arial" panose="020B0604020202020204" pitchFamily="34" charset="0"/>
              <a:buChar char="•"/>
            </a:pPr>
            <a:r>
              <a:rPr lang="en-US" altLang="zh-CN" sz="1600" dirty="0">
                <a:latin typeface="Arial" panose="020B0604020202020204" pitchFamily="34" charset="0"/>
                <a:ea typeface="STKaiti" panose="02010600040101010101" pitchFamily="2" charset="-122"/>
                <a:cs typeface="Arial" panose="020B0604020202020204" pitchFamily="34" charset="0"/>
              </a:rPr>
              <a:t>https://</a:t>
            </a:r>
            <a:r>
              <a:rPr lang="en-US" altLang="zh-CN" sz="1600" dirty="0" err="1">
                <a:latin typeface="Arial" panose="020B0604020202020204" pitchFamily="34" charset="0"/>
                <a:ea typeface="STKaiti" panose="02010600040101010101" pitchFamily="2" charset="-122"/>
                <a:cs typeface="Arial" panose="020B0604020202020204" pitchFamily="34" charset="0"/>
              </a:rPr>
              <a:t>janusq.github.io</a:t>
            </a:r>
            <a:r>
              <a:rPr lang="en-US" altLang="zh-CN" sz="1600" dirty="0">
                <a:latin typeface="Arial" panose="020B0604020202020204" pitchFamily="34" charset="0"/>
                <a:ea typeface="STKaiti" panose="02010600040101010101" pitchFamily="2" charset="-122"/>
                <a:cs typeface="Arial" panose="020B0604020202020204" pitchFamily="34" charset="0"/>
              </a:rPr>
              <a:t>/tutorials/demo/6_1_constrained_binary_optimization</a:t>
            </a:r>
          </a:p>
        </p:txBody>
      </p:sp>
      <p:grpSp>
        <p:nvGrpSpPr>
          <p:cNvPr id="4" name="组合 3">
            <a:extLst>
              <a:ext uri="{FF2B5EF4-FFF2-40B4-BE49-F238E27FC236}">
                <a16:creationId xmlns:a16="http://schemas.microsoft.com/office/drawing/2014/main" id="{57C013A1-B521-F818-E514-A78EBC518D81}"/>
              </a:ext>
            </a:extLst>
          </p:cNvPr>
          <p:cNvGrpSpPr/>
          <p:nvPr/>
        </p:nvGrpSpPr>
        <p:grpSpPr>
          <a:xfrm>
            <a:off x="758732" y="3033956"/>
            <a:ext cx="2202140" cy="1152000"/>
            <a:chOff x="1304888" y="3094534"/>
            <a:chExt cx="2202140" cy="1152000"/>
          </a:xfrm>
        </p:grpSpPr>
        <p:sp>
          <p:nvSpPr>
            <p:cNvPr id="7" name="右大括号 6">
              <a:extLst>
                <a:ext uri="{FF2B5EF4-FFF2-40B4-BE49-F238E27FC236}">
                  <a16:creationId xmlns:a16="http://schemas.microsoft.com/office/drawing/2014/main" id="{82C40CAD-B29A-763A-FA41-07D2F44F8A20}"/>
                </a:ext>
              </a:extLst>
            </p:cNvPr>
            <p:cNvSpPr/>
            <p:nvPr/>
          </p:nvSpPr>
          <p:spPr>
            <a:xfrm flipH="1">
              <a:off x="3219028" y="3094534"/>
              <a:ext cx="288000" cy="1152000"/>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16281341-CC97-E576-F7D5-3EFBF6877F61}"/>
                </a:ext>
              </a:extLst>
            </p:cNvPr>
            <p:cNvSpPr txBox="1"/>
            <p:nvPr/>
          </p:nvSpPr>
          <p:spPr>
            <a:xfrm>
              <a:off x="1304888" y="3255036"/>
              <a:ext cx="1851809" cy="830997"/>
            </a:xfrm>
            <a:prstGeom prst="rect">
              <a:avLst/>
            </a:prstGeom>
            <a:noFill/>
          </p:spPr>
          <p:txBody>
            <a:bodyPr wrap="square" rtlCol="0">
              <a:spAutoFit/>
            </a:bodyPr>
            <a:lstStyle/>
            <a:p>
              <a:pPr algn="r"/>
              <a:r>
                <a:rPr kumimoji="1" lang="en-US" altLang="zh-CN" sz="1600" dirty="0">
                  <a:latin typeface="Arial" panose="020B0604020202020204" pitchFamily="34" charset="0"/>
                  <a:cs typeface="Arial" panose="020B0604020202020204" pitchFamily="34" charset="0"/>
                </a:rPr>
                <a:t>configure the optimization problem</a:t>
              </a:r>
              <a:endParaRPr kumimoji="1" lang="zh-CN" altLang="en-US" sz="16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595445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DA1926B-173E-C997-C820-DC45B5FE2BC1}"/>
              </a:ext>
            </a:extLst>
          </p:cNvPr>
          <p:cNvGrpSpPr/>
          <p:nvPr/>
        </p:nvGrpSpPr>
        <p:grpSpPr>
          <a:xfrm>
            <a:off x="0" y="521007"/>
            <a:ext cx="12192000" cy="6466615"/>
            <a:chOff x="-1" y="382110"/>
            <a:chExt cx="12192000" cy="6466615"/>
          </a:xfrm>
        </p:grpSpPr>
        <p:pic>
          <p:nvPicPr>
            <p:cNvPr id="5" name="图片 4">
              <a:extLst>
                <a:ext uri="{FF2B5EF4-FFF2-40B4-BE49-F238E27FC236}">
                  <a16:creationId xmlns:a16="http://schemas.microsoft.com/office/drawing/2014/main" id="{276D5E0D-A9F6-454B-4530-15F33C65ACBD}"/>
                </a:ext>
              </a:extLst>
            </p:cNvPr>
            <p:cNvPicPr>
              <a:picLocks noChangeAspect="1"/>
            </p:cNvPicPr>
            <p:nvPr/>
          </p:nvPicPr>
          <p:blipFill rotWithShape="1">
            <a:blip r:embed="rId3">
              <a:extLst>
                <a:ext uri="{28A0092B-C50C-407E-A947-70E740481C1C}">
                  <a14:useLocalDpi xmlns:a14="http://schemas.microsoft.com/office/drawing/2010/main" val="0"/>
                </a:ext>
              </a:extLst>
            </a:blip>
            <a:srcRect l="52978" t="10561" r="2412" b="26928"/>
            <a:stretch/>
          </p:blipFill>
          <p:spPr>
            <a:xfrm>
              <a:off x="-1" y="382110"/>
              <a:ext cx="12192000" cy="6466615"/>
            </a:xfrm>
            <a:prstGeom prst="rect">
              <a:avLst/>
            </a:prstGeom>
          </p:spPr>
        </p:pic>
        <p:sp>
          <p:nvSpPr>
            <p:cNvPr id="6" name="任意多边形: 形状 10">
              <a:extLst>
                <a:ext uri="{FF2B5EF4-FFF2-40B4-BE49-F238E27FC236}">
                  <a16:creationId xmlns:a16="http://schemas.microsoft.com/office/drawing/2014/main" id="{82D181ED-3229-7C18-E160-A304DF53AACE}"/>
                </a:ext>
              </a:extLst>
            </p:cNvPr>
            <p:cNvSpPr/>
            <p:nvPr/>
          </p:nvSpPr>
          <p:spPr>
            <a:xfrm>
              <a:off x="1238911" y="548368"/>
              <a:ext cx="9434423" cy="4385901"/>
            </a:xfrm>
            <a:custGeom>
              <a:avLst/>
              <a:gdLst>
                <a:gd name="connsiteX0" fmla="*/ 132689 w 9434423"/>
                <a:gd name="connsiteY0" fmla="*/ 737847 h 4654525"/>
                <a:gd name="connsiteX1" fmla="*/ 180314 w 9434423"/>
                <a:gd name="connsiteY1" fmla="*/ 861672 h 4654525"/>
                <a:gd name="connsiteX2" fmla="*/ 1961489 w 9434423"/>
                <a:gd name="connsiteY2" fmla="*/ 3052422 h 4654525"/>
                <a:gd name="connsiteX3" fmla="*/ 3695039 w 9434423"/>
                <a:gd name="connsiteY3" fmla="*/ 3547722 h 4654525"/>
                <a:gd name="connsiteX4" fmla="*/ 6409664 w 9434423"/>
                <a:gd name="connsiteY4" fmla="*/ 3881097 h 4654525"/>
                <a:gd name="connsiteX5" fmla="*/ 6676364 w 9434423"/>
                <a:gd name="connsiteY5" fmla="*/ 3633447 h 4654525"/>
                <a:gd name="connsiteX6" fmla="*/ 8438489 w 9434423"/>
                <a:gd name="connsiteY6" fmla="*/ 4652622 h 4654525"/>
                <a:gd name="connsiteX7" fmla="*/ 9371939 w 9434423"/>
                <a:gd name="connsiteY7" fmla="*/ 3842997 h 4654525"/>
                <a:gd name="connsiteX8" fmla="*/ 9248114 w 9434423"/>
                <a:gd name="connsiteY8" fmla="*/ 2299947 h 4654525"/>
                <a:gd name="connsiteX9" fmla="*/ 8438489 w 9434423"/>
                <a:gd name="connsiteY9" fmla="*/ 1214097 h 4654525"/>
                <a:gd name="connsiteX10" fmla="*/ 6314414 w 9434423"/>
                <a:gd name="connsiteY10" fmla="*/ 194922 h 4654525"/>
                <a:gd name="connsiteX11" fmla="*/ 5761964 w 9434423"/>
                <a:gd name="connsiteY11" fmla="*/ 4422 h 4654525"/>
                <a:gd name="connsiteX12" fmla="*/ 4742789 w 9434423"/>
                <a:gd name="connsiteY12" fmla="*/ 271122 h 4654525"/>
                <a:gd name="connsiteX13" fmla="*/ 3866489 w 9434423"/>
                <a:gd name="connsiteY13" fmla="*/ 852147 h 4654525"/>
                <a:gd name="connsiteX14" fmla="*/ 2523464 w 9434423"/>
                <a:gd name="connsiteY14" fmla="*/ 623547 h 4654525"/>
                <a:gd name="connsiteX15" fmla="*/ 818489 w 9434423"/>
                <a:gd name="connsiteY15" fmla="*/ 480672 h 4654525"/>
                <a:gd name="connsiteX16" fmla="*/ 132689 w 9434423"/>
                <a:gd name="connsiteY16" fmla="*/ 737847 h 465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434423" h="4654525">
                  <a:moveTo>
                    <a:pt x="132689" y="737847"/>
                  </a:moveTo>
                  <a:cubicBezTo>
                    <a:pt x="26327" y="801347"/>
                    <a:pt x="-124486" y="475910"/>
                    <a:pt x="180314" y="861672"/>
                  </a:cubicBezTo>
                  <a:cubicBezTo>
                    <a:pt x="485114" y="1247434"/>
                    <a:pt x="1375702" y="2604747"/>
                    <a:pt x="1961489" y="3052422"/>
                  </a:cubicBezTo>
                  <a:cubicBezTo>
                    <a:pt x="2547277" y="3500097"/>
                    <a:pt x="2953677" y="3409610"/>
                    <a:pt x="3695039" y="3547722"/>
                  </a:cubicBezTo>
                  <a:cubicBezTo>
                    <a:pt x="4436401" y="3685834"/>
                    <a:pt x="5912777" y="3866810"/>
                    <a:pt x="6409664" y="3881097"/>
                  </a:cubicBezTo>
                  <a:cubicBezTo>
                    <a:pt x="6906552" y="3895385"/>
                    <a:pt x="6338226" y="3504859"/>
                    <a:pt x="6676364" y="3633447"/>
                  </a:cubicBezTo>
                  <a:cubicBezTo>
                    <a:pt x="7014502" y="3762035"/>
                    <a:pt x="7989227" y="4617697"/>
                    <a:pt x="8438489" y="4652622"/>
                  </a:cubicBezTo>
                  <a:cubicBezTo>
                    <a:pt x="8887751" y="4687547"/>
                    <a:pt x="9237001" y="4235110"/>
                    <a:pt x="9371939" y="3842997"/>
                  </a:cubicBezTo>
                  <a:cubicBezTo>
                    <a:pt x="9506877" y="3450884"/>
                    <a:pt x="9403689" y="2738097"/>
                    <a:pt x="9248114" y="2299947"/>
                  </a:cubicBezTo>
                  <a:cubicBezTo>
                    <a:pt x="9092539" y="1861797"/>
                    <a:pt x="8927439" y="1564935"/>
                    <a:pt x="8438489" y="1214097"/>
                  </a:cubicBezTo>
                  <a:cubicBezTo>
                    <a:pt x="7949539" y="863260"/>
                    <a:pt x="6760502" y="396535"/>
                    <a:pt x="6314414" y="194922"/>
                  </a:cubicBezTo>
                  <a:cubicBezTo>
                    <a:pt x="5868326" y="-6691"/>
                    <a:pt x="6023901" y="-8278"/>
                    <a:pt x="5761964" y="4422"/>
                  </a:cubicBezTo>
                  <a:cubicBezTo>
                    <a:pt x="5500027" y="17122"/>
                    <a:pt x="5058702" y="129834"/>
                    <a:pt x="4742789" y="271122"/>
                  </a:cubicBezTo>
                  <a:cubicBezTo>
                    <a:pt x="4426876" y="412410"/>
                    <a:pt x="4236377" y="793409"/>
                    <a:pt x="3866489" y="852147"/>
                  </a:cubicBezTo>
                  <a:cubicBezTo>
                    <a:pt x="3496601" y="910885"/>
                    <a:pt x="3031464" y="685459"/>
                    <a:pt x="2523464" y="623547"/>
                  </a:cubicBezTo>
                  <a:cubicBezTo>
                    <a:pt x="2015464" y="561634"/>
                    <a:pt x="1213776" y="466385"/>
                    <a:pt x="818489" y="480672"/>
                  </a:cubicBezTo>
                  <a:cubicBezTo>
                    <a:pt x="423202" y="494959"/>
                    <a:pt x="239051" y="674347"/>
                    <a:pt x="132689" y="73784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STKaiti" panose="02010600040101010101" pitchFamily="2" charset="-122"/>
                <a:cs typeface="Arial" panose="020B0604020202020204" pitchFamily="34" charset="0"/>
                <a:sym typeface="+mn-lt"/>
              </a:endParaRPr>
            </a:p>
          </p:txBody>
        </p:sp>
      </p:grpSp>
      <p:sp>
        <p:nvSpPr>
          <p:cNvPr id="3" name="Title 3">
            <a:extLst>
              <a:ext uri="{FF2B5EF4-FFF2-40B4-BE49-F238E27FC236}">
                <a16:creationId xmlns:a16="http://schemas.microsoft.com/office/drawing/2014/main" id="{B37E42D1-CCAF-E038-513D-82593CE712CC}"/>
              </a:ext>
            </a:extLst>
          </p:cNvPr>
          <p:cNvSpPr txBox="1">
            <a:spLocks/>
          </p:cNvSpPr>
          <p:nvPr/>
        </p:nvSpPr>
        <p:spPr bwMode="auto">
          <a:xfrm>
            <a:off x="951448" y="1418854"/>
            <a:ext cx="10289105" cy="1591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34874" tIns="67437" rIns="134874" bIns="67437" numCol="1" anchor="ctr" anchorCtr="1" compatLnSpc="1">
            <a:prstTxWarp prst="textNoShape">
              <a:avLst/>
            </a:prstTxWarp>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itchFamily="49" charset="-122"/>
                <a:ea typeface="黑体" pitchFamily="49" charset="-122"/>
              </a:defRPr>
            </a:lvl2pPr>
            <a:lvl3pPr algn="ctr" rtl="0" eaLnBrk="0" fontAlgn="base" hangingPunct="0">
              <a:spcBef>
                <a:spcPct val="0"/>
              </a:spcBef>
              <a:spcAft>
                <a:spcPct val="0"/>
              </a:spcAft>
              <a:defRPr sz="3200" b="1">
                <a:solidFill>
                  <a:srgbClr val="C00000"/>
                </a:solidFill>
                <a:latin typeface="黑体" pitchFamily="49" charset="-122"/>
                <a:ea typeface="黑体" pitchFamily="49" charset="-122"/>
              </a:defRPr>
            </a:lvl3pPr>
            <a:lvl4pPr algn="ctr" rtl="0" eaLnBrk="0" fontAlgn="base" hangingPunct="0">
              <a:spcBef>
                <a:spcPct val="0"/>
              </a:spcBef>
              <a:spcAft>
                <a:spcPct val="0"/>
              </a:spcAft>
              <a:defRPr sz="3200" b="1">
                <a:solidFill>
                  <a:srgbClr val="C00000"/>
                </a:solidFill>
                <a:latin typeface="黑体" pitchFamily="49" charset="-122"/>
                <a:ea typeface="黑体" pitchFamily="49" charset="-122"/>
              </a:defRPr>
            </a:lvl4pPr>
            <a:lvl5pPr algn="ctr" rtl="0" eaLnBrk="0" fontAlgn="base" hangingPunct="0">
              <a:spcBef>
                <a:spcPct val="0"/>
              </a:spcBef>
              <a:spcAft>
                <a:spcPct val="0"/>
              </a:spcAft>
              <a:defRPr sz="3200" b="1">
                <a:solidFill>
                  <a:srgbClr val="C00000"/>
                </a:solidFill>
                <a:latin typeface="黑体" pitchFamily="49" charset="-122"/>
                <a:ea typeface="黑体" pitchFamily="49" charset="-122"/>
              </a:defRPr>
            </a:lvl5pPr>
            <a:lvl6pPr marL="457189" algn="ctr" rtl="0" eaLnBrk="1" fontAlgn="base" hangingPunct="1">
              <a:spcBef>
                <a:spcPct val="0"/>
              </a:spcBef>
              <a:spcAft>
                <a:spcPct val="0"/>
              </a:spcAft>
              <a:defRPr sz="2800" b="1">
                <a:solidFill>
                  <a:srgbClr val="133984"/>
                </a:solidFill>
                <a:latin typeface="Arial" charset="0"/>
                <a:ea typeface="华文新魏" pitchFamily="2" charset="-122"/>
              </a:defRPr>
            </a:lvl6pPr>
            <a:lvl7pPr marL="914377" algn="ctr" rtl="0" eaLnBrk="1" fontAlgn="base" hangingPunct="1">
              <a:spcBef>
                <a:spcPct val="0"/>
              </a:spcBef>
              <a:spcAft>
                <a:spcPct val="0"/>
              </a:spcAft>
              <a:defRPr sz="2800" b="1">
                <a:solidFill>
                  <a:srgbClr val="133984"/>
                </a:solidFill>
                <a:latin typeface="Arial" charset="0"/>
                <a:ea typeface="华文新魏" pitchFamily="2" charset="-122"/>
              </a:defRPr>
            </a:lvl7pPr>
            <a:lvl8pPr marL="1371566" algn="ctr" rtl="0" eaLnBrk="1" fontAlgn="base" hangingPunct="1">
              <a:spcBef>
                <a:spcPct val="0"/>
              </a:spcBef>
              <a:spcAft>
                <a:spcPct val="0"/>
              </a:spcAft>
              <a:defRPr sz="2800" b="1">
                <a:solidFill>
                  <a:srgbClr val="133984"/>
                </a:solidFill>
                <a:latin typeface="Arial" charset="0"/>
                <a:ea typeface="华文新魏" pitchFamily="2" charset="-122"/>
              </a:defRPr>
            </a:lvl8pPr>
            <a:lvl9pPr marL="1828754" algn="ctr" rtl="0" eaLnBrk="1" fontAlgn="base" hangingPunct="1">
              <a:spcBef>
                <a:spcPct val="0"/>
              </a:spcBef>
              <a:spcAft>
                <a:spcPct val="0"/>
              </a:spcAft>
              <a:defRPr sz="2800" b="1">
                <a:solidFill>
                  <a:srgbClr val="133984"/>
                </a:solidFill>
                <a:latin typeface="Arial" charset="0"/>
                <a:ea typeface="华文新魏" pitchFamily="2" charset="-122"/>
              </a:defRPr>
            </a:lvl9pPr>
          </a:lstStyle>
          <a:p>
            <a:pPr lvl="0">
              <a:lnSpc>
                <a:spcPct val="110000"/>
              </a:lnSpc>
              <a:spcBef>
                <a:spcPct val="20000"/>
              </a:spcBef>
              <a:buSzPct val="120000"/>
              <a:defRPr/>
            </a:pPr>
            <a:r>
              <a:rPr lang="en-US" altLang="zh-CN" sz="6000" kern="0" dirty="0">
                <a:solidFill>
                  <a:srgbClr val="000000"/>
                </a:solidFill>
                <a:effectLst/>
                <a:latin typeface="Arial" panose="020B0604020202020204" pitchFamily="34" charset="0"/>
                <a:ea typeface="STKaiti" panose="02010600040101010101" pitchFamily="2" charset="-122"/>
                <a:cs typeface="Arial" panose="020B0604020202020204" pitchFamily="34" charset="0"/>
              </a:rPr>
              <a:t>Thanks</a:t>
            </a:r>
            <a:r>
              <a:rPr lang="zh-CN" altLang="en-US" sz="6000" kern="0" dirty="0">
                <a:solidFill>
                  <a:srgbClr val="000000"/>
                </a:solidFill>
                <a:effectLst/>
                <a:latin typeface="Arial" panose="020B0604020202020204" pitchFamily="34" charset="0"/>
                <a:ea typeface="STKaiti" panose="02010600040101010101" pitchFamily="2" charset="-122"/>
                <a:cs typeface="Arial" panose="020B0604020202020204" pitchFamily="34" charset="0"/>
              </a:rPr>
              <a:t> </a:t>
            </a:r>
            <a:r>
              <a:rPr lang="en-US" altLang="zh-CN" sz="6000" kern="0" dirty="0">
                <a:solidFill>
                  <a:srgbClr val="000000"/>
                </a:solidFill>
                <a:effectLst/>
                <a:latin typeface="Arial" panose="020B0604020202020204" pitchFamily="34" charset="0"/>
                <a:ea typeface="STKaiti" panose="02010600040101010101" pitchFamily="2" charset="-122"/>
                <a:cs typeface="Arial" panose="020B0604020202020204" pitchFamily="34" charset="0"/>
              </a:rPr>
              <a:t>for</a:t>
            </a:r>
            <a:r>
              <a:rPr lang="zh-CN" altLang="en-US" sz="6000" kern="0" dirty="0">
                <a:solidFill>
                  <a:srgbClr val="000000"/>
                </a:solidFill>
                <a:effectLst/>
                <a:latin typeface="Arial" panose="020B0604020202020204" pitchFamily="34" charset="0"/>
                <a:ea typeface="STKaiti" panose="02010600040101010101" pitchFamily="2" charset="-122"/>
                <a:cs typeface="Arial" panose="020B0604020202020204" pitchFamily="34" charset="0"/>
              </a:rPr>
              <a:t> </a:t>
            </a:r>
            <a:r>
              <a:rPr lang="en-US" altLang="zh-CN" sz="6000" kern="0" dirty="0">
                <a:solidFill>
                  <a:srgbClr val="000000"/>
                </a:solidFill>
                <a:effectLst/>
                <a:latin typeface="Arial" panose="020B0604020202020204" pitchFamily="34" charset="0"/>
                <a:ea typeface="STKaiti" panose="02010600040101010101" pitchFamily="2" charset="-122"/>
                <a:cs typeface="Arial" panose="020B0604020202020204" pitchFamily="34" charset="0"/>
              </a:rPr>
              <a:t>listening</a:t>
            </a:r>
            <a:endParaRPr lang="en-US" altLang="en-US" sz="6000" kern="0" dirty="0">
              <a:solidFill>
                <a:srgbClr val="000000"/>
              </a:solidFill>
              <a:effectLst/>
              <a:latin typeface="Arial" panose="020B0604020202020204" pitchFamily="34" charset="0"/>
              <a:ea typeface="STKaiti" panose="02010600040101010101" pitchFamily="2" charset="-122"/>
              <a:cs typeface="Arial" panose="020B0604020202020204" pitchFamily="34" charset="0"/>
            </a:endParaRPr>
          </a:p>
        </p:txBody>
      </p:sp>
      <p:sp>
        <p:nvSpPr>
          <p:cNvPr id="4" name="副标题 4">
            <a:extLst>
              <a:ext uri="{FF2B5EF4-FFF2-40B4-BE49-F238E27FC236}">
                <a16:creationId xmlns:a16="http://schemas.microsoft.com/office/drawing/2014/main" id="{D2D3873E-C97D-C99C-24AC-EC9C31D279B4}"/>
              </a:ext>
            </a:extLst>
          </p:cNvPr>
          <p:cNvSpPr txBox="1">
            <a:spLocks/>
          </p:cNvSpPr>
          <p:nvPr/>
        </p:nvSpPr>
        <p:spPr>
          <a:xfrm>
            <a:off x="1900943" y="4224003"/>
            <a:ext cx="8390114" cy="868697"/>
          </a:xfrm>
          <a:prstGeom prst="rect">
            <a:avLst/>
          </a:prstGeom>
        </p:spPr>
        <p:txBody>
          <a:bodyPr vert="horz" lIns="134874" tIns="67437" rIns="134874" bIns="67437" rtlCol="0" anchor="ctr">
            <a:normAutofit/>
          </a:bodyPr>
          <a:lstStyle>
            <a:lvl1pPr marL="0" marR="0" indent="0" algn="ctr" defTabSz="342900" rtl="0" eaLnBrk="1" fontAlgn="auto" latinLnBrk="0" hangingPunct="1">
              <a:lnSpc>
                <a:spcPct val="100000"/>
              </a:lnSpc>
              <a:spcBef>
                <a:spcPts val="1500"/>
              </a:spcBef>
              <a:spcAft>
                <a:spcPts val="0"/>
              </a:spcAft>
              <a:buClr>
                <a:srgbClr val="549E39"/>
              </a:buClr>
              <a:buSzTx/>
              <a:buFont typeface="Wingdings 3" charset="2"/>
              <a:buNone/>
              <a:tabLst/>
              <a:defRPr lang="zh-CN" altLang="en-US" sz="2400" b="0" i="0" kern="1200" baseline="0">
                <a:solidFill>
                  <a:schemeClr val="accent1">
                    <a:lumMod val="75000"/>
                  </a:schemeClr>
                </a:solidFill>
                <a:latin typeface="Calibri" charset="0"/>
                <a:ea typeface="微软雅黑" panose="020B0503020204020204" pitchFamily="34" charset="-122"/>
                <a:cs typeface="+mn-cs"/>
              </a:defRPr>
            </a:lvl1pPr>
            <a:lvl2pPr marL="4572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tabLst/>
              <a:defRPr lang="zh-CN" altLang="en-US" sz="2000" b="0" i="0" kern="1200" baseline="0">
                <a:solidFill>
                  <a:schemeClr val="tx1">
                    <a:lumMod val="75000"/>
                    <a:lumOff val="25000"/>
                  </a:schemeClr>
                </a:solidFill>
                <a:latin typeface="Calibri" charset="0"/>
                <a:ea typeface="微软雅黑" panose="020B0503020204020204" pitchFamily="34" charset="-122"/>
                <a:cs typeface="+mn-cs"/>
              </a:defRPr>
            </a:lvl2pPr>
            <a:lvl3pPr marL="9144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tabLst/>
              <a:defRPr lang="zh-CN" altLang="en-US" sz="1800" kern="1200" baseline="0">
                <a:solidFill>
                  <a:schemeClr val="tx1">
                    <a:lumMod val="75000"/>
                    <a:lumOff val="25000"/>
                  </a:schemeClr>
                </a:solidFill>
                <a:latin typeface="Calibri" charset="0"/>
                <a:ea typeface="微软雅黑" panose="020B0503020204020204" pitchFamily="34" charset="-122"/>
                <a:cs typeface="+mn-cs"/>
              </a:defRPr>
            </a:lvl3pPr>
            <a:lvl4pPr marL="13716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tabLst/>
              <a:defRPr lang="zh-CN" altLang="en-US" sz="1600" kern="1200" baseline="0">
                <a:solidFill>
                  <a:schemeClr val="tx1">
                    <a:lumMod val="75000"/>
                    <a:lumOff val="25000"/>
                  </a:schemeClr>
                </a:solidFill>
                <a:latin typeface="Calibri" charset="0"/>
                <a:ea typeface="微软雅黑" panose="020B0503020204020204" pitchFamily="34" charset="-122"/>
                <a:cs typeface="+mn-cs"/>
              </a:defRPr>
            </a:lvl4pPr>
            <a:lvl5pPr marL="1828800" marR="0" indent="0" algn="ctr" defTabSz="342900" rtl="0" eaLnBrk="1" fontAlgn="auto" latinLnBrk="0" hangingPunct="1">
              <a:lnSpc>
                <a:spcPct val="100000"/>
              </a:lnSpc>
              <a:spcBef>
                <a:spcPts val="750"/>
              </a:spcBef>
              <a:spcAft>
                <a:spcPts val="0"/>
              </a:spcAft>
              <a:buClr>
                <a:srgbClr val="549E39"/>
              </a:buClr>
              <a:buSzTx/>
              <a:buFont typeface="Wingdings 3" charset="2"/>
              <a:buNone/>
              <a:tabLst/>
              <a:defRPr sz="1600" kern="1200">
                <a:solidFill>
                  <a:schemeClr val="tx1">
                    <a:lumMod val="75000"/>
                    <a:lumOff val="25000"/>
                  </a:schemeClr>
                </a:solidFill>
                <a:latin typeface="+mn-lt"/>
                <a:ea typeface="+mn-ea"/>
                <a:cs typeface="+mn-cs"/>
              </a:defRPr>
            </a:lvl5pPr>
            <a:lvl6pPr marL="2286000" indent="0" algn="ctr" defTabSz="342900" rtl="0" eaLnBrk="1" latinLnBrk="0" hangingPunct="1">
              <a:spcBef>
                <a:spcPts val="750"/>
              </a:spcBef>
              <a:spcAft>
                <a:spcPts val="0"/>
              </a:spcAft>
              <a:buClr>
                <a:schemeClr val="accent1"/>
              </a:buClr>
              <a:buFont typeface="Wingdings 3" charset="2"/>
              <a:buNone/>
              <a:defRPr sz="1600" kern="1200">
                <a:solidFill>
                  <a:schemeClr val="tx1">
                    <a:lumMod val="75000"/>
                    <a:lumOff val="25000"/>
                  </a:schemeClr>
                </a:solidFill>
                <a:latin typeface="+mn-lt"/>
                <a:ea typeface="+mn-ea"/>
                <a:cs typeface="+mn-cs"/>
              </a:defRPr>
            </a:lvl6pPr>
            <a:lvl7pPr marL="2743200" indent="0" algn="ctr" defTabSz="342900" rtl="0" eaLnBrk="1" latinLnBrk="0" hangingPunct="1">
              <a:spcBef>
                <a:spcPts val="750"/>
              </a:spcBef>
              <a:spcAft>
                <a:spcPts val="0"/>
              </a:spcAft>
              <a:buClr>
                <a:schemeClr val="accent1"/>
              </a:buClr>
              <a:buFont typeface="Wingdings 3" charset="2"/>
              <a:buNone/>
              <a:defRPr sz="1600" kern="1200">
                <a:solidFill>
                  <a:schemeClr val="tx1">
                    <a:lumMod val="75000"/>
                    <a:lumOff val="25000"/>
                  </a:schemeClr>
                </a:solidFill>
                <a:latin typeface="+mn-lt"/>
                <a:ea typeface="+mn-ea"/>
                <a:cs typeface="+mn-cs"/>
              </a:defRPr>
            </a:lvl7pPr>
            <a:lvl8pPr marL="3200400" indent="0" algn="ctr" defTabSz="342900" rtl="0" eaLnBrk="1" latinLnBrk="0" hangingPunct="1">
              <a:spcBef>
                <a:spcPts val="750"/>
              </a:spcBef>
              <a:spcAft>
                <a:spcPts val="0"/>
              </a:spcAft>
              <a:buClr>
                <a:schemeClr val="accent1"/>
              </a:buClr>
              <a:buFont typeface="Wingdings 3" charset="2"/>
              <a:buNone/>
              <a:defRPr sz="1600" kern="1200">
                <a:solidFill>
                  <a:schemeClr val="tx1">
                    <a:lumMod val="75000"/>
                    <a:lumOff val="25000"/>
                  </a:schemeClr>
                </a:solidFill>
                <a:latin typeface="+mn-lt"/>
                <a:ea typeface="+mn-ea"/>
                <a:cs typeface="+mn-cs"/>
              </a:defRPr>
            </a:lvl8pPr>
            <a:lvl9pPr marL="3657600" indent="0" algn="ctr" defTabSz="342900" rtl="0" eaLnBrk="1" latinLnBrk="0" hangingPunct="1">
              <a:spcBef>
                <a:spcPts val="750"/>
              </a:spcBef>
              <a:spcAft>
                <a:spcPts val="0"/>
              </a:spcAft>
              <a:buClr>
                <a:schemeClr val="accent1"/>
              </a:buClr>
              <a:buFont typeface="Wingdings 3" charset="2"/>
              <a:buNone/>
              <a:defRPr sz="1600" kern="1200">
                <a:solidFill>
                  <a:schemeClr val="tx1">
                    <a:lumMod val="75000"/>
                    <a:lumOff val="25000"/>
                  </a:schemeClr>
                </a:solidFill>
                <a:latin typeface="+mn-lt"/>
                <a:ea typeface="+mn-ea"/>
                <a:cs typeface="+mn-cs"/>
              </a:defRPr>
            </a:lvl9pPr>
          </a:lstStyle>
          <a:p>
            <a:r>
              <a:rPr lang="en-US" altLang="zh-CN" sz="1800" dirty="0" err="1">
                <a:solidFill>
                  <a:srgbClr val="404040"/>
                </a:solidFill>
                <a:latin typeface="STKaiti" panose="02010600040101010101" pitchFamily="2" charset="-122"/>
                <a:ea typeface="STKaiti" panose="02010600040101010101" pitchFamily="2" charset="-122"/>
              </a:rPr>
              <a:t>Debin</a:t>
            </a:r>
            <a:r>
              <a:rPr lang="en-US" altLang="zh-CN" sz="1800" dirty="0">
                <a:solidFill>
                  <a:srgbClr val="404040"/>
                </a:solidFill>
                <a:latin typeface="STKaiti" panose="02010600040101010101" pitchFamily="2" charset="-122"/>
                <a:ea typeface="STKaiti" panose="02010600040101010101" pitchFamily="2" charset="-122"/>
              </a:rPr>
              <a:t> Xiang</a:t>
            </a:r>
            <a:r>
              <a:rPr lang="en-US" altLang="zh-CN" sz="1800" baseline="30000" dirty="0">
                <a:solidFill>
                  <a:srgbClr val="404040"/>
                </a:solidFill>
                <a:latin typeface="STKaiti" panose="02010600040101010101" pitchFamily="2" charset="-122"/>
                <a:ea typeface="STKaiti" panose="02010600040101010101" pitchFamily="2" charset="-122"/>
              </a:rPr>
              <a:t>†</a:t>
            </a:r>
            <a:r>
              <a:rPr lang="en-US" altLang="zh-CN" sz="1800" dirty="0">
                <a:solidFill>
                  <a:srgbClr val="404040"/>
                </a:solidFill>
                <a:latin typeface="STKaiti" panose="02010600040101010101" pitchFamily="2" charset="-122"/>
                <a:ea typeface="STKaiti" panose="02010600040101010101" pitchFamily="2" charset="-122"/>
              </a:rPr>
              <a:t>, </a:t>
            </a:r>
            <a:r>
              <a:rPr lang="en-US" altLang="zh-CN" sz="1800" dirty="0" err="1">
                <a:solidFill>
                  <a:srgbClr val="404040"/>
                </a:solidFill>
                <a:latin typeface="STKaiti" panose="02010600040101010101" pitchFamily="2" charset="-122"/>
                <a:ea typeface="STKaiti" panose="02010600040101010101" pitchFamily="2" charset="-122"/>
              </a:rPr>
              <a:t>Qifan</a:t>
            </a:r>
            <a:r>
              <a:rPr lang="en-US" altLang="zh-CN" sz="1800" dirty="0">
                <a:solidFill>
                  <a:srgbClr val="404040"/>
                </a:solidFill>
                <a:latin typeface="STKaiti" panose="02010600040101010101" pitchFamily="2" charset="-122"/>
                <a:ea typeface="STKaiti" panose="02010600040101010101" pitchFamily="2" charset="-122"/>
              </a:rPr>
              <a:t> Jiang</a:t>
            </a:r>
            <a:r>
              <a:rPr lang="en-US" altLang="zh-CN" sz="1800" baseline="30000" dirty="0">
                <a:solidFill>
                  <a:srgbClr val="404040"/>
                </a:solidFill>
                <a:latin typeface="STKaiti" panose="02010600040101010101" pitchFamily="2" charset="-122"/>
                <a:ea typeface="STKaiti" panose="02010600040101010101" pitchFamily="2" charset="-122"/>
              </a:rPr>
              <a:t>†</a:t>
            </a:r>
            <a:r>
              <a:rPr lang="en-US" altLang="zh-CN" sz="1800" dirty="0">
                <a:solidFill>
                  <a:srgbClr val="404040"/>
                </a:solidFill>
                <a:latin typeface="STKaiti" panose="02010600040101010101" pitchFamily="2" charset="-122"/>
                <a:ea typeface="STKaiti" panose="02010600040101010101" pitchFamily="2" charset="-122"/>
              </a:rPr>
              <a:t>, </a:t>
            </a:r>
            <a:r>
              <a:rPr lang="en-US" altLang="zh-CN" sz="1800" dirty="0" err="1">
                <a:solidFill>
                  <a:srgbClr val="404040"/>
                </a:solidFill>
                <a:latin typeface="STKaiti" panose="02010600040101010101" pitchFamily="2" charset="-122"/>
                <a:ea typeface="STKaiti" panose="02010600040101010101" pitchFamily="2" charset="-122"/>
              </a:rPr>
              <a:t>Liqiang</a:t>
            </a:r>
            <a:r>
              <a:rPr lang="en-US" altLang="zh-CN" sz="1800" dirty="0">
                <a:solidFill>
                  <a:srgbClr val="404040"/>
                </a:solidFill>
                <a:latin typeface="STKaiti" panose="02010600040101010101" pitchFamily="2" charset="-122"/>
                <a:ea typeface="STKaiti" panose="02010600040101010101" pitchFamily="2" charset="-122"/>
              </a:rPr>
              <a:t> Lu*, </a:t>
            </a:r>
            <a:r>
              <a:rPr lang="en-US" altLang="zh-CN" sz="1800" dirty="0" err="1">
                <a:solidFill>
                  <a:srgbClr val="404040"/>
                </a:solidFill>
                <a:latin typeface="STKaiti" panose="02010600040101010101" pitchFamily="2" charset="-122"/>
                <a:ea typeface="STKaiti" panose="02010600040101010101" pitchFamily="2" charset="-122"/>
              </a:rPr>
              <a:t>Siwei</a:t>
            </a:r>
            <a:r>
              <a:rPr lang="en-US" altLang="zh-CN" sz="1800" dirty="0">
                <a:solidFill>
                  <a:srgbClr val="404040"/>
                </a:solidFill>
                <a:latin typeface="STKaiti" panose="02010600040101010101" pitchFamily="2" charset="-122"/>
                <a:ea typeface="STKaiti" panose="02010600040101010101" pitchFamily="2" charset="-122"/>
              </a:rPr>
              <a:t> Tan, and </a:t>
            </a:r>
            <a:r>
              <a:rPr lang="en-US" altLang="zh-CN" sz="1800" dirty="0" err="1">
                <a:solidFill>
                  <a:srgbClr val="404040"/>
                </a:solidFill>
                <a:latin typeface="STKaiti" panose="02010600040101010101" pitchFamily="2" charset="-122"/>
                <a:ea typeface="STKaiti" panose="02010600040101010101" pitchFamily="2" charset="-122"/>
              </a:rPr>
              <a:t>Jianwei</a:t>
            </a:r>
            <a:r>
              <a:rPr lang="en-US" altLang="zh-CN" sz="1800" dirty="0">
                <a:solidFill>
                  <a:srgbClr val="404040"/>
                </a:solidFill>
                <a:latin typeface="STKaiti" panose="02010600040101010101" pitchFamily="2" charset="-122"/>
                <a:ea typeface="STKaiti" panose="02010600040101010101" pitchFamily="2" charset="-122"/>
              </a:rPr>
              <a:t> Yin*</a:t>
            </a:r>
          </a:p>
        </p:txBody>
      </p:sp>
      <p:sp>
        <p:nvSpPr>
          <p:cNvPr id="12" name="Title 3">
            <a:extLst>
              <a:ext uri="{FF2B5EF4-FFF2-40B4-BE49-F238E27FC236}">
                <a16:creationId xmlns:a16="http://schemas.microsoft.com/office/drawing/2014/main" id="{E680CCF7-DC4D-1549-9E89-6F6DF7C366B5}"/>
              </a:ext>
            </a:extLst>
          </p:cNvPr>
          <p:cNvSpPr txBox="1">
            <a:spLocks/>
          </p:cNvSpPr>
          <p:nvPr/>
        </p:nvSpPr>
        <p:spPr bwMode="auto">
          <a:xfrm>
            <a:off x="1739373" y="3044250"/>
            <a:ext cx="8713255" cy="1145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34874" tIns="67437" rIns="134874" bIns="67437" numCol="1" anchor="ctr" anchorCtr="1" compatLnSpc="1">
            <a:prstTxWarp prst="textNoShape">
              <a:avLst/>
            </a:prstTxWarp>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itchFamily="49" charset="-122"/>
                <a:ea typeface="黑体" pitchFamily="49" charset="-122"/>
              </a:defRPr>
            </a:lvl2pPr>
            <a:lvl3pPr algn="ctr" rtl="0" eaLnBrk="0" fontAlgn="base" hangingPunct="0">
              <a:spcBef>
                <a:spcPct val="0"/>
              </a:spcBef>
              <a:spcAft>
                <a:spcPct val="0"/>
              </a:spcAft>
              <a:defRPr sz="3200" b="1">
                <a:solidFill>
                  <a:srgbClr val="C00000"/>
                </a:solidFill>
                <a:latin typeface="黑体" pitchFamily="49" charset="-122"/>
                <a:ea typeface="黑体" pitchFamily="49" charset="-122"/>
              </a:defRPr>
            </a:lvl3pPr>
            <a:lvl4pPr algn="ctr" rtl="0" eaLnBrk="0" fontAlgn="base" hangingPunct="0">
              <a:spcBef>
                <a:spcPct val="0"/>
              </a:spcBef>
              <a:spcAft>
                <a:spcPct val="0"/>
              </a:spcAft>
              <a:defRPr sz="3200" b="1">
                <a:solidFill>
                  <a:srgbClr val="C00000"/>
                </a:solidFill>
                <a:latin typeface="黑体" pitchFamily="49" charset="-122"/>
                <a:ea typeface="黑体" pitchFamily="49" charset="-122"/>
              </a:defRPr>
            </a:lvl4pPr>
            <a:lvl5pPr algn="ctr" rtl="0" eaLnBrk="0" fontAlgn="base" hangingPunct="0">
              <a:spcBef>
                <a:spcPct val="0"/>
              </a:spcBef>
              <a:spcAft>
                <a:spcPct val="0"/>
              </a:spcAft>
              <a:defRPr sz="3200" b="1">
                <a:solidFill>
                  <a:srgbClr val="C00000"/>
                </a:solidFill>
                <a:latin typeface="黑体" pitchFamily="49" charset="-122"/>
                <a:ea typeface="黑体" pitchFamily="49" charset="-122"/>
              </a:defRPr>
            </a:lvl5pPr>
            <a:lvl6pPr marL="457189" algn="ctr" rtl="0" eaLnBrk="1" fontAlgn="base" hangingPunct="1">
              <a:spcBef>
                <a:spcPct val="0"/>
              </a:spcBef>
              <a:spcAft>
                <a:spcPct val="0"/>
              </a:spcAft>
              <a:defRPr sz="2800" b="1">
                <a:solidFill>
                  <a:srgbClr val="133984"/>
                </a:solidFill>
                <a:latin typeface="Arial" charset="0"/>
                <a:ea typeface="华文新魏" pitchFamily="2" charset="-122"/>
              </a:defRPr>
            </a:lvl6pPr>
            <a:lvl7pPr marL="914377" algn="ctr" rtl="0" eaLnBrk="1" fontAlgn="base" hangingPunct="1">
              <a:spcBef>
                <a:spcPct val="0"/>
              </a:spcBef>
              <a:spcAft>
                <a:spcPct val="0"/>
              </a:spcAft>
              <a:defRPr sz="2800" b="1">
                <a:solidFill>
                  <a:srgbClr val="133984"/>
                </a:solidFill>
                <a:latin typeface="Arial" charset="0"/>
                <a:ea typeface="华文新魏" pitchFamily="2" charset="-122"/>
              </a:defRPr>
            </a:lvl7pPr>
            <a:lvl8pPr marL="1371566" algn="ctr" rtl="0" eaLnBrk="1" fontAlgn="base" hangingPunct="1">
              <a:spcBef>
                <a:spcPct val="0"/>
              </a:spcBef>
              <a:spcAft>
                <a:spcPct val="0"/>
              </a:spcAft>
              <a:defRPr sz="2800" b="1">
                <a:solidFill>
                  <a:srgbClr val="133984"/>
                </a:solidFill>
                <a:latin typeface="Arial" charset="0"/>
                <a:ea typeface="华文新魏" pitchFamily="2" charset="-122"/>
              </a:defRPr>
            </a:lvl8pPr>
            <a:lvl9pPr marL="1828754" algn="ctr" rtl="0" eaLnBrk="1" fontAlgn="base" hangingPunct="1">
              <a:spcBef>
                <a:spcPct val="0"/>
              </a:spcBef>
              <a:spcAft>
                <a:spcPct val="0"/>
              </a:spcAft>
              <a:defRPr sz="2800" b="1">
                <a:solidFill>
                  <a:srgbClr val="133984"/>
                </a:solidFill>
                <a:latin typeface="Arial" charset="0"/>
                <a:ea typeface="华文新魏" pitchFamily="2" charset="-122"/>
              </a:defRPr>
            </a:lvl9pPr>
          </a:lstStyle>
          <a:p>
            <a:r>
              <a:rPr lang="en-US" altLang="zh-CN" sz="2400" b="1" dirty="0">
                <a:solidFill>
                  <a:schemeClr val="tx1"/>
                </a:solidFill>
                <a:effectLst/>
                <a:latin typeface="Arial" panose="020B0604020202020204" pitchFamily="34" charset="0"/>
                <a:ea typeface="STKaiti" panose="02010600040101010101" pitchFamily="2" charset="-122"/>
                <a:cs typeface="Arial" panose="020B0604020202020204" pitchFamily="34" charset="0"/>
              </a:rPr>
              <a:t>Choco-Q: Commute Hamiltonian-based QAOA for</a:t>
            </a:r>
          </a:p>
          <a:p>
            <a:r>
              <a:rPr lang="en-US" altLang="zh-CN" sz="2400" b="1" dirty="0">
                <a:solidFill>
                  <a:schemeClr val="tx1"/>
                </a:solidFill>
                <a:effectLst/>
                <a:latin typeface="Arial" panose="020B0604020202020204" pitchFamily="34" charset="0"/>
                <a:ea typeface="STKaiti" panose="02010600040101010101" pitchFamily="2" charset="-122"/>
                <a:cs typeface="Arial" panose="020B0604020202020204" pitchFamily="34" charset="0"/>
              </a:rPr>
              <a:t>Constrained Binary Optimization</a:t>
            </a:r>
          </a:p>
        </p:txBody>
      </p:sp>
      <p:sp>
        <p:nvSpPr>
          <p:cNvPr id="9" name="页脚占位符 11">
            <a:extLst>
              <a:ext uri="{FF2B5EF4-FFF2-40B4-BE49-F238E27FC236}">
                <a16:creationId xmlns:a16="http://schemas.microsoft.com/office/drawing/2014/main" id="{88EA9763-605F-01C4-6423-D6033E87D337}"/>
              </a:ext>
            </a:extLst>
          </p:cNvPr>
          <p:cNvSpPr txBox="1">
            <a:spLocks/>
          </p:cNvSpPr>
          <p:nvPr/>
        </p:nvSpPr>
        <p:spPr>
          <a:xfrm>
            <a:off x="4038600" y="6258910"/>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latin typeface="Arial" panose="020B0604020202020204" pitchFamily="34" charset="0"/>
                <a:ea typeface="STKaiti" panose="02010600040101010101" pitchFamily="2" charset="-122"/>
                <a:cs typeface="Arial" panose="020B0604020202020204" pitchFamily="34" charset="0"/>
              </a:rPr>
              <a:t>HPCA 2025</a:t>
            </a:r>
            <a:endParaRPr kumimoji="1" lang="zh-CN" altLang="en-US" dirty="0">
              <a:latin typeface="Arial" panose="020B0604020202020204" pitchFamily="34" charset="0"/>
              <a:ea typeface="STKaiti" panose="02010600040101010101" pitchFamily="2" charset="-122"/>
              <a:cs typeface="Arial" panose="020B0604020202020204" pitchFamily="34" charset="0"/>
            </a:endParaRPr>
          </a:p>
        </p:txBody>
      </p:sp>
      <p:pic>
        <p:nvPicPr>
          <p:cNvPr id="10" name="图片 9">
            <a:extLst>
              <a:ext uri="{FF2B5EF4-FFF2-40B4-BE49-F238E27FC236}">
                <a16:creationId xmlns:a16="http://schemas.microsoft.com/office/drawing/2014/main" id="{4B185B06-7CDF-4AD0-69EF-48B4A690C248}"/>
              </a:ext>
            </a:extLst>
          </p:cNvPr>
          <p:cNvPicPr>
            <a:picLocks noChangeAspect="1"/>
          </p:cNvPicPr>
          <p:nvPr/>
        </p:nvPicPr>
        <p:blipFill>
          <a:blip r:embed="rId4"/>
          <a:stretch>
            <a:fillRect/>
          </a:stretch>
        </p:blipFill>
        <p:spPr>
          <a:xfrm>
            <a:off x="9398605" y="70093"/>
            <a:ext cx="2693189" cy="787517"/>
          </a:xfrm>
          <a:prstGeom prst="rect">
            <a:avLst/>
          </a:prstGeom>
        </p:spPr>
      </p:pic>
    </p:spTree>
    <p:extLst>
      <p:ext uri="{BB962C8B-B14F-4D97-AF65-F5344CB8AC3E}">
        <p14:creationId xmlns:p14="http://schemas.microsoft.com/office/powerpoint/2010/main" val="7838624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50772</TotalTime>
  <Words>2942</Words>
  <Application>Microsoft Macintosh PowerPoint</Application>
  <PresentationFormat>宽屏</PresentationFormat>
  <Paragraphs>292</Paragraphs>
  <Slides>32</Slides>
  <Notes>32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32</vt:i4>
      </vt:variant>
    </vt:vector>
  </HeadingPairs>
  <TitlesOfParts>
    <vt:vector size="43" baseType="lpstr">
      <vt:lpstr>等线</vt:lpstr>
      <vt:lpstr>STKaiti</vt:lpstr>
      <vt:lpstr>Microsoft YaHei</vt:lpstr>
      <vt:lpstr>Microsoft YaHei</vt:lpstr>
      <vt:lpstr>Inter</vt:lpstr>
      <vt:lpstr>Arial</vt:lpstr>
      <vt:lpstr>Cambria Math</vt:lpstr>
      <vt:lpstr>Menlo</vt:lpstr>
      <vt:lpstr>Times New Roman</vt:lpstr>
      <vt:lpstr>Verdana</vt:lpstr>
      <vt:lpstr>Office 主题​​</vt:lpstr>
      <vt:lpstr>PowerPoint 演示文稿</vt:lpstr>
      <vt:lpstr>Outline of Presentation</vt:lpstr>
      <vt:lpstr>Application of Constrained Binary Optimization</vt:lpstr>
      <vt:lpstr>Example:  Facility location Problem </vt:lpstr>
      <vt:lpstr>Classical Solving Methods</vt:lpstr>
      <vt:lpstr>Quantum approximation optimization algorithm</vt:lpstr>
      <vt:lpstr>QAOA for constrained optimization</vt:lpstr>
      <vt:lpstr>Limitations of Current Methods</vt:lpstr>
      <vt:lpstr>Limitations of Current Methods</vt:lpstr>
      <vt:lpstr>Outline of Presentation</vt:lpstr>
      <vt:lpstr>Heisenberg picture</vt:lpstr>
      <vt:lpstr>Heisenberg picture</vt:lpstr>
      <vt:lpstr>Commute Hamiltonian formulation</vt:lpstr>
      <vt:lpstr>Circuit Implementation</vt:lpstr>
      <vt:lpstr>Circuit Implementation</vt:lpstr>
      <vt:lpstr>Circuit Implementation</vt:lpstr>
      <vt:lpstr>Circuit Implementation</vt:lpstr>
      <vt:lpstr>Outline of Presentation</vt:lpstr>
      <vt:lpstr>Hamiltonian Serialization</vt:lpstr>
      <vt:lpstr>Hamiltonian Serialization</vt:lpstr>
      <vt:lpstr>Hamiltonian Decomposition</vt:lpstr>
      <vt:lpstr>Hamiltonian Decomposition</vt:lpstr>
      <vt:lpstr>Hamiltonian Decomposition</vt:lpstr>
      <vt:lpstr>Variable Elimination</vt:lpstr>
      <vt:lpstr>Outline of Presentation</vt:lpstr>
      <vt:lpstr>Experiment: benchmarks</vt:lpstr>
      <vt:lpstr>Noise-free Evaluation</vt:lpstr>
      <vt:lpstr>Evaluation on quantum computer</vt:lpstr>
      <vt:lpstr>Detailed evaluation of techniques</vt:lpstr>
      <vt:lpstr>Outline of Presentation</vt:lpstr>
      <vt:lpstr>API of Choco-Q</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谭 思危</dc:creator>
  <cp:lastModifiedBy>天尧 储</cp:lastModifiedBy>
  <cp:revision>506</cp:revision>
  <dcterms:created xsi:type="dcterms:W3CDTF">2023-01-12T04:25:34Z</dcterms:created>
  <dcterms:modified xsi:type="dcterms:W3CDTF">2025-02-26T03:25:03Z</dcterms:modified>
</cp:coreProperties>
</file>