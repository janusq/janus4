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8.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9.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notesSlides/notesSlide32.xml" ContentType="application/vnd.openxmlformats-officedocument.presentationml.notesSlide+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6"/>
  </p:notesMasterIdLst>
  <p:sldIdLst>
    <p:sldId id="350" r:id="rId2"/>
    <p:sldId id="380" r:id="rId3"/>
    <p:sldId id="357" r:id="rId4"/>
    <p:sldId id="360" r:id="rId5"/>
    <p:sldId id="361" r:id="rId6"/>
    <p:sldId id="362" r:id="rId7"/>
    <p:sldId id="381" r:id="rId8"/>
    <p:sldId id="363" r:id="rId9"/>
    <p:sldId id="385" r:id="rId10"/>
    <p:sldId id="386" r:id="rId11"/>
    <p:sldId id="364" r:id="rId12"/>
    <p:sldId id="393" r:id="rId13"/>
    <p:sldId id="394" r:id="rId14"/>
    <p:sldId id="365" r:id="rId15"/>
    <p:sldId id="366" r:id="rId16"/>
    <p:sldId id="367" r:id="rId17"/>
    <p:sldId id="382" r:id="rId18"/>
    <p:sldId id="368" r:id="rId19"/>
    <p:sldId id="369" r:id="rId20"/>
    <p:sldId id="370" r:id="rId21"/>
    <p:sldId id="371" r:id="rId22"/>
    <p:sldId id="372" r:id="rId23"/>
    <p:sldId id="383" r:id="rId24"/>
    <p:sldId id="373" r:id="rId25"/>
    <p:sldId id="374" r:id="rId26"/>
    <p:sldId id="375" r:id="rId27"/>
    <p:sldId id="376" r:id="rId28"/>
    <p:sldId id="377" r:id="rId29"/>
    <p:sldId id="378" r:id="rId30"/>
    <p:sldId id="379" r:id="rId31"/>
    <p:sldId id="384" r:id="rId32"/>
    <p:sldId id="390" r:id="rId33"/>
    <p:sldId id="392" r:id="rId34"/>
    <p:sldId id="391" r:id="rId3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F8F8"/>
    <a:srgbClr val="EE8C67"/>
    <a:srgbClr val="963E3E"/>
    <a:srgbClr val="F4AD93"/>
    <a:srgbClr val="F6FAFA"/>
    <a:srgbClr val="EBF7FC"/>
    <a:srgbClr val="BAE1A0"/>
    <a:srgbClr val="3E3ED2"/>
    <a:srgbClr val="623E3E"/>
    <a:srgbClr val="4A551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88" autoAdjust="0"/>
    <p:restoredTop sz="73639"/>
  </p:normalViewPr>
  <p:slideViewPr>
    <p:cSldViewPr snapToGrid="0" snapToObjects="1">
      <p:cViewPr varScale="1">
        <p:scale>
          <a:sx n="220" d="100"/>
          <a:sy n="220" d="100"/>
        </p:scale>
        <p:origin x="3560" y="17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None/>
            </a:pPr>
            <a:r>
              <a:rPr lang="en-US" sz="1800" dirty="0"/>
              <a:t>Hello everyone. I am </a:t>
            </a:r>
            <a:r>
              <a:rPr lang="en-US" sz="1800" dirty="0" err="1"/>
              <a:t>Liqiang</a:t>
            </a:r>
            <a:r>
              <a:rPr lang="en-US" sz="1800" dirty="0"/>
              <a:t> Lu from Zhejiang University. In Topic 7, I will present our experimental realization of the bucket-brigade quantum random-access memory, also called as QRAM. The main question today is how to implement and test QRAM on a real quantum device.</a:t>
            </a:r>
          </a:p>
        </p:txBody>
      </p:sp>
      <p:sp>
        <p:nvSpPr>
          <p:cNvPr id="4" name="灯片编号占位符 3"/>
          <p:cNvSpPr>
            <a:spLocks noGrp="1"/>
          </p:cNvSpPr>
          <p:nvPr>
            <p:ph type="sldNum" sz="quarter" idx="5"/>
          </p:nvPr>
        </p:nvSpPr>
        <p:spPr/>
        <p:txBody>
          <a:bodyPr/>
          <a:lstStyle/>
          <a:p>
            <a:pPr algn="l">
              <a:buNone/>
            </a:pPr>
            <a:r>
              <a:rPr lang="en-US" sz="1200"/>
              <a:t>1</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dirty="0"/>
              <a:t>The presentation follows five parts. I will begin with the background and challenges that make QRAM important. Then I will give an overview of the bucket-brigade QRAM mechanism. The third part explains QRAM optimization, including routing and circuit-depth reduction. After that, I will discuss the experiment, error propagation, and error mitigation. Finally, I will briefly introduce the API of QRAM, so the implementation can be connected to practical circuit construction and simulation.</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2</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Quantum computing uses superposition and entanglement to represent high-dimensional information, enabling up to exponential acceleration in domains such as database search, quantum machine learning, chemical simulation, and linear systems. The key point on this slide is the QRAM complexity requirement. Algorithms such as quantum principal component analysis and HHL need data access that scales close to polylog(N). Without QRAM, the loading of classical information can dominate the cost and hide the theoretical acceleration.</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3</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Classical RAM starts from a classical address. The address decoder activates one selected line in the memory cell array and reads out the corresponding classical data. Quantum RAM changes the interface: the address can be a quantum address, the memory remains classical, and the output becomes quantum data. That enables parallel loading of classical information into a quantum computer, which is the data-access model required by many quantum algorithms.</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4</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Here is the core idea from the Nature Physics work. A binary-tree QRAM uses auxiliary routing qubits to organize data access in a tree. The query address state enters the QRAM, an empty data bit is written through the selected path, and the pre-stored data information is read out. Because the path length scales with the tree depth, the complete quantum data read/write process can reach O(log N), breaking the O(N) data-access bottleneck of direct sequential loading.</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5</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备注占位符 2"/>
          <p:cNvSpPr>
            <a:spLocks noGrp="1"/>
          </p:cNvSpPr>
          <p:nvPr>
            <p:ph type="body" idx="1"/>
          </p:nvPr>
        </p:nvSpPr>
        <p:spPr>
          <a:xfrm>
            <a:off x="514350" y="4400550"/>
            <a:ext cx="4114800" cy="3600450"/>
          </a:xfrm>
          <a:prstGeom prst="rect">
            <a:avLst/>
          </a:prstGeom>
        </p:spPr>
        <p:txBody>
          <a:bodyPr>
            <a:normAutofit fontScale="95000" lnSpcReduction="10000"/>
          </a:bodyPr>
          <a:lstStyle/>
          <a:p>
            <a:pPr algn="l">
              <a:buNone/>
            </a:pPr>
            <a:r>
              <a:rPr lang="en-US" sz="1800"/>
              <a:t>The implementation faces challenges at both the theoretical level and the experimental level. The first theoretical issue is topology mismatch: the ideal QRAM is a binary tree, while the chip is a grid. The second issue is deep circuits, because direct mapping causes exponential depth growth. Experimentally, each quantum router requires high control over interactions among four qubits, and noise buildup can disrupt correct QRAM addressing. These constraints motivate the architecture and optimization choices in the next sections.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normAutofit fontScale="25000" lnSpcReduction="20000"/>
          </a:bodyPr>
          <a:lstStyle/>
          <a:p>
            <a:pPr algn="l">
              <a:buNone/>
            </a:pPr>
            <a:r>
              <a:rPr lang="en-US" sz="1800"/>
              <a:t>We have now covered why QRAM is needed and why real-device implementation is difficult. The next section gives the overview of QRAM. I will focus on the routing picture first, then build up the two-layer example step by step, and finally connect the routing scheme to data loading, data readout, and the complete implementation circuit.</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7</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In the bucket-brigade routing scheme, address-routing node qubits organize the access paths. For a routing node A in state |0&gt;, the data bus is directed to the left branch. The same rule applies to the nodes A0 and A1 in the lower layer. The important branching property is that the QRAM data-readout route is fully determined by the input address state stored in these routing nodes.</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8</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The complementary case is A = |1&gt;. In that case, the router sends the signal to the right branch. Together, A = |0&gt; and A = |1&gt; give the classical routing logic inside the binary tree. At this stage, the operation looks similar to a classical decision tree, but every routing node is implemented coherently, which allows the QRAM path to be controlled by a quantum address.</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9</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normAutofit fontScale="25000" lnSpcReduction="20000"/>
          </a:bodyPr>
          <a:lstStyle/>
          <a:p>
            <a:pPr algn="l">
              <a:buNone/>
            </a:pPr>
            <a:r>
              <a:rPr lang="en-US" sz="1800"/>
              <a:t>Now consider a superposition address, A = (|0&gt; + |1&gt;) over the two routing choices. The routing operation can route to both branches probabilistically and coherently. The QRAM address-routing branching property is essential for quantum algorithms: the data-readout route follows all address components in superposition, while the route of each component is still determined by the corresponding input address state.</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10</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altLang="zh-CN" sz="1800" dirty="0"/>
              <a:t>The 2-layer QRAM example makes the routing process concrete. We start with a 2-bit address and 4 data bits. In step1, we load the first address bit into the routing node and treat it as node A. The empty address-routing qubits in the second layer are prepared to receive the remaining address information. At this moment, the first bit chooses the upper-level branch of the binary tree.</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13</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BF9BE-22AA-1771-DA83-274A3756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6E093C-7059-4290-57EF-CCD2392028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6F1386-1D64-106D-F8D2-1252EDD0F66B}"/>
              </a:ext>
            </a:extLst>
          </p:cNvPr>
          <p:cNvSpPr>
            <a:spLocks noGrp="1"/>
          </p:cNvSpPr>
          <p:nvPr>
            <p:ph type="body" idx="1"/>
          </p:nvPr>
        </p:nvSpPr>
        <p:spPr/>
        <p:txBody>
          <a:bodyPr>
            <a:normAutofit fontScale="25000" lnSpcReduction="20000"/>
          </a:bodyPr>
          <a:lstStyle/>
          <a:p>
            <a:pPr algn="l">
              <a:buNone/>
            </a:pPr>
            <a:r>
              <a:rPr lang="en-US" altLang="zh-CN" sz="1800" dirty="0"/>
              <a:t>Next, the original a1 address bit is routed into A0 or A1 by a controlled-SWAP gate, according to the first address bit. This is step2, where the second address bit is loaded into the appropriate routing node. The operation preserves coherence, so when the first address bit is in superposition, the information in a1 is distributed coherently across the corresponding A0/A1 routing positions.</a:t>
            </a:r>
          </a:p>
        </p:txBody>
      </p:sp>
      <p:sp>
        <p:nvSpPr>
          <p:cNvPr id="4" name="Slide Number Placeholder 3">
            <a:extLst>
              <a:ext uri="{FF2B5EF4-FFF2-40B4-BE49-F238E27FC236}">
                <a16:creationId xmlns:a16="http://schemas.microsoft.com/office/drawing/2014/main" id="{06C4A7E7-9AF2-6F5D-A274-1EE2A12C917E}"/>
              </a:ext>
            </a:extLst>
          </p:cNvPr>
          <p:cNvSpPr>
            <a:spLocks noGrp="1"/>
          </p:cNvSpPr>
          <p:nvPr>
            <p:ph type="sldNum" sz="quarter" idx="10"/>
          </p:nvPr>
        </p:nvSpPr>
        <p:spPr/>
        <p:txBody>
          <a:bodyPr>
            <a:normAutofit fontScale="25000" lnSpcReduction="20000"/>
          </a:bodyPr>
          <a:lstStyle/>
          <a:p>
            <a:pPr algn="l">
              <a:buNone/>
            </a:pPr>
            <a:r>
              <a:rPr lang="en-US" sz="1200"/>
              <a:t>13</a:t>
            </a:r>
          </a:p>
        </p:txBody>
      </p:sp>
    </p:spTree>
    <p:extLst>
      <p:ext uri="{BB962C8B-B14F-4D97-AF65-F5344CB8AC3E}">
        <p14:creationId xmlns:p14="http://schemas.microsoft.com/office/powerpoint/2010/main" val="12114935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7F415-96E4-7F8B-95DE-637978121A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251243-1664-7ABB-AE80-A656C04E48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FA3D4F-D7A3-5F92-6FA4-917F6BD6D140}"/>
              </a:ext>
            </a:extLst>
          </p:cNvPr>
          <p:cNvSpPr>
            <a:spLocks noGrp="1"/>
          </p:cNvSpPr>
          <p:nvPr>
            <p:ph type="body" idx="1"/>
          </p:nvPr>
        </p:nvSpPr>
        <p:spPr/>
        <p:txBody>
          <a:bodyPr>
            <a:normAutofit fontScale="25000" lnSpcReduction="20000"/>
          </a:bodyPr>
          <a:lstStyle/>
          <a:p>
            <a:pPr algn="l">
              <a:buNone/>
            </a:pPr>
            <a:r>
              <a:rPr lang="en-US" sz="1800" dirty="0"/>
              <a:t>Address routing completed means the path information is now stored in the tree. The first address bit has selected the upper branch, and the second address bit has selected the lower branch within that branch. At this point, QRAM can determine the access path corresponding to the input address. The two-layer QRAM therefore maps a 2-bit address to one of four data locations, or to a coherent superposition of those locations.</a:t>
            </a:r>
          </a:p>
        </p:txBody>
      </p:sp>
      <p:sp>
        <p:nvSpPr>
          <p:cNvPr id="4" name="Slide Number Placeholder 3">
            <a:extLst>
              <a:ext uri="{FF2B5EF4-FFF2-40B4-BE49-F238E27FC236}">
                <a16:creationId xmlns:a16="http://schemas.microsoft.com/office/drawing/2014/main" id="{9E55911A-397A-F635-777D-A874B9BFA48D}"/>
              </a:ext>
            </a:extLst>
          </p:cNvPr>
          <p:cNvSpPr>
            <a:spLocks noGrp="1"/>
          </p:cNvSpPr>
          <p:nvPr>
            <p:ph type="sldNum" sz="quarter" idx="10"/>
          </p:nvPr>
        </p:nvSpPr>
        <p:spPr/>
        <p:txBody>
          <a:bodyPr>
            <a:normAutofit fontScale="25000" lnSpcReduction="20000"/>
          </a:bodyPr>
          <a:lstStyle/>
          <a:p>
            <a:pPr algn="l">
              <a:buNone/>
            </a:pPr>
            <a:r>
              <a:rPr lang="en-US" sz="1200"/>
              <a:t>13</a:t>
            </a:r>
          </a:p>
        </p:txBody>
      </p:sp>
    </p:spTree>
    <p:extLst>
      <p:ext uri="{BB962C8B-B14F-4D97-AF65-F5344CB8AC3E}">
        <p14:creationId xmlns:p14="http://schemas.microsoft.com/office/powerpoint/2010/main" val="3570722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The next issue is data access. Most algorithms require the address state to remain unchanged during readout, so the address-routing nodes cannot load data directly. The solution is to pair data-routing qubits with address-routing qubits. By introducing data-routing qubits, the QRAM can route the data bus along the selected path while keeping the address state available for retrieval at the end of the query.</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14</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With the data-routing qubits in place, we can preload and retrieve the data. During Data Readout, state preparation and CZ gates preload the QRAM data onto |+&gt; data-routing qubits. The pre-stored QRAM data are encoded before the query. During Data Retrieval, inverse gates return the accessed data to the data bus as a quantum state. This completes the read path from stored classical data to quantum output.</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15</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The complete QRAM implementation circuit combines the previous steps. The query address-state input enters the routing network, the blank target data qubit receives the accessed value, and the pre-stored data are read through the binary-tree routing structure. The important system-level claim is complete quantum data read/write in O(log N). With the overview established, we can now discuss how to make this circuit shallow enough for a real superconducting device.</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16</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We now move from the QRAM overview to QRAM optimization. The goal of this part is to reduce the resource cost of the routing architecture. I will first explain teleportation-based routing, which addresses the topology and communication problem, and then introduce the subspace-approximate routing architecture, which reduces the depth of the router circuit itself.</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17</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None/>
            </a:pPr>
            <a:r>
              <a:rPr lang="en-US" sz="1800"/>
              <a:t>The first optimization is teleportation-based routing implementation. In Traditional SWAP routing, the routing path length grows exponentially with the number of QRAM layers, creating exponential circuit-depth growth. Teleportation routing changes the communication pattern. With a self-similar architecture mapping, long-distance routing can be converted into constant-depth teleportation steps, so the topology overhead no longer dominates the QRAM circuit depth.</a:t>
            </a:r>
          </a:p>
        </p:txBody>
      </p:sp>
      <p:sp>
        <p:nvSpPr>
          <p:cNvPr id="4" name="灯片编号占位符 3"/>
          <p:cNvSpPr>
            <a:spLocks noGrp="1"/>
          </p:cNvSpPr>
          <p:nvPr>
            <p:ph type="sldNum" sz="quarter" idx="5"/>
          </p:nvPr>
        </p:nvSpPr>
        <p:spPr/>
        <p:txBody>
          <a:bodyPr/>
          <a:lstStyle/>
          <a:p>
            <a:pPr algn="l">
              <a:buNone/>
            </a:pPr>
            <a:r>
              <a:rPr lang="en-US" sz="1200"/>
              <a:t>18</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a:p>
        </p:txBody>
      </p:sp>
      <p:sp>
        <p:nvSpPr>
          <p:cNvPr id="3" name="备注占位符 2"/>
          <p:cNvSpPr>
            <a:spLocks noGrp="1"/>
          </p:cNvSpPr>
          <p:nvPr>
            <p:ph type="body" idx="1"/>
          </p:nvPr>
        </p:nvSpPr>
        <p:spPr/>
        <p:txBody>
          <a:bodyPr/>
          <a:lstStyle/>
          <a:p>
            <a:pPr algn="l">
              <a:buNone/>
            </a:pPr>
            <a:r>
              <a:rPr lang="en-US" sz="1800"/>
              <a:t>The evidence on this page shows that the teleportation component is high quality. Experiments on different quantum basis states give teleportation fidelity around 0.99, and the depth curve shows that depth remains linear as QRAM layers increase. In contrast, the SWAP-based routing architecture grows much faster. This validates teleportation as a practical tool for routing implementation on the chip.</a:t>
            </a:r>
          </a:p>
        </p:txBody>
      </p:sp>
      <p:sp>
        <p:nvSpPr>
          <p:cNvPr id="4" name="灯片编号占位符 3"/>
          <p:cNvSpPr>
            <a:spLocks noGrp="1"/>
          </p:cNvSpPr>
          <p:nvPr>
            <p:ph type="sldNum" sz="quarter" idx="5"/>
          </p:nvPr>
        </p:nvSpPr>
        <p:spPr/>
        <p:txBody>
          <a:bodyPr/>
          <a:lstStyle/>
          <a:p>
            <a:pPr algn="l">
              <a:buNone/>
            </a:pPr>
            <a:r>
              <a:rPr lang="en-US" sz="1200"/>
              <a:t>19</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None/>
            </a:pPr>
            <a:r>
              <a:rPr lang="en-US" sz="1800"/>
              <a:t>The baseline router is the MIT implementation based on the CSWAP, or Fredkin, architecture. A Fredkin gate decomposition requires 8 CNOT gates, and the full routing construction shown here reaches a total of 16 CX gates and 14 T gates. That cost is high for superconducting hardware, where two-qubit gates are the main source of error. Reducing the CSWAP-style router depth is therefore a direct route to improving QRAM fidelity.</a:t>
            </a:r>
          </a:p>
        </p:txBody>
      </p:sp>
      <p:sp>
        <p:nvSpPr>
          <p:cNvPr id="4" name="灯片编号占位符 3"/>
          <p:cNvSpPr>
            <a:spLocks noGrp="1"/>
          </p:cNvSpPr>
          <p:nvPr>
            <p:ph type="sldNum" sz="quarter" idx="5"/>
          </p:nvPr>
        </p:nvSpPr>
        <p:spPr/>
        <p:txBody>
          <a:bodyPr/>
          <a:lstStyle/>
          <a:p>
            <a:pPr algn="l">
              <a:buNone/>
            </a:pPr>
            <a:r>
              <a:rPr lang="en-US" sz="1200"/>
              <a:t>20</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备注占位符 2"/>
          <p:cNvSpPr>
            <a:spLocks noGrp="1"/>
          </p:cNvSpPr>
          <p:nvPr>
            <p:ph type="body" idx="1"/>
          </p:nvPr>
        </p:nvSpPr>
        <p:spPr>
          <a:xfrm>
            <a:off x="514350" y="4400550"/>
            <a:ext cx="4114800" cy="3600450"/>
          </a:xfrm>
          <a:prstGeom prst="rect">
            <a:avLst/>
          </a:prstGeom>
        </p:spPr>
        <p:txBody>
          <a:bodyPr>
            <a:normAutofit fontScale="95000"/>
          </a:bodyPr>
          <a:lstStyle/>
          <a:p>
            <a:pPr algn="l">
              <a:buNone/>
            </a:pPr>
            <a:r>
              <a:rPr lang="en-US" sz="1800"/>
              <a:t>We propose a subspace-approximate routing architecture. The key observation is that QRAM routing only needs to satisfy functional requirements on the relevant input and output subspace. Similar to program synthesis, we write constraint equations for the unitary matrix, search for a unitary matrix satisfying the constraints, and choose the shallowest unitary circuit. In this construction, the router can be implemented with a total of 10 CX gates.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71450" y="1143000"/>
            <a:ext cx="5486400" cy="3086100"/>
          </a:xfrm>
          <a:prstGeom prst="rect">
            <a:avLst/>
          </a:prstGeom>
          <a:noFill/>
          <a:ln w="12700">
            <a:solidFill>
              <a:prstClr val="black"/>
            </a:solidFill>
          </a:ln>
        </p:spPr>
        <p:txBody>
          <a:bodyPr/>
          <a:lstStyle/>
          <a:p>
            <a:endParaRPr/>
          </a:p>
        </p:txBody>
      </p:sp>
      <p:sp>
        <p:nvSpPr>
          <p:cNvPr id="3" name="备注占位符 2"/>
          <p:cNvSpPr>
            <a:spLocks noGrp="1"/>
          </p:cNvSpPr>
          <p:nvPr>
            <p:ph type="body" idx="1"/>
          </p:nvPr>
        </p:nvSpPr>
        <p:spPr>
          <a:xfrm>
            <a:off x="514350" y="4400550"/>
            <a:ext cx="4114800" cy="3600450"/>
          </a:xfrm>
          <a:prstGeom prst="rect">
            <a:avLst/>
          </a:prstGeom>
        </p:spPr>
        <p:txBody>
          <a:bodyPr>
            <a:normAutofit fontScale="95000"/>
          </a:bodyPr>
          <a:lstStyle/>
          <a:p>
            <a:pPr algn="l">
              <a:buNone/>
            </a:pPr>
            <a:r>
              <a:rPr lang="en-US" sz="1800"/>
              <a:t>The real-device results show why this optimization matters. Compared with CSWAP, this work reduces routing depth and improves fidelity across the tested topologies. In the first topology, the depth decreases from 16 to 10 and the fidelity increases from 0.8529 to 0.8935. In the second topology, the depth decreases from 20 to 12 and the fidelity increases from 0.8218 to 0.8848. Overall, the depth is reduced by more than 30%.</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normAutofit fontScale="25000" lnSpcReduction="20000"/>
          </a:bodyPr>
          <a:lstStyle/>
          <a:p>
            <a:pPr algn="l">
              <a:buNone/>
            </a:pPr>
            <a:r>
              <a:rPr lang="en-US" sz="1800"/>
              <a:t>With the routing optimizations in place, we can move to the experiment section. The next section covers the experimental platform, the error propagation mechanism study, the error mitigation method, and the final experimental analysis. The focus is on whether the optimized QRAM architecture remains meaningful under realistic noise on a superconducting processor.</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23</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None/>
            </a:pPr>
            <a:r>
              <a:rPr lang="en-US" sz="1800"/>
              <a:t>The experimental platform is a high-precision chip. The device contains a 127-qubit chip, and 16 qubits are selected for the QRAM experiment. The gate performance is also central here: single-qubit gates reach 99.94%, while two-qubit gates reach 99.6%. These numbers provide the hardware basis for implementing the routing circuits, teleportation, tomography, and error mitigation protocol used in the experiment.</a:t>
            </a:r>
          </a:p>
        </p:txBody>
      </p:sp>
      <p:sp>
        <p:nvSpPr>
          <p:cNvPr id="4" name="灯片编号占位符 3"/>
          <p:cNvSpPr>
            <a:spLocks noGrp="1"/>
          </p:cNvSpPr>
          <p:nvPr>
            <p:ph type="sldNum" sz="quarter" idx="5"/>
          </p:nvPr>
        </p:nvSpPr>
        <p:spPr/>
        <p:txBody>
          <a:bodyPr/>
          <a:lstStyle/>
          <a:p>
            <a:pPr algn="l">
              <a:buNone/>
            </a:pPr>
            <a:r>
              <a:rPr lang="en-US" sz="1200"/>
              <a:t>24</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备注占位符 2"/>
          <p:cNvSpPr>
            <a:spLocks noGrp="1"/>
          </p:cNvSpPr>
          <p:nvPr>
            <p:ph type="body" idx="1"/>
          </p:nvPr>
        </p:nvSpPr>
        <p:spPr>
          <a:xfrm>
            <a:off x="514350" y="4400550"/>
            <a:ext cx="4114800" cy="3600450"/>
          </a:xfrm>
          <a:prstGeom prst="rect">
            <a:avLst/>
          </a:prstGeom>
        </p:spPr>
        <p:txBody>
          <a:bodyPr>
            <a:normAutofit fontScale="95000"/>
          </a:bodyPr>
          <a:lstStyle/>
          <a:p>
            <a:pPr algn="l">
              <a:buNone/>
            </a:pPr>
            <a:r>
              <a:rPr lang="en-US" sz="1800"/>
              <a:t>To understand the error propagation mechanism, we inject errors at different positions and observe how final fidelity changes with error rate. The core idea is to inject noise into third-layer routing addresses and compare the response of the queried branch with other branches. The experimental conclusion shown here is that noise on the queried branch has the largest impact on fidelity, revealing the spatial structure of error propagation in QRAM.</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71450" y="1143000"/>
            <a:ext cx="5486400" cy="3086100"/>
          </a:xfrm>
          <a:prstGeom prst="rect">
            <a:avLst/>
          </a:prstGeom>
          <a:noFill/>
          <a:ln w="12700">
            <a:solidFill>
              <a:prstClr val="black"/>
            </a:solidFill>
          </a:ln>
        </p:spPr>
        <p:txBody>
          <a:bodyPr/>
          <a:lstStyle/>
          <a:p>
            <a:endParaRPr/>
          </a:p>
        </p:txBody>
      </p:sp>
      <p:sp>
        <p:nvSpPr>
          <p:cNvPr id="3" name="备注占位符 2"/>
          <p:cNvSpPr>
            <a:spLocks noGrp="1"/>
          </p:cNvSpPr>
          <p:nvPr>
            <p:ph type="body" idx="1"/>
          </p:nvPr>
        </p:nvSpPr>
        <p:spPr>
          <a:xfrm>
            <a:off x="514350" y="4400550"/>
            <a:ext cx="4114800" cy="3600450"/>
          </a:xfrm>
          <a:prstGeom prst="rect">
            <a:avLst/>
          </a:prstGeom>
        </p:spPr>
        <p:txBody>
          <a:bodyPr>
            <a:normAutofit fontScale="95000"/>
          </a:bodyPr>
          <a:lstStyle/>
          <a:p>
            <a:pPr algn="l">
              <a:buNone/>
            </a:pPr>
            <a:r>
              <a:rPr lang="en-US" sz="1800"/>
              <a:t>The error mitigation method uses the router qubits as indicators of wrong routing results. After the query, we post-select readout results and discard outcomes equal to 1 on the queried branch. The slide also shows the scaling rule: the effective post-selection ratio drops linearly with QRAM layers, and only the first N layers need post-selection. This keeps the mitigation protocol aligned with the QRAM routing structure.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a:p>
        </p:txBody>
      </p:sp>
      <p:sp>
        <p:nvSpPr>
          <p:cNvPr id="3" name="备注占位符 2"/>
          <p:cNvSpPr>
            <a:spLocks noGrp="1"/>
          </p:cNvSpPr>
          <p:nvPr>
            <p:ph type="body" idx="1"/>
          </p:nvPr>
        </p:nvSpPr>
        <p:spPr/>
        <p:txBody>
          <a:bodyPr/>
          <a:lstStyle/>
          <a:p>
            <a:pPr algn="l">
              <a:buNone/>
            </a:pPr>
            <a:r>
              <a:rPr lang="en-US" sz="1800"/>
              <a:t>The implementation effect is clear: fidelity greatly improved after mitigation. The comparison between queried and unqueried branches shows that mitigating errors on the queried branch improves fidelity more significantly. This agrees with the error propagation study, because errors on the active access path are more likely to reach the output state. The result gives both a practical error mitigation method and a diagnostic tool for identifying the most harmful branch errors.</a:t>
            </a:r>
          </a:p>
        </p:txBody>
      </p:sp>
      <p:sp>
        <p:nvSpPr>
          <p:cNvPr id="4" name="灯片编号占位符 3"/>
          <p:cNvSpPr>
            <a:spLocks noGrp="1"/>
          </p:cNvSpPr>
          <p:nvPr>
            <p:ph type="sldNum" sz="quarter" idx="5"/>
          </p:nvPr>
        </p:nvSpPr>
        <p:spPr/>
        <p:txBody>
          <a:bodyPr/>
          <a:lstStyle/>
          <a:p>
            <a:pPr algn="l">
              <a:buNone/>
            </a:pPr>
            <a:r>
              <a:rPr lang="en-US" sz="1200"/>
              <a:t>27</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a:p>
        </p:txBody>
      </p:sp>
      <p:sp>
        <p:nvSpPr>
          <p:cNvPr id="3" name="备注占位符 2"/>
          <p:cNvSpPr>
            <a:spLocks noGrp="1"/>
          </p:cNvSpPr>
          <p:nvPr>
            <p:ph type="body" idx="1"/>
          </p:nvPr>
        </p:nvSpPr>
        <p:spPr/>
        <p:txBody>
          <a:bodyPr/>
          <a:lstStyle/>
          <a:p>
            <a:pPr algn="l">
              <a:buNone/>
            </a:pPr>
            <a:r>
              <a:rPr lang="en-US" sz="1800"/>
              <a:t>The experimental analysis combines error propagation and effective-data-ratio measurements to evaluate scalability. Error propagation tells us where noise enters the final query result, while the effective-data-ratio analysis tells us how much data remain after post-selection. Together, these measurements show that the bucket-brigade QRAM architecture has a localized error structure, which supports scalability under realistic noise.</a:t>
            </a:r>
          </a:p>
        </p:txBody>
      </p:sp>
      <p:sp>
        <p:nvSpPr>
          <p:cNvPr id="4" name="灯片编号占位符 3"/>
          <p:cNvSpPr>
            <a:spLocks noGrp="1"/>
          </p:cNvSpPr>
          <p:nvPr>
            <p:ph type="sldNum" sz="quarter" idx="5"/>
          </p:nvPr>
        </p:nvSpPr>
        <p:spPr/>
        <p:txBody>
          <a:bodyPr/>
          <a:lstStyle/>
          <a:p>
            <a:pPr algn="l">
              <a:buNone/>
            </a:pPr>
            <a:r>
              <a:rPr lang="en-US" sz="1200"/>
              <a:t>28</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71450" y="1143000"/>
            <a:ext cx="5486400" cy="3086100"/>
          </a:xfrm>
          <a:prstGeom prst="rect">
            <a:avLst/>
          </a:prstGeom>
          <a:noFill/>
          <a:ln w="12700">
            <a:solidFill>
              <a:prstClr val="black"/>
            </a:solidFill>
          </a:ln>
        </p:spPr>
        <p:txBody>
          <a:bodyPr/>
          <a:lstStyle/>
          <a:p>
            <a:endParaRPr/>
          </a:p>
        </p:txBody>
      </p:sp>
      <p:sp>
        <p:nvSpPr>
          <p:cNvPr id="3" name="备注占位符 2"/>
          <p:cNvSpPr>
            <a:spLocks noGrp="1"/>
          </p:cNvSpPr>
          <p:nvPr>
            <p:ph type="body" idx="1"/>
          </p:nvPr>
        </p:nvSpPr>
        <p:spPr>
          <a:xfrm>
            <a:off x="514350" y="4400550"/>
            <a:ext cx="4114800" cy="3600450"/>
          </a:xfrm>
          <a:prstGeom prst="rect">
            <a:avLst/>
          </a:prstGeom>
        </p:spPr>
        <p:txBody>
          <a:bodyPr>
            <a:normAutofit fontScale="95000"/>
          </a:bodyPr>
          <a:lstStyle/>
          <a:p>
            <a:pPr algn="l">
              <a:buNone/>
            </a:pPr>
            <a:r>
              <a:rPr lang="en-US" sz="1800"/>
              <a:t>This slide extends the analysis to scalable, high-fidelity consecutive QRAM queries. The experimental setup repeats QRAM operations over multiple query rounds. The main observation is that fidelity remains stable over multiple query rounds, while the effective data ratio decreases logarithmically. That trend is important because practical algorithms may need repeated data access, so QRAM must support consecutive queries instead of a single isolated readout.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a:p>
        </p:txBody>
      </p:sp>
      <p:sp>
        <p:nvSpPr>
          <p:cNvPr id="3" name="备注占位符 2"/>
          <p:cNvSpPr>
            <a:spLocks noGrp="1"/>
          </p:cNvSpPr>
          <p:nvPr>
            <p:ph type="body" idx="1"/>
          </p:nvPr>
        </p:nvSpPr>
        <p:spPr/>
        <p:txBody>
          <a:bodyPr/>
          <a:lstStyle/>
          <a:p>
            <a:pPr algn="l">
              <a:buNone/>
            </a:pPr>
            <a:r>
              <a:rPr lang="en-US" sz="1800"/>
              <a:t>In summary, the main contributions are a first QRAM implementation on superconducting hardware, together with noise-mechanism analysis. The key issue of exponential depth is addressed by teleportation routing, which changes exponential depth into linear depth, and by subspace routing, which further reduces depth by over 30%. The key issue of noise disrupting addressing results is addressed by QRAM branch noise analysis and error mitigation, improving fidelity by over 20%.</a:t>
            </a:r>
          </a:p>
        </p:txBody>
      </p:sp>
      <p:sp>
        <p:nvSpPr>
          <p:cNvPr id="4" name="灯片编号占位符 3"/>
          <p:cNvSpPr>
            <a:spLocks noGrp="1"/>
          </p:cNvSpPr>
          <p:nvPr>
            <p:ph type="sldNum" sz="quarter" idx="5"/>
          </p:nvPr>
        </p:nvSpPr>
        <p:spPr/>
        <p:txBody>
          <a:bodyPr/>
          <a:lstStyle/>
          <a:p>
            <a:pPr algn="l">
              <a:buNone/>
            </a:pPr>
            <a:r>
              <a:rPr lang="en-US" sz="1200"/>
              <a:t>30</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After the scientific summary, I will close with the API of QRAM. The purpose of this final part is to connect the experimental and architectural ideas to a usable programming interface. We will look at how to configure a QRAM instance, construct a bucket-brigade QRAM circuit, inspect resources, query one classical address, and simulate the QRAM readout.</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31</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The API of QRAM starts from three basic operations. First, configure QRAM instance parameters, such as the address size, memory content, and routing strategy. Second, construct bucket-brigade QRAM circuit objects that implement the routing and data readout logic. Third, inspect resources, including circuit depth, gate counts, and qubit usage. These API functions make the architecture concrete for compilation and benchmarking.</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32</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The next API step is execution. We query one classical address and simulate QRAM readout. The expected data field records what should be returned from the memory, and the query result shows the simulated output. This is the practical loop needed for testing: build the QRAM circuit, run the query, compare expected data with query result, and use the mismatch to debug routing or noise assumptions.</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33</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None/>
            </a:pPr>
            <a:r>
              <a:rPr lang="en-US" sz="1800"/>
              <a:t>Thanks for listening. The main message is that experimental realization of the bucket-brigade quantum random access memory is now possible on superconducting hardware when routing, circuit depth, and error mitigation are designed together. I would be happy to discuss the QRAM implementation, the Nature Physics results, and the API workflow in more detail.</a:t>
            </a:r>
          </a:p>
        </p:txBody>
      </p:sp>
      <p:sp>
        <p:nvSpPr>
          <p:cNvPr id="4" name="灯片编号占位符 3"/>
          <p:cNvSpPr>
            <a:spLocks noGrp="1"/>
          </p:cNvSpPr>
          <p:nvPr>
            <p:ph type="sldNum" sz="quarter" idx="5"/>
          </p:nvPr>
        </p:nvSpPr>
        <p:spPr/>
        <p:txBody>
          <a:bodyPr/>
          <a:lstStyle/>
          <a:p>
            <a:pPr algn="l">
              <a:buNone/>
            </a:pPr>
            <a:r>
              <a:rPr lang="en-US" sz="1200"/>
              <a:t>34</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EFAULT">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矩形: 圆角 1"/>
          <p:cNvSpPr/>
          <p:nvPr userDrawn="1"/>
        </p:nvSpPr>
        <p:spPr>
          <a:xfrm>
            <a:off x="8479536" y="4796478"/>
            <a:ext cx="504444" cy="263097"/>
          </a:xfrm>
          <a:prstGeom prst="roundRect">
            <a:avLst/>
          </a:prstGeom>
          <a:solidFill>
            <a:schemeClr val="accent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FAE4CEF0-7369-468D-B736-DE24AE3B939F}" type="slidenum">
              <a:rPr lang="zh-CN" altLang="en-US" sz="1400" smtClean="0"/>
              <a:t>‹#›</a:t>
            </a:fld>
            <a:endParaRPr lang="zh-CN" altLang="en-US" sz="1400" dirty="0"/>
          </a:p>
        </p:txBody>
      </p:sp>
      <p:pic>
        <p:nvPicPr>
          <p:cNvPr id="6" name="图片 5"/>
          <p:cNvPicPr>
            <a:picLocks noChangeAspect="1"/>
          </p:cNvPicPr>
          <p:nvPr userDrawn="1"/>
        </p:nvPicPr>
        <p:blipFill>
          <a:blip r:embed="rId3"/>
          <a:stretch>
            <a:fillRect/>
          </a:stretch>
        </p:blipFill>
        <p:spPr>
          <a:xfrm>
            <a:off x="7410650" y="297197"/>
            <a:ext cx="1497262" cy="409407"/>
          </a:xfrm>
          <a:prstGeom prst="rect">
            <a:avLst/>
          </a:prstGeom>
        </p:spPr>
      </p:pic>
      <p:sp>
        <p:nvSpPr>
          <p:cNvPr id="3" name="标题 2"/>
          <p:cNvSpPr>
            <a:spLocks noGrp="1"/>
          </p:cNvSpPr>
          <p:nvPr>
            <p:ph type="title"/>
          </p:nvPr>
        </p:nvSpPr>
        <p:spPr>
          <a:xfrm>
            <a:off x="282805" y="261759"/>
            <a:ext cx="4911364" cy="409407"/>
          </a:xfrm>
          <a:prstGeom prst="rect">
            <a:avLst/>
          </a:prstGeom>
        </p:spPr>
        <p:txBody>
          <a:bodyPr/>
          <a:lstStyle>
            <a:lvl1pPr algn="l">
              <a:defRPr sz="2400" b="1">
                <a:solidFill>
                  <a:schemeClr val="bg1"/>
                </a:solidFill>
                <a:latin typeface="+mn-ea"/>
                <a:ea typeface="+mn-ea"/>
              </a:defRPr>
            </a:lvl1pPr>
          </a:lstStyle>
          <a:p>
            <a:r>
              <a:rPr lang="zh-CN" altLang="en-US" dirty="0"/>
              <a:t>单击此处编辑母版标题样式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EFAULT">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矩形: 圆角 1"/>
          <p:cNvSpPr/>
          <p:nvPr userDrawn="1"/>
        </p:nvSpPr>
        <p:spPr>
          <a:xfrm>
            <a:off x="8479536" y="4796478"/>
            <a:ext cx="504444" cy="263097"/>
          </a:xfrm>
          <a:prstGeom prst="roundRect">
            <a:avLst/>
          </a:prstGeom>
          <a:solidFill>
            <a:schemeClr val="accent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FAE4CEF0-7369-468D-B736-DE24AE3B939F}" type="slidenum">
              <a:rPr lang="zh-CN" altLang="en-US" sz="1400" smtClean="0"/>
              <a:t>‹#›</a:t>
            </a:fld>
            <a:endParaRPr lang="zh-CN" altLang="en-US" sz="1400" dirty="0"/>
          </a:p>
        </p:txBody>
      </p:sp>
      <p:pic>
        <p:nvPicPr>
          <p:cNvPr id="6" name="图片 5"/>
          <p:cNvPicPr>
            <a:picLocks noChangeAspect="1"/>
          </p:cNvPicPr>
          <p:nvPr userDrawn="1"/>
        </p:nvPicPr>
        <p:blipFill>
          <a:blip r:embed="rId3"/>
          <a:stretch>
            <a:fillRect/>
          </a:stretch>
        </p:blipFill>
        <p:spPr>
          <a:xfrm>
            <a:off x="7410650" y="297197"/>
            <a:ext cx="1497262" cy="409407"/>
          </a:xfrm>
          <a:prstGeom prst="rect">
            <a:avLst/>
          </a:prstGeom>
        </p:spPr>
      </p:pic>
      <p:sp>
        <p:nvSpPr>
          <p:cNvPr id="7" name="矩形: 圆角 6"/>
          <p:cNvSpPr/>
          <p:nvPr userDrawn="1"/>
        </p:nvSpPr>
        <p:spPr>
          <a:xfrm>
            <a:off x="225552" y="956626"/>
            <a:ext cx="8727948" cy="438115"/>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圆角 7"/>
          <p:cNvSpPr/>
          <p:nvPr userDrawn="1"/>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bg1"/>
              </a:solidFill>
            </a:endParaRPr>
          </a:p>
        </p:txBody>
      </p:sp>
      <p:sp>
        <p:nvSpPr>
          <p:cNvPr id="17" name="文本占位符 16"/>
          <p:cNvSpPr>
            <a:spLocks noGrp="1"/>
          </p:cNvSpPr>
          <p:nvPr>
            <p:ph type="body" sz="quarter" idx="10"/>
          </p:nvPr>
        </p:nvSpPr>
        <p:spPr>
          <a:xfrm>
            <a:off x="1984375" y="994221"/>
            <a:ext cx="6683375" cy="358103"/>
          </a:xfrm>
          <a:prstGeom prst="rect">
            <a:avLst/>
          </a:prstGeom>
        </p:spPr>
        <p:txBody>
          <a:bodyPr/>
          <a:lstStyle>
            <a:lvl1pPr marL="0" indent="0" algn="ctr">
              <a:buNone/>
              <a:defRPr sz="1800" b="1"/>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单击此处编辑母版文本样式</a:t>
            </a:r>
          </a:p>
        </p:txBody>
      </p:sp>
      <p:sp>
        <p:nvSpPr>
          <p:cNvPr id="18" name="标题 17"/>
          <p:cNvSpPr>
            <a:spLocks noGrp="1"/>
          </p:cNvSpPr>
          <p:nvPr>
            <p:ph type="title"/>
          </p:nvPr>
        </p:nvSpPr>
        <p:spPr>
          <a:xfrm>
            <a:off x="280494" y="265212"/>
            <a:ext cx="4951382" cy="431966"/>
          </a:xfrm>
          <a:prstGeom prst="rect">
            <a:avLst/>
          </a:prstGeom>
        </p:spPr>
        <p:txBody>
          <a:bodyPr/>
          <a:lstStyle>
            <a:lvl1pPr algn="l">
              <a:defRPr sz="2400" b="1">
                <a:solidFill>
                  <a:schemeClr val="bg1"/>
                </a:solidFill>
                <a:latin typeface="+mn-ea"/>
                <a:ea typeface="+mn-ea"/>
              </a:defRPr>
            </a:lvl1pPr>
          </a:lstStyle>
          <a:p>
            <a:r>
              <a:rPr lang="zh-CN" altLang="en-US"/>
              <a:t>单击此处编辑母版标题样式</a:t>
            </a:r>
          </a:p>
        </p:txBody>
      </p:sp>
      <p:sp>
        <p:nvSpPr>
          <p:cNvPr id="20" name="文本占位符 19"/>
          <p:cNvSpPr>
            <a:spLocks noGrp="1"/>
          </p:cNvSpPr>
          <p:nvPr>
            <p:ph type="body" sz="quarter" idx="11"/>
          </p:nvPr>
        </p:nvSpPr>
        <p:spPr>
          <a:xfrm>
            <a:off x="280988" y="993775"/>
            <a:ext cx="1109662" cy="358775"/>
          </a:xfrm>
          <a:prstGeom prst="rect">
            <a:avLst/>
          </a:prstGeom>
        </p:spPr>
        <p:txBody>
          <a:bodyPr/>
          <a:lstStyle>
            <a:lvl1pPr marL="0" indent="0">
              <a:buNone/>
              <a:defRPr sz="1800" b="1">
                <a:solidFill>
                  <a:schemeClr val="bg1"/>
                </a:solidFill>
              </a:defRPr>
            </a:lvl1pPr>
            <a:lvl2pPr marL="457200" indent="0">
              <a:buNone/>
              <a:defRPr sz="1800" b="1">
                <a:solidFill>
                  <a:schemeClr val="bg1"/>
                </a:solidFill>
              </a:defRPr>
            </a:lvl2pPr>
            <a:lvl3pPr marL="914400" indent="0">
              <a:buNone/>
              <a:defRPr sz="1800" b="1">
                <a:solidFill>
                  <a:schemeClr val="bg1"/>
                </a:solidFill>
              </a:defRPr>
            </a:lvl3pPr>
            <a:lvl4pPr marL="1371600" indent="0">
              <a:buNone/>
              <a:defRPr sz="1800" b="1">
                <a:solidFill>
                  <a:schemeClr val="bg1"/>
                </a:solidFill>
              </a:defRPr>
            </a:lvl4pPr>
            <a:lvl5pPr marL="1828800" indent="0">
              <a:buNone/>
              <a:defRPr sz="1800" b="1">
                <a:solidFill>
                  <a:schemeClr val="bg1"/>
                </a:solidFill>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PTIST_MASTER">
    <p:bg>
      <p:bgPr>
        <a:solidFill>
          <a:srgbClr val="FFFFFF"/>
        </a:solidFill>
        <a:effectLst/>
      </p:bgPr>
    </p:bg>
    <p:spTree>
      <p:nvGrpSpPr>
        <p:cNvPr id="1" name=""/>
        <p:cNvGrpSpPr/>
        <p:nvPr/>
      </p:nvGrpSpPr>
      <p:grpSpPr>
        <a:xfrm>
          <a:off x="0" y="0"/>
          <a:ext cx="0" cy="0"/>
          <a:chOff x="0" y="0"/>
          <a:chExt cx="0" cy="0"/>
        </a:xfrm>
      </p:grpSpPr>
      <p:pic>
        <p:nvPicPr>
          <p:cNvPr id="1028" name="Picture 4" descr="Quantum Computing Modalities: Superconducting Qubits"/>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48218"/>
          <a:stretch>
            <a:fillRect/>
          </a:stretch>
        </p:blipFill>
        <p:spPr bwMode="auto">
          <a:xfrm>
            <a:off x="-738079" y="0"/>
            <a:ext cx="4184968" cy="5143500"/>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p:cNvSpPr/>
          <p:nvPr userDrawn="1"/>
        </p:nvSpPr>
        <p:spPr>
          <a:xfrm>
            <a:off x="-738079" y="0"/>
            <a:ext cx="4184968" cy="5143500"/>
          </a:xfrm>
          <a:prstGeom prst="rect">
            <a:avLst/>
          </a:prstGeom>
          <a:solidFill>
            <a:schemeClr val="dk1">
              <a:alpha val="59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 name="矩形 7"/>
          <p:cNvSpPr/>
          <p:nvPr userDrawn="1"/>
        </p:nvSpPr>
        <p:spPr>
          <a:xfrm>
            <a:off x="-738079" y="1859280"/>
            <a:ext cx="4184968" cy="853440"/>
          </a:xfrm>
          <a:prstGeom prst="rect">
            <a:avLst/>
          </a:prstGeom>
          <a:solidFill>
            <a:schemeClr val="bg2">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1359408" y="1859280"/>
            <a:ext cx="2087481" cy="853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p:cNvSpPr/>
          <p:nvPr userDrawn="1"/>
        </p:nvSpPr>
        <p:spPr>
          <a:xfrm>
            <a:off x="8479536" y="4796478"/>
            <a:ext cx="504444" cy="263097"/>
          </a:xfrm>
          <a:prstGeom prst="roundRect">
            <a:avLst/>
          </a:prstGeom>
          <a:solidFill>
            <a:schemeClr val="accent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FAE4CEF0-7369-468D-B736-DE24AE3B939F}" type="slidenum">
              <a:rPr lang="zh-CN" altLang="en-US" sz="1400" smtClean="0"/>
              <a:t>‹#›</a:t>
            </a:fld>
            <a:endParaRPr lang="zh-CN" altLang="en-US" sz="1400" dirty="0"/>
          </a:p>
        </p:txBody>
      </p:sp>
      <p:sp>
        <p:nvSpPr>
          <p:cNvPr id="10" name="标题 9"/>
          <p:cNvSpPr>
            <a:spLocks noGrp="1"/>
          </p:cNvSpPr>
          <p:nvPr>
            <p:ph type="title"/>
          </p:nvPr>
        </p:nvSpPr>
        <p:spPr>
          <a:xfrm>
            <a:off x="3446889" y="1856198"/>
            <a:ext cx="5489085" cy="853440"/>
          </a:xfrm>
          <a:prstGeom prst="rect">
            <a:avLst/>
          </a:prstGeom>
        </p:spPr>
        <p:txBody>
          <a:bodyPr/>
          <a:lstStyle>
            <a:lvl1pPr algn="l">
              <a:lnSpc>
                <a:spcPct val="150000"/>
              </a:lnSpc>
              <a:defRPr sz="2800" b="1">
                <a:latin typeface="+mn-ea"/>
                <a:ea typeface="+mn-ea"/>
              </a:defRPr>
            </a:lvl1pPr>
          </a:lstStyle>
          <a:p>
            <a:r>
              <a:rPr lang="zh-CN" altLang="en-US" dirty="0"/>
              <a:t>单击此处编辑母版标题样式</a:t>
            </a:r>
          </a:p>
        </p:txBody>
      </p:sp>
      <p:sp>
        <p:nvSpPr>
          <p:cNvPr id="17" name="文本占位符 16"/>
          <p:cNvSpPr>
            <a:spLocks noGrp="1"/>
          </p:cNvSpPr>
          <p:nvPr>
            <p:ph type="body" sz="quarter" idx="10"/>
          </p:nvPr>
        </p:nvSpPr>
        <p:spPr>
          <a:xfrm>
            <a:off x="3566478" y="2767013"/>
            <a:ext cx="4621212" cy="641350"/>
          </a:xfrm>
          <a:prstGeom prst="rect">
            <a:avLst/>
          </a:prstGeom>
        </p:spPr>
        <p:txBody>
          <a:bodyPr/>
          <a:lstStyle>
            <a:lvl1pPr marL="0" indent="0">
              <a:buFontTx/>
              <a:buNone/>
              <a:defRPr sz="2000">
                <a:solidFill>
                  <a:schemeClr val="tx2">
                    <a:lumMod val="60000"/>
                    <a:lumOff val="40000"/>
                  </a:schemeClr>
                </a:solidFill>
                <a:latin typeface="+mn-ea"/>
                <a:ea typeface="+mn-ea"/>
              </a:defRPr>
            </a:lvl1pPr>
            <a:lvl2pPr marL="457200" indent="0">
              <a:buFontTx/>
              <a:buNone/>
              <a:defRPr sz="2000">
                <a:solidFill>
                  <a:schemeClr val="tx2">
                    <a:lumMod val="60000"/>
                    <a:lumOff val="40000"/>
                  </a:schemeClr>
                </a:solidFill>
                <a:latin typeface="+mn-ea"/>
                <a:ea typeface="+mn-ea"/>
              </a:defRPr>
            </a:lvl2pPr>
            <a:lvl3pPr marL="914400" indent="0">
              <a:buFontTx/>
              <a:buNone/>
              <a:defRPr sz="2000">
                <a:solidFill>
                  <a:schemeClr val="tx2">
                    <a:lumMod val="60000"/>
                    <a:lumOff val="40000"/>
                  </a:schemeClr>
                </a:solidFill>
                <a:latin typeface="+mn-ea"/>
                <a:ea typeface="+mn-ea"/>
              </a:defRPr>
            </a:lvl3pPr>
            <a:lvl4pPr marL="1371600" indent="0">
              <a:buFontTx/>
              <a:buNone/>
              <a:defRPr sz="2000">
                <a:solidFill>
                  <a:schemeClr val="tx2">
                    <a:lumMod val="60000"/>
                    <a:lumOff val="40000"/>
                  </a:schemeClr>
                </a:solidFill>
                <a:latin typeface="+mn-ea"/>
                <a:ea typeface="+mn-ea"/>
              </a:defRPr>
            </a:lvl4pPr>
            <a:lvl5pPr marL="1828800" indent="0">
              <a:buFontTx/>
              <a:buNone/>
              <a:defRPr sz="2000">
                <a:solidFill>
                  <a:schemeClr val="tx2">
                    <a:lumMod val="60000"/>
                    <a:lumOff val="40000"/>
                  </a:schemeClr>
                </a:solidFill>
                <a:latin typeface="+mn-ea"/>
                <a:ea typeface="+mn-ea"/>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9" name="文本占位符 18"/>
          <p:cNvSpPr>
            <a:spLocks noGrp="1"/>
          </p:cNvSpPr>
          <p:nvPr>
            <p:ph type="body" sz="quarter" idx="11"/>
          </p:nvPr>
        </p:nvSpPr>
        <p:spPr>
          <a:xfrm>
            <a:off x="1664653" y="2041525"/>
            <a:ext cx="1676400" cy="530225"/>
          </a:xfrm>
          <a:prstGeom prst="rect">
            <a:avLst/>
          </a:prstGeom>
        </p:spPr>
        <p:txBody>
          <a:bodyPr/>
          <a:lstStyle>
            <a:lvl1pPr marL="0" indent="0">
              <a:buNone/>
              <a:defRPr b="1">
                <a:solidFill>
                  <a:schemeClr val="bg1"/>
                </a:solidFill>
                <a:latin typeface="+mn-ea"/>
                <a:ea typeface="+mn-ea"/>
              </a:defRPr>
            </a:lvl1pPr>
            <a:lvl2pPr marL="457200" indent="0">
              <a:buNone/>
              <a:defRPr b="1">
                <a:solidFill>
                  <a:schemeClr val="bg1"/>
                </a:solidFill>
                <a:latin typeface="+mn-ea"/>
                <a:ea typeface="+mn-ea"/>
              </a:defRPr>
            </a:lvl2pPr>
            <a:lvl3pPr marL="914400" indent="0">
              <a:buNone/>
              <a:defRPr b="1">
                <a:solidFill>
                  <a:schemeClr val="bg1"/>
                </a:solidFill>
                <a:latin typeface="+mn-ea"/>
                <a:ea typeface="+mn-ea"/>
              </a:defRPr>
            </a:lvl3pPr>
            <a:lvl4pPr marL="1371600" indent="0">
              <a:buNone/>
              <a:defRPr b="1">
                <a:solidFill>
                  <a:schemeClr val="bg1"/>
                </a:solidFill>
                <a:latin typeface="+mn-ea"/>
                <a:ea typeface="+mn-ea"/>
              </a:defRPr>
            </a:lvl4pPr>
            <a:lvl5pPr marL="1828800" indent="0">
              <a:buNone/>
              <a:defRPr b="1">
                <a:solidFill>
                  <a:schemeClr val="bg1"/>
                </a:solidFill>
                <a:latin typeface="+mn-ea"/>
                <a:ea typeface="+mn-ea"/>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pic>
        <p:nvPicPr>
          <p:cNvPr id="21" name="图片 20"/>
          <p:cNvPicPr>
            <a:picLocks noChangeAspect="1"/>
          </p:cNvPicPr>
          <p:nvPr userDrawn="1"/>
        </p:nvPicPr>
        <p:blipFill>
          <a:blip r:embed="rId3"/>
          <a:stretch>
            <a:fillRect/>
          </a:stretch>
        </p:blipFill>
        <p:spPr>
          <a:xfrm>
            <a:off x="7410650" y="297197"/>
            <a:ext cx="1497262" cy="409407"/>
          </a:xfrm>
          <a:prstGeom prst="rect">
            <a:avLst/>
          </a:prstGeom>
        </p:spPr>
      </p:pic>
      <p:sp>
        <p:nvSpPr>
          <p:cNvPr id="20" name="矩形 19"/>
          <p:cNvSpPr/>
          <p:nvPr userDrawn="1"/>
        </p:nvSpPr>
        <p:spPr>
          <a:xfrm>
            <a:off x="9062720" y="0"/>
            <a:ext cx="81280" cy="51435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userDrawn="1"/>
        </p:nvSpPr>
        <p:spPr>
          <a:xfrm>
            <a:off x="9062720" y="1859280"/>
            <a:ext cx="81280" cy="853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kumimoji="1" lang="zh-CN" altLang="en-US"/>
              <a:t>单击此处编辑母版标题样式</a:t>
            </a:r>
          </a:p>
        </p:txBody>
      </p:sp>
      <p:sp>
        <p:nvSpPr>
          <p:cNvPr id="3" name="副标题 2"/>
          <p:cNvSpPr>
            <a:spLocks noGrp="1"/>
          </p:cNvSpPr>
          <p:nvPr>
            <p:ph type="subTitle" idx="1"/>
          </p:nvPr>
        </p:nvSpPr>
        <p:spPr>
          <a:xfrm>
            <a:off x="1143000" y="2701529"/>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zh-CN" altLang="en-US"/>
              <a:t>单击此处编辑母版副标题样式</a:t>
            </a:r>
          </a:p>
        </p:txBody>
      </p:sp>
      <p:sp>
        <p:nvSpPr>
          <p:cNvPr id="4" name="日期占位符 3"/>
          <p:cNvSpPr>
            <a:spLocks noGrp="1"/>
          </p:cNvSpPr>
          <p:nvPr>
            <p:ph type="dt" sz="half" idx="10"/>
          </p:nvPr>
        </p:nvSpPr>
        <p:spPr>
          <a:xfrm>
            <a:off x="628650" y="4767263"/>
            <a:ext cx="2057400" cy="273844"/>
          </a:xfrm>
        </p:spPr>
        <p:txBody>
          <a:bodyPr/>
          <a:lstStyle/>
          <a:p>
            <a:fld id="{07DFF6D9-E824-1143-9169-42F75C7B5F18}" type="datetimeFigureOut">
              <a:rPr kumimoji="1" lang="zh-CN" altLang="en-US" smtClean="0"/>
              <a:t>2026/6/22</a:t>
            </a:fld>
            <a:endParaRPr kumimoji="1" lang="zh-CN" altLang="en-US"/>
          </a:p>
        </p:txBody>
      </p:sp>
      <p:sp>
        <p:nvSpPr>
          <p:cNvPr id="5" name="页脚占位符 4"/>
          <p:cNvSpPr>
            <a:spLocks noGrp="1"/>
          </p:cNvSpPr>
          <p:nvPr>
            <p:ph type="ftr" sz="quarter" idx="11"/>
          </p:nvPr>
        </p:nvSpPr>
        <p:spPr>
          <a:xfrm>
            <a:off x="3028950" y="4767263"/>
            <a:ext cx="3086100" cy="273844"/>
          </a:xfrm>
        </p:spPr>
        <p:txBody>
          <a:bodyPr/>
          <a:lstStyle/>
          <a:p>
            <a:endParaRPr kumimoji="1" lang="zh-CN" altLang="en-US"/>
          </a:p>
        </p:txBody>
      </p:sp>
      <p:sp>
        <p:nvSpPr>
          <p:cNvPr id="6" name="灯片编号占位符 5"/>
          <p:cNvSpPr>
            <a:spLocks noGrp="1"/>
          </p:cNvSpPr>
          <p:nvPr>
            <p:ph type="sldNum" sz="quarter" idx="12"/>
          </p:nvPr>
        </p:nvSpPr>
        <p:spPr>
          <a:xfrm>
            <a:off x="6457950" y="4767263"/>
            <a:ext cx="2057400" cy="273844"/>
          </a:xfrm>
        </p:spPr>
        <p:txBody>
          <a:bodyPr/>
          <a:lstStyle/>
          <a:p>
            <a:fld id="{3012DDB0-8C3A-E745-9B7F-528667F5CDCB}" type="slidenum">
              <a:rPr kumimoji="1" lang="zh-CN" altLang="en-US" smtClean="0"/>
              <a:t>‹#›</a:t>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538664" y="93464"/>
            <a:ext cx="6615899" cy="508851"/>
          </a:xfrm>
          <a:prstGeom prst="rect">
            <a:avLst/>
          </a:prstGeom>
        </p:spPr>
        <p:txBody>
          <a:bodyPr lIns="0" rIns="0" anchor="ctr">
            <a:normAutofit/>
          </a:bodyPr>
          <a:lstStyle>
            <a:lvl1pPr>
              <a:defRPr sz="2700" b="1">
                <a:latin typeface="Arial" panose="020B0604020202020204" pitchFamily="34" charset="0"/>
                <a:ea typeface="微软雅黑" panose="020B0503020204020204" pitchFamily="34" charset="-122"/>
                <a:cs typeface="Arial" panose="020B0604020202020204" pitchFamily="34" charset="0"/>
              </a:defRPr>
            </a:lvl1pPr>
          </a:lstStyle>
          <a:p>
            <a:r>
              <a:rPr lang="en-US" altLang="zh-CN" dirty="0"/>
              <a:t>Title</a:t>
            </a:r>
            <a:endParaRPr lang="zh-CN" altLang="en-US" dirty="0"/>
          </a:p>
        </p:txBody>
      </p:sp>
      <p:cxnSp>
        <p:nvCxnSpPr>
          <p:cNvPr id="76" name="直接连接符 75"/>
          <p:cNvCxnSpPr/>
          <p:nvPr userDrawn="1"/>
        </p:nvCxnSpPr>
        <p:spPr>
          <a:xfrm>
            <a:off x="539875" y="602316"/>
            <a:ext cx="8092784" cy="0"/>
          </a:xfrm>
          <a:prstGeom prst="line">
            <a:avLst/>
          </a:prstGeom>
          <a:ln w="38100">
            <a:solidFill>
              <a:srgbClr val="04428A"/>
            </a:solidFill>
          </a:ln>
        </p:spPr>
        <p:style>
          <a:lnRef idx="1">
            <a:schemeClr val="accent1"/>
          </a:lnRef>
          <a:fillRef idx="0">
            <a:schemeClr val="accent1"/>
          </a:fillRef>
          <a:effectRef idx="0">
            <a:schemeClr val="accent1"/>
          </a:effectRef>
          <a:fontRef idx="minor">
            <a:schemeClr val="tx1"/>
          </a:fontRef>
        </p:style>
      </p:cxnSp>
      <p:sp>
        <p:nvSpPr>
          <p:cNvPr id="77" name="矩形 76"/>
          <p:cNvSpPr/>
          <p:nvPr userDrawn="1"/>
        </p:nvSpPr>
        <p:spPr>
          <a:xfrm>
            <a:off x="228485" y="-3895"/>
            <a:ext cx="177639" cy="606211"/>
          </a:xfrm>
          <a:prstGeom prst="rect">
            <a:avLst/>
          </a:prstGeom>
          <a:solidFill>
            <a:srgbClr val="0442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sp>
        <p:nvSpPr>
          <p:cNvPr id="3" name="文本框 2"/>
          <p:cNvSpPr txBox="1"/>
          <p:nvPr userDrawn="1"/>
        </p:nvSpPr>
        <p:spPr>
          <a:xfrm>
            <a:off x="2578261" y="1111169"/>
            <a:ext cx="309880" cy="299085"/>
          </a:xfrm>
          <a:prstGeom prst="rect">
            <a:avLst/>
          </a:prstGeom>
          <a:noFill/>
        </p:spPr>
        <p:txBody>
          <a:bodyPr wrap="none" rtlCol="0">
            <a:spAutoFit/>
          </a:bodyPr>
          <a:lstStyle/>
          <a:p>
            <a:endParaRPr kumimoji="1" lang="zh-CN" altLang="en-US" sz="1350"/>
          </a:p>
        </p:txBody>
      </p:sp>
      <p:pic>
        <p:nvPicPr>
          <p:cNvPr id="4" name="图片 3"/>
          <p:cNvPicPr>
            <a:picLocks noChangeAspect="1"/>
          </p:cNvPicPr>
          <p:nvPr userDrawn="1"/>
        </p:nvPicPr>
        <p:blipFill>
          <a:blip r:embed="rId2"/>
          <a:stretch>
            <a:fillRect/>
          </a:stretch>
        </p:blipFill>
        <p:spPr>
          <a:xfrm>
            <a:off x="7048954" y="52570"/>
            <a:ext cx="2019892" cy="590638"/>
          </a:xfrm>
          <a:prstGeom prst="rect">
            <a:avLst/>
          </a:prstGeom>
        </p:spPr>
      </p:pic>
      <p:sp>
        <p:nvSpPr>
          <p:cNvPr id="8" name="灯片编号占位符 13"/>
          <p:cNvSpPr txBox="1"/>
          <p:nvPr userDrawn="1"/>
        </p:nvSpPr>
        <p:spPr>
          <a:xfrm>
            <a:off x="8560687" y="4737954"/>
            <a:ext cx="411443" cy="303152"/>
          </a:xfrm>
          <a:prstGeom prst="rect">
            <a:avLst/>
          </a:prstGeom>
          <a:solidFill>
            <a:srgbClr val="03428A"/>
          </a:solidFill>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E190E77-D57C-49F8-ADC2-FB99C50EBC2E}" type="slidenum">
              <a:rPr lang="zh-CN" altLang="en-US" sz="1200" b="1" smtClean="0">
                <a:solidFill>
                  <a:schemeClr val="bg1"/>
                </a:solidFill>
                <a:latin typeface="华文楷体" panose="02010600040101010101" pitchFamily="2" charset="-122"/>
                <a:ea typeface="华文楷体" panose="02010600040101010101" pitchFamily="2" charset="-122"/>
              </a:rPr>
              <a:t>‹#›</a:t>
            </a:fld>
            <a:endParaRPr lang="zh-CN" altLang="en-US" sz="1200" b="1">
              <a:solidFill>
                <a:schemeClr val="bg1"/>
              </a:solidFill>
              <a:latin typeface="华文楷体" panose="02010600040101010101" pitchFamily="2" charset="-122"/>
              <a:ea typeface="华文楷体" panose="02010600040101010101" pitchFamily="2" charset="-122"/>
            </a:endParaRPr>
          </a:p>
        </p:txBody>
      </p:sp>
      <p:sp>
        <p:nvSpPr>
          <p:cNvPr id="11" name="文本框 10"/>
          <p:cNvSpPr txBox="1"/>
          <p:nvPr userDrawn="1"/>
        </p:nvSpPr>
        <p:spPr>
          <a:xfrm>
            <a:off x="228485" y="4900170"/>
            <a:ext cx="800735" cy="229870"/>
          </a:xfrm>
          <a:prstGeom prst="rect">
            <a:avLst/>
          </a:prstGeom>
          <a:noFill/>
        </p:spPr>
        <p:txBody>
          <a:bodyPr wrap="none" rtlCol="0">
            <a:spAutoFit/>
          </a:bodyPr>
          <a:lstStyle/>
          <a:p>
            <a:r>
              <a:rPr kumimoji="1" lang="en-US" altLang="zh-CN" sz="900" dirty="0">
                <a:solidFill>
                  <a:schemeClr val="accent3"/>
                </a:solidFill>
              </a:rPr>
              <a:t>HPCA 2025</a:t>
            </a:r>
            <a:endParaRPr kumimoji="1" lang="zh-CN" altLang="en-US" sz="900" dirty="0">
              <a:solidFill>
                <a:schemeClr val="accent3"/>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hyperlink" Target="https://janusq.github.io/HPCA_2025_Tutorial/" TargetMode="Externa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55" Type="http://schemas.openxmlformats.org/officeDocument/2006/relationships/image" Target="../media/image25.png"/><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notesSlide" Target="../notesSlides/notesSlide8.xml"/><Relationship Id="rId59" Type="http://schemas.openxmlformats.org/officeDocument/2006/relationships/image" Target="../media/image29.png"/><Relationship Id="rId2" Type="http://schemas.openxmlformats.org/officeDocument/2006/relationships/tags" Target="../tags/tag2.xml"/><Relationship Id="rId16" Type="http://schemas.openxmlformats.org/officeDocument/2006/relationships/slideLayout" Target="../slideLayouts/slideLayout1.xml"/><Relationship Id="rId54" Type="http://schemas.openxmlformats.org/officeDocument/2006/relationships/image" Target="../media/image24.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3" Type="http://schemas.openxmlformats.org/officeDocument/2006/relationships/image" Target="../media/image23.png"/><Relationship Id="rId58" Type="http://schemas.openxmlformats.org/officeDocument/2006/relationships/image" Target="../media/image28.png"/><Relationship Id="rId5" Type="http://schemas.openxmlformats.org/officeDocument/2006/relationships/tags" Target="../tags/tag5.xml"/><Relationship Id="rId15" Type="http://schemas.openxmlformats.org/officeDocument/2006/relationships/tags" Target="../tags/tag15.xml"/><Relationship Id="rId57" Type="http://schemas.openxmlformats.org/officeDocument/2006/relationships/image" Target="../media/image27.png"/><Relationship Id="rId10" Type="http://schemas.openxmlformats.org/officeDocument/2006/relationships/tags" Target="../tags/tag10.xml"/><Relationship Id="rId52" Type="http://schemas.openxmlformats.org/officeDocument/2006/relationships/image" Target="../media/image22.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56" Type="http://schemas.openxmlformats.org/officeDocument/2006/relationships/image" Target="../media/image26.png"/></Relationships>
</file>

<file path=ppt/slides/_rels/slide9.xml.rels><?xml version="1.0" encoding="UTF-8" standalone="yes"?>
<Relationships xmlns="http://schemas.openxmlformats.org/package/2006/relationships"><Relationship Id="rId13" Type="http://schemas.openxmlformats.org/officeDocument/2006/relationships/tags" Target="../tags/tag28.xml"/><Relationship Id="rId18" Type="http://schemas.openxmlformats.org/officeDocument/2006/relationships/tags" Target="../tags/tag33.xml"/><Relationship Id="rId26" Type="http://schemas.openxmlformats.org/officeDocument/2006/relationships/tags" Target="../tags/tag41.xml"/><Relationship Id="rId21" Type="http://schemas.openxmlformats.org/officeDocument/2006/relationships/tags" Target="../tags/tag36.xml"/><Relationship Id="rId55" Type="http://schemas.openxmlformats.org/officeDocument/2006/relationships/image" Target="../media/image25.png"/><Relationship Id="rId63" Type="http://schemas.openxmlformats.org/officeDocument/2006/relationships/image" Target="../media/image33.png"/><Relationship Id="rId7" Type="http://schemas.openxmlformats.org/officeDocument/2006/relationships/tags" Target="../tags/tag22.xml"/><Relationship Id="rId2" Type="http://schemas.openxmlformats.org/officeDocument/2006/relationships/tags" Target="../tags/tag17.xml"/><Relationship Id="rId16" Type="http://schemas.openxmlformats.org/officeDocument/2006/relationships/tags" Target="../tags/tag31.xml"/><Relationship Id="rId29" Type="http://schemas.openxmlformats.org/officeDocument/2006/relationships/tags" Target="../tags/tag44.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tags" Target="../tags/tag26.xml"/><Relationship Id="rId24" Type="http://schemas.openxmlformats.org/officeDocument/2006/relationships/tags" Target="../tags/tag39.xml"/><Relationship Id="rId32" Type="http://schemas.openxmlformats.org/officeDocument/2006/relationships/notesSlide" Target="../notesSlides/notesSlide9.xml"/><Relationship Id="rId53" Type="http://schemas.openxmlformats.org/officeDocument/2006/relationships/image" Target="../media/image23.png"/><Relationship Id="rId58" Type="http://schemas.openxmlformats.org/officeDocument/2006/relationships/image" Target="../media/image28.png"/><Relationship Id="rId5" Type="http://schemas.openxmlformats.org/officeDocument/2006/relationships/tags" Target="../tags/tag20.xml"/><Relationship Id="rId15" Type="http://schemas.openxmlformats.org/officeDocument/2006/relationships/tags" Target="../tags/tag30.xml"/><Relationship Id="rId23" Type="http://schemas.openxmlformats.org/officeDocument/2006/relationships/tags" Target="../tags/tag38.xml"/><Relationship Id="rId28" Type="http://schemas.openxmlformats.org/officeDocument/2006/relationships/tags" Target="../tags/tag43.xml"/><Relationship Id="rId57" Type="http://schemas.openxmlformats.org/officeDocument/2006/relationships/image" Target="../media/image27.png"/><Relationship Id="rId61" Type="http://schemas.openxmlformats.org/officeDocument/2006/relationships/image" Target="../media/image31.png"/><Relationship Id="rId10" Type="http://schemas.openxmlformats.org/officeDocument/2006/relationships/tags" Target="../tags/tag25.xml"/><Relationship Id="rId19" Type="http://schemas.openxmlformats.org/officeDocument/2006/relationships/tags" Target="../tags/tag34.xml"/><Relationship Id="rId31" Type="http://schemas.openxmlformats.org/officeDocument/2006/relationships/slideLayout" Target="../slideLayouts/slideLayout1.xml"/><Relationship Id="rId52" Type="http://schemas.openxmlformats.org/officeDocument/2006/relationships/image" Target="../media/image22.png"/><Relationship Id="rId60" Type="http://schemas.openxmlformats.org/officeDocument/2006/relationships/image" Target="../media/image30.png"/><Relationship Id="rId4" Type="http://schemas.openxmlformats.org/officeDocument/2006/relationships/tags" Target="../tags/tag19.xml"/><Relationship Id="rId9" Type="http://schemas.openxmlformats.org/officeDocument/2006/relationships/tags" Target="../tags/tag24.xml"/><Relationship Id="rId14" Type="http://schemas.openxmlformats.org/officeDocument/2006/relationships/tags" Target="../tags/tag29.xml"/><Relationship Id="rId22" Type="http://schemas.openxmlformats.org/officeDocument/2006/relationships/tags" Target="../tags/tag37.xml"/><Relationship Id="rId27" Type="http://schemas.openxmlformats.org/officeDocument/2006/relationships/tags" Target="../tags/tag42.xml"/><Relationship Id="rId30" Type="http://schemas.openxmlformats.org/officeDocument/2006/relationships/tags" Target="../tags/tag45.xml"/><Relationship Id="rId56" Type="http://schemas.openxmlformats.org/officeDocument/2006/relationships/image" Target="../media/image26.png"/><Relationship Id="rId64" Type="http://schemas.openxmlformats.org/officeDocument/2006/relationships/image" Target="../media/image34.png"/><Relationship Id="rId8" Type="http://schemas.openxmlformats.org/officeDocument/2006/relationships/tags" Target="../tags/tag23.xml"/><Relationship Id="rId3" Type="http://schemas.openxmlformats.org/officeDocument/2006/relationships/tags" Target="../tags/tag18.xml"/><Relationship Id="rId12" Type="http://schemas.openxmlformats.org/officeDocument/2006/relationships/tags" Target="../tags/tag27.xml"/><Relationship Id="rId17" Type="http://schemas.openxmlformats.org/officeDocument/2006/relationships/tags" Target="../tags/tag32.xml"/><Relationship Id="rId25" Type="http://schemas.openxmlformats.org/officeDocument/2006/relationships/tags" Target="../tags/tag40.xml"/><Relationship Id="rId59" Type="http://schemas.openxmlformats.org/officeDocument/2006/relationships/image" Target="../media/image29.png"/><Relationship Id="rId20" Type="http://schemas.openxmlformats.org/officeDocument/2006/relationships/tags" Target="../tags/tag35.xml"/><Relationship Id="rId54" Type="http://schemas.openxmlformats.org/officeDocument/2006/relationships/image" Target="../media/image24.png"/><Relationship Id="rId62" Type="http://schemas.openxmlformats.org/officeDocument/2006/relationships/image" Target="../media/image32.png"/></Relationships>
</file>

<file path=ppt/slides/_rels/slide10.xml.rels><?xml version="1.0" encoding="UTF-8" standalone="yes"?>
<Relationships xmlns="http://schemas.openxmlformats.org/package/2006/relationships"><Relationship Id="rId13" Type="http://schemas.openxmlformats.org/officeDocument/2006/relationships/tags" Target="../tags/tag58.xml"/><Relationship Id="rId18" Type="http://schemas.openxmlformats.org/officeDocument/2006/relationships/tags" Target="../tags/tag63.xml"/><Relationship Id="rId26" Type="http://schemas.openxmlformats.org/officeDocument/2006/relationships/tags" Target="../tags/tag71.xml"/><Relationship Id="rId39" Type="http://schemas.openxmlformats.org/officeDocument/2006/relationships/tags" Target="../tags/tag84.xml"/><Relationship Id="rId21" Type="http://schemas.openxmlformats.org/officeDocument/2006/relationships/tags" Target="../tags/tag66.xml"/><Relationship Id="rId34" Type="http://schemas.openxmlformats.org/officeDocument/2006/relationships/tags" Target="../tags/tag79.xml"/><Relationship Id="rId42" Type="http://schemas.openxmlformats.org/officeDocument/2006/relationships/tags" Target="../tags/tag87.xml"/><Relationship Id="rId47" Type="http://schemas.openxmlformats.org/officeDocument/2006/relationships/tags" Target="../tags/tag92.xml"/><Relationship Id="rId50" Type="http://schemas.openxmlformats.org/officeDocument/2006/relationships/tags" Target="../tags/tag48.xml"/><Relationship Id="rId55" Type="http://schemas.openxmlformats.org/officeDocument/2006/relationships/image" Target="../media/image250.png"/><Relationship Id="rId7" Type="http://schemas.openxmlformats.org/officeDocument/2006/relationships/tags" Target="../tags/tag52.xml"/><Relationship Id="rId2" Type="http://schemas.openxmlformats.org/officeDocument/2006/relationships/tags" Target="../tags/tag47.xml"/><Relationship Id="rId16" Type="http://schemas.openxmlformats.org/officeDocument/2006/relationships/tags" Target="../tags/tag61.xml"/><Relationship Id="rId29" Type="http://schemas.openxmlformats.org/officeDocument/2006/relationships/tags" Target="../tags/tag74.xml"/><Relationship Id="rId11" Type="http://schemas.openxmlformats.org/officeDocument/2006/relationships/tags" Target="../tags/tag56.xml"/><Relationship Id="rId24" Type="http://schemas.openxmlformats.org/officeDocument/2006/relationships/tags" Target="../tags/tag69.xml"/><Relationship Id="rId32" Type="http://schemas.openxmlformats.org/officeDocument/2006/relationships/tags" Target="../tags/tag77.xml"/><Relationship Id="rId37" Type="http://schemas.openxmlformats.org/officeDocument/2006/relationships/tags" Target="../tags/tag82.xml"/><Relationship Id="rId40" Type="http://schemas.openxmlformats.org/officeDocument/2006/relationships/tags" Target="../tags/tag85.xml"/><Relationship Id="rId45" Type="http://schemas.openxmlformats.org/officeDocument/2006/relationships/tags" Target="../tags/tag90.xml"/><Relationship Id="rId53" Type="http://schemas.openxmlformats.org/officeDocument/2006/relationships/image" Target="../media/image23.png"/><Relationship Id="rId58" Type="http://schemas.openxmlformats.org/officeDocument/2006/relationships/image" Target="../media/image280.png"/><Relationship Id="rId5" Type="http://schemas.openxmlformats.org/officeDocument/2006/relationships/tags" Target="../tags/tag50.xml"/><Relationship Id="rId61" Type="http://schemas.openxmlformats.org/officeDocument/2006/relationships/image" Target="../media/image320.png"/><Relationship Id="rId19" Type="http://schemas.openxmlformats.org/officeDocument/2006/relationships/tags" Target="../tags/tag64.xml"/><Relationship Id="rId14" Type="http://schemas.openxmlformats.org/officeDocument/2006/relationships/tags" Target="../tags/tag59.xml"/><Relationship Id="rId22" Type="http://schemas.openxmlformats.org/officeDocument/2006/relationships/tags" Target="../tags/tag67.xml"/><Relationship Id="rId27" Type="http://schemas.openxmlformats.org/officeDocument/2006/relationships/tags" Target="../tags/tag72.xml"/><Relationship Id="rId30" Type="http://schemas.openxmlformats.org/officeDocument/2006/relationships/tags" Target="../tags/tag75.xml"/><Relationship Id="rId35" Type="http://schemas.openxmlformats.org/officeDocument/2006/relationships/tags" Target="../tags/tag80.xml"/><Relationship Id="rId43" Type="http://schemas.openxmlformats.org/officeDocument/2006/relationships/tags" Target="../tags/tag88.xml"/><Relationship Id="rId48" Type="http://schemas.openxmlformats.org/officeDocument/2006/relationships/slideLayout" Target="../slideLayouts/slideLayout1.xml"/><Relationship Id="rId56" Type="http://schemas.openxmlformats.org/officeDocument/2006/relationships/image" Target="../media/image260.png"/><Relationship Id="rId8" Type="http://schemas.openxmlformats.org/officeDocument/2006/relationships/tags" Target="../tags/tag53.xml"/><Relationship Id="rId51" Type="http://schemas.openxmlformats.org/officeDocument/2006/relationships/image" Target="../media/image35.png"/><Relationship Id="rId3" Type="http://schemas.openxmlformats.org/officeDocument/2006/relationships/tags" Target="../tags/tag48.xml"/><Relationship Id="rId12" Type="http://schemas.openxmlformats.org/officeDocument/2006/relationships/tags" Target="../tags/tag57.xml"/><Relationship Id="rId17" Type="http://schemas.openxmlformats.org/officeDocument/2006/relationships/tags" Target="../tags/tag62.xml"/><Relationship Id="rId25" Type="http://schemas.openxmlformats.org/officeDocument/2006/relationships/tags" Target="../tags/tag70.xml"/><Relationship Id="rId33" Type="http://schemas.openxmlformats.org/officeDocument/2006/relationships/tags" Target="../tags/tag78.xml"/><Relationship Id="rId38" Type="http://schemas.openxmlformats.org/officeDocument/2006/relationships/tags" Target="../tags/tag83.xml"/><Relationship Id="rId46" Type="http://schemas.openxmlformats.org/officeDocument/2006/relationships/tags" Target="../tags/tag91.xml"/><Relationship Id="rId59" Type="http://schemas.openxmlformats.org/officeDocument/2006/relationships/image" Target="../media/image290.png"/><Relationship Id="rId20" Type="http://schemas.openxmlformats.org/officeDocument/2006/relationships/tags" Target="../tags/tag65.xml"/><Relationship Id="rId41" Type="http://schemas.openxmlformats.org/officeDocument/2006/relationships/tags" Target="../tags/tag86.xml"/><Relationship Id="rId54" Type="http://schemas.openxmlformats.org/officeDocument/2006/relationships/image" Target="../media/image24.png"/><Relationship Id="rId1" Type="http://schemas.openxmlformats.org/officeDocument/2006/relationships/tags" Target="../tags/tag46.xml"/><Relationship Id="rId6" Type="http://schemas.openxmlformats.org/officeDocument/2006/relationships/tags" Target="../tags/tag51.xml"/><Relationship Id="rId15" Type="http://schemas.openxmlformats.org/officeDocument/2006/relationships/tags" Target="../tags/tag60.xml"/><Relationship Id="rId23" Type="http://schemas.openxmlformats.org/officeDocument/2006/relationships/tags" Target="../tags/tag68.xml"/><Relationship Id="rId28" Type="http://schemas.openxmlformats.org/officeDocument/2006/relationships/tags" Target="../tags/tag73.xml"/><Relationship Id="rId36" Type="http://schemas.openxmlformats.org/officeDocument/2006/relationships/tags" Target="../tags/tag81.xml"/><Relationship Id="rId49" Type="http://schemas.openxmlformats.org/officeDocument/2006/relationships/notesSlide" Target="../notesSlides/notesSlide10.xml"/><Relationship Id="rId57" Type="http://schemas.openxmlformats.org/officeDocument/2006/relationships/image" Target="../media/image270.png"/><Relationship Id="rId10" Type="http://schemas.openxmlformats.org/officeDocument/2006/relationships/tags" Target="../tags/tag55.xml"/><Relationship Id="rId31" Type="http://schemas.openxmlformats.org/officeDocument/2006/relationships/tags" Target="../tags/tag76.xml"/><Relationship Id="rId44" Type="http://schemas.openxmlformats.org/officeDocument/2006/relationships/tags" Target="../tags/tag89.xml"/><Relationship Id="rId52" Type="http://schemas.openxmlformats.org/officeDocument/2006/relationships/image" Target="../media/image22.png"/><Relationship Id="rId60" Type="http://schemas.openxmlformats.org/officeDocument/2006/relationships/image" Target="../media/image300.png"/><Relationship Id="rId4" Type="http://schemas.openxmlformats.org/officeDocument/2006/relationships/tags" Target="../tags/tag49.xml"/><Relationship Id="rId9" Type="http://schemas.openxmlformats.org/officeDocument/2006/relationships/tags" Target="../tags/tag54.xml"/></Relationships>
</file>

<file path=ppt/slides/_rels/slide11.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2.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6.png"/><Relationship Id="rId7"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42.png"/><Relationship Id="rId4" Type="http://schemas.openxmlformats.org/officeDocument/2006/relationships/image" Target="../media/image41.png"/><Relationship Id="rId9" Type="http://schemas.openxmlformats.org/officeDocument/2006/relationships/image" Target="../media/image40.png"/></Relationships>
</file>

<file path=ppt/slides/_rels/slide13.xml.rels><?xml version="1.0" encoding="UTF-8" standalone="yes"?>
<Relationships xmlns="http://schemas.openxmlformats.org/package/2006/relationships"><Relationship Id="rId8" Type="http://schemas.openxmlformats.org/officeDocument/2006/relationships/tags" Target="../tags/tag100.xml"/><Relationship Id="rId13" Type="http://schemas.openxmlformats.org/officeDocument/2006/relationships/slideLayout" Target="../slideLayouts/slideLayout1.xml"/><Relationship Id="rId18" Type="http://schemas.openxmlformats.org/officeDocument/2006/relationships/image" Target="../media/image37.png"/><Relationship Id="rId26" Type="http://schemas.openxmlformats.org/officeDocument/2006/relationships/image" Target="../media/image47.png"/><Relationship Id="rId3" Type="http://schemas.openxmlformats.org/officeDocument/2006/relationships/tags" Target="../tags/tag95.xml"/><Relationship Id="rId21" Type="http://schemas.openxmlformats.org/officeDocument/2006/relationships/image" Target="../media/image40.png"/><Relationship Id="rId7" Type="http://schemas.openxmlformats.org/officeDocument/2006/relationships/tags" Target="../tags/tag99.xml"/><Relationship Id="rId12" Type="http://schemas.openxmlformats.org/officeDocument/2006/relationships/tags" Target="../tags/tag104.xml"/><Relationship Id="rId17" Type="http://schemas.openxmlformats.org/officeDocument/2006/relationships/image" Target="../media/image42.png"/><Relationship Id="rId25" Type="http://schemas.openxmlformats.org/officeDocument/2006/relationships/image" Target="../media/image46.png"/><Relationship Id="rId2" Type="http://schemas.openxmlformats.org/officeDocument/2006/relationships/tags" Target="../tags/tag94.xml"/><Relationship Id="rId16" Type="http://schemas.openxmlformats.org/officeDocument/2006/relationships/image" Target="../media/image41.png"/><Relationship Id="rId20" Type="http://schemas.openxmlformats.org/officeDocument/2006/relationships/image" Target="../media/image39.png"/><Relationship Id="rId1" Type="http://schemas.openxmlformats.org/officeDocument/2006/relationships/tags" Target="../tags/tag93.xml"/><Relationship Id="rId6" Type="http://schemas.openxmlformats.org/officeDocument/2006/relationships/tags" Target="../tags/tag98.xml"/><Relationship Id="rId11" Type="http://schemas.openxmlformats.org/officeDocument/2006/relationships/tags" Target="../tags/tag103.xml"/><Relationship Id="rId24" Type="http://schemas.openxmlformats.org/officeDocument/2006/relationships/image" Target="../media/image45.png"/><Relationship Id="rId5" Type="http://schemas.openxmlformats.org/officeDocument/2006/relationships/tags" Target="../tags/tag97.xml"/><Relationship Id="rId15" Type="http://schemas.openxmlformats.org/officeDocument/2006/relationships/image" Target="../media/image36.png"/><Relationship Id="rId23" Type="http://schemas.openxmlformats.org/officeDocument/2006/relationships/image" Target="../media/image44.png"/><Relationship Id="rId28" Type="http://schemas.openxmlformats.org/officeDocument/2006/relationships/image" Target="../media/image49.png"/><Relationship Id="rId10" Type="http://schemas.openxmlformats.org/officeDocument/2006/relationships/tags" Target="../tags/tag102.xml"/><Relationship Id="rId19" Type="http://schemas.openxmlformats.org/officeDocument/2006/relationships/image" Target="../media/image38.png"/><Relationship Id="rId4" Type="http://schemas.openxmlformats.org/officeDocument/2006/relationships/tags" Target="../tags/tag96.xml"/><Relationship Id="rId9" Type="http://schemas.openxmlformats.org/officeDocument/2006/relationships/tags" Target="../tags/tag101.xml"/><Relationship Id="rId14" Type="http://schemas.openxmlformats.org/officeDocument/2006/relationships/notesSlide" Target="../notesSlides/notesSlide13.xml"/><Relationship Id="rId22" Type="http://schemas.openxmlformats.org/officeDocument/2006/relationships/image" Target="../media/image43.png"/><Relationship Id="rId27" Type="http://schemas.openxmlformats.org/officeDocument/2006/relationships/image" Target="../media/image48.png"/></Relationships>
</file>

<file path=ppt/slides/_rels/slide1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1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1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5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59.png"/><Relationship Id="rId4" Type="http://schemas.openxmlformats.org/officeDocument/2006/relationships/image" Target="../media/image58.png"/></Relationships>
</file>

<file path=ppt/slides/_rels/slide19.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61.png"/></Relationships>
</file>

<file path=ppt/slides/_rels/slide2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67.png"/><Relationship Id="rId4" Type="http://schemas.openxmlformats.org/officeDocument/2006/relationships/image" Target="../media/image66.jpeg"/></Relationships>
</file>

<file path=ppt/slides/_rels/slide2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69.png"/></Relationships>
</file>

<file path=ppt/slides/_rels/slide2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73.png"/><Relationship Id="rId4" Type="http://schemas.openxmlformats.org/officeDocument/2006/relationships/image" Target="../media/image72.png"/></Relationships>
</file>

<file path=ppt/slides/_rels/slide25.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81.svg"/><Relationship Id="rId3" Type="http://schemas.openxmlformats.org/officeDocument/2006/relationships/image" Target="../media/image74.png"/><Relationship Id="rId7" Type="http://schemas.openxmlformats.org/officeDocument/2006/relationships/image" Target="../media/image680.png"/><Relationship Id="rId12" Type="http://schemas.openxmlformats.org/officeDocument/2006/relationships/image" Target="../media/image80.png"/><Relationship Id="rId17" Type="http://schemas.openxmlformats.org/officeDocument/2006/relationships/image" Target="../media/image780.png"/><Relationship Id="rId2" Type="http://schemas.openxmlformats.org/officeDocument/2006/relationships/notesSlide" Target="../notesSlides/notesSlide25.xml"/><Relationship Id="rId16" Type="http://schemas.openxmlformats.org/officeDocument/2006/relationships/image" Target="../media/image77.png"/><Relationship Id="rId1" Type="http://schemas.openxmlformats.org/officeDocument/2006/relationships/slideLayout" Target="../slideLayouts/slideLayout2.xml"/><Relationship Id="rId6" Type="http://schemas.openxmlformats.org/officeDocument/2006/relationships/image" Target="../media/image670.png"/><Relationship Id="rId11" Type="http://schemas.openxmlformats.org/officeDocument/2006/relationships/image" Target="../media/image79.svg"/><Relationship Id="rId5" Type="http://schemas.openxmlformats.org/officeDocument/2006/relationships/image" Target="../media/image66.png"/><Relationship Id="rId15" Type="http://schemas.openxmlformats.org/officeDocument/2006/relationships/image" Target="../media/image83.svg"/><Relationship Id="rId10" Type="http://schemas.openxmlformats.org/officeDocument/2006/relationships/image" Target="../media/image78.png"/><Relationship Id="rId4" Type="http://schemas.openxmlformats.org/officeDocument/2006/relationships/image" Target="../media/image75.png"/><Relationship Id="rId9" Type="http://schemas.openxmlformats.org/officeDocument/2006/relationships/image" Target="../media/image77.svg"/><Relationship Id="rId14" Type="http://schemas.openxmlformats.org/officeDocument/2006/relationships/image" Target="../media/image82.png"/></Relationships>
</file>

<file path=ppt/slides/_rels/slide2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820.png"/><Relationship Id="rId5" Type="http://schemas.openxmlformats.org/officeDocument/2006/relationships/image" Target="../media/image81.png"/><Relationship Id="rId4" Type="http://schemas.openxmlformats.org/officeDocument/2006/relationships/image" Target="../media/image86.png"/></Relationships>
</file>

<file path=ppt/slides/_rels/slide2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2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8" Type="http://schemas.openxmlformats.org/officeDocument/2006/relationships/notesSlide" Target="../notesSlides/notesSlide32.xml"/><Relationship Id="rId3" Type="http://schemas.openxmlformats.org/officeDocument/2006/relationships/tags" Target="../tags/tag107.xml"/><Relationship Id="rId7" Type="http://schemas.openxmlformats.org/officeDocument/2006/relationships/slideLayout" Target="../slideLayouts/slideLayout1.xml"/><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tags" Target="../tags/tag110.xml"/><Relationship Id="rId5" Type="http://schemas.openxmlformats.org/officeDocument/2006/relationships/tags" Target="../tags/tag109.xml"/><Relationship Id="rId4" Type="http://schemas.openxmlformats.org/officeDocument/2006/relationships/tags" Target="../tags/tag108.xml"/><Relationship Id="rId9" Type="http://schemas.openxmlformats.org/officeDocument/2006/relationships/image" Target="../media/image92.png"/></Relationships>
</file>

<file path=ppt/slides/_rels/slide33.xml.rels><?xml version="1.0" encoding="UTF-8" standalone="yes"?>
<Relationships xmlns="http://schemas.openxmlformats.org/package/2006/relationships"><Relationship Id="rId8" Type="http://schemas.openxmlformats.org/officeDocument/2006/relationships/notesSlide" Target="../notesSlides/notesSlide33.xml"/><Relationship Id="rId3" Type="http://schemas.openxmlformats.org/officeDocument/2006/relationships/tags" Target="../tags/tag113.xml"/><Relationship Id="rId7" Type="http://schemas.openxmlformats.org/officeDocument/2006/relationships/slideLayout" Target="../slideLayouts/slideLayout1.xm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tags" Target="../tags/tag116.xml"/><Relationship Id="rId11" Type="http://schemas.openxmlformats.org/officeDocument/2006/relationships/image" Target="../media/image95.png"/><Relationship Id="rId5" Type="http://schemas.openxmlformats.org/officeDocument/2006/relationships/tags" Target="../tags/tag115.xml"/><Relationship Id="rId10" Type="http://schemas.openxmlformats.org/officeDocument/2006/relationships/image" Target="../media/image94.png"/><Relationship Id="rId4" Type="http://schemas.openxmlformats.org/officeDocument/2006/relationships/tags" Target="../tags/tag114.xml"/><Relationship Id="rId9" Type="http://schemas.openxmlformats.org/officeDocument/2006/relationships/image" Target="../media/image93.png"/></Relationships>
</file>

<file path=ppt/slides/_rels/slide34.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34.xml"/><Relationship Id="rId1" Type="http://schemas.openxmlformats.org/officeDocument/2006/relationships/slideLayout" Target="../slideLayouts/slideLayout5.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txBox="1"/>
          <p:nvPr/>
        </p:nvSpPr>
        <p:spPr bwMode="auto">
          <a:xfrm>
            <a:off x="303313" y="526323"/>
            <a:ext cx="8537375" cy="538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01155" tIns="50577" rIns="101155" bIns="50577" numCol="1" anchor="ctr" anchorCtr="1" compatLnSpc="1">
            <a:noAutofit/>
          </a:bodyPr>
          <a:lstStyle>
            <a:lvl1pPr algn="ctr" rtl="0" eaLnBrk="0" fontAlgn="base" hangingPunct="0">
              <a:spcBef>
                <a:spcPct val="0"/>
              </a:spcBef>
              <a:spcAft>
                <a:spcPct val="0"/>
              </a:spcAft>
              <a:defRPr lang="zh-CN" altLang="en-US" sz="4300" b="1">
                <a:solidFill>
                  <a:srgbClr val="C00000"/>
                </a:solidFill>
                <a:effectLst>
                  <a:outerShdw blurRad="38100" dist="38100" dir="2700000" algn="tl">
                    <a:srgbClr val="000000">
                      <a:alpha val="43137"/>
                    </a:srgbClr>
                  </a:outerShdw>
                </a:effectLst>
                <a:latin typeface="+mn-ea"/>
                <a:ea typeface="+mn-ea"/>
                <a:cs typeface="+mj-cs"/>
              </a:defRPr>
            </a:lvl1pPr>
            <a:lvl2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2pPr>
            <a:lvl3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3pPr>
            <a:lvl4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4pPr>
            <a:lvl5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5pPr>
            <a:lvl6pPr marL="4572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6pPr>
            <a:lvl7pPr marL="9144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7pPr>
            <a:lvl8pPr marL="13716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8pPr>
            <a:lvl9pPr marL="18288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9pPr>
          </a:lstStyle>
          <a:p>
            <a:pPr lvl="0">
              <a:lnSpc>
                <a:spcPct val="100000"/>
              </a:lnSpc>
              <a:spcBef>
                <a:spcPct val="20000"/>
              </a:spcBef>
              <a:buSzPct val="120000"/>
              <a:defRPr/>
            </a:pPr>
            <a:r>
              <a:rPr lang="en-US" altLang="zh-CN" sz="3000" b="1" i="0" dirty="0">
                <a:solidFill>
                  <a:srgbClr val="000000"/>
                </a:solidFill>
                <a:effectLst/>
                <a:latin typeface="+mn-lt"/>
                <a:ea typeface="+mj-ea"/>
                <a:cs typeface="Arial" panose="020B0604020202020204" pitchFamily="34" charset="0"/>
              </a:rPr>
              <a:t>ISCA</a:t>
            </a:r>
            <a:r>
              <a:rPr lang="zh-CN" altLang="en-US" sz="3000" b="1" i="0" dirty="0">
                <a:solidFill>
                  <a:srgbClr val="000000"/>
                </a:solidFill>
                <a:effectLst/>
                <a:latin typeface="+mn-lt"/>
                <a:ea typeface="+mj-ea"/>
                <a:cs typeface="Arial" panose="020B0604020202020204" pitchFamily="34" charset="0"/>
              </a:rPr>
              <a:t> </a:t>
            </a:r>
            <a:r>
              <a:rPr lang="en-US" altLang="zh-CN" sz="3000" b="1" i="0" dirty="0">
                <a:solidFill>
                  <a:srgbClr val="000000"/>
                </a:solidFill>
                <a:effectLst/>
                <a:latin typeface="+mn-lt"/>
                <a:ea typeface="+mj-ea"/>
                <a:cs typeface="Arial" panose="020B0604020202020204" pitchFamily="34" charset="0"/>
              </a:rPr>
              <a:t>2025</a:t>
            </a:r>
            <a:r>
              <a:rPr lang="zh-CN" altLang="en-US" sz="3000" b="1" i="0" dirty="0">
                <a:solidFill>
                  <a:srgbClr val="000000"/>
                </a:solidFill>
                <a:effectLst/>
                <a:latin typeface="+mn-lt"/>
                <a:ea typeface="+mj-ea"/>
                <a:cs typeface="Arial" panose="020B0604020202020204" pitchFamily="34" charset="0"/>
              </a:rPr>
              <a:t> </a:t>
            </a:r>
            <a:r>
              <a:rPr lang="en-US" altLang="zh-CN" sz="3000" b="1" i="0" dirty="0">
                <a:solidFill>
                  <a:srgbClr val="000000"/>
                </a:solidFill>
                <a:effectLst/>
                <a:latin typeface="+mn-lt"/>
                <a:ea typeface="+mj-ea"/>
                <a:cs typeface="Arial" panose="020B0604020202020204" pitchFamily="34" charset="0"/>
              </a:rPr>
              <a:t>Tutorial</a:t>
            </a:r>
            <a:endParaRPr lang="en-US" altLang="en-US" sz="6000" kern="0" dirty="0">
              <a:solidFill>
                <a:srgbClr val="000000"/>
              </a:solidFill>
              <a:effectLst/>
              <a:latin typeface="+mn-lt"/>
              <a:ea typeface="+mj-ea"/>
              <a:cs typeface="Arial" panose="020B0604020202020204" pitchFamily="34" charset="0"/>
            </a:endParaRPr>
          </a:p>
        </p:txBody>
      </p:sp>
      <p:sp>
        <p:nvSpPr>
          <p:cNvPr id="8" name="文本框 7"/>
          <p:cNvSpPr txBox="1"/>
          <p:nvPr/>
        </p:nvSpPr>
        <p:spPr>
          <a:xfrm>
            <a:off x="303313" y="1204051"/>
            <a:ext cx="8537375" cy="738664"/>
          </a:xfrm>
          <a:prstGeom prst="rect">
            <a:avLst/>
          </a:prstGeom>
          <a:noFill/>
        </p:spPr>
        <p:txBody>
          <a:bodyPr wrap="square">
            <a:spAutoFit/>
          </a:bodyPr>
          <a:lstStyle/>
          <a:p>
            <a:pPr algn="ctr"/>
            <a:r>
              <a:rPr lang="en-US" altLang="zh-CN" sz="2100" b="1" dirty="0">
                <a:solidFill>
                  <a:srgbClr val="000000"/>
                </a:solidFill>
                <a:ea typeface="+mj-ea"/>
                <a:cs typeface="Arial" panose="020B0604020202020204" pitchFamily="34" charset="0"/>
              </a:rPr>
              <a:t>Topic</a:t>
            </a:r>
            <a:r>
              <a:rPr lang="zh-CN" altLang="en-US" sz="2100" b="1" dirty="0">
                <a:solidFill>
                  <a:srgbClr val="000000"/>
                </a:solidFill>
                <a:ea typeface="+mj-ea"/>
                <a:cs typeface="Arial" panose="020B0604020202020204" pitchFamily="34" charset="0"/>
              </a:rPr>
              <a:t> </a:t>
            </a:r>
            <a:r>
              <a:rPr lang="en-US" altLang="zh-CN" sz="2100" b="1" dirty="0">
                <a:solidFill>
                  <a:srgbClr val="000000"/>
                </a:solidFill>
                <a:ea typeface="+mj-ea"/>
                <a:cs typeface="Arial" panose="020B0604020202020204" pitchFamily="34" charset="0"/>
              </a:rPr>
              <a:t>7.</a:t>
            </a:r>
            <a:r>
              <a:rPr lang="zh-CN" altLang="en-US" sz="2100" b="1" dirty="0">
                <a:solidFill>
                  <a:srgbClr val="000000"/>
                </a:solidFill>
                <a:ea typeface="+mj-ea"/>
                <a:cs typeface="Arial" panose="020B0604020202020204" pitchFamily="34" charset="0"/>
              </a:rPr>
              <a:t> </a:t>
            </a:r>
            <a:r>
              <a:rPr lang="en-US" altLang="zh-CN" sz="2100" b="1" dirty="0">
                <a:solidFill>
                  <a:srgbClr val="000000"/>
                </a:solidFill>
                <a:ea typeface="+mj-ea"/>
                <a:cs typeface="Arial" panose="020B0604020202020204" pitchFamily="34" charset="0"/>
              </a:rPr>
              <a:t>Experimental realization of the bucket-brigade quantum random access memory (Nature Physics)</a:t>
            </a:r>
          </a:p>
        </p:txBody>
      </p:sp>
      <p:grpSp>
        <p:nvGrpSpPr>
          <p:cNvPr id="9" name="组合 8"/>
          <p:cNvGrpSpPr/>
          <p:nvPr/>
        </p:nvGrpSpPr>
        <p:grpSpPr>
          <a:xfrm>
            <a:off x="738890" y="2058946"/>
            <a:ext cx="7666220" cy="1056170"/>
            <a:chOff x="966137" y="2794981"/>
            <a:chExt cx="10221626" cy="1408226"/>
          </a:xfrm>
        </p:grpSpPr>
        <p:grpSp>
          <p:nvGrpSpPr>
            <p:cNvPr id="12" name="组合 11"/>
            <p:cNvGrpSpPr/>
            <p:nvPr/>
          </p:nvGrpSpPr>
          <p:grpSpPr>
            <a:xfrm>
              <a:off x="4947109" y="3097551"/>
              <a:ext cx="3133984" cy="803086"/>
              <a:chOff x="781718" y="1247492"/>
              <a:chExt cx="3133984" cy="803086"/>
            </a:xfrm>
          </p:grpSpPr>
          <p:pic>
            <p:nvPicPr>
              <p:cNvPr id="13" name="图片 12"/>
              <p:cNvPicPr>
                <a:picLocks noChangeAspect="1"/>
              </p:cNvPicPr>
              <p:nvPr/>
            </p:nvPicPr>
            <p:blipFill rotWithShape="1">
              <a:blip r:embed="rId3"/>
              <a:srcRect t="30839" b="28332"/>
              <a:stretch>
                <a:fillRect/>
              </a:stretch>
            </p:blipFill>
            <p:spPr>
              <a:xfrm>
                <a:off x="781718" y="1247492"/>
                <a:ext cx="1966932" cy="803086"/>
              </a:xfrm>
              <a:prstGeom prst="rect">
                <a:avLst/>
              </a:prstGeom>
            </p:spPr>
          </p:pic>
          <p:sp>
            <p:nvSpPr>
              <p:cNvPr id="15" name="标题 1"/>
              <p:cNvSpPr txBox="1"/>
              <p:nvPr/>
            </p:nvSpPr>
            <p:spPr>
              <a:xfrm>
                <a:off x="2808983" y="1272892"/>
                <a:ext cx="1106719" cy="583222"/>
              </a:xfrm>
              <a:prstGeom prst="rect">
                <a:avLst/>
              </a:prstGeom>
            </p:spPr>
            <p:txBody>
              <a:bodyPr vert="horz" lIns="0" tIns="34290" rIns="0" bIns="34290" rtlCol="0" anchor="ctr">
                <a:noAutofit/>
              </a:bodyPr>
              <a:lstStyle>
                <a:lvl1pPr algn="l" defTabSz="914400" rtl="0" eaLnBrk="1" latinLnBrk="0" hangingPunct="1">
                  <a:lnSpc>
                    <a:spcPct val="90000"/>
                  </a:lnSpc>
                  <a:spcBef>
                    <a:spcPct val="0"/>
                  </a:spcBef>
                  <a:buNone/>
                  <a:defRPr sz="3600" b="1"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stStyle>
              <a:p>
                <a:pPr algn="ctr" hangingPunct="0">
                  <a:lnSpc>
                    <a:spcPct val="100000"/>
                  </a:lnSpc>
                </a:pPr>
                <a:r>
                  <a:rPr lang="en-US" altLang="zh-CN" dirty="0">
                    <a:solidFill>
                      <a:srgbClr val="221715"/>
                    </a:solidFill>
                    <a:latin typeface="+mn-lt"/>
                    <a:ea typeface="+mj-ea"/>
                    <a:sym typeface="+mn-lt"/>
                  </a:rPr>
                  <a:t>Lab</a:t>
                </a:r>
                <a:endParaRPr lang="zh-CN" altLang="en-US" dirty="0">
                  <a:solidFill>
                    <a:srgbClr val="221715"/>
                  </a:solidFill>
                  <a:latin typeface="+mn-lt"/>
                  <a:ea typeface="+mj-ea"/>
                  <a:sym typeface="+mn-lt"/>
                </a:endParaRPr>
              </a:p>
            </p:txBody>
          </p:sp>
        </p:grpSp>
        <p:grpSp>
          <p:nvGrpSpPr>
            <p:cNvPr id="18" name="组合 17"/>
            <p:cNvGrpSpPr/>
            <p:nvPr/>
          </p:nvGrpSpPr>
          <p:grpSpPr>
            <a:xfrm>
              <a:off x="8559841" y="2794981"/>
              <a:ext cx="2627922" cy="1408226"/>
              <a:chOff x="4762155" y="2766163"/>
              <a:chExt cx="2627922" cy="1408226"/>
            </a:xfrm>
          </p:grpSpPr>
          <p:pic>
            <p:nvPicPr>
              <p:cNvPr id="20" name="图片 19"/>
              <p:cNvPicPr>
                <a:picLocks noChangeAspect="1"/>
              </p:cNvPicPr>
              <p:nvPr/>
            </p:nvPicPr>
            <p:blipFill>
              <a:blip r:embed="rId4"/>
              <a:stretch>
                <a:fillRect/>
              </a:stretch>
            </p:blipFill>
            <p:spPr>
              <a:xfrm>
                <a:off x="4762155" y="2766163"/>
                <a:ext cx="1501363" cy="1408226"/>
              </a:xfrm>
              <a:prstGeom prst="rect">
                <a:avLst/>
              </a:prstGeom>
            </p:spPr>
          </p:pic>
          <p:sp>
            <p:nvSpPr>
              <p:cNvPr id="21" name="文本框 20"/>
              <p:cNvSpPr txBox="1"/>
              <p:nvPr/>
            </p:nvSpPr>
            <p:spPr>
              <a:xfrm>
                <a:off x="6190626" y="3116333"/>
                <a:ext cx="1199451" cy="737447"/>
              </a:xfrm>
              <a:prstGeom prst="rect">
                <a:avLst/>
              </a:prstGeom>
              <a:noFill/>
            </p:spPr>
            <p:txBody>
              <a:bodyPr wrap="square">
                <a:spAutoFit/>
              </a:bodyPr>
              <a:lstStyle/>
              <a:p>
                <a:pPr algn="ctr">
                  <a:lnSpc>
                    <a:spcPct val="100000"/>
                  </a:lnSpc>
                </a:pPr>
                <a:r>
                  <a:rPr lang="en-GB" altLang="zh-CN" sz="1500" b="1" dirty="0" err="1">
                    <a:solidFill>
                      <a:srgbClr val="3D77D7"/>
                    </a:solidFill>
                    <a:ea typeface="+mj-ea"/>
                    <a:cs typeface="Arial" panose="020B0604020202020204" pitchFamily="34" charset="0"/>
                  </a:rPr>
                  <a:t>JanusQ</a:t>
                </a:r>
                <a:endParaRPr lang="en-US" altLang="zh-CN" sz="1500" b="1" dirty="0">
                  <a:solidFill>
                    <a:srgbClr val="3D77D7"/>
                  </a:solidFill>
                  <a:ea typeface="+mj-ea"/>
                  <a:cs typeface="Arial" panose="020B0604020202020204" pitchFamily="34" charset="0"/>
                </a:endParaRPr>
              </a:p>
              <a:p>
                <a:pPr algn="ctr">
                  <a:lnSpc>
                    <a:spcPct val="100000"/>
                  </a:lnSpc>
                </a:pPr>
                <a:r>
                  <a:rPr lang="en-US" altLang="zh-CN" sz="1500" b="1" dirty="0">
                    <a:solidFill>
                      <a:srgbClr val="3D77D7"/>
                    </a:solidFill>
                    <a:ea typeface="+mj-ea"/>
                    <a:cs typeface="Arial" panose="020B0604020202020204" pitchFamily="34" charset="0"/>
                  </a:rPr>
                  <a:t>Cloud</a:t>
                </a:r>
                <a:endParaRPr lang="zh-CN" altLang="en-US" sz="1500" dirty="0">
                  <a:solidFill>
                    <a:srgbClr val="3D77D7"/>
                  </a:solidFill>
                  <a:ea typeface="+mj-ea"/>
                  <a:cs typeface="Arial" panose="020B0604020202020204" pitchFamily="34" charset="0"/>
                </a:endParaRPr>
              </a:p>
            </p:txBody>
          </p:sp>
        </p:grpSp>
        <p:grpSp>
          <p:nvGrpSpPr>
            <p:cNvPr id="22" name="组合 21"/>
            <p:cNvGrpSpPr/>
            <p:nvPr/>
          </p:nvGrpSpPr>
          <p:grpSpPr>
            <a:xfrm>
              <a:off x="966137" y="3044944"/>
              <a:ext cx="3502225" cy="908300"/>
              <a:chOff x="8080175" y="3500683"/>
              <a:chExt cx="3502225" cy="908300"/>
            </a:xfrm>
          </p:grpSpPr>
          <p:sp>
            <p:nvSpPr>
              <p:cNvPr id="23" name="矩形 22"/>
              <p:cNvSpPr/>
              <p:nvPr/>
            </p:nvSpPr>
            <p:spPr>
              <a:xfrm>
                <a:off x="8080175" y="3500683"/>
                <a:ext cx="3502225" cy="908300"/>
              </a:xfrm>
              <a:prstGeom prst="rect">
                <a:avLst/>
              </a:prstGeom>
              <a:solidFill>
                <a:srgbClr val="05428A"/>
              </a:solidFill>
              <a:ln>
                <a:solidFill>
                  <a:srgbClr val="0542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00000"/>
                  </a:lnSpc>
                </a:pPr>
                <a:endParaRPr kumimoji="1" lang="zh-CN" altLang="en-US" sz="1350">
                  <a:ea typeface="+mj-ea"/>
                  <a:cs typeface="Arial" panose="020B0604020202020204" pitchFamily="34" charset="0"/>
                </a:endParaRPr>
              </a:p>
            </p:txBody>
          </p:sp>
          <p:pic>
            <p:nvPicPr>
              <p:cNvPr id="2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88365" y="3676016"/>
                <a:ext cx="3285844" cy="557634"/>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0" name="组合 9"/>
          <p:cNvGrpSpPr/>
          <p:nvPr/>
        </p:nvGrpSpPr>
        <p:grpSpPr>
          <a:xfrm>
            <a:off x="1488620" y="3166780"/>
            <a:ext cx="6166760" cy="1558975"/>
            <a:chOff x="1984826" y="4222373"/>
            <a:chExt cx="8222347" cy="2078633"/>
          </a:xfrm>
        </p:grpSpPr>
        <p:sp>
          <p:nvSpPr>
            <p:cNvPr id="2" name="文本框 1"/>
            <p:cNvSpPr txBox="1"/>
            <p:nvPr/>
          </p:nvSpPr>
          <p:spPr>
            <a:xfrm>
              <a:off x="1984826" y="4860541"/>
              <a:ext cx="8222347" cy="861774"/>
            </a:xfrm>
            <a:prstGeom prst="rect">
              <a:avLst/>
            </a:prstGeom>
            <a:noFill/>
          </p:spPr>
          <p:txBody>
            <a:bodyPr wrap="square" rtlCol="0">
              <a:spAutoFit/>
            </a:bodyPr>
            <a:lstStyle/>
            <a:p>
              <a:pPr algn="ctr">
                <a:lnSpc>
                  <a:spcPct val="100000"/>
                </a:lnSpc>
              </a:pPr>
              <a:r>
                <a:rPr lang="en-GB" altLang="zh-CN" dirty="0">
                  <a:ea typeface="+mj-ea"/>
                  <a:cs typeface="Arial" panose="020B0604020202020204" pitchFamily="34" charset="0"/>
                </a:rPr>
                <a:t>College of Computer Science and Technology</a:t>
              </a:r>
              <a:endParaRPr lang="en-US" altLang="zh-CN" dirty="0">
                <a:ea typeface="+mj-ea"/>
                <a:cs typeface="Arial" panose="020B0604020202020204" pitchFamily="34" charset="0"/>
                <a:sym typeface="+mn-lt"/>
              </a:endParaRPr>
            </a:p>
            <a:p>
              <a:pPr algn="ctr">
                <a:lnSpc>
                  <a:spcPct val="100000"/>
                </a:lnSpc>
              </a:pPr>
              <a:r>
                <a:rPr lang="en-US" altLang="zh-CN" dirty="0">
                  <a:ea typeface="+mj-ea"/>
                  <a:cs typeface="Arial" panose="020B0604020202020204" pitchFamily="34" charset="0"/>
                  <a:sym typeface="+mn-lt"/>
                </a:rPr>
                <a:t>Zhejiang</a:t>
              </a:r>
              <a:r>
                <a:rPr lang="zh-CN" altLang="en-US" dirty="0">
                  <a:ea typeface="+mj-ea"/>
                  <a:cs typeface="Arial" panose="020B0604020202020204" pitchFamily="34" charset="0"/>
                  <a:sym typeface="+mn-lt"/>
                </a:rPr>
                <a:t> </a:t>
              </a:r>
              <a:r>
                <a:rPr lang="en-US" altLang="zh-CN" dirty="0">
                  <a:ea typeface="+mj-ea"/>
                  <a:cs typeface="Arial" panose="020B0604020202020204" pitchFamily="34" charset="0"/>
                  <a:sym typeface="+mn-lt"/>
                </a:rPr>
                <a:t>University</a:t>
              </a:r>
              <a:r>
                <a:rPr lang="zh-CN" altLang="en-US" dirty="0">
                  <a:ea typeface="+mj-ea"/>
                  <a:cs typeface="Arial" panose="020B0604020202020204" pitchFamily="34" charset="0"/>
                  <a:sym typeface="+mn-lt"/>
                </a:rPr>
                <a:t> </a:t>
              </a:r>
              <a:r>
                <a:rPr lang="en-US" altLang="zh-CN" dirty="0">
                  <a:ea typeface="+mj-ea"/>
                  <a:cs typeface="Arial" panose="020B0604020202020204" pitchFamily="34" charset="0"/>
                  <a:sym typeface="+mn-lt"/>
                </a:rPr>
                <a:t>(ZJU)</a:t>
              </a:r>
              <a:endParaRPr lang="zh-CN" altLang="en-US" dirty="0">
                <a:ea typeface="+mj-ea"/>
                <a:cs typeface="Arial" panose="020B0604020202020204" pitchFamily="34" charset="0"/>
                <a:sym typeface="+mn-lt"/>
              </a:endParaRPr>
            </a:p>
          </p:txBody>
        </p:sp>
        <p:sp>
          <p:nvSpPr>
            <p:cNvPr id="6" name="文本框 5"/>
            <p:cNvSpPr txBox="1"/>
            <p:nvPr/>
          </p:nvSpPr>
          <p:spPr>
            <a:xfrm>
              <a:off x="3398595" y="5808564"/>
              <a:ext cx="5394807" cy="492442"/>
            </a:xfrm>
            <a:prstGeom prst="rect">
              <a:avLst/>
            </a:prstGeom>
            <a:noFill/>
          </p:spPr>
          <p:txBody>
            <a:bodyPr wrap="square">
              <a:spAutoFit/>
            </a:bodyPr>
            <a:lstStyle/>
            <a:p>
              <a:pPr algn="ctr">
                <a:lnSpc>
                  <a:spcPct val="100000"/>
                </a:lnSpc>
              </a:pPr>
              <a:r>
                <a:rPr lang="en-US" altLang="zh-CN" dirty="0">
                  <a:ea typeface="+mj-ea"/>
                  <a:cs typeface="Arial" panose="020B0604020202020204" pitchFamily="34" charset="0"/>
                  <a:hlinkClick r:id="rId6"/>
                </a:rPr>
                <a:t>https://janusq.github.io/</a:t>
              </a:r>
              <a:endParaRPr lang="zh-CN" altLang="en-US" dirty="0">
                <a:ea typeface="+mj-ea"/>
                <a:cs typeface="Arial" panose="020B0604020202020204" pitchFamily="34" charset="0"/>
              </a:endParaRPr>
            </a:p>
          </p:txBody>
        </p:sp>
        <p:sp>
          <p:nvSpPr>
            <p:cNvPr id="25" name="文本框 24"/>
            <p:cNvSpPr txBox="1"/>
            <p:nvPr/>
          </p:nvSpPr>
          <p:spPr>
            <a:xfrm>
              <a:off x="3218386" y="4222373"/>
              <a:ext cx="5755227" cy="533480"/>
            </a:xfrm>
            <a:prstGeom prst="rect">
              <a:avLst/>
            </a:prstGeom>
            <a:noFill/>
          </p:spPr>
          <p:txBody>
            <a:bodyPr wrap="square" rtlCol="0">
              <a:spAutoFit/>
            </a:bodyPr>
            <a:lstStyle/>
            <a:p>
              <a:pPr algn="ctr">
                <a:lnSpc>
                  <a:spcPct val="100000"/>
                </a:lnSpc>
              </a:pPr>
              <a:r>
                <a:rPr lang="en-US" altLang="zh-CN" dirty="0">
                  <a:ea typeface="+mj-ea"/>
                  <a:cs typeface="Arial" panose="020B0604020202020204" pitchFamily="34" charset="0"/>
                </a:rPr>
                <a:t>Speaker: </a:t>
              </a:r>
              <a:r>
                <a:rPr lang="en-US" altLang="zh-CN" sz="2000" dirty="0" err="1">
                  <a:ea typeface="+mj-ea"/>
                  <a:cs typeface="Arial" panose="020B0604020202090204" pitchFamily="34" charset="0"/>
                </a:rPr>
                <a:t>Liqiang</a:t>
              </a:r>
              <a:r>
                <a:rPr lang="en-US" altLang="zh-CN" sz="2000" dirty="0">
                  <a:ea typeface="+mj-ea"/>
                  <a:cs typeface="Arial" panose="020B0604020202090204" pitchFamily="34" charset="0"/>
                </a:rPr>
                <a:t> Lu</a:t>
              </a:r>
              <a:endParaRPr lang="zh-CN" altLang="en-US" dirty="0">
                <a:ea typeface="+mj-ea"/>
                <a:cs typeface="Arial" panose="020B0604020202020204" pitchFamily="34" charset="0"/>
                <a:sym typeface="+mn-lt"/>
              </a:endParaRPr>
            </a:p>
          </p:txBody>
        </p:sp>
      </p:grpSp>
      <p:pic>
        <p:nvPicPr>
          <p:cNvPr id="4" name="图片 3"/>
          <p:cNvPicPr>
            <a:picLocks noChangeAspect="1"/>
          </p:cNvPicPr>
          <p:nvPr/>
        </p:nvPicPr>
        <p:blipFill>
          <a:blip r:embed="rId7"/>
          <a:stretch>
            <a:fillRect/>
          </a:stretch>
        </p:blipFill>
        <p:spPr>
          <a:xfrm>
            <a:off x="7048954" y="52570"/>
            <a:ext cx="2019892" cy="59063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9633"/>
    </mc:Choice>
    <mc:Fallback xmlns="">
      <p:transition spd="slow" advTm="3963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1480" y="281940"/>
            <a:ext cx="3048000" cy="369332"/>
          </a:xfrm>
          <a:prstGeom prst="rect">
            <a:avLst/>
          </a:prstGeom>
          <a:noFill/>
        </p:spPr>
        <p:txBody>
          <a:bodyPr wrap="square" rtlCol="0">
            <a:spAutoFit/>
          </a:bodyPr>
          <a:lstStyle/>
          <a:p>
            <a:r>
              <a:rPr lang="en-US" sz="1600" b="1" dirty="0" err="1">
                <a:solidFill>
                  <a:schemeClr val="bg1"/>
                </a:solidFill>
                <a:sym typeface="+mn-ea"/>
              </a:rPr>
              <a:t>Outline of </a:t>
            </a:r>
            <a:r>
              <a:rPr lang="en-US" b="1" dirty="0" err="1">
                <a:solidFill>
                  <a:schemeClr val="bg1"/>
                </a:solidFill>
                <a:sym typeface="+mn-ea"/>
              </a:rPr>
              <a:t>Presentation</a:t>
            </a:r>
            <a:endParaRPr lang="en-US" sz="1600" b="1" dirty="0" err="1">
              <a:solidFill>
                <a:schemeClr val="bg1"/>
              </a:solidFill>
              <a:sym typeface="+mn-ea"/>
            </a:endParaRPr>
          </a:p>
        </p:txBody>
      </p:sp>
      <p:sp>
        <p:nvSpPr>
          <p:cNvPr id="28" name="文本框 27"/>
          <p:cNvSpPr txBox="1"/>
          <p:nvPr/>
        </p:nvSpPr>
        <p:spPr>
          <a:xfrm>
            <a:off x="401287" y="898333"/>
            <a:ext cx="7791450" cy="2120004"/>
          </a:xfrm>
          <a:prstGeom prst="rect">
            <a:avLst/>
          </a:prstGeom>
          <a:noFill/>
        </p:spPr>
        <p:txBody>
          <a:bodyPr wrap="square" rtlCol="0">
            <a:spAutoFit/>
          </a:bodyPr>
          <a:lstStyle/>
          <a:p>
            <a:pPr marL="342900" indent="-285750" fontAlgn="auto">
              <a:lnSpc>
                <a:spcPct val="150000"/>
              </a:lnSpc>
              <a:buFont typeface="Arial" panose="020B0604020202020204" pitchFamily="34" charset="0"/>
              <a:buChar char="•"/>
            </a:pPr>
            <a:r>
              <a:rPr kumimoji="1" lang="en-US" altLang="zh-CN" b="1" dirty="0">
                <a:ea typeface="华文楷体" panose="02010600040101010101" pitchFamily="2" charset="-122"/>
                <a:cs typeface="Arial" panose="020B0604020202020204" pitchFamily="34" charset="0"/>
              </a:rPr>
              <a:t>Background</a:t>
            </a:r>
            <a:r>
              <a:rPr kumimoji="1" lang="zh-CN" altLang="en-US" b="1" dirty="0">
                <a:ea typeface="华文楷体" panose="02010600040101010101" pitchFamily="2" charset="-122"/>
                <a:cs typeface="Arial" panose="020B0604020202020204" pitchFamily="34" charset="0"/>
              </a:rPr>
              <a:t> </a:t>
            </a:r>
            <a:r>
              <a:rPr kumimoji="1" lang="en-US" altLang="zh-CN" b="1" dirty="0">
                <a:ea typeface="华文楷体" panose="02010600040101010101" pitchFamily="2" charset="-122"/>
                <a:cs typeface="Arial" panose="020B0604020202020204" pitchFamily="34" charset="0"/>
              </a:rPr>
              <a:t>and</a:t>
            </a:r>
            <a:r>
              <a:rPr kumimoji="1" lang="zh-CN" altLang="en-US" b="1" dirty="0">
                <a:ea typeface="华文楷体" panose="02010600040101010101" pitchFamily="2" charset="-122"/>
                <a:cs typeface="Arial" panose="020B0604020202020204" pitchFamily="34" charset="0"/>
              </a:rPr>
              <a:t> </a:t>
            </a:r>
            <a:r>
              <a:rPr kumimoji="1" lang="en-US" altLang="zh-CN" b="1" dirty="0">
                <a:ea typeface="华文楷体" panose="02010600040101010101" pitchFamily="2" charset="-122"/>
                <a:cs typeface="Arial" panose="020B0604020202020204" pitchFamily="34" charset="0"/>
              </a:rPr>
              <a:t>challenges</a:t>
            </a: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Overview</a:t>
            </a:r>
            <a:r>
              <a:rPr kumimoji="1" lang="zh-CN" altLang="en-US" dirty="0">
                <a:solidFill>
                  <a:schemeClr val="bg1">
                    <a:lumMod val="75000"/>
                  </a:schemeClr>
                </a:solidFill>
                <a:ea typeface="华文楷体" panose="02010600040101010101" pitchFamily="2" charset="-122"/>
                <a:cs typeface="Arial" panose="020B0604020202020204" pitchFamily="34" charset="0"/>
              </a:rPr>
              <a:t> </a:t>
            </a:r>
            <a:r>
              <a:rPr kumimoji="1" lang="en-US" altLang="zh-CN" dirty="0">
                <a:solidFill>
                  <a:schemeClr val="bg1">
                    <a:lumMod val="75000"/>
                  </a:schemeClr>
                </a:solidFill>
                <a:ea typeface="华文楷体" panose="02010600040101010101" pitchFamily="2" charset="-122"/>
                <a:cs typeface="Arial" panose="020B0604020202020204" pitchFamily="34" charset="0"/>
              </a:rPr>
              <a:t>of</a:t>
            </a:r>
            <a:r>
              <a:rPr kumimoji="1" lang="zh-CN" altLang="en-US" dirty="0">
                <a:solidFill>
                  <a:schemeClr val="bg1">
                    <a:lumMod val="75000"/>
                  </a:schemeClr>
                </a:solidFill>
                <a:ea typeface="华文楷体" panose="02010600040101010101" pitchFamily="2" charset="-122"/>
                <a:cs typeface="Arial" panose="020B0604020202020204" pitchFamily="34" charset="0"/>
              </a:rPr>
              <a:t> </a:t>
            </a:r>
            <a:r>
              <a:rPr kumimoji="1" lang="en-US" altLang="zh-CN" dirty="0">
                <a:solidFill>
                  <a:schemeClr val="bg1">
                    <a:lumMod val="75000"/>
                  </a:schemeClr>
                </a:solidFill>
                <a:ea typeface="华文楷体" panose="02010600040101010101" pitchFamily="2" charset="-122"/>
                <a:cs typeface="Arial" panose="020B0604020202020204" pitchFamily="34" charset="0"/>
              </a:rPr>
              <a:t>QRAM</a:t>
            </a:r>
          </a:p>
          <a:p>
            <a:pPr marL="342900" indent="-285750" fontAlgn="auto">
              <a:lnSpc>
                <a:spcPct val="150000"/>
              </a:lnSpc>
              <a:buFont typeface="Arial" panose="020B0604020202020204" pitchFamily="34" charset="0"/>
              <a:buChar char="•"/>
            </a:pPr>
            <a:r>
              <a:rPr kumimoji="1" lang="en-US" dirty="0">
                <a:solidFill>
                  <a:schemeClr val="bg1">
                    <a:lumMod val="75000"/>
                  </a:schemeClr>
                </a:solidFill>
                <a:ea typeface="华文楷体" panose="02010600040101010101" pitchFamily="2" charset="-122"/>
                <a:cs typeface="Arial" panose="020B0604020202020204" pitchFamily="34" charset="0"/>
              </a:rPr>
              <a:t>QRAM optimization</a:t>
            </a:r>
            <a:endParaRPr kumimoji="1" lang="en-US" altLang="zh-CN" dirty="0">
              <a:solidFill>
                <a:schemeClr val="bg1">
                  <a:lumMod val="75000"/>
                </a:schemeClr>
              </a:solidFill>
              <a:ea typeface="华文楷体" panose="02010600040101010101" pitchFamily="2" charset="-122"/>
              <a:cs typeface="Arial" panose="020B0604020202020204" pitchFamily="34" charset="0"/>
            </a:endParaRP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Experiment</a:t>
            </a:r>
            <a:endParaRPr kumimoji="1" lang="en-US" altLang="zh-CN" b="1" dirty="0">
              <a:solidFill>
                <a:schemeClr val="bg1">
                  <a:lumMod val="75000"/>
                </a:schemeClr>
              </a:solidFill>
              <a:ea typeface="华文楷体" panose="02010600040101010101" pitchFamily="2" charset="-122"/>
              <a:cs typeface="Arial" panose="020B0604020202020204" pitchFamily="34" charset="0"/>
            </a:endParaRP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API</a:t>
            </a:r>
            <a:r>
              <a:rPr kumimoji="1" lang="zh-CN" altLang="en-US" dirty="0">
                <a:solidFill>
                  <a:schemeClr val="bg1">
                    <a:lumMod val="75000"/>
                  </a:schemeClr>
                </a:solidFill>
                <a:ea typeface="华文楷体" panose="02010600040101010101" pitchFamily="2" charset="-122"/>
                <a:cs typeface="Arial" panose="020B0604020202020204" pitchFamily="34" charset="0"/>
              </a:rPr>
              <a:t> </a:t>
            </a:r>
            <a:r>
              <a:rPr kumimoji="1" lang="en-US" altLang="zh-CN" dirty="0">
                <a:solidFill>
                  <a:schemeClr val="bg1">
                    <a:lumMod val="75000"/>
                  </a:schemeClr>
                </a:solidFill>
                <a:ea typeface="华文楷体" panose="02010600040101010101" pitchFamily="2" charset="-122"/>
                <a:cs typeface="Arial" panose="020B0604020202020204" pitchFamily="34" charset="0"/>
              </a:rPr>
              <a:t>of</a:t>
            </a:r>
            <a:r>
              <a:rPr kumimoji="1" lang="zh-CN" altLang="en-US" dirty="0">
                <a:solidFill>
                  <a:schemeClr val="bg1">
                    <a:lumMod val="75000"/>
                  </a:schemeClr>
                </a:solidFill>
                <a:ea typeface="华文楷体" panose="02010600040101010101" pitchFamily="2" charset="-122"/>
                <a:cs typeface="Arial" panose="020B0604020202020204" pitchFamily="34" charset="0"/>
              </a:rPr>
              <a:t> </a:t>
            </a:r>
            <a:r>
              <a:rPr kumimoji="1" lang="en-US" altLang="zh-CN" dirty="0">
                <a:solidFill>
                  <a:schemeClr val="bg1">
                    <a:lumMod val="75000"/>
                  </a:schemeClr>
                </a:solidFill>
                <a:ea typeface="华文楷体" panose="02010600040101010101" pitchFamily="2" charset="-122"/>
                <a:cs typeface="Arial" panose="020B0604020202020204" pitchFamily="34" charset="0"/>
              </a:rPr>
              <a:t>QRAM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ScreenShot_2026-01-22_155701_720"/>
          <p:cNvPicPr>
            <a:picLocks noChangeAspect="1"/>
          </p:cNvPicPr>
          <p:nvPr/>
        </p:nvPicPr>
        <p:blipFill>
          <a:blip r:embed="rId3"/>
          <a:stretch>
            <a:fillRect/>
          </a:stretch>
        </p:blipFill>
        <p:spPr>
          <a:xfrm>
            <a:off x="853944" y="1767307"/>
            <a:ext cx="2356485" cy="2141220"/>
          </a:xfrm>
          <a:prstGeom prst="rect">
            <a:avLst/>
          </a:prstGeom>
        </p:spPr>
      </p:pic>
      <p:sp>
        <p:nvSpPr>
          <p:cNvPr id="12" name="矩形 11"/>
          <p:cNvSpPr/>
          <p:nvPr/>
        </p:nvSpPr>
        <p:spPr>
          <a:xfrm>
            <a:off x="2268724" y="3283052"/>
            <a:ext cx="906145" cy="64071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5000"/>
          </a:bodyPr>
          <a:lstStyle/>
          <a:p>
            <a:pPr algn="ctr">
              <a:lnSpc>
                <a:spcPct val="100000"/>
              </a:lnSpc>
            </a:pPr>
            <a:endParaRPr lang="zh-CN" altLang="en-US"/>
          </a:p>
        </p:txBody>
      </p:sp>
      <p:pic>
        <p:nvPicPr>
          <p:cNvPr id="10" name="图片 9" descr="aecbb3d315b7ad71262f46f53278ce2f"/>
          <p:cNvPicPr>
            <a:picLocks noChangeAspect="1"/>
          </p:cNvPicPr>
          <p:nvPr/>
        </p:nvPicPr>
        <p:blipFill>
          <a:blip r:embed="rId4"/>
          <a:srcRect l="16707" r="62959" b="74844"/>
          <a:stretch>
            <a:fillRect/>
          </a:stretch>
        </p:blipFill>
        <p:spPr>
          <a:xfrm>
            <a:off x="2287139" y="3283052"/>
            <a:ext cx="923290" cy="720090"/>
          </a:xfrm>
          <a:prstGeom prst="rect">
            <a:avLst/>
          </a:prstGeom>
        </p:spPr>
      </p:pic>
      <p:sp>
        <p:nvSpPr>
          <p:cNvPr id="4" name="Text 0"/>
          <p:cNvSpPr/>
          <p:nvPr/>
        </p:nvSpPr>
        <p:spPr>
          <a:xfrm>
            <a:off x="170321" y="237390"/>
            <a:ext cx="8859402" cy="481927"/>
          </a:xfrm>
          <a:prstGeom prst="rect">
            <a:avLst/>
          </a:prstGeom>
          <a:noFill/>
        </p:spPr>
        <p:txBody>
          <a:bodyPr wrap="square" lIns="95250" tIns="95250" rIns="95250" bIns="95250" rtlCol="0" anchor="t"/>
          <a:lstStyle/>
          <a:p>
            <a:pPr marL="0" indent="0">
              <a:lnSpc>
                <a:spcPct val="100000"/>
              </a:lnSpc>
              <a:spcBef>
                <a:spcPts val="375"/>
              </a:spcBef>
              <a:buNone/>
            </a:pPr>
            <a:r>
              <a:rPr lang="en-US" sz="1600" b="1" dirty="0" err="1">
                <a:solidFill>
                  <a:schemeClr val="bg1"/>
                </a:solidFill>
              </a:rPr>
              <a:t>Quantum Computing Needs QRAM for Acceleration</a:t>
            </a:r>
          </a:p>
        </p:txBody>
      </p:sp>
      <p:sp>
        <p:nvSpPr>
          <p:cNvPr id="40" name="文本框 39"/>
          <p:cNvSpPr txBox="1"/>
          <p:nvPr/>
        </p:nvSpPr>
        <p:spPr>
          <a:xfrm>
            <a:off x="251329" y="864337"/>
            <a:ext cx="8899698" cy="549275"/>
          </a:xfrm>
          <a:prstGeom prst="rect">
            <a:avLst/>
          </a:prstGeom>
          <a:noFill/>
        </p:spPr>
        <p:txBody>
          <a:bodyPr wrap="square" rtlCol="0">
            <a:noAutofit/>
          </a:bodyPr>
          <a:lstStyle/>
          <a:p>
            <a:pPr lvl="0" algn="l">
              <a:lnSpc>
                <a:spcPct val="100000"/>
              </a:lnSpc>
              <a:buClrTx/>
              <a:buSzTx/>
              <a:buFontTx/>
            </a:pPr>
            <a:r>
              <a:rPr lang="zh-CN" altLang="en-US" sz="1600" b="1" dirty="0">
                <a:sym typeface="+mn-ea"/>
              </a:rPr>
              <a:t>Quantum computing uses superposition and entanglement to show acceleration potentia</a:t>
            </a:r>
            <a:r>
              <a:rPr lang="en-US" altLang="zh-CN" sz="1600" b="1" dirty="0">
                <a:sym typeface="+mn-ea"/>
              </a:rPr>
              <a:t>l.</a:t>
            </a:r>
            <a:endParaRPr lang="zh-CN" altLang="en-US" sz="1600" b="1" dirty="0">
              <a:sym typeface="+mn-ea"/>
            </a:endParaRPr>
          </a:p>
        </p:txBody>
      </p:sp>
      <p:sp>
        <p:nvSpPr>
          <p:cNvPr id="42" name="文本框 41"/>
          <p:cNvSpPr txBox="1"/>
          <p:nvPr/>
        </p:nvSpPr>
        <p:spPr>
          <a:xfrm>
            <a:off x="319909" y="4003142"/>
            <a:ext cx="3315524" cy="831850"/>
          </a:xfrm>
          <a:prstGeom prst="rect">
            <a:avLst/>
          </a:prstGeom>
          <a:noFill/>
        </p:spPr>
        <p:txBody>
          <a:bodyPr wrap="square">
            <a:noAutofit/>
          </a:bodyPr>
          <a:lstStyle/>
          <a:p>
            <a:pPr lvl="0" indent="0" algn="l" fontAlgn="auto">
              <a:lnSpc>
                <a:spcPct val="100000"/>
              </a:lnSpc>
              <a:buClrTx/>
              <a:buSzTx/>
              <a:buFontTx/>
            </a:pPr>
            <a:r>
              <a:rPr lang="zh-CN" altLang="en-US" sz="1600" b="1" dirty="0">
                <a:cs typeface="+mn-ea"/>
                <a:sym typeface="+mn-ea"/>
              </a:rPr>
              <a:t>High-dimensional quantum information representations enable up to</a:t>
            </a:r>
            <a:r>
              <a:rPr lang="en-US" altLang="zh-CN" sz="1600" b="1" dirty="0">
                <a:cs typeface="+mn-ea"/>
                <a:sym typeface="+mn-ea"/>
              </a:rPr>
              <a:t> </a:t>
            </a:r>
            <a:r>
              <a:rPr lang="zh-CN" altLang="en-US" sz="1600" b="1" dirty="0">
                <a:cs typeface="+mn-ea"/>
                <a:sym typeface="+mn-ea"/>
              </a:rPr>
              <a:t>exponential acceleration.</a:t>
            </a:r>
          </a:p>
        </p:txBody>
      </p:sp>
      <mc:AlternateContent xmlns:mc="http://schemas.openxmlformats.org/markup-compatibility/2006" xmlns:a14="http://schemas.microsoft.com/office/drawing/2010/main">
        <mc:Choice Requires="a14">
          <p:graphicFrame>
            <p:nvGraphicFramePr>
              <p:cNvPr id="44" name="表格 4"/>
              <p:cNvGraphicFramePr>
                <a:graphicFrameLocks noGrp="1"/>
              </p:cNvGraphicFramePr>
              <p:nvPr>
                <p:extLst>
                  <p:ext uri="{D42A27DB-BD31-4B8C-83A1-F6EECF244321}">
                    <p14:modId xmlns:p14="http://schemas.microsoft.com/office/powerpoint/2010/main" val="2317552566"/>
                  </p:ext>
                </p:extLst>
              </p:nvPr>
            </p:nvGraphicFramePr>
            <p:xfrm>
              <a:off x="3698744" y="1753404"/>
              <a:ext cx="5301875" cy="2285568"/>
            </p:xfrm>
            <a:graphic>
              <a:graphicData uri="http://schemas.openxmlformats.org/drawingml/2006/table">
                <a:tbl>
                  <a:tblPr firstRow="1" bandRow="1">
                    <a:tableStyleId>{5C22544A-7EE6-4342-B048-85BDC9FD1C3A}</a:tableStyleId>
                  </a:tblPr>
                  <a:tblGrid>
                    <a:gridCol w="1167758">
                      <a:extLst>
                        <a:ext uri="{9D8B030D-6E8A-4147-A177-3AD203B41FA5}">
                          <a16:colId xmlns:a16="http://schemas.microsoft.com/office/drawing/2014/main" val="20000"/>
                        </a:ext>
                      </a:extLst>
                    </a:gridCol>
                    <a:gridCol w="1270605">
                      <a:extLst>
                        <a:ext uri="{9D8B030D-6E8A-4147-A177-3AD203B41FA5}">
                          <a16:colId xmlns:a16="http://schemas.microsoft.com/office/drawing/2014/main" val="20001"/>
                        </a:ext>
                      </a:extLst>
                    </a:gridCol>
                    <a:gridCol w="941430">
                      <a:extLst>
                        <a:ext uri="{9D8B030D-6E8A-4147-A177-3AD203B41FA5}">
                          <a16:colId xmlns:a16="http://schemas.microsoft.com/office/drawing/2014/main" val="20002"/>
                        </a:ext>
                      </a:extLst>
                    </a:gridCol>
                    <a:gridCol w="961041">
                      <a:extLst>
                        <a:ext uri="{9D8B030D-6E8A-4147-A177-3AD203B41FA5}">
                          <a16:colId xmlns:a16="http://schemas.microsoft.com/office/drawing/2014/main" val="20003"/>
                        </a:ext>
                      </a:extLst>
                    </a:gridCol>
                    <a:gridCol w="961041">
                      <a:extLst>
                        <a:ext uri="{9D8B030D-6E8A-4147-A177-3AD203B41FA5}">
                          <a16:colId xmlns:a16="http://schemas.microsoft.com/office/drawing/2014/main" val="20004"/>
                        </a:ext>
                      </a:extLst>
                    </a:gridCol>
                  </a:tblGrid>
                  <a:tr h="480413">
                    <a:tc>
                      <a:txBody>
                        <a:bodyPr/>
                        <a:lstStyle/>
                        <a:p>
                          <a:pPr algn="ctr">
                            <a:lnSpc>
                              <a:spcPct val="100000"/>
                            </a:lnSpc>
                          </a:pPr>
                          <a:r>
                            <a:rPr lang="zh-CN" altLang="en-US" sz="1200" dirty="0">
                              <a:solidFill>
                                <a:schemeClr val="tx1"/>
                              </a:solidFill>
                              <a:latin typeface="+mn-lt"/>
                            </a:rPr>
                            <a:t>Application Domain</a:t>
                          </a:r>
                        </a:p>
                      </a:txBody>
                      <a:tcPr marL="50500" marR="50500" marT="25249" marB="25249" anchor="ctr">
                        <a:solidFill>
                          <a:schemeClr val="accent2">
                            <a:lumMod val="20000"/>
                            <a:lumOff val="80000"/>
                          </a:schemeClr>
                        </a:solidFill>
                      </a:tcPr>
                    </a:tc>
                    <a:tc>
                      <a:txBody>
                        <a:bodyPr/>
                        <a:lstStyle/>
                        <a:p>
                          <a:pPr algn="ctr">
                            <a:lnSpc>
                              <a:spcPct val="100000"/>
                            </a:lnSpc>
                          </a:pPr>
                          <a:r>
                            <a:rPr lang="zh-CN" altLang="en-US" sz="1200" dirty="0">
                              <a:solidFill>
                                <a:schemeClr val="tx1"/>
                              </a:solidFill>
                              <a:latin typeface="+mn-lt"/>
                            </a:rPr>
                            <a:t>Quantum Algorithm</a:t>
                          </a:r>
                        </a:p>
                      </a:txBody>
                      <a:tcPr marL="50500" marR="50500" marT="25249" marB="25249" anchor="ctr">
                        <a:solidFill>
                          <a:schemeClr val="accent2">
                            <a:lumMod val="20000"/>
                            <a:lumOff val="80000"/>
                          </a:schemeClr>
                        </a:solidFill>
                      </a:tcPr>
                    </a:tc>
                    <a:tc>
                      <a:txBody>
                        <a:bodyPr/>
                        <a:lstStyle/>
                        <a:p>
                          <a:pPr algn="ctr">
                            <a:lnSpc>
                              <a:spcPct val="100000"/>
                            </a:lnSpc>
                          </a:pPr>
                          <a:r>
                            <a:rPr lang="zh-CN" altLang="en-US" sz="1200" dirty="0">
                              <a:solidFill>
                                <a:schemeClr val="tx1"/>
                              </a:solidFill>
                              <a:latin typeface="+mn-lt"/>
                            </a:rPr>
                            <a:t>Classical Complexity</a:t>
                          </a:r>
                        </a:p>
                      </a:txBody>
                      <a:tcPr marL="50500" marR="50500" marT="25249" marB="25249" anchor="ctr">
                        <a:solidFill>
                          <a:schemeClr val="accent2">
                            <a:lumMod val="20000"/>
                            <a:lumOff val="80000"/>
                          </a:schemeClr>
                        </a:solidFill>
                      </a:tcPr>
                    </a:tc>
                    <a:tc>
                      <a:txBody>
                        <a:bodyPr/>
                        <a:lstStyle/>
                        <a:p>
                          <a:pPr algn="ctr">
                            <a:lnSpc>
                              <a:spcPct val="100000"/>
                            </a:lnSpc>
                          </a:pPr>
                          <a:r>
                            <a:rPr lang="zh-CN" altLang="en-US" sz="1200" dirty="0">
                              <a:solidFill>
                                <a:schemeClr val="tx1"/>
                              </a:solidFill>
                              <a:latin typeface="+mn-lt"/>
                            </a:rPr>
                            <a:t>Theoretical Quantum Complexity</a:t>
                          </a:r>
                        </a:p>
                      </a:txBody>
                      <a:tcPr marL="50500" marR="50500" marT="25249" marB="25249" anchor="ctr">
                        <a:solidFill>
                          <a:schemeClr val="accent2">
                            <a:lumMod val="20000"/>
                            <a:lumOff val="80000"/>
                          </a:schemeClr>
                        </a:solidFill>
                      </a:tcPr>
                    </a:tc>
                    <a:tc>
                      <a:txBody>
                        <a:bodyPr/>
                        <a:lstStyle/>
                        <a:p>
                          <a:pPr algn="ctr">
                            <a:lnSpc>
                              <a:spcPct val="100000"/>
                            </a:lnSpc>
                          </a:pPr>
                          <a:r>
                            <a:rPr lang="en-US" altLang="zh-CN" sz="1200" dirty="0">
                              <a:solidFill>
                                <a:srgbClr val="FF0000"/>
                              </a:solidFill>
                              <a:latin typeface="+mn-lt"/>
                            </a:rPr>
                            <a:t>QRAM Complexity Requirement</a:t>
                          </a:r>
                        </a:p>
                      </a:txBody>
                      <a:tcPr marL="50500" marR="50500" marT="25249" marB="25249" anchor="ctr">
                        <a:solidFill>
                          <a:schemeClr val="accent2">
                            <a:lumMod val="20000"/>
                            <a:lumOff val="80000"/>
                          </a:schemeClr>
                        </a:solidFill>
                      </a:tcPr>
                    </a:tc>
                    <a:extLst>
                      <a:ext uri="{0D108BD9-81ED-4DB2-BD59-A6C34878D82A}">
                        <a16:rowId xmlns:a16="http://schemas.microsoft.com/office/drawing/2014/main" val="10000"/>
                      </a:ext>
                    </a:extLst>
                  </a:tr>
                  <a:tr h="335517">
                    <a:tc>
                      <a:txBody>
                        <a:bodyPr/>
                        <a:lstStyle/>
                        <a:p>
                          <a:pPr algn="ctr">
                            <a:lnSpc>
                              <a:spcPct val="100000"/>
                            </a:lnSpc>
                          </a:pPr>
                          <a:r>
                            <a:rPr lang="zh-CN" altLang="en-US" sz="1200" b="0" dirty="0">
                              <a:solidFill>
                                <a:schemeClr val="tx1"/>
                              </a:solidFill>
                              <a:latin typeface="+mn-lt"/>
                            </a:rPr>
                            <a:t>Database Search</a:t>
                          </a:r>
                        </a:p>
                      </a:txBody>
                      <a:tcPr marL="50500" marR="50500" marT="25249" marB="25249" anchor="ctr">
                        <a:solidFill>
                          <a:schemeClr val="accent1">
                            <a:lumMod val="20000"/>
                            <a:lumOff val="80000"/>
                          </a:schemeClr>
                        </a:solidFill>
                      </a:tcPr>
                    </a:tc>
                    <a:tc>
                      <a:txBody>
                        <a:bodyPr/>
                        <a:lstStyle/>
                        <a:p>
                          <a:pPr algn="l">
                            <a:lnSpc>
                              <a:spcPct val="100000"/>
                            </a:lnSpc>
                          </a:pPr>
                          <a:r>
                            <a:rPr lang="en-US" altLang="zh-CN" sz="1200" b="0" dirty="0">
                              <a:latin typeface="+mn-lt"/>
                            </a:rPr>
                            <a:t>Grover Algorithm</a:t>
                          </a: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mn-lt"/>
                            </a:rPr>
                            <a:t>N</a:t>
                          </a: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ad>
                                  <m:radPr>
                                    <m:degHide m:val="on"/>
                                    <m:ctrlPr>
                                      <a:rPr lang="en-US" altLang="zh-CN" sz="1200" i="1" smtClean="0">
                                        <a:solidFill>
                                          <a:schemeClr val="tx1"/>
                                        </a:solidFill>
                                        <a:latin typeface="Cambria Math" panose="02040503050406030204" pitchFamily="18" charset="0"/>
                                        <a:cs typeface="Cambria Math" panose="02040503050406030204" pitchFamily="18" charset="0"/>
                                      </a:rPr>
                                    </m:ctrlPr>
                                  </m:radPr>
                                  <m:deg/>
                                  <m:e>
                                    <m:r>
                                      <a:rPr lang="en-US" altLang="zh-CN" sz="1200" i="1" smtClean="0">
                                        <a:solidFill>
                                          <a:schemeClr val="tx1"/>
                                        </a:solidFill>
                                        <a:latin typeface="Cambria Math" panose="02040503050406030204" pitchFamily="18" charset="0"/>
                                        <a:cs typeface="Cambria Math" panose="02040503050406030204" pitchFamily="18" charset="0"/>
                                      </a:rPr>
                                      <m:t>𝑁</m:t>
                                    </m:r>
                                  </m:e>
                                </m:rad>
                              </m:oMath>
                            </m:oMathPara>
                          </a14:m>
                          <a:endParaRPr lang="en-US" altLang="zh-CN" sz="1200" i="1" dirty="0">
                            <a:solidFill>
                              <a:schemeClr val="tx1"/>
                            </a:solidFill>
                            <a:latin typeface="Cambria Math" panose="02040503050406030204" pitchFamily="18" charset="0"/>
                            <a:cs typeface="Cambria Math" panose="02040503050406030204" pitchFamily="18" charset="0"/>
                          </a:endParaRP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 xmlns:m="http://schemas.openxmlformats.org/officeDocument/2006/math">
                              <m:r>
                                <a:rPr lang="en-US" altLang="zh-CN" sz="1200" b="1" smtClean="0">
                                  <a:solidFill>
                                    <a:srgbClr val="C00000"/>
                                  </a:solidFill>
                                  <a:latin typeface="Cambria Math" panose="02040503050406030204" pitchFamily="18" charset="0"/>
                                </a:rPr>
                                <m:t>𝐥𝐨𝐠</m:t>
                              </m:r>
                              <m:r>
                                <a:rPr lang="zh-CN" altLang="en-US" sz="1200" b="1" i="0" smtClean="0">
                                  <a:solidFill>
                                    <a:srgbClr val="C00000"/>
                                  </a:solidFill>
                                  <a:latin typeface="Cambria Math" panose="02040503050406030204" pitchFamily="18" charset="0"/>
                                </a:rPr>
                                <m:t> </m:t>
                              </m:r>
                            </m:oMath>
                          </a14:m>
                          <a:r>
                            <a:rPr lang="en-US" altLang="zh-CN" sz="1200" b="1" dirty="0">
                              <a:solidFill>
                                <a:srgbClr val="C00000"/>
                              </a:solidFill>
                              <a:latin typeface="+mn-lt"/>
                            </a:rPr>
                            <a:t>N</a:t>
                          </a:r>
                          <a:endParaRPr lang="zh-CN" altLang="en-US" sz="1200" b="1" dirty="0">
                            <a:solidFill>
                              <a:srgbClr val="C00000"/>
                            </a:solidFill>
                            <a:latin typeface="+mn-lt"/>
                          </a:endParaRPr>
                        </a:p>
                      </a:txBody>
                      <a:tcPr marL="50500" marR="50500" marT="25249" marB="25249" anchor="ctr">
                        <a:solidFill>
                          <a:schemeClr val="accent3">
                            <a:lumMod val="20000"/>
                            <a:lumOff val="80000"/>
                          </a:schemeClr>
                        </a:solidFill>
                      </a:tcPr>
                    </a:tc>
                    <a:extLst>
                      <a:ext uri="{0D108BD9-81ED-4DB2-BD59-A6C34878D82A}">
                        <a16:rowId xmlns:a16="http://schemas.microsoft.com/office/drawing/2014/main" val="10001"/>
                      </a:ext>
                    </a:extLst>
                  </a:tr>
                  <a:tr h="419207">
                    <a:tc>
                      <a:txBody>
                        <a:bodyPr/>
                        <a:lstStyle/>
                        <a:p>
                          <a:pPr algn="ctr">
                            <a:lnSpc>
                              <a:spcPct val="100000"/>
                            </a:lnSpc>
                          </a:pPr>
                          <a:r>
                            <a:rPr lang="zh-CN" altLang="en-US" sz="1200" dirty="0">
                              <a:solidFill>
                                <a:schemeClr val="tx1"/>
                              </a:solidFill>
                              <a:latin typeface="+mn-lt"/>
                            </a:rPr>
                            <a:t>Machine Learning</a:t>
                          </a:r>
                        </a:p>
                      </a:txBody>
                      <a:tcPr marL="142925" marR="142925" marT="71462" marB="71462" anchor="ctr">
                        <a:solidFill>
                          <a:schemeClr val="accent1">
                            <a:lumMod val="20000"/>
                            <a:lumOff val="80000"/>
                          </a:schemeClr>
                        </a:solidFill>
                      </a:tcPr>
                    </a:tc>
                    <a:tc>
                      <a:txBody>
                        <a:bodyPr/>
                        <a:lstStyle/>
                        <a:p>
                          <a:pPr algn="l">
                            <a:lnSpc>
                              <a:spcPct val="100000"/>
                            </a:lnSpc>
                          </a:pPr>
                          <a:r>
                            <a:rPr lang="zh-CN" altLang="en-US" sz="1200" dirty="0">
                              <a:latin typeface="+mn-lt"/>
                            </a:rPr>
                            <a:t>Quantum Principal Component Analysis</a:t>
                          </a:r>
                        </a:p>
                      </a:txBody>
                      <a:tcPr marL="50500" marR="50500" marT="25249" marB="25249" anchor="ctr">
                        <a:solidFill>
                          <a:schemeClr val="accent3">
                            <a:lumMod val="20000"/>
                            <a:lumOff val="80000"/>
                          </a:schemeClr>
                        </a:solidFill>
                      </a:tcPr>
                    </a:tc>
                    <a:tc>
                      <a:txBody>
                        <a:bodyPr/>
                        <a:lstStyle/>
                        <a:p>
                          <a:pPr algn="ctr">
                            <a:lnSpc>
                              <a:spcPct val="100000"/>
                            </a:lnSpc>
                          </a:pPr>
                          <a:r>
                            <a:rPr lang="en-US" altLang="zh-CN" sz="1200" dirty="0">
                              <a:solidFill>
                                <a:schemeClr val="tx1"/>
                              </a:solidFill>
                              <a:sym typeface="+mn-ea"/>
                            </a:rPr>
                            <a:t>N</a:t>
                          </a:r>
                          <a:endParaRPr lang="en-US" altLang="zh-CN" sz="1200" dirty="0">
                            <a:solidFill>
                              <a:schemeClr val="tx1"/>
                            </a:solidFill>
                            <a:latin typeface="+mn-lt"/>
                            <a:sym typeface="+mn-ea"/>
                          </a:endParaRPr>
                        </a:p>
                      </a:txBody>
                      <a:tcPr marL="50500" marR="50500" marT="25249" marB="25249" anchor="ctr">
                        <a:solidFill>
                          <a:schemeClr val="accent3">
                            <a:lumMod val="20000"/>
                            <a:lumOff val="80000"/>
                          </a:schemeClr>
                        </a:solidFill>
                      </a:tcPr>
                    </a:tc>
                    <a:tc>
                      <a:txBody>
                        <a:bodyPr/>
                        <a:lstStyle/>
                        <a:p>
                          <a:pPr algn="ctr">
                            <a:lnSpc>
                              <a:spcPct val="100000"/>
                            </a:lnSpc>
                          </a:pPr>
                          <a:r>
                            <a:rPr lang="en-US" altLang="zh-CN" sz="1200" dirty="0">
                              <a:solidFill>
                                <a:schemeClr val="tx1"/>
                              </a:solidFill>
                              <a:latin typeface="+mn-lt"/>
                            </a:rPr>
                            <a:t>polylog(N)</a:t>
                          </a: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 xmlns:m="http://schemas.openxmlformats.org/officeDocument/2006/math">
                              <m:r>
                                <a:rPr lang="en-US" altLang="zh-CN" sz="1200" b="1" smtClean="0">
                                  <a:solidFill>
                                    <a:srgbClr val="C00000"/>
                                  </a:solidFill>
                                  <a:latin typeface="Cambria Math" panose="02040503050406030204" pitchFamily="18" charset="0"/>
                                </a:rPr>
                                <m:t>𝐥𝐨𝐠</m:t>
                              </m:r>
                            </m:oMath>
                          </a14:m>
                          <a:r>
                            <a:rPr lang="zh-CN" altLang="en-US" sz="1200" b="1" dirty="0">
                              <a:solidFill>
                                <a:srgbClr val="C00000"/>
                              </a:solidFill>
                              <a:latin typeface="+mn-lt"/>
                            </a:rPr>
                            <a:t> </a:t>
                          </a:r>
                          <a:r>
                            <a:rPr lang="en-US" altLang="zh-CN" sz="1200" b="1" dirty="0">
                              <a:solidFill>
                                <a:srgbClr val="C00000"/>
                              </a:solidFill>
                              <a:latin typeface="+mn-lt"/>
                            </a:rPr>
                            <a:t>N</a:t>
                          </a:r>
                          <a:endParaRPr lang="zh-CN" altLang="en-US" sz="1200" b="1" dirty="0">
                            <a:solidFill>
                              <a:srgbClr val="C00000"/>
                            </a:solidFill>
                            <a:latin typeface="+mn-lt"/>
                          </a:endParaRPr>
                        </a:p>
                      </a:txBody>
                      <a:tcPr marL="50500" marR="50500" marT="25249" marB="25249" anchor="ctr">
                        <a:solidFill>
                          <a:schemeClr val="accent3">
                            <a:lumMod val="20000"/>
                            <a:lumOff val="80000"/>
                          </a:schemeClr>
                        </a:solidFill>
                      </a:tcPr>
                    </a:tc>
                    <a:extLst>
                      <a:ext uri="{0D108BD9-81ED-4DB2-BD59-A6C34878D82A}">
                        <a16:rowId xmlns:a16="http://schemas.microsoft.com/office/drawing/2014/main" val="10002"/>
                      </a:ext>
                    </a:extLst>
                  </a:tr>
                  <a:tr h="335517">
                    <a:tc>
                      <a:txBody>
                        <a:bodyPr/>
                        <a:lstStyle/>
                        <a:p>
                          <a:pPr algn="ctr">
                            <a:lnSpc>
                              <a:spcPct val="100000"/>
                            </a:lnSpc>
                          </a:pPr>
                          <a:r>
                            <a:rPr lang="zh-CN" altLang="en-US" sz="1200" dirty="0">
                              <a:solidFill>
                                <a:schemeClr val="tx1"/>
                              </a:solidFill>
                              <a:latin typeface="+mn-lt"/>
                            </a:rPr>
                            <a:t>Chemical Simulation</a:t>
                          </a:r>
                        </a:p>
                      </a:txBody>
                      <a:tcPr marL="50500" marR="50500" marT="25249" marB="25249" anchor="ctr">
                        <a:solidFill>
                          <a:schemeClr val="accent1">
                            <a:lumMod val="20000"/>
                            <a:lumOff val="80000"/>
                          </a:schemeClr>
                        </a:solidFill>
                      </a:tcPr>
                    </a:tc>
                    <a:tc>
                      <a:txBody>
                        <a:bodyPr/>
                        <a:lstStyle/>
                        <a:p>
                          <a:pPr algn="l">
                            <a:lnSpc>
                              <a:spcPct val="100000"/>
                            </a:lnSpc>
                          </a:pPr>
                          <a:r>
                            <a:rPr lang="zh-CN" altLang="en-US" sz="1200" dirty="0">
                              <a:solidFill>
                                <a:schemeClr val="tx1"/>
                              </a:solidFill>
                              <a:latin typeface="+mn-lt"/>
                            </a:rPr>
                            <a:t>Quantum Phase Estimation</a:t>
                          </a:r>
                        </a:p>
                      </a:txBody>
                      <a:tcPr marL="50500" marR="50500" marT="25249" marB="25249" anchor="ctr">
                        <a:solidFill>
                          <a:schemeClr val="accent3">
                            <a:lumMod val="20000"/>
                            <a:lumOff val="80000"/>
                          </a:schemeClr>
                        </a:solidFill>
                      </a:tcPr>
                    </a:tc>
                    <a:tc>
                      <a:txBody>
                        <a:bodyPr/>
                        <a:lstStyle/>
                        <a:p>
                          <a:pPr algn="ctr">
                            <a:lnSpc>
                              <a:spcPct val="100000"/>
                            </a:lnSpc>
                          </a:pPr>
                          <a14:m>
                            <m:oMathPara xmlns:m="http://schemas.openxmlformats.org/officeDocument/2006/math">
                              <m:oMathParaPr>
                                <m:jc m:val="centerGroup"/>
                              </m:oMathParaPr>
                              <m:oMath xmlns:m="http://schemas.openxmlformats.org/officeDocument/2006/math">
                                <m:sSup>
                                  <m:sSupPr>
                                    <m:ctrlPr>
                                      <a:rPr lang="en-US" altLang="zh-CN" sz="1200" i="1" dirty="0">
                                        <a:solidFill>
                                          <a:schemeClr val="tx1"/>
                                        </a:solidFill>
                                        <a:latin typeface="Cambria Math" panose="02040503050406030204" pitchFamily="18" charset="0"/>
                                        <a:cs typeface="Cambria Math" panose="02040503050406030204" pitchFamily="18" charset="0"/>
                                      </a:rPr>
                                    </m:ctrlPr>
                                  </m:sSupPr>
                                  <m:e>
                                    <m:r>
                                      <a:rPr lang="en-US" altLang="zh-CN" sz="1200" i="1" dirty="0">
                                        <a:solidFill>
                                          <a:schemeClr val="tx1"/>
                                        </a:solidFill>
                                        <a:latin typeface="Cambria Math" panose="02040503050406030204" pitchFamily="18" charset="0"/>
                                        <a:ea typeface="MS Mincho" charset="0"/>
                                        <a:cs typeface="Cambria Math" panose="02040503050406030204" pitchFamily="18" charset="0"/>
                                      </a:rPr>
                                      <m:t>2</m:t>
                                    </m:r>
                                  </m:e>
                                  <m:sup>
                                    <m:r>
                                      <a:rPr lang="en-US" altLang="zh-CN" sz="1200" i="1" dirty="0">
                                        <a:solidFill>
                                          <a:schemeClr val="tx1"/>
                                        </a:solidFill>
                                        <a:latin typeface="Cambria Math" panose="02040503050406030204" pitchFamily="18" charset="0"/>
                                        <a:cs typeface="Cambria Math" panose="02040503050406030204" pitchFamily="18" charset="0"/>
                                      </a:rPr>
                                      <m:t>𝑛</m:t>
                                    </m:r>
                                  </m:sup>
                                </m:sSup>
                              </m:oMath>
                            </m:oMathPara>
                          </a14:m>
                          <a:endParaRPr lang="en-US" altLang="zh-CN" sz="1200" i="1" dirty="0">
                            <a:solidFill>
                              <a:schemeClr val="tx1"/>
                            </a:solidFill>
                            <a:latin typeface="Cambria Math" panose="02040503050406030204" pitchFamily="18" charset="0"/>
                            <a:cs typeface="Cambria Math" panose="02040503050406030204" pitchFamily="18" charset="0"/>
                          </a:endParaRPr>
                        </a:p>
                      </a:txBody>
                      <a:tcPr marL="50500" marR="50500" marT="25249" marB="25249" anchor="ctr">
                        <a:solidFill>
                          <a:schemeClr val="accent3">
                            <a:lumMod val="20000"/>
                            <a:lumOff val="80000"/>
                          </a:schemeClr>
                        </a:solidFill>
                      </a:tcPr>
                    </a:tc>
                    <a:tc>
                      <a:txBody>
                        <a:bodyPr/>
                        <a:lstStyle/>
                        <a:p>
                          <a:pPr algn="ctr">
                            <a:lnSpc>
                              <a:spcPct val="100000"/>
                            </a:lnSpc>
                          </a:pPr>
                          <a14:m>
                            <m:oMathPara xmlns:m="http://schemas.openxmlformats.org/officeDocument/2006/math">
                              <m:oMathParaPr>
                                <m:jc m:val="centerGroup"/>
                              </m:oMathParaPr>
                              <m:oMath xmlns:m="http://schemas.openxmlformats.org/officeDocument/2006/math">
                                <m:f>
                                  <m:fPr>
                                    <m:ctrlPr>
                                      <a:rPr lang="en-US" altLang="zh-CN" sz="1200" i="1" dirty="0" smtClean="0">
                                        <a:solidFill>
                                          <a:schemeClr val="tx1"/>
                                        </a:solidFill>
                                        <a:latin typeface="Cambria Math" panose="02040503050406030204" pitchFamily="18" charset="0"/>
                                        <a:cs typeface="Cambria Math" panose="02040503050406030204" pitchFamily="18" charset="0"/>
                                      </a:rPr>
                                    </m:ctrlPr>
                                  </m:fPr>
                                  <m:num>
                                    <m:r>
                                      <a:rPr lang="en-US" altLang="zh-CN" sz="1200" i="1" dirty="0">
                                        <a:solidFill>
                                          <a:schemeClr val="tx1"/>
                                        </a:solidFill>
                                        <a:latin typeface="Cambria Math" panose="02040503050406030204" pitchFamily="18" charset="0"/>
                                        <a:cs typeface="Cambria Math" panose="02040503050406030204" pitchFamily="18" charset="0"/>
                                      </a:rPr>
                                      <m:t>1</m:t>
                                    </m:r>
                                  </m:num>
                                  <m:den>
                                    <m:r>
                                      <a:rPr lang="en-US" altLang="zh-CN" sz="1200" i="1" dirty="0">
                                        <a:solidFill>
                                          <a:schemeClr val="tx1"/>
                                        </a:solidFill>
                                        <a:latin typeface="Cambria Math" panose="02040503050406030204" pitchFamily="18" charset="0"/>
                                        <a:cs typeface="Cambria Math" panose="02040503050406030204" pitchFamily="18" charset="0"/>
                                      </a:rPr>
                                      <m:t>𝜀</m:t>
                                    </m:r>
                                  </m:den>
                                </m:f>
                              </m:oMath>
                            </m:oMathPara>
                          </a14:m>
                          <a:endParaRPr lang="en-US" altLang="zh-CN" sz="1200" i="1" dirty="0">
                            <a:solidFill>
                              <a:schemeClr val="tx1"/>
                            </a:solidFill>
                            <a:latin typeface="Cambria Math" panose="02040503050406030204" pitchFamily="18" charset="0"/>
                            <a:cs typeface="Cambria Math" panose="02040503050406030204" pitchFamily="18" charset="0"/>
                          </a:endParaRP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 xmlns:m="http://schemas.openxmlformats.org/officeDocument/2006/math">
                              <m:r>
                                <a:rPr lang="en-US" altLang="zh-CN" sz="1200" b="1" smtClean="0">
                                  <a:solidFill>
                                    <a:srgbClr val="C00000"/>
                                  </a:solidFill>
                                  <a:latin typeface="Cambria Math" panose="02040503050406030204" pitchFamily="18" charset="0"/>
                                </a:rPr>
                                <m:t>𝐥𝐨𝐠</m:t>
                              </m:r>
                            </m:oMath>
                          </a14:m>
                          <a:r>
                            <a:rPr lang="zh-CN" altLang="en-US" sz="1200" b="1" dirty="0">
                              <a:solidFill>
                                <a:srgbClr val="C00000"/>
                              </a:solidFill>
                              <a:latin typeface="+mn-lt"/>
                            </a:rPr>
                            <a:t> </a:t>
                          </a:r>
                          <a:r>
                            <a:rPr lang="en-US" altLang="zh-CN" sz="1200" b="1" dirty="0">
                              <a:solidFill>
                                <a:srgbClr val="C00000"/>
                              </a:solidFill>
                              <a:latin typeface="+mn-lt"/>
                            </a:rPr>
                            <a:t>N</a:t>
                          </a:r>
                          <a:endParaRPr lang="zh-CN" altLang="en-US" sz="1200" b="1" dirty="0">
                            <a:solidFill>
                              <a:srgbClr val="C00000"/>
                            </a:solidFill>
                            <a:latin typeface="+mn-lt"/>
                          </a:endParaRPr>
                        </a:p>
                      </a:txBody>
                      <a:tcPr marL="50500" marR="50500" marT="25249" marB="25249" anchor="ctr">
                        <a:solidFill>
                          <a:schemeClr val="accent3">
                            <a:lumMod val="20000"/>
                            <a:lumOff val="80000"/>
                          </a:schemeClr>
                        </a:solidFill>
                      </a:tcPr>
                    </a:tc>
                    <a:extLst>
                      <a:ext uri="{0D108BD9-81ED-4DB2-BD59-A6C34878D82A}">
                        <a16:rowId xmlns:a16="http://schemas.microsoft.com/office/drawing/2014/main" val="10003"/>
                      </a:ext>
                    </a:extLst>
                  </a:tr>
                  <a:tr h="335517">
                    <a:tc>
                      <a:txBody>
                        <a:bodyPr/>
                        <a:lstStyle/>
                        <a:p>
                          <a:pPr algn="ctr">
                            <a:lnSpc>
                              <a:spcPct val="100000"/>
                            </a:lnSpc>
                          </a:pPr>
                          <a:r>
                            <a:rPr lang="zh-CN" altLang="en-US" sz="1200" dirty="0">
                              <a:solidFill>
                                <a:schemeClr val="tx1"/>
                              </a:solidFill>
                              <a:latin typeface="+mn-lt"/>
                            </a:rPr>
                            <a:t>Linear Systems</a:t>
                          </a:r>
                        </a:p>
                      </a:txBody>
                      <a:tcPr marL="50500" marR="50500" marT="25249" marB="25249" anchor="ctr">
                        <a:solidFill>
                          <a:schemeClr val="accent1">
                            <a:lumMod val="20000"/>
                            <a:lumOff val="80000"/>
                          </a:schemeClr>
                        </a:solidFill>
                      </a:tcPr>
                    </a:tc>
                    <a:tc>
                      <a:txBody>
                        <a:bodyPr/>
                        <a:lstStyle/>
                        <a:p>
                          <a:pPr algn="l">
                            <a:lnSpc>
                              <a:spcPct val="100000"/>
                            </a:lnSpc>
                          </a:pPr>
                          <a:r>
                            <a:rPr lang="en-US" altLang="zh-CN" sz="1200" dirty="0">
                              <a:solidFill>
                                <a:schemeClr val="tx1"/>
                              </a:solidFill>
                              <a:latin typeface="+mn-lt"/>
                            </a:rPr>
                            <a:t>HHL Algorithm</a:t>
                          </a: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sym typeface="+mn-ea"/>
                            </a:rPr>
                            <a:t>N</a:t>
                          </a:r>
                          <a:endParaRPr lang="en-US" altLang="zh-CN" sz="1200" dirty="0">
                            <a:solidFill>
                              <a:schemeClr val="tx1"/>
                            </a:solidFill>
                            <a:latin typeface="+mn-lt"/>
                            <a:sym typeface="+mn-ea"/>
                          </a:endParaRP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mn-lt"/>
                            </a:rPr>
                            <a:t>polylog(N)</a:t>
                          </a: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 xmlns:m="http://schemas.openxmlformats.org/officeDocument/2006/math">
                              <m:r>
                                <a:rPr lang="en-US" altLang="zh-CN" sz="1200" b="1" smtClean="0">
                                  <a:solidFill>
                                    <a:srgbClr val="C00000"/>
                                  </a:solidFill>
                                  <a:latin typeface="Cambria Math" panose="02040503050406030204" pitchFamily="18" charset="0"/>
                                </a:rPr>
                                <m:t>𝐥𝐨𝐠</m:t>
                              </m:r>
                            </m:oMath>
                          </a14:m>
                          <a:r>
                            <a:rPr lang="zh-CN" altLang="en-US" sz="1200" b="1" dirty="0">
                              <a:solidFill>
                                <a:srgbClr val="C00000"/>
                              </a:solidFill>
                              <a:latin typeface="+mn-lt"/>
                            </a:rPr>
                            <a:t> </a:t>
                          </a:r>
                          <a:r>
                            <a:rPr lang="en-US" altLang="zh-CN" sz="1200" b="1" dirty="0">
                              <a:solidFill>
                                <a:srgbClr val="C00000"/>
                              </a:solidFill>
                              <a:latin typeface="+mn-lt"/>
                            </a:rPr>
                            <a:t>N</a:t>
                          </a:r>
                          <a:endParaRPr lang="zh-CN" altLang="en-US" sz="1200" b="1" dirty="0">
                            <a:solidFill>
                              <a:srgbClr val="C00000"/>
                            </a:solidFill>
                            <a:latin typeface="+mn-lt"/>
                          </a:endParaRPr>
                        </a:p>
                      </a:txBody>
                      <a:tcPr marL="50500" marR="50500" marT="25249" marB="25249" anchor="ctr">
                        <a:solidFill>
                          <a:schemeClr val="accent3">
                            <a:lumMod val="20000"/>
                            <a:lumOff val="80000"/>
                          </a:schemeClr>
                        </a:solidFill>
                      </a:tcPr>
                    </a:tc>
                    <a:extLst>
                      <a:ext uri="{0D108BD9-81ED-4DB2-BD59-A6C34878D82A}">
                        <a16:rowId xmlns:a16="http://schemas.microsoft.com/office/drawing/2014/main" val="10004"/>
                      </a:ext>
                    </a:extLst>
                  </a:tr>
                </a:tbl>
              </a:graphicData>
            </a:graphic>
          </p:graphicFrame>
        </mc:Choice>
        <mc:Fallback xmlns="">
          <p:graphicFrame>
            <p:nvGraphicFramePr>
              <p:cNvPr id="44" name="表格 4"/>
              <p:cNvGraphicFramePr>
                <a:graphicFrameLocks noGrp="1"/>
              </p:cNvGraphicFramePr>
              <p:nvPr>
                <p:extLst>
                  <p:ext uri="{D42A27DB-BD31-4B8C-83A1-F6EECF244321}">
                    <p14:modId xmlns:p14="http://schemas.microsoft.com/office/powerpoint/2010/main" val="2317552566"/>
                  </p:ext>
                </p:extLst>
              </p:nvPr>
            </p:nvGraphicFramePr>
            <p:xfrm>
              <a:off x="3698744" y="1753404"/>
              <a:ext cx="5301875" cy="2285568"/>
            </p:xfrm>
            <a:graphic>
              <a:graphicData uri="http://schemas.openxmlformats.org/drawingml/2006/table">
                <a:tbl>
                  <a:tblPr firstRow="1" bandRow="1">
                    <a:tableStyleId>{5C22544A-7EE6-4342-B048-85BDC9FD1C3A}</a:tableStyleId>
                  </a:tblPr>
                  <a:tblGrid>
                    <a:gridCol w="1167758">
                      <a:extLst>
                        <a:ext uri="{9D8B030D-6E8A-4147-A177-3AD203B41FA5}">
                          <a16:colId xmlns:a16="http://schemas.microsoft.com/office/drawing/2014/main" val="20000"/>
                        </a:ext>
                      </a:extLst>
                    </a:gridCol>
                    <a:gridCol w="1270605">
                      <a:extLst>
                        <a:ext uri="{9D8B030D-6E8A-4147-A177-3AD203B41FA5}">
                          <a16:colId xmlns:a16="http://schemas.microsoft.com/office/drawing/2014/main" val="20001"/>
                        </a:ext>
                      </a:extLst>
                    </a:gridCol>
                    <a:gridCol w="941430">
                      <a:extLst>
                        <a:ext uri="{9D8B030D-6E8A-4147-A177-3AD203B41FA5}">
                          <a16:colId xmlns:a16="http://schemas.microsoft.com/office/drawing/2014/main" val="20002"/>
                        </a:ext>
                      </a:extLst>
                    </a:gridCol>
                    <a:gridCol w="961041">
                      <a:extLst>
                        <a:ext uri="{9D8B030D-6E8A-4147-A177-3AD203B41FA5}">
                          <a16:colId xmlns:a16="http://schemas.microsoft.com/office/drawing/2014/main" val="20003"/>
                        </a:ext>
                      </a:extLst>
                    </a:gridCol>
                    <a:gridCol w="961041">
                      <a:extLst>
                        <a:ext uri="{9D8B030D-6E8A-4147-A177-3AD203B41FA5}">
                          <a16:colId xmlns:a16="http://schemas.microsoft.com/office/drawing/2014/main" val="20004"/>
                        </a:ext>
                      </a:extLst>
                    </a:gridCol>
                  </a:tblGrid>
                  <a:tr h="599138">
                    <a:tc>
                      <a:txBody>
                        <a:bodyPr/>
                        <a:lstStyle/>
                        <a:p>
                          <a:pPr algn="ctr">
                            <a:lnSpc>
                              <a:spcPct val="100000"/>
                            </a:lnSpc>
                          </a:pPr>
                          <a:r>
                            <a:rPr lang="zh-CN" altLang="en-US" sz="1200" dirty="0">
                              <a:solidFill>
                                <a:schemeClr val="tx1"/>
                              </a:solidFill>
                              <a:latin typeface="+mn-lt"/>
                            </a:rPr>
                            <a:t>Application Domain</a:t>
                          </a:r>
                        </a:p>
                      </a:txBody>
                      <a:tcPr marL="50500" marR="50500" marT="25249" marB="25249" anchor="ctr">
                        <a:solidFill>
                          <a:schemeClr val="accent2">
                            <a:lumMod val="20000"/>
                            <a:lumOff val="80000"/>
                          </a:schemeClr>
                        </a:solidFill>
                      </a:tcPr>
                    </a:tc>
                    <a:tc>
                      <a:txBody>
                        <a:bodyPr/>
                        <a:lstStyle/>
                        <a:p>
                          <a:pPr algn="ctr">
                            <a:lnSpc>
                              <a:spcPct val="100000"/>
                            </a:lnSpc>
                          </a:pPr>
                          <a:r>
                            <a:rPr lang="zh-CN" altLang="en-US" sz="1200" dirty="0">
                              <a:solidFill>
                                <a:schemeClr val="tx1"/>
                              </a:solidFill>
                              <a:latin typeface="+mn-lt"/>
                            </a:rPr>
                            <a:t>Quantum Algorithm</a:t>
                          </a:r>
                        </a:p>
                      </a:txBody>
                      <a:tcPr marL="50500" marR="50500" marT="25249" marB="25249" anchor="ctr">
                        <a:solidFill>
                          <a:schemeClr val="accent2">
                            <a:lumMod val="20000"/>
                            <a:lumOff val="80000"/>
                          </a:schemeClr>
                        </a:solidFill>
                      </a:tcPr>
                    </a:tc>
                    <a:tc>
                      <a:txBody>
                        <a:bodyPr/>
                        <a:lstStyle/>
                        <a:p>
                          <a:pPr algn="ctr">
                            <a:lnSpc>
                              <a:spcPct val="100000"/>
                            </a:lnSpc>
                          </a:pPr>
                          <a:r>
                            <a:rPr lang="zh-CN" altLang="en-US" sz="1200" dirty="0">
                              <a:solidFill>
                                <a:schemeClr val="tx1"/>
                              </a:solidFill>
                              <a:latin typeface="+mn-lt"/>
                            </a:rPr>
                            <a:t>Classical Complexity</a:t>
                          </a:r>
                        </a:p>
                      </a:txBody>
                      <a:tcPr marL="50500" marR="50500" marT="25249" marB="25249" anchor="ctr">
                        <a:solidFill>
                          <a:schemeClr val="accent2">
                            <a:lumMod val="20000"/>
                            <a:lumOff val="80000"/>
                          </a:schemeClr>
                        </a:solidFill>
                      </a:tcPr>
                    </a:tc>
                    <a:tc>
                      <a:txBody>
                        <a:bodyPr/>
                        <a:lstStyle/>
                        <a:p>
                          <a:pPr algn="ctr">
                            <a:lnSpc>
                              <a:spcPct val="100000"/>
                            </a:lnSpc>
                          </a:pPr>
                          <a:r>
                            <a:rPr lang="zh-CN" altLang="en-US" sz="1200" dirty="0">
                              <a:solidFill>
                                <a:schemeClr val="tx1"/>
                              </a:solidFill>
                              <a:latin typeface="+mn-lt"/>
                            </a:rPr>
                            <a:t>Theoretical Quantum Complexity</a:t>
                          </a:r>
                        </a:p>
                      </a:txBody>
                      <a:tcPr marL="50500" marR="50500" marT="25249" marB="25249" anchor="ctr">
                        <a:solidFill>
                          <a:schemeClr val="accent2">
                            <a:lumMod val="20000"/>
                            <a:lumOff val="80000"/>
                          </a:schemeClr>
                        </a:solidFill>
                      </a:tcPr>
                    </a:tc>
                    <a:tc>
                      <a:txBody>
                        <a:bodyPr/>
                        <a:lstStyle/>
                        <a:p>
                          <a:pPr algn="ctr">
                            <a:lnSpc>
                              <a:spcPct val="100000"/>
                            </a:lnSpc>
                          </a:pPr>
                          <a:r>
                            <a:rPr lang="en-US" altLang="zh-CN" sz="1200" dirty="0">
                              <a:solidFill>
                                <a:srgbClr val="FF0000"/>
                              </a:solidFill>
                              <a:latin typeface="+mn-lt"/>
                            </a:rPr>
                            <a:t>QRAM Complexity Requirement</a:t>
                          </a:r>
                        </a:p>
                      </a:txBody>
                      <a:tcPr marL="50500" marR="50500" marT="25249" marB="25249" anchor="ctr">
                        <a:solidFill>
                          <a:schemeClr val="accent2">
                            <a:lumMod val="20000"/>
                            <a:lumOff val="80000"/>
                          </a:schemeClr>
                        </a:solidFill>
                      </a:tcPr>
                    </a:tc>
                    <a:extLst>
                      <a:ext uri="{0D108BD9-81ED-4DB2-BD59-A6C34878D82A}">
                        <a16:rowId xmlns:a16="http://schemas.microsoft.com/office/drawing/2014/main" val="10000"/>
                      </a:ext>
                    </a:extLst>
                  </a:tr>
                  <a:tr h="335517">
                    <a:tc>
                      <a:txBody>
                        <a:bodyPr/>
                        <a:lstStyle/>
                        <a:p>
                          <a:pPr algn="ctr">
                            <a:lnSpc>
                              <a:spcPct val="100000"/>
                            </a:lnSpc>
                          </a:pPr>
                          <a:r>
                            <a:rPr lang="zh-CN" altLang="en-US" sz="1200" b="0" dirty="0">
                              <a:solidFill>
                                <a:schemeClr val="tx1"/>
                              </a:solidFill>
                              <a:latin typeface="+mn-lt"/>
                            </a:rPr>
                            <a:t>Database Search</a:t>
                          </a:r>
                        </a:p>
                      </a:txBody>
                      <a:tcPr marL="50500" marR="50500" marT="25249" marB="25249" anchor="ctr">
                        <a:solidFill>
                          <a:schemeClr val="accent1">
                            <a:lumMod val="20000"/>
                            <a:lumOff val="80000"/>
                          </a:schemeClr>
                        </a:solidFill>
                      </a:tcPr>
                    </a:tc>
                    <a:tc>
                      <a:txBody>
                        <a:bodyPr/>
                        <a:lstStyle/>
                        <a:p>
                          <a:pPr algn="l">
                            <a:lnSpc>
                              <a:spcPct val="100000"/>
                            </a:lnSpc>
                          </a:pPr>
                          <a:r>
                            <a:rPr lang="en-US" altLang="zh-CN" sz="1200" b="0" dirty="0">
                              <a:latin typeface="+mn-lt"/>
                            </a:rPr>
                            <a:t>Grover Algorithm</a:t>
                          </a: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mn-lt"/>
                            </a:rPr>
                            <a:t>N</a:t>
                          </a:r>
                        </a:p>
                      </a:txBody>
                      <a:tcPr marL="50500" marR="50500" marT="25249" marB="25249" anchor="ctr">
                        <a:solidFill>
                          <a:schemeClr val="accent3">
                            <a:lumMod val="20000"/>
                            <a:lumOff val="80000"/>
                          </a:schemeClr>
                        </a:solidFill>
                      </a:tcPr>
                    </a:tc>
                    <a:tc>
                      <a:txBody>
                        <a:bodyPr/>
                        <a:lstStyle/>
                        <a:p>
                          <a:endParaRPr lang="zh-CN"/>
                        </a:p>
                      </a:txBody>
                      <a:tcPr marL="50500" marR="50500" marT="25249" marB="25249" anchor="ctr">
                        <a:blipFill>
                          <a:blip r:embed="rId5"/>
                          <a:stretch>
                            <a:fillRect l="-351316" t="-181481" r="-102632" b="-400000"/>
                          </a:stretch>
                        </a:blipFill>
                      </a:tcPr>
                    </a:tc>
                    <a:tc>
                      <a:txBody>
                        <a:bodyPr/>
                        <a:lstStyle/>
                        <a:p>
                          <a:endParaRPr lang="zh-CN"/>
                        </a:p>
                      </a:txBody>
                      <a:tcPr marL="50500" marR="50500" marT="25249" marB="25249" anchor="ctr">
                        <a:blipFill>
                          <a:blip r:embed="rId5"/>
                          <a:stretch>
                            <a:fillRect l="-451316" t="-181481" r="-2632" b="-400000"/>
                          </a:stretch>
                        </a:blipFill>
                      </a:tcPr>
                    </a:tc>
                    <a:extLst>
                      <a:ext uri="{0D108BD9-81ED-4DB2-BD59-A6C34878D82A}">
                        <a16:rowId xmlns:a16="http://schemas.microsoft.com/office/drawing/2014/main" val="10001"/>
                      </a:ext>
                    </a:extLst>
                  </a:tr>
                  <a:tr h="599138">
                    <a:tc>
                      <a:txBody>
                        <a:bodyPr/>
                        <a:lstStyle/>
                        <a:p>
                          <a:pPr algn="ctr">
                            <a:lnSpc>
                              <a:spcPct val="100000"/>
                            </a:lnSpc>
                          </a:pPr>
                          <a:r>
                            <a:rPr lang="zh-CN" altLang="en-US" sz="1200" dirty="0">
                              <a:solidFill>
                                <a:schemeClr val="tx1"/>
                              </a:solidFill>
                              <a:latin typeface="+mn-lt"/>
                            </a:rPr>
                            <a:t>Machine Learning</a:t>
                          </a:r>
                        </a:p>
                      </a:txBody>
                      <a:tcPr marL="142925" marR="142925" marT="71462" marB="71462" anchor="ctr">
                        <a:solidFill>
                          <a:schemeClr val="accent1">
                            <a:lumMod val="20000"/>
                            <a:lumOff val="80000"/>
                          </a:schemeClr>
                        </a:solidFill>
                      </a:tcPr>
                    </a:tc>
                    <a:tc>
                      <a:txBody>
                        <a:bodyPr/>
                        <a:lstStyle/>
                        <a:p>
                          <a:pPr algn="l">
                            <a:lnSpc>
                              <a:spcPct val="100000"/>
                            </a:lnSpc>
                          </a:pPr>
                          <a:r>
                            <a:rPr lang="zh-CN" altLang="en-US" sz="1200" dirty="0">
                              <a:latin typeface="+mn-lt"/>
                            </a:rPr>
                            <a:t>Quantum Principal Component Analysis</a:t>
                          </a:r>
                        </a:p>
                      </a:txBody>
                      <a:tcPr marL="50500" marR="50500" marT="25249" marB="25249" anchor="ctr">
                        <a:solidFill>
                          <a:schemeClr val="accent3">
                            <a:lumMod val="20000"/>
                            <a:lumOff val="80000"/>
                          </a:schemeClr>
                        </a:solidFill>
                      </a:tcPr>
                    </a:tc>
                    <a:tc>
                      <a:txBody>
                        <a:bodyPr/>
                        <a:lstStyle/>
                        <a:p>
                          <a:pPr algn="ctr">
                            <a:lnSpc>
                              <a:spcPct val="100000"/>
                            </a:lnSpc>
                          </a:pPr>
                          <a:r>
                            <a:rPr lang="en-US" altLang="zh-CN" sz="1200" dirty="0">
                              <a:solidFill>
                                <a:schemeClr val="tx1"/>
                              </a:solidFill>
                              <a:sym typeface="+mn-ea"/>
                            </a:rPr>
                            <a:t>N</a:t>
                          </a:r>
                          <a:endParaRPr lang="en-US" altLang="zh-CN" sz="1200" dirty="0">
                            <a:solidFill>
                              <a:schemeClr val="tx1"/>
                            </a:solidFill>
                            <a:latin typeface="+mn-lt"/>
                            <a:sym typeface="+mn-ea"/>
                          </a:endParaRPr>
                        </a:p>
                      </a:txBody>
                      <a:tcPr marL="50500" marR="50500" marT="25249" marB="25249" anchor="ctr">
                        <a:solidFill>
                          <a:schemeClr val="accent3">
                            <a:lumMod val="20000"/>
                            <a:lumOff val="80000"/>
                          </a:schemeClr>
                        </a:solidFill>
                      </a:tcPr>
                    </a:tc>
                    <a:tc>
                      <a:txBody>
                        <a:bodyPr/>
                        <a:lstStyle/>
                        <a:p>
                          <a:pPr algn="ctr">
                            <a:lnSpc>
                              <a:spcPct val="100000"/>
                            </a:lnSpc>
                          </a:pPr>
                          <a:r>
                            <a:rPr lang="en-US" altLang="zh-CN" sz="1200" dirty="0">
                              <a:solidFill>
                                <a:schemeClr val="tx1"/>
                              </a:solidFill>
                              <a:latin typeface="+mn-lt"/>
                            </a:rPr>
                            <a:t>polylog(N)</a:t>
                          </a:r>
                        </a:p>
                      </a:txBody>
                      <a:tcPr marL="50500" marR="50500" marT="25249" marB="25249" anchor="ctr">
                        <a:solidFill>
                          <a:schemeClr val="accent3">
                            <a:lumMod val="20000"/>
                            <a:lumOff val="80000"/>
                          </a:schemeClr>
                        </a:solidFill>
                      </a:tcPr>
                    </a:tc>
                    <a:tc>
                      <a:txBody>
                        <a:bodyPr/>
                        <a:lstStyle/>
                        <a:p>
                          <a:endParaRPr lang="zh-CN"/>
                        </a:p>
                      </a:txBody>
                      <a:tcPr marL="50500" marR="50500" marT="25249" marB="25249" anchor="ctr">
                        <a:blipFill>
                          <a:blip r:embed="rId5"/>
                          <a:stretch>
                            <a:fillRect l="-451316" t="-161702" r="-2632" b="-129787"/>
                          </a:stretch>
                        </a:blipFill>
                      </a:tcPr>
                    </a:tc>
                    <a:extLst>
                      <a:ext uri="{0D108BD9-81ED-4DB2-BD59-A6C34878D82A}">
                        <a16:rowId xmlns:a16="http://schemas.microsoft.com/office/drawing/2014/main" val="10002"/>
                      </a:ext>
                    </a:extLst>
                  </a:tr>
                  <a:tr h="416258">
                    <a:tc>
                      <a:txBody>
                        <a:bodyPr/>
                        <a:lstStyle/>
                        <a:p>
                          <a:pPr algn="ctr">
                            <a:lnSpc>
                              <a:spcPct val="100000"/>
                            </a:lnSpc>
                          </a:pPr>
                          <a:r>
                            <a:rPr lang="zh-CN" altLang="en-US" sz="1200" dirty="0">
                              <a:solidFill>
                                <a:schemeClr val="tx1"/>
                              </a:solidFill>
                              <a:latin typeface="+mn-lt"/>
                            </a:rPr>
                            <a:t>Chemical Simulation</a:t>
                          </a:r>
                        </a:p>
                      </a:txBody>
                      <a:tcPr marL="50500" marR="50500" marT="25249" marB="25249" anchor="ctr">
                        <a:solidFill>
                          <a:schemeClr val="accent1">
                            <a:lumMod val="20000"/>
                            <a:lumOff val="80000"/>
                          </a:schemeClr>
                        </a:solidFill>
                      </a:tcPr>
                    </a:tc>
                    <a:tc>
                      <a:txBody>
                        <a:bodyPr/>
                        <a:lstStyle/>
                        <a:p>
                          <a:pPr algn="l">
                            <a:lnSpc>
                              <a:spcPct val="100000"/>
                            </a:lnSpc>
                          </a:pPr>
                          <a:r>
                            <a:rPr lang="zh-CN" altLang="en-US" sz="1200" dirty="0">
                              <a:solidFill>
                                <a:schemeClr val="tx1"/>
                              </a:solidFill>
                              <a:latin typeface="+mn-lt"/>
                            </a:rPr>
                            <a:t>Quantum Phase Estimation</a:t>
                          </a:r>
                        </a:p>
                      </a:txBody>
                      <a:tcPr marL="50500" marR="50500" marT="25249" marB="25249" anchor="ctr">
                        <a:solidFill>
                          <a:schemeClr val="accent3">
                            <a:lumMod val="20000"/>
                            <a:lumOff val="80000"/>
                          </a:schemeClr>
                        </a:solidFill>
                      </a:tcPr>
                    </a:tc>
                    <a:tc>
                      <a:txBody>
                        <a:bodyPr/>
                        <a:lstStyle/>
                        <a:p>
                          <a:endParaRPr lang="zh-CN"/>
                        </a:p>
                      </a:txBody>
                      <a:tcPr marL="50500" marR="50500" marT="25249" marB="25249" anchor="ctr">
                        <a:blipFill>
                          <a:blip r:embed="rId5"/>
                          <a:stretch>
                            <a:fillRect l="-260811" t="-372727" r="-208108" b="-84848"/>
                          </a:stretch>
                        </a:blipFill>
                      </a:tcPr>
                    </a:tc>
                    <a:tc>
                      <a:txBody>
                        <a:bodyPr/>
                        <a:lstStyle/>
                        <a:p>
                          <a:endParaRPr lang="zh-CN"/>
                        </a:p>
                      </a:txBody>
                      <a:tcPr marL="50500" marR="50500" marT="25249" marB="25249" anchor="ctr">
                        <a:blipFill>
                          <a:blip r:embed="rId5"/>
                          <a:stretch>
                            <a:fillRect l="-351316" t="-372727" r="-102632" b="-84848"/>
                          </a:stretch>
                        </a:blipFill>
                      </a:tcPr>
                    </a:tc>
                    <a:tc>
                      <a:txBody>
                        <a:bodyPr/>
                        <a:lstStyle/>
                        <a:p>
                          <a:endParaRPr lang="zh-CN"/>
                        </a:p>
                      </a:txBody>
                      <a:tcPr marL="50500" marR="50500" marT="25249" marB="25249" anchor="ctr">
                        <a:blipFill>
                          <a:blip r:embed="rId5"/>
                          <a:stretch>
                            <a:fillRect l="-451316" t="-372727" r="-2632" b="-84848"/>
                          </a:stretch>
                        </a:blipFill>
                      </a:tcPr>
                    </a:tc>
                    <a:extLst>
                      <a:ext uri="{0D108BD9-81ED-4DB2-BD59-A6C34878D82A}">
                        <a16:rowId xmlns:a16="http://schemas.microsoft.com/office/drawing/2014/main" val="10003"/>
                      </a:ext>
                    </a:extLst>
                  </a:tr>
                  <a:tr h="335517">
                    <a:tc>
                      <a:txBody>
                        <a:bodyPr/>
                        <a:lstStyle/>
                        <a:p>
                          <a:pPr algn="ctr">
                            <a:lnSpc>
                              <a:spcPct val="100000"/>
                            </a:lnSpc>
                          </a:pPr>
                          <a:r>
                            <a:rPr lang="zh-CN" altLang="en-US" sz="1200" dirty="0">
                              <a:solidFill>
                                <a:schemeClr val="tx1"/>
                              </a:solidFill>
                              <a:latin typeface="+mn-lt"/>
                            </a:rPr>
                            <a:t>Linear Systems</a:t>
                          </a:r>
                        </a:p>
                      </a:txBody>
                      <a:tcPr marL="50500" marR="50500" marT="25249" marB="25249" anchor="ctr">
                        <a:solidFill>
                          <a:schemeClr val="accent1">
                            <a:lumMod val="20000"/>
                            <a:lumOff val="80000"/>
                          </a:schemeClr>
                        </a:solidFill>
                      </a:tcPr>
                    </a:tc>
                    <a:tc>
                      <a:txBody>
                        <a:bodyPr/>
                        <a:lstStyle/>
                        <a:p>
                          <a:pPr algn="l">
                            <a:lnSpc>
                              <a:spcPct val="100000"/>
                            </a:lnSpc>
                          </a:pPr>
                          <a:r>
                            <a:rPr lang="en-US" altLang="zh-CN" sz="1200" dirty="0">
                              <a:solidFill>
                                <a:schemeClr val="tx1"/>
                              </a:solidFill>
                              <a:latin typeface="+mn-lt"/>
                            </a:rPr>
                            <a:t>HHL Algorithm</a:t>
                          </a: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sym typeface="+mn-ea"/>
                            </a:rPr>
                            <a:t>N</a:t>
                          </a:r>
                          <a:endParaRPr lang="en-US" altLang="zh-CN" sz="1200" dirty="0">
                            <a:solidFill>
                              <a:schemeClr val="tx1"/>
                            </a:solidFill>
                            <a:latin typeface="+mn-lt"/>
                            <a:sym typeface="+mn-ea"/>
                          </a:endParaRP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mn-lt"/>
                            </a:rPr>
                            <a:t>polylog(N)</a:t>
                          </a:r>
                        </a:p>
                      </a:txBody>
                      <a:tcPr marL="50500" marR="50500" marT="25249" marB="25249" anchor="ctr">
                        <a:solidFill>
                          <a:schemeClr val="accent3">
                            <a:lumMod val="20000"/>
                            <a:lumOff val="80000"/>
                          </a:schemeClr>
                        </a:solidFill>
                      </a:tcPr>
                    </a:tc>
                    <a:tc>
                      <a:txBody>
                        <a:bodyPr/>
                        <a:lstStyle/>
                        <a:p>
                          <a:endParaRPr lang="zh-CN"/>
                        </a:p>
                      </a:txBody>
                      <a:tcPr marL="50500" marR="50500" marT="25249" marB="25249" anchor="ctr">
                        <a:blipFill>
                          <a:blip r:embed="rId5"/>
                          <a:stretch>
                            <a:fillRect l="-451316" t="-577778" r="-2632" b="-3704"/>
                          </a:stretch>
                        </a:blipFill>
                      </a:tcPr>
                    </a:tc>
                    <a:extLst>
                      <a:ext uri="{0D108BD9-81ED-4DB2-BD59-A6C34878D82A}">
                        <a16:rowId xmlns:a16="http://schemas.microsoft.com/office/drawing/2014/main" val="10004"/>
                      </a:ext>
                    </a:extLst>
                  </a:tr>
                </a:tbl>
              </a:graphicData>
            </a:graphic>
          </p:graphicFrame>
        </mc:Fallback>
      </mc:AlternateContent>
      <p:sp>
        <p:nvSpPr>
          <p:cNvPr id="45" name="文本框 44"/>
          <p:cNvSpPr txBox="1"/>
          <p:nvPr/>
        </p:nvSpPr>
        <p:spPr>
          <a:xfrm>
            <a:off x="3698744" y="4179984"/>
            <a:ext cx="5330980" cy="583565"/>
          </a:xfrm>
          <a:prstGeom prst="rect">
            <a:avLst/>
          </a:prstGeom>
          <a:noFill/>
        </p:spPr>
        <p:txBody>
          <a:bodyPr wrap="square">
            <a:noAutofit/>
          </a:bodyPr>
          <a:lstStyle/>
          <a:p>
            <a:pPr lvl="0" algn="l">
              <a:lnSpc>
                <a:spcPct val="100000"/>
              </a:lnSpc>
              <a:buClrTx/>
              <a:buSzTx/>
              <a:buFontTx/>
            </a:pPr>
            <a:r>
              <a:rPr lang="zh-CN" altLang="en-US" sz="1600" b="1" dirty="0">
                <a:cs typeface="+mn-ea"/>
                <a:sym typeface="+mn-lt"/>
              </a:rPr>
              <a:t>Quantum algorithms have acceleration potential in many domains, but all rely on QRAM implementation.</a:t>
            </a:r>
          </a:p>
        </p:txBody>
      </p:sp>
      <p:sp>
        <p:nvSpPr>
          <p:cNvPr id="47" name="矩形 46"/>
          <p:cNvSpPr/>
          <p:nvPr/>
        </p:nvSpPr>
        <p:spPr>
          <a:xfrm>
            <a:off x="3773656" y="1248169"/>
            <a:ext cx="1848266" cy="3642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0000" lnSpcReduction="10000"/>
          </a:bodyPr>
          <a:lstStyle/>
          <a:p>
            <a:pPr algn="ctr">
              <a:lnSpc>
                <a:spcPct val="100000"/>
              </a:lnSpc>
            </a:pPr>
            <a:r>
              <a:rPr lang="zh-CN" altLang="en-US" dirty="0"/>
              <a:t>Application Prospects</a:t>
            </a:r>
          </a:p>
        </p:txBody>
      </p:sp>
      <p:sp>
        <p:nvSpPr>
          <p:cNvPr id="5" name="文本框 4"/>
          <p:cNvSpPr txBox="1"/>
          <p:nvPr/>
        </p:nvSpPr>
        <p:spPr>
          <a:xfrm>
            <a:off x="251329" y="1363447"/>
            <a:ext cx="3633470" cy="337185"/>
          </a:xfrm>
          <a:prstGeom prst="rect">
            <a:avLst/>
          </a:prstGeom>
          <a:noFill/>
        </p:spPr>
        <p:txBody>
          <a:bodyPr wrap="square"/>
          <a:lstStyle/>
          <a:p>
            <a:pPr>
              <a:lnSpc>
                <a:spcPct val="100000"/>
              </a:lnSpc>
            </a:pPr>
            <a:r>
              <a:rPr lang="zh-CN" altLang="en-US" sz="1400" b="1" dirty="0">
                <a:solidFill>
                  <a:srgbClr val="C00000"/>
                </a:solidFill>
              </a:rPr>
              <a:t>Example: Quantum Machine Learning:</a:t>
            </a:r>
          </a:p>
        </p:txBody>
      </p:sp>
      <p:sp>
        <p:nvSpPr>
          <p:cNvPr id="13" name="矩形 12"/>
          <p:cNvSpPr/>
          <p:nvPr/>
        </p:nvSpPr>
        <p:spPr>
          <a:xfrm>
            <a:off x="2812284" y="2693772"/>
            <a:ext cx="76200" cy="448945"/>
          </a:xfrm>
          <a:prstGeom prst="rect">
            <a:avLst/>
          </a:prstGeom>
          <a:noFill/>
          <a:ln>
            <a:solidFill>
              <a:srgbClr val="836A8E"/>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5000"/>
          </a:bodyPr>
          <a:lstStyle/>
          <a:p>
            <a:pPr algn="ctr">
              <a:lnSpc>
                <a:spcPct val="100000"/>
              </a:lnSpc>
            </a:pPr>
            <a:endParaRPr lang="zh-CN" altLang="en-US"/>
          </a:p>
        </p:txBody>
      </p:sp>
      <p:sp>
        <p:nvSpPr>
          <p:cNvPr id="15" name="矩形 14"/>
          <p:cNvSpPr/>
          <p:nvPr/>
        </p:nvSpPr>
        <p:spPr>
          <a:xfrm>
            <a:off x="2471289" y="3330042"/>
            <a:ext cx="556895" cy="118745"/>
          </a:xfrm>
          <a:prstGeom prst="rect">
            <a:avLst/>
          </a:prstGeom>
          <a:solidFill>
            <a:srgbClr val="FBE6D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25000" lnSpcReduction="20000"/>
          </a:bodyPr>
          <a:lstStyle/>
          <a:p>
            <a:pPr algn="ctr">
              <a:lnSpc>
                <a:spcPct val="100000"/>
              </a:lnSpc>
            </a:pPr>
            <a:endParaRPr lang="zh-CN" altLang="en-US"/>
          </a:p>
        </p:txBody>
      </p:sp>
      <p:cxnSp>
        <p:nvCxnSpPr>
          <p:cNvPr id="16" name="直接连接符 15"/>
          <p:cNvCxnSpPr/>
          <p:nvPr/>
        </p:nvCxnSpPr>
        <p:spPr>
          <a:xfrm flipH="1">
            <a:off x="2792599" y="3142717"/>
            <a:ext cx="71755" cy="354330"/>
          </a:xfrm>
          <a:prstGeom prst="line">
            <a:avLst/>
          </a:prstGeom>
          <a:ln>
            <a:solidFill>
              <a:srgbClr val="836A8E"/>
            </a:solidFill>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2412234" y="3330042"/>
            <a:ext cx="895350" cy="166370"/>
          </a:xfrm>
          <a:prstGeom prst="rect">
            <a:avLst/>
          </a:prstGeom>
          <a:noFill/>
        </p:spPr>
        <p:txBody>
          <a:bodyPr wrap="square" rtlCol="0">
            <a:normAutofit fontScale="95000" lnSpcReduction="10000"/>
          </a:bodyPr>
          <a:lstStyle/>
          <a:p>
            <a:pPr>
              <a:lnSpc>
                <a:spcPct val="100000"/>
              </a:lnSpc>
            </a:pPr>
            <a:r>
              <a:rPr lang="en-US" altLang="zh-CN" sz="500">
                <a:solidFill>
                  <a:srgbClr val="201B17"/>
                </a:solidFill>
                <a:ea typeface="微软雅黑" panose="020B0503020204020204" pitchFamily="34" charset="-122"/>
              </a:rPr>
              <a:t>Quantum Circuit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rcRect r="56701"/>
          <a:stretch>
            <a:fillRect/>
          </a:stretch>
        </p:blipFill>
        <p:spPr>
          <a:xfrm>
            <a:off x="3697966" y="1752584"/>
            <a:ext cx="1539622" cy="2536293"/>
          </a:xfrm>
          <a:prstGeom prst="rect">
            <a:avLst/>
          </a:prstGeom>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4913" y="1853799"/>
            <a:ext cx="3771435" cy="2413718"/>
          </a:xfrm>
          <a:prstGeom prst="rect">
            <a:avLst/>
          </a:prstGeom>
          <a:noFill/>
          <a:extLst>
            <a:ext uri="{909E8E84-426E-40DD-AFC4-6F175D3DCCD1}">
              <a14:hiddenFill xmlns:a14="http://schemas.microsoft.com/office/drawing/2010/main">
                <a:solidFill>
                  <a:srgbClr val="FFFFFF"/>
                </a:solidFill>
              </a14:hiddenFill>
            </a:ext>
          </a:extLst>
        </p:spPr>
      </p:pic>
      <p:sp>
        <p:nvSpPr>
          <p:cNvPr id="4" name="Text 0"/>
          <p:cNvSpPr/>
          <p:nvPr/>
        </p:nvSpPr>
        <p:spPr>
          <a:xfrm>
            <a:off x="284480" y="232410"/>
            <a:ext cx="4916170" cy="481965"/>
          </a:xfrm>
          <a:prstGeom prst="rect">
            <a:avLst/>
          </a:prstGeom>
          <a:noFill/>
        </p:spPr>
        <p:txBody>
          <a:bodyPr wrap="square" lIns="95250" tIns="95250" rIns="95250" bIns="95250" rtlCol="0" anchor="t"/>
          <a:lstStyle/>
          <a:p>
            <a:pPr marL="0" indent="0">
              <a:lnSpc>
                <a:spcPct val="100000"/>
              </a:lnSpc>
              <a:spcBef>
                <a:spcPts val="375"/>
              </a:spcBef>
              <a:buNone/>
            </a:pPr>
            <a:r>
              <a:rPr lang="zh-CN" altLang="en-US" b="1" dirty="0">
                <a:solidFill>
                  <a:schemeClr val="bg1"/>
                </a:solidFill>
              </a:rPr>
              <a:t>Definition of Quantum Random Access Memory</a:t>
            </a:r>
          </a:p>
        </p:txBody>
      </p:sp>
      <p:sp>
        <p:nvSpPr>
          <p:cNvPr id="40" name="文本框 39"/>
          <p:cNvSpPr txBox="1"/>
          <p:nvPr/>
        </p:nvSpPr>
        <p:spPr>
          <a:xfrm>
            <a:off x="808355" y="817245"/>
            <a:ext cx="7375525" cy="337185"/>
          </a:xfrm>
          <a:prstGeom prst="rect">
            <a:avLst/>
          </a:prstGeom>
          <a:noFill/>
        </p:spPr>
        <p:txBody>
          <a:bodyPr wrap="square" rtlCol="0"/>
          <a:lstStyle/>
          <a:p>
            <a:pPr algn="ctr">
              <a:lnSpc>
                <a:spcPct val="100000"/>
              </a:lnSpc>
            </a:pPr>
            <a:r>
              <a:rPr lang="zh-CN" altLang="en-US" b="1" dirty="0"/>
              <a:t>Comparison with Classical Random Access Memory</a:t>
            </a:r>
          </a:p>
        </p:txBody>
      </p:sp>
      <p:sp>
        <p:nvSpPr>
          <p:cNvPr id="3" name="矩形 2"/>
          <p:cNvSpPr/>
          <p:nvPr/>
        </p:nvSpPr>
        <p:spPr>
          <a:xfrm>
            <a:off x="808483" y="2379180"/>
            <a:ext cx="1344930" cy="286236"/>
          </a:xfrm>
          <a:prstGeom prst="rect">
            <a:avLst/>
          </a:prstGeom>
          <a:solidFill>
            <a:schemeClr val="bg1">
              <a:lumMod val="95000"/>
            </a:schemeClr>
          </a:solidFill>
          <a:ln w="127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80000" lnSpcReduction="10000"/>
          </a:bodyPr>
          <a:lstStyle/>
          <a:p>
            <a:pPr algn="ctr">
              <a:lnSpc>
                <a:spcPct val="100000"/>
              </a:lnSpc>
            </a:pPr>
            <a:r>
              <a:rPr lang="zh-CN" altLang="en-US" sz="1600" dirty="0">
                <a:solidFill>
                  <a:schemeClr val="tx1"/>
                </a:solidFill>
              </a:rPr>
              <a:t>Address Decoder</a:t>
            </a:r>
          </a:p>
        </p:txBody>
      </p:sp>
      <p:sp>
        <p:nvSpPr>
          <p:cNvPr id="5" name="文本框 4"/>
          <p:cNvSpPr txBox="1"/>
          <p:nvPr/>
        </p:nvSpPr>
        <p:spPr>
          <a:xfrm>
            <a:off x="225552" y="1751165"/>
            <a:ext cx="1920240" cy="338554"/>
          </a:xfrm>
          <a:prstGeom prst="rect">
            <a:avLst/>
          </a:prstGeom>
          <a:noFill/>
        </p:spPr>
        <p:txBody>
          <a:bodyPr wrap="square" rtlCol="0">
            <a:normAutofit fontScale="95000"/>
          </a:bodyPr>
          <a:lstStyle/>
          <a:p>
            <a:pPr>
              <a:lnSpc>
                <a:spcPct val="100000"/>
              </a:lnSpc>
            </a:pPr>
            <a:r>
              <a:rPr lang="zh-CN" altLang="en-US" sz="1600" dirty="0"/>
              <a:t>Address input (n bits)</a:t>
            </a:r>
          </a:p>
        </p:txBody>
      </p:sp>
      <p:sp>
        <p:nvSpPr>
          <p:cNvPr id="6" name="文本框 5"/>
          <p:cNvSpPr txBox="1"/>
          <p:nvPr/>
        </p:nvSpPr>
        <p:spPr>
          <a:xfrm>
            <a:off x="278893" y="2033983"/>
            <a:ext cx="1258565" cy="348615"/>
          </a:xfrm>
          <a:prstGeom prst="rect">
            <a:avLst/>
          </a:prstGeom>
          <a:noFill/>
        </p:spPr>
        <p:txBody>
          <a:bodyPr wrap="square" rtlCol="0">
            <a:normAutofit fontScale="95000"/>
          </a:bodyPr>
          <a:lstStyle/>
          <a:p>
            <a:pPr>
              <a:lnSpc>
                <a:spcPct val="100000"/>
              </a:lnSpc>
            </a:pPr>
            <a:r>
              <a:rPr lang="en-US" altLang="zh-CN" sz="1600" dirty="0">
                <a:ea typeface="微软雅黑" panose="020B0503020204020204" pitchFamily="34" charset="-122"/>
              </a:rPr>
              <a:t>a</a:t>
            </a:r>
            <a:r>
              <a:rPr lang="en-US" altLang="zh-CN" sz="1600" baseline="-25000" dirty="0">
                <a:ea typeface="微软雅黑" panose="020B0503020204020204" pitchFamily="34" charset="-122"/>
              </a:rPr>
              <a:t>0</a:t>
            </a:r>
            <a:r>
              <a:rPr lang="en-US" altLang="zh-CN" sz="1600" dirty="0">
                <a:ea typeface="微软雅黑" panose="020B0503020204020204" pitchFamily="34" charset="-122"/>
              </a:rPr>
              <a:t>a</a:t>
            </a:r>
            <a:r>
              <a:rPr lang="en-US" altLang="zh-CN" sz="1600" baseline="-25000" dirty="0">
                <a:ea typeface="微软雅黑" panose="020B0503020204020204" pitchFamily="34" charset="-122"/>
              </a:rPr>
              <a:t>1</a:t>
            </a:r>
            <a:r>
              <a:rPr lang="en-US" altLang="zh-CN" sz="1600" dirty="0">
                <a:ea typeface="微软雅黑" panose="020B0503020204020204" pitchFamily="34" charset="-122"/>
              </a:rPr>
              <a:t>a</a:t>
            </a:r>
            <a:r>
              <a:rPr lang="en-US" altLang="zh-CN" sz="1600" baseline="-25000" dirty="0">
                <a:ea typeface="微软雅黑" panose="020B0503020204020204" pitchFamily="34" charset="-122"/>
              </a:rPr>
              <a:t>2</a:t>
            </a:r>
            <a:r>
              <a:rPr lang="en-US" altLang="zh-CN" sz="1600" dirty="0">
                <a:ea typeface="微软雅黑" panose="020B0503020204020204" pitchFamily="34" charset="-122"/>
              </a:rPr>
              <a:t>a</a:t>
            </a:r>
            <a:r>
              <a:rPr lang="en-US" altLang="zh-CN" sz="1600" baseline="-25000" dirty="0">
                <a:ea typeface="微软雅黑" panose="020B0503020204020204" pitchFamily="34" charset="-122"/>
              </a:rPr>
              <a:t>3</a:t>
            </a:r>
            <a:r>
              <a:rPr lang="en-US" altLang="zh-CN" sz="1600" dirty="0">
                <a:ea typeface="微软雅黑" panose="020B0503020204020204" pitchFamily="34" charset="-122"/>
              </a:rPr>
              <a:t>a</a:t>
            </a:r>
            <a:r>
              <a:rPr lang="en-US" altLang="zh-CN" sz="1600" baseline="-25000" dirty="0">
                <a:solidFill>
                  <a:schemeClr val="tx1"/>
                </a:solidFill>
                <a:ea typeface="微软雅黑" panose="020B0503020204020204" pitchFamily="34" charset="-122"/>
              </a:rPr>
              <a:t>4</a:t>
            </a:r>
          </a:p>
        </p:txBody>
      </p:sp>
      <p:sp>
        <p:nvSpPr>
          <p:cNvPr id="8" name="矩形 7"/>
          <p:cNvSpPr/>
          <p:nvPr/>
        </p:nvSpPr>
        <p:spPr>
          <a:xfrm>
            <a:off x="808482" y="3068639"/>
            <a:ext cx="2587116" cy="993140"/>
          </a:xfrm>
          <a:prstGeom prst="rect">
            <a:avLst/>
          </a:prstGeom>
          <a:solidFill>
            <a:schemeClr val="accent1">
              <a:lumMod val="20000"/>
              <a:lumOff val="80000"/>
              <a:alpha val="55000"/>
            </a:schemeClr>
          </a:solidFill>
          <a:ln w="127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5000"/>
          </a:bodyPr>
          <a:lstStyle/>
          <a:p>
            <a:pPr algn="ctr">
              <a:lnSpc>
                <a:spcPct val="100000"/>
              </a:lnSpc>
            </a:pPr>
            <a:endParaRPr lang="zh-CN" altLang="en-US" sz="1600">
              <a:solidFill>
                <a:schemeClr val="tx1"/>
              </a:solidFill>
            </a:endParaRPr>
          </a:p>
        </p:txBody>
      </p:sp>
      <p:sp>
        <p:nvSpPr>
          <p:cNvPr id="9" name="文本框 8"/>
          <p:cNvSpPr txBox="1"/>
          <p:nvPr/>
        </p:nvSpPr>
        <p:spPr>
          <a:xfrm>
            <a:off x="1947810" y="3124518"/>
            <a:ext cx="1394460" cy="306705"/>
          </a:xfrm>
          <a:prstGeom prst="rect">
            <a:avLst/>
          </a:prstGeom>
          <a:noFill/>
        </p:spPr>
        <p:txBody>
          <a:bodyPr wrap="square" rtlCol="0">
            <a:normAutofit fontScale="87500"/>
          </a:bodyPr>
          <a:lstStyle/>
          <a:p>
            <a:pPr>
              <a:lnSpc>
                <a:spcPct val="100000"/>
              </a:lnSpc>
            </a:pPr>
            <a:r>
              <a:rPr lang="zh-CN" altLang="en-US" sz="1400" dirty="0"/>
              <a:t>Memory Cell Array</a:t>
            </a:r>
          </a:p>
        </p:txBody>
      </p:sp>
      <p:sp>
        <p:nvSpPr>
          <p:cNvPr id="10" name="矩形 9"/>
          <p:cNvSpPr/>
          <p:nvPr/>
        </p:nvSpPr>
        <p:spPr>
          <a:xfrm>
            <a:off x="990727" y="3551873"/>
            <a:ext cx="389890" cy="389890"/>
          </a:xfrm>
          <a:prstGeom prst="rect">
            <a:avLst/>
          </a:prstGeom>
          <a:solidFill>
            <a:schemeClr val="bg1"/>
          </a:solidFill>
          <a:ln w="127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5000"/>
          </a:bodyPr>
          <a:lstStyle/>
          <a:p>
            <a:pPr algn="ctr">
              <a:lnSpc>
                <a:spcPct val="100000"/>
              </a:lnSpc>
            </a:pPr>
            <a:endParaRPr lang="en-US" altLang="zh-CN" baseline="-25000">
              <a:solidFill>
                <a:schemeClr val="tx1"/>
              </a:solidFill>
            </a:endParaRPr>
          </a:p>
        </p:txBody>
      </p:sp>
      <p:sp>
        <p:nvSpPr>
          <p:cNvPr id="11" name="文本框 10"/>
          <p:cNvSpPr txBox="1"/>
          <p:nvPr/>
        </p:nvSpPr>
        <p:spPr>
          <a:xfrm>
            <a:off x="952627" y="3529013"/>
            <a:ext cx="506730" cy="368300"/>
          </a:xfrm>
          <a:prstGeom prst="rect">
            <a:avLst/>
          </a:prstGeom>
          <a:noFill/>
        </p:spPr>
        <p:txBody>
          <a:bodyPr wrap="square" rtlCol="0" anchor="t"/>
          <a:lstStyle/>
          <a:p>
            <a:pPr algn="ctr">
              <a:lnSpc>
                <a:spcPct val="100000"/>
              </a:lnSpc>
            </a:pPr>
            <a:r>
              <a:rPr lang="en-US" altLang="zh-CN" sz="1400">
                <a:sym typeface="+mn-ea"/>
              </a:rPr>
              <a:t>x</a:t>
            </a:r>
            <a:r>
              <a:rPr lang="en-US" altLang="zh-CN" sz="1400" baseline="-25000">
                <a:sym typeface="+mn-ea"/>
              </a:rPr>
              <a:t>00</a:t>
            </a:r>
          </a:p>
        </p:txBody>
      </p:sp>
      <p:sp>
        <p:nvSpPr>
          <p:cNvPr id="15" name="矩形 14"/>
          <p:cNvSpPr/>
          <p:nvPr/>
        </p:nvSpPr>
        <p:spPr>
          <a:xfrm>
            <a:off x="1418717" y="3551873"/>
            <a:ext cx="389890" cy="389890"/>
          </a:xfrm>
          <a:prstGeom prst="rect">
            <a:avLst/>
          </a:prstGeom>
          <a:solidFill>
            <a:schemeClr val="bg1"/>
          </a:solidFill>
          <a:ln w="127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5000"/>
          </a:bodyPr>
          <a:lstStyle/>
          <a:p>
            <a:pPr algn="ctr">
              <a:lnSpc>
                <a:spcPct val="100000"/>
              </a:lnSpc>
            </a:pPr>
            <a:endParaRPr lang="en-US" altLang="zh-CN" baseline="-25000">
              <a:solidFill>
                <a:schemeClr val="tx1"/>
              </a:solidFill>
            </a:endParaRPr>
          </a:p>
        </p:txBody>
      </p:sp>
      <p:sp>
        <p:nvSpPr>
          <p:cNvPr id="16" name="文本框 15"/>
          <p:cNvSpPr txBox="1"/>
          <p:nvPr/>
        </p:nvSpPr>
        <p:spPr>
          <a:xfrm>
            <a:off x="1380617" y="3529013"/>
            <a:ext cx="506730" cy="368300"/>
          </a:xfrm>
          <a:prstGeom prst="rect">
            <a:avLst/>
          </a:prstGeom>
          <a:noFill/>
        </p:spPr>
        <p:txBody>
          <a:bodyPr wrap="square" rtlCol="0" anchor="t"/>
          <a:lstStyle/>
          <a:p>
            <a:pPr algn="ctr">
              <a:lnSpc>
                <a:spcPct val="100000"/>
              </a:lnSpc>
            </a:pPr>
            <a:r>
              <a:rPr lang="en-US" altLang="zh-CN" sz="1400">
                <a:sym typeface="+mn-ea"/>
              </a:rPr>
              <a:t>x</a:t>
            </a:r>
            <a:r>
              <a:rPr lang="en-US" altLang="zh-CN" sz="1400" baseline="-25000">
                <a:sym typeface="+mn-ea"/>
              </a:rPr>
              <a:t>01</a:t>
            </a:r>
          </a:p>
        </p:txBody>
      </p:sp>
      <p:sp>
        <p:nvSpPr>
          <p:cNvPr id="18" name="矩形 17"/>
          <p:cNvSpPr/>
          <p:nvPr/>
        </p:nvSpPr>
        <p:spPr>
          <a:xfrm>
            <a:off x="1846707" y="3551873"/>
            <a:ext cx="389890" cy="389890"/>
          </a:xfrm>
          <a:prstGeom prst="rect">
            <a:avLst/>
          </a:prstGeom>
          <a:solidFill>
            <a:schemeClr val="bg1"/>
          </a:solidFill>
          <a:ln w="127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5000"/>
          </a:bodyPr>
          <a:lstStyle/>
          <a:p>
            <a:pPr algn="ctr">
              <a:lnSpc>
                <a:spcPct val="100000"/>
              </a:lnSpc>
            </a:pPr>
            <a:endParaRPr lang="en-US" altLang="zh-CN" baseline="-25000">
              <a:solidFill>
                <a:schemeClr val="tx1"/>
              </a:solidFill>
            </a:endParaRPr>
          </a:p>
        </p:txBody>
      </p:sp>
      <p:sp>
        <p:nvSpPr>
          <p:cNvPr id="19" name="文本框 18"/>
          <p:cNvSpPr txBox="1"/>
          <p:nvPr/>
        </p:nvSpPr>
        <p:spPr>
          <a:xfrm>
            <a:off x="1808607" y="3529013"/>
            <a:ext cx="506730" cy="368300"/>
          </a:xfrm>
          <a:prstGeom prst="rect">
            <a:avLst/>
          </a:prstGeom>
          <a:noFill/>
        </p:spPr>
        <p:txBody>
          <a:bodyPr wrap="square" rtlCol="0" anchor="t"/>
          <a:lstStyle/>
          <a:p>
            <a:pPr algn="ctr">
              <a:lnSpc>
                <a:spcPct val="100000"/>
              </a:lnSpc>
            </a:pPr>
            <a:r>
              <a:rPr lang="en-US" altLang="zh-CN" sz="1400">
                <a:sym typeface="+mn-ea"/>
              </a:rPr>
              <a:t>x</a:t>
            </a:r>
            <a:r>
              <a:rPr lang="en-US" altLang="zh-CN" sz="1400" baseline="-25000">
                <a:sym typeface="+mn-ea"/>
              </a:rPr>
              <a:t>10</a:t>
            </a:r>
          </a:p>
        </p:txBody>
      </p:sp>
      <p:sp>
        <p:nvSpPr>
          <p:cNvPr id="21" name="矩形 20"/>
          <p:cNvSpPr/>
          <p:nvPr/>
        </p:nvSpPr>
        <p:spPr>
          <a:xfrm>
            <a:off x="2274697" y="3551873"/>
            <a:ext cx="389890" cy="389890"/>
          </a:xfrm>
          <a:prstGeom prst="rect">
            <a:avLst/>
          </a:prstGeom>
          <a:solidFill>
            <a:schemeClr val="bg1"/>
          </a:solidFill>
          <a:ln w="127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5000"/>
          </a:bodyPr>
          <a:lstStyle/>
          <a:p>
            <a:pPr algn="ctr">
              <a:lnSpc>
                <a:spcPct val="100000"/>
              </a:lnSpc>
            </a:pPr>
            <a:endParaRPr lang="en-US" altLang="zh-CN" baseline="-25000">
              <a:solidFill>
                <a:schemeClr val="tx1"/>
              </a:solidFill>
            </a:endParaRPr>
          </a:p>
        </p:txBody>
      </p:sp>
      <p:sp>
        <p:nvSpPr>
          <p:cNvPr id="22" name="文本框 21"/>
          <p:cNvSpPr txBox="1"/>
          <p:nvPr/>
        </p:nvSpPr>
        <p:spPr>
          <a:xfrm>
            <a:off x="2236597" y="3529013"/>
            <a:ext cx="506730" cy="368300"/>
          </a:xfrm>
          <a:prstGeom prst="rect">
            <a:avLst/>
          </a:prstGeom>
          <a:noFill/>
        </p:spPr>
        <p:txBody>
          <a:bodyPr wrap="square" rtlCol="0" anchor="t"/>
          <a:lstStyle/>
          <a:p>
            <a:pPr algn="ctr">
              <a:lnSpc>
                <a:spcPct val="100000"/>
              </a:lnSpc>
            </a:pPr>
            <a:r>
              <a:rPr lang="en-US" altLang="zh-CN" sz="1400">
                <a:sym typeface="+mn-ea"/>
              </a:rPr>
              <a:t>x</a:t>
            </a:r>
            <a:r>
              <a:rPr lang="en-US" altLang="zh-CN" sz="1400" baseline="-25000">
                <a:sym typeface="+mn-ea"/>
              </a:rPr>
              <a:t>11</a:t>
            </a:r>
          </a:p>
        </p:txBody>
      </p:sp>
      <p:sp>
        <p:nvSpPr>
          <p:cNvPr id="34" name="矩形 33"/>
          <p:cNvSpPr/>
          <p:nvPr/>
        </p:nvSpPr>
        <p:spPr>
          <a:xfrm>
            <a:off x="2717927" y="3551873"/>
            <a:ext cx="389890" cy="389890"/>
          </a:xfrm>
          <a:prstGeom prst="rect">
            <a:avLst/>
          </a:prstGeom>
          <a:solidFill>
            <a:schemeClr val="bg1"/>
          </a:solidFill>
          <a:ln w="127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5000"/>
          </a:bodyPr>
          <a:lstStyle/>
          <a:p>
            <a:pPr algn="ctr">
              <a:lnSpc>
                <a:spcPct val="100000"/>
              </a:lnSpc>
            </a:pPr>
            <a:endParaRPr lang="en-US" altLang="zh-CN" baseline="-25000">
              <a:solidFill>
                <a:schemeClr val="tx1"/>
              </a:solidFill>
            </a:endParaRPr>
          </a:p>
        </p:txBody>
      </p:sp>
      <p:sp>
        <p:nvSpPr>
          <p:cNvPr id="35" name="文本框 34"/>
          <p:cNvSpPr txBox="1"/>
          <p:nvPr/>
        </p:nvSpPr>
        <p:spPr>
          <a:xfrm>
            <a:off x="2656967" y="3513773"/>
            <a:ext cx="506730" cy="368300"/>
          </a:xfrm>
          <a:prstGeom prst="rect">
            <a:avLst/>
          </a:prstGeom>
          <a:noFill/>
        </p:spPr>
        <p:txBody>
          <a:bodyPr wrap="square" rtlCol="0" anchor="t"/>
          <a:lstStyle/>
          <a:p>
            <a:pPr algn="ctr">
              <a:lnSpc>
                <a:spcPct val="100000"/>
              </a:lnSpc>
            </a:pPr>
            <a:r>
              <a:rPr lang="en-US" altLang="zh-CN" sz="1400">
                <a:sym typeface="+mn-ea"/>
              </a:rPr>
              <a:t>...</a:t>
            </a:r>
            <a:endParaRPr lang="en-US" altLang="zh-CN" sz="1400" baseline="-25000">
              <a:sym typeface="+mn-ea"/>
            </a:endParaRPr>
          </a:p>
        </p:txBody>
      </p:sp>
      <p:sp>
        <p:nvSpPr>
          <p:cNvPr id="43" name="上箭头 42"/>
          <p:cNvSpPr/>
          <p:nvPr/>
        </p:nvSpPr>
        <p:spPr>
          <a:xfrm>
            <a:off x="1456960" y="3322913"/>
            <a:ext cx="266065" cy="198120"/>
          </a:xfrm>
          <a:prstGeom prst="upArrow">
            <a:avLst/>
          </a:prstGeom>
          <a:solidFill>
            <a:schemeClr val="tx2">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25000" lnSpcReduction="20000"/>
          </a:bodyPr>
          <a:lstStyle/>
          <a:p>
            <a:pPr algn="ctr">
              <a:lnSpc>
                <a:spcPct val="100000"/>
              </a:lnSpc>
            </a:pPr>
            <a:endParaRPr lang="zh-CN" altLang="en-US"/>
          </a:p>
        </p:txBody>
      </p:sp>
      <p:sp>
        <p:nvSpPr>
          <p:cNvPr id="44" name="文本框 43"/>
          <p:cNvSpPr txBox="1"/>
          <p:nvPr/>
        </p:nvSpPr>
        <p:spPr>
          <a:xfrm>
            <a:off x="1228847" y="3060658"/>
            <a:ext cx="767715" cy="306705"/>
          </a:xfrm>
          <a:prstGeom prst="rect">
            <a:avLst/>
          </a:prstGeom>
          <a:noFill/>
        </p:spPr>
        <p:txBody>
          <a:bodyPr wrap="square" rtlCol="0">
            <a:normAutofit fontScale="95000"/>
          </a:bodyPr>
          <a:lstStyle/>
          <a:p>
            <a:pPr>
              <a:lnSpc>
                <a:spcPct val="100000"/>
              </a:lnSpc>
            </a:pPr>
            <a:r>
              <a:rPr lang="zh-CN" altLang="en-US" sz="1400" dirty="0">
                <a:solidFill>
                  <a:srgbClr val="C00000"/>
                </a:solidFill>
              </a:rPr>
              <a:t>Selected</a:t>
            </a:r>
          </a:p>
        </p:txBody>
      </p:sp>
      <p:cxnSp>
        <p:nvCxnSpPr>
          <p:cNvPr id="45" name="直接箭头连接符 44"/>
          <p:cNvCxnSpPr/>
          <p:nvPr/>
        </p:nvCxnSpPr>
        <p:spPr>
          <a:xfrm>
            <a:off x="1540637" y="2019770"/>
            <a:ext cx="0" cy="353695"/>
          </a:xfrm>
          <a:prstGeom prst="straightConnector1">
            <a:avLst/>
          </a:prstGeom>
          <a:ln w="22225">
            <a:solidFill>
              <a:schemeClr val="tx1">
                <a:lumMod val="75000"/>
                <a:lumOff val="25000"/>
              </a:schemeClr>
            </a:solidFill>
            <a:tailEnd type="arrow"/>
          </a:ln>
        </p:spPr>
        <p:style>
          <a:lnRef idx="2">
            <a:schemeClr val="accent1"/>
          </a:lnRef>
          <a:fillRef idx="0">
            <a:srgbClr val="FFFFFF"/>
          </a:fillRef>
          <a:effectRef idx="0">
            <a:srgbClr val="FFFFFF"/>
          </a:effectRef>
          <a:fontRef idx="minor">
            <a:schemeClr val="tx1"/>
          </a:fontRef>
        </p:style>
      </p:cxnSp>
      <p:cxnSp>
        <p:nvCxnSpPr>
          <p:cNvPr id="46" name="直接箭头连接符 45"/>
          <p:cNvCxnSpPr/>
          <p:nvPr/>
        </p:nvCxnSpPr>
        <p:spPr>
          <a:xfrm>
            <a:off x="1537462" y="2676843"/>
            <a:ext cx="0" cy="353695"/>
          </a:xfrm>
          <a:prstGeom prst="straightConnector1">
            <a:avLst/>
          </a:prstGeom>
          <a:ln w="22225">
            <a:solidFill>
              <a:schemeClr val="tx1">
                <a:lumMod val="75000"/>
                <a:lumOff val="25000"/>
              </a:schemeClr>
            </a:solidFill>
            <a:tailEnd type="arrow"/>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47" name="文本框 46"/>
              <p:cNvSpPr txBox="1"/>
              <p:nvPr/>
            </p:nvSpPr>
            <p:spPr>
              <a:xfrm>
                <a:off x="288331" y="2685635"/>
                <a:ext cx="1445895" cy="338554"/>
              </a:xfrm>
              <a:prstGeom prst="rect">
                <a:avLst/>
              </a:prstGeom>
              <a:noFill/>
            </p:spPr>
            <p:txBody>
              <a:bodyPr wrap="square" rtlCol="0">
                <a:normAutofit fontScale="95000"/>
              </a:bodyPr>
              <a:lstStyle/>
              <a:p>
                <a:pPr>
                  <a:lnSpc>
                    <a:spcPct val="100000"/>
                  </a:lnSpc>
                </a:pPr>
                <a14:m>
                  <m:oMath xmlns:m="http://schemas.openxmlformats.org/officeDocument/2006/math">
                    <m:sSup>
                      <m:sSupPr>
                        <m:ctrlPr>
                          <a:rPr lang="en-US" altLang="zh-CN" sz="1600" i="1">
                            <a:solidFill>
                              <a:schemeClr val="tx1">
                                <a:lumMod val="65000"/>
                                <a:lumOff val="35000"/>
                              </a:schemeClr>
                            </a:solidFill>
                            <a:latin typeface="Cambria Math" panose="02040503050406030204" pitchFamily="18" charset="0"/>
                            <a:cs typeface="Cambria Math" panose="02040503050406030204" pitchFamily="18" charset="0"/>
                          </a:rPr>
                        </m:ctrlPr>
                      </m:sSupPr>
                      <m:e>
                        <m:r>
                          <a:rPr lang="en-US" altLang="zh-CN" sz="1600" i="1">
                            <a:solidFill>
                              <a:schemeClr val="tx1">
                                <a:lumMod val="65000"/>
                                <a:lumOff val="35000"/>
                              </a:schemeClr>
                            </a:solidFill>
                            <a:latin typeface="Cambria Math" panose="02040503050406030204" pitchFamily="18" charset="0"/>
                            <a:cs typeface="Cambria Math" panose="02040503050406030204" pitchFamily="18" charset="0"/>
                          </a:rPr>
                          <m:t>2</m:t>
                        </m:r>
                      </m:e>
                      <m:sup>
                        <m:r>
                          <a:rPr lang="en-US" altLang="zh-CN" sz="1600" i="1">
                            <a:solidFill>
                              <a:schemeClr val="tx1">
                                <a:lumMod val="65000"/>
                                <a:lumOff val="35000"/>
                              </a:schemeClr>
                            </a:solidFill>
                            <a:latin typeface="Cambria Math" panose="02040503050406030204" pitchFamily="18" charset="0"/>
                            <a:cs typeface="Cambria Math" panose="02040503050406030204" pitchFamily="18" charset="0"/>
                          </a:rPr>
                          <m:t>𝑛</m:t>
                        </m:r>
                      </m:sup>
                    </m:sSup>
                  </m:oMath>
                </a14:m>
                <a:r>
                  <a:rPr lang="zh-CN" altLang="en-US" sz="1600" dirty="0">
                    <a:solidFill>
                      <a:schemeClr val="tx1">
                        <a:lumMod val="65000"/>
                        <a:lumOff val="35000"/>
                      </a:schemeClr>
                    </a:solidFill>
                  </a:rPr>
                  <a:t>address lines</a:t>
                </a:r>
              </a:p>
            </p:txBody>
          </p:sp>
        </mc:Choice>
        <mc:Fallback xmlns="">
          <p:sp>
            <p:nvSpPr>
              <p:cNvPr id="47" name="文本框 46"/>
              <p:cNvSpPr txBox="1">
                <a:spLocks noRot="1" noChangeAspect="1" noMove="1" noResize="1" noEditPoints="1" noAdjustHandles="1" noChangeArrowheads="1" noChangeShapeType="1" noTextEdit="1"/>
              </p:cNvSpPr>
              <p:nvPr/>
            </p:nvSpPr>
            <p:spPr>
              <a:xfrm>
                <a:off x="288331" y="2685635"/>
                <a:ext cx="1445895" cy="338554"/>
              </a:xfrm>
              <a:prstGeom prst="rect">
                <a:avLst/>
              </a:prstGeom>
              <a:blipFill>
                <a:blip r:embed="rId5"/>
                <a:stretch>
                  <a:fillRect t="-3571" b="-14286"/>
                </a:stretch>
              </a:blipFill>
            </p:spPr>
            <p:txBody>
              <a:bodyPr/>
              <a:lstStyle/>
              <a:p>
                <a:r>
                  <a:rPr lang="zh-CN" altLang="en-US">
                    <a:noFill/>
                  </a:rPr>
                  <a:t> </a:t>
                </a:r>
              </a:p>
            </p:txBody>
          </p:sp>
        </mc:Fallback>
      </mc:AlternateContent>
      <p:sp>
        <p:nvSpPr>
          <p:cNvPr id="49" name="文本框 48"/>
          <p:cNvSpPr txBox="1"/>
          <p:nvPr/>
        </p:nvSpPr>
        <p:spPr>
          <a:xfrm>
            <a:off x="1540002" y="2676208"/>
            <a:ext cx="1445895" cy="338554"/>
          </a:xfrm>
          <a:prstGeom prst="rect">
            <a:avLst/>
          </a:prstGeom>
          <a:noFill/>
        </p:spPr>
        <p:txBody>
          <a:bodyPr wrap="square" rtlCol="0">
            <a:normAutofit fontScale="95000"/>
          </a:bodyPr>
          <a:lstStyle/>
          <a:p>
            <a:pPr>
              <a:lnSpc>
                <a:spcPct val="100000"/>
              </a:lnSpc>
            </a:pPr>
            <a:r>
              <a:rPr lang="zh-CN" sz="1600" dirty="0">
                <a:solidFill>
                  <a:schemeClr val="tx1">
                    <a:lumMod val="65000"/>
                    <a:lumOff val="35000"/>
                  </a:schemeClr>
                </a:solidFill>
                <a:cs typeface="Cambria Math" panose="02040503050406030204" pitchFamily="18" charset="0"/>
              </a:rPr>
              <a:t>(only 1 active)</a:t>
            </a:r>
            <a:endParaRPr lang="zh-CN" sz="1600" dirty="0">
              <a:solidFill>
                <a:schemeClr val="tx1">
                  <a:lumMod val="65000"/>
                  <a:lumOff val="35000"/>
                </a:schemeClr>
              </a:solidFill>
            </a:endParaRPr>
          </a:p>
        </p:txBody>
      </p:sp>
      <p:cxnSp>
        <p:nvCxnSpPr>
          <p:cNvPr id="50" name="直接箭头连接符 49"/>
          <p:cNvCxnSpPr/>
          <p:nvPr/>
        </p:nvCxnSpPr>
        <p:spPr>
          <a:xfrm flipV="1">
            <a:off x="3145917" y="2620328"/>
            <a:ext cx="0" cy="410210"/>
          </a:xfrm>
          <a:prstGeom prst="straightConnector1">
            <a:avLst/>
          </a:prstGeom>
          <a:ln w="22225">
            <a:solidFill>
              <a:schemeClr val="tx1">
                <a:lumMod val="75000"/>
                <a:lumOff val="25000"/>
              </a:schemeClr>
            </a:solidFill>
            <a:tailEnd type="arrow"/>
          </a:ln>
        </p:spPr>
        <p:style>
          <a:lnRef idx="2">
            <a:schemeClr val="accent1"/>
          </a:lnRef>
          <a:fillRef idx="0">
            <a:srgbClr val="FFFFFF"/>
          </a:fillRef>
          <a:effectRef idx="0">
            <a:srgbClr val="FFFFFF"/>
          </a:effectRef>
          <a:fontRef idx="minor">
            <a:schemeClr val="tx1"/>
          </a:fontRef>
        </p:style>
      </p:cxnSp>
      <p:sp>
        <p:nvSpPr>
          <p:cNvPr id="51" name="文本框 50"/>
          <p:cNvSpPr txBox="1"/>
          <p:nvPr/>
        </p:nvSpPr>
        <p:spPr>
          <a:xfrm>
            <a:off x="2486821" y="2085197"/>
            <a:ext cx="1396957" cy="381635"/>
          </a:xfrm>
          <a:prstGeom prst="rect">
            <a:avLst/>
          </a:prstGeom>
          <a:noFill/>
        </p:spPr>
        <p:txBody>
          <a:bodyPr wrap="square" rtlCol="0"/>
          <a:lstStyle/>
          <a:p>
            <a:pPr>
              <a:lnSpc>
                <a:spcPct val="100000"/>
              </a:lnSpc>
            </a:pPr>
            <a:r>
              <a:rPr lang="zh-CN" sz="1600" dirty="0">
                <a:solidFill>
                  <a:srgbClr val="C00000"/>
                </a:solidFill>
                <a:cs typeface="Cambria Math" panose="02040503050406030204" pitchFamily="18" charset="0"/>
              </a:rPr>
              <a:t>Classical data read out</a:t>
            </a:r>
          </a:p>
        </p:txBody>
      </p:sp>
      <p:sp>
        <p:nvSpPr>
          <p:cNvPr id="55" name="矩形 54"/>
          <p:cNvSpPr/>
          <p:nvPr/>
        </p:nvSpPr>
        <p:spPr>
          <a:xfrm>
            <a:off x="281940" y="1227455"/>
            <a:ext cx="1848485" cy="5118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00000"/>
              </a:lnSpc>
            </a:pPr>
            <a:r>
              <a:rPr lang="zh-CN" altLang="en-US" dirty="0">
                <a:ea typeface="微软雅黑" panose="020B0503020204020204" pitchFamily="34" charset="-122"/>
                <a:cs typeface="微软雅黑" panose="020B0503020204020204" pitchFamily="34" charset="-122"/>
              </a:rPr>
              <a:t>Classical RAM</a:t>
            </a:r>
          </a:p>
        </p:txBody>
      </p:sp>
      <p:sp>
        <p:nvSpPr>
          <p:cNvPr id="2" name="矩形 1"/>
          <p:cNvSpPr/>
          <p:nvPr/>
        </p:nvSpPr>
        <p:spPr>
          <a:xfrm>
            <a:off x="3740785" y="1210310"/>
            <a:ext cx="1848485" cy="53911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00000"/>
              </a:lnSpc>
            </a:pPr>
            <a:r>
              <a:rPr lang="zh-CN" altLang="en-US" dirty="0">
                <a:ea typeface="微软雅黑" panose="020B0503020204020204" pitchFamily="34" charset="-122"/>
                <a:cs typeface="微软雅黑" panose="020B0503020204020204" pitchFamily="34" charset="-122"/>
              </a:rPr>
              <a:t>Quantum RAM</a:t>
            </a:r>
          </a:p>
        </p:txBody>
      </p:sp>
      <p:sp>
        <p:nvSpPr>
          <p:cNvPr id="13" name="圆角矩形 12"/>
          <p:cNvSpPr/>
          <p:nvPr/>
        </p:nvSpPr>
        <p:spPr>
          <a:xfrm>
            <a:off x="288331" y="4277710"/>
            <a:ext cx="3107267" cy="441435"/>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00000"/>
              </a:lnSpc>
            </a:pPr>
            <a:r>
              <a:rPr kumimoji="1" lang="zh-CN" altLang="en-US" sz="1600" dirty="0"/>
              <a:t>Classical address - classical data</a:t>
            </a:r>
          </a:p>
        </p:txBody>
      </p:sp>
      <p:sp>
        <p:nvSpPr>
          <p:cNvPr id="17" name="圆角矩形 16"/>
          <p:cNvSpPr/>
          <p:nvPr/>
        </p:nvSpPr>
        <p:spPr>
          <a:xfrm>
            <a:off x="3786505" y="4291330"/>
            <a:ext cx="5166995" cy="48768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kumimoji="1" lang="zh-CN" altLang="en-US" sz="1600" b="1" dirty="0">
                <a:solidFill>
                  <a:schemeClr val="tx1"/>
                </a:solidFill>
              </a:rPr>
              <a:t>Parallel loading of classical information into a quantum computer</a:t>
            </a:r>
          </a:p>
        </p:txBody>
      </p:sp>
      <p:sp>
        <p:nvSpPr>
          <p:cNvPr id="7" name="圆角矩形 6"/>
          <p:cNvSpPr/>
          <p:nvPr/>
        </p:nvSpPr>
        <p:spPr>
          <a:xfrm>
            <a:off x="5737860" y="1200150"/>
            <a:ext cx="3215640" cy="528320"/>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kumimoji="1" lang="zh-CN" altLang="en-US" dirty="0"/>
              <a:t>Quantum address - classical memory - quantum data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7238365" y="2546190"/>
            <a:ext cx="1213485" cy="697525"/>
          </a:xfrm>
          <a:prstGeom prst="rect">
            <a:avLst/>
          </a:prstGeom>
          <a:solidFill>
            <a:schemeClr val="bg1">
              <a:lumMod val="95000"/>
              <a:alpha val="55000"/>
            </a:schemeClr>
          </a:solidFill>
          <a:ln w="12700">
            <a:solidFill>
              <a:schemeClr val="bg1">
                <a:lumMod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lnSpc>
                <a:spcPct val="100000"/>
              </a:lnSpc>
            </a:pPr>
            <a:endParaRPr lang="zh-CN" altLang="en-US" sz="2400"/>
          </a:p>
        </p:txBody>
      </p:sp>
      <p:sp>
        <p:nvSpPr>
          <p:cNvPr id="28" name="矩形 27"/>
          <p:cNvSpPr/>
          <p:nvPr/>
        </p:nvSpPr>
        <p:spPr>
          <a:xfrm>
            <a:off x="3879850" y="2546190"/>
            <a:ext cx="1213485" cy="697525"/>
          </a:xfrm>
          <a:prstGeom prst="rect">
            <a:avLst/>
          </a:prstGeom>
          <a:solidFill>
            <a:schemeClr val="bg1">
              <a:lumMod val="95000"/>
              <a:alpha val="55000"/>
            </a:schemeClr>
          </a:solidFill>
          <a:ln w="12700">
            <a:solidFill>
              <a:schemeClr val="bg1">
                <a:lumMod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lnSpc>
                <a:spcPct val="100000"/>
              </a:lnSpc>
            </a:pPr>
            <a:endParaRPr lang="zh-CN" altLang="en-US" sz="2400"/>
          </a:p>
        </p:txBody>
      </p:sp>
      <p:sp>
        <p:nvSpPr>
          <p:cNvPr id="4" name="Text 0"/>
          <p:cNvSpPr/>
          <p:nvPr/>
        </p:nvSpPr>
        <p:spPr>
          <a:xfrm>
            <a:off x="225425" y="232410"/>
            <a:ext cx="5162550" cy="481965"/>
          </a:xfrm>
          <a:prstGeom prst="rect">
            <a:avLst/>
          </a:prstGeom>
          <a:noFill/>
        </p:spPr>
        <p:txBody>
          <a:bodyPr wrap="square" lIns="95250" tIns="95250" rIns="95250" bIns="95250" rtlCol="0" anchor="t"/>
          <a:lstStyle/>
          <a:p>
            <a:pPr marL="0" indent="0">
              <a:lnSpc>
                <a:spcPct val="100000"/>
              </a:lnSpc>
              <a:spcBef>
                <a:spcPts val="375"/>
              </a:spcBef>
              <a:buNone/>
            </a:pPr>
            <a:r>
              <a:rPr lang="en-US" altLang="zh-CN" b="1" dirty="0">
                <a:solidFill>
                  <a:schemeClr val="bg1"/>
                </a:solidFill>
                <a:latin typeface="+mj-lt"/>
              </a:rPr>
              <a:t>QRAM definition</a:t>
            </a:r>
            <a:endParaRPr lang="zh-CN" altLang="en-US" b="1" dirty="0">
              <a:solidFill>
                <a:schemeClr val="bg1"/>
              </a:solidFill>
              <a:latin typeface="+mj-lt"/>
            </a:endParaRPr>
          </a:p>
        </p:txBody>
      </p:sp>
      <p:sp>
        <p:nvSpPr>
          <p:cNvPr id="38" name="矩形: 圆角 37"/>
          <p:cNvSpPr/>
          <p:nvPr/>
        </p:nvSpPr>
        <p:spPr>
          <a:xfrm>
            <a:off x="225425" y="956310"/>
            <a:ext cx="866648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endParaRPr lang="zh-CN" altLang="en-US" dirty="0"/>
          </a:p>
        </p:txBody>
      </p:sp>
      <p:sp>
        <p:nvSpPr>
          <p:cNvPr id="39" name="矩形: 圆角 38"/>
          <p:cNvSpPr/>
          <p:nvPr/>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10000"/>
          </a:bodyPr>
          <a:lstStyle/>
          <a:p>
            <a:pPr algn="ctr">
              <a:lnSpc>
                <a:spcPct val="100000"/>
              </a:lnSpc>
            </a:pPr>
            <a:r>
              <a:rPr lang="zh-CN" altLang="en-US" sz="2155" b="1" dirty="0"/>
              <a:t>Core Idea</a:t>
            </a:r>
          </a:p>
        </p:txBody>
      </p:sp>
      <p:sp>
        <p:nvSpPr>
          <p:cNvPr id="40" name="文本框 39"/>
          <p:cNvSpPr txBox="1"/>
          <p:nvPr/>
        </p:nvSpPr>
        <p:spPr>
          <a:xfrm>
            <a:off x="1399540" y="1002030"/>
            <a:ext cx="7261860" cy="337185"/>
          </a:xfrm>
          <a:prstGeom prst="rect">
            <a:avLst/>
          </a:prstGeom>
          <a:noFill/>
        </p:spPr>
        <p:txBody>
          <a:bodyPr wrap="square" rtlCol="0">
            <a:noAutofit/>
          </a:bodyPr>
          <a:lstStyle/>
          <a:p>
            <a:pPr algn="ctr">
              <a:lnSpc>
                <a:spcPct val="100000"/>
              </a:lnSpc>
            </a:pPr>
            <a:r>
              <a:rPr lang="zh-CN" altLang="en-US" b="1" dirty="0">
                <a:ea typeface="微软雅黑" panose="020B0503020204020204" pitchFamily="34" charset="-122"/>
                <a:cs typeface="微软雅黑" panose="020B0503020204020204" pitchFamily="34" charset="-122"/>
              </a:rPr>
              <a:t>Binary-tree QRAM enables O(log N) quantum data read/write.</a:t>
            </a:r>
          </a:p>
        </p:txBody>
      </p:sp>
      <p:pic>
        <p:nvPicPr>
          <p:cNvPr id="2" name="图片 1"/>
          <p:cNvPicPr>
            <a:picLocks noChangeAspect="1"/>
          </p:cNvPicPr>
          <p:nvPr/>
        </p:nvPicPr>
        <p:blipFill>
          <a:blip r:embed="rId3"/>
          <a:stretch>
            <a:fillRect/>
          </a:stretch>
        </p:blipFill>
        <p:spPr>
          <a:xfrm>
            <a:off x="506730" y="2124075"/>
            <a:ext cx="2323465" cy="1891030"/>
          </a:xfrm>
          <a:prstGeom prst="rect">
            <a:avLst/>
          </a:prstGeom>
        </p:spPr>
      </p:pic>
      <p:sp>
        <p:nvSpPr>
          <p:cNvPr id="3" name="圆角矩形 2"/>
          <p:cNvSpPr/>
          <p:nvPr/>
        </p:nvSpPr>
        <p:spPr>
          <a:xfrm>
            <a:off x="5447030" y="2460625"/>
            <a:ext cx="1104265" cy="812800"/>
          </a:xfrm>
          <a:prstGeom prst="roundRect">
            <a:avLst/>
          </a:prstGeom>
          <a:solidFill>
            <a:schemeClr val="tx2">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5000"/>
          </a:bodyPr>
          <a:lstStyle/>
          <a:p>
            <a:pPr algn="ctr">
              <a:lnSpc>
                <a:spcPct val="100000"/>
              </a:lnSpc>
            </a:pPr>
            <a:r>
              <a:rPr lang="en-US" altLang="zh-CN">
                <a:solidFill>
                  <a:srgbClr val="C00000"/>
                </a:solidFill>
                <a:ea typeface="微软雅黑" panose="020B0503020204020204" pitchFamily="34" charset="-122"/>
              </a:rPr>
              <a:t>QRAM</a:t>
            </a:r>
          </a:p>
        </p:txBody>
      </p:sp>
      <p:cxnSp>
        <p:nvCxnSpPr>
          <p:cNvPr id="6" name="直接连接符 5"/>
          <p:cNvCxnSpPr/>
          <p:nvPr/>
        </p:nvCxnSpPr>
        <p:spPr>
          <a:xfrm>
            <a:off x="4817110" y="2616835"/>
            <a:ext cx="62992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7" name="直接连接符 6"/>
          <p:cNvCxnSpPr/>
          <p:nvPr/>
        </p:nvCxnSpPr>
        <p:spPr>
          <a:xfrm>
            <a:off x="4817110" y="2757170"/>
            <a:ext cx="62992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8" name="直接连接符 7"/>
          <p:cNvCxnSpPr/>
          <p:nvPr/>
        </p:nvCxnSpPr>
        <p:spPr>
          <a:xfrm>
            <a:off x="4817110" y="2897505"/>
            <a:ext cx="62992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9" name="直接连接符 8"/>
          <p:cNvCxnSpPr/>
          <p:nvPr/>
        </p:nvCxnSpPr>
        <p:spPr>
          <a:xfrm>
            <a:off x="4817110" y="3139440"/>
            <a:ext cx="629920" cy="0"/>
          </a:xfrm>
          <a:prstGeom prst="line">
            <a:avLst/>
          </a:prstGeom>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11" name="文本框 10"/>
              <p:cNvSpPr txBox="1"/>
              <p:nvPr/>
            </p:nvSpPr>
            <p:spPr>
              <a:xfrm>
                <a:off x="3819842" y="2565353"/>
                <a:ext cx="1075055" cy="30670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m:t>
                      </m:r>
                      <m:d>
                        <m:dPr>
                          <m:begChr m:val=""/>
                          <m:endChr m:val="⟩"/>
                          <m:ctrlPr>
                            <a:rPr lang="en-US" altLang="zh-CN" i="1">
                              <a:latin typeface="Cambria Math" panose="02040503050406030204" pitchFamily="18" charset="0"/>
                              <a:cs typeface="Cambria Math" panose="02040503050406030204" pitchFamily="18" charset="0"/>
                            </a:rPr>
                          </m:ctrlPr>
                        </m:d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0</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1</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2</m:t>
                              </m:r>
                            </m:sub>
                          </m:sSub>
                        </m:e>
                      </m:d>
                    </m:oMath>
                  </m:oMathPara>
                </a14:m>
                <a:endParaRPr lang="en-US" altLang="zh-CN" i="1" dirty="0">
                  <a:cs typeface="Cambria Math" panose="02040503050406030204" pitchFamily="18" charset="0"/>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3819842" y="2565353"/>
                <a:ext cx="1075055" cy="306705"/>
              </a:xfrm>
              <a:prstGeom prst="rect">
                <a:avLst/>
              </a:prstGeom>
              <a:blipFill>
                <a:blip r:embed="rId4"/>
                <a:stretch>
                  <a:fillRect t="-136000" r="-19767" b="-2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4301454" y="2912349"/>
                <a:ext cx="452755" cy="30670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i="1">
                          <a:solidFill>
                            <a:schemeClr val="bg1">
                              <a:lumMod val="65000"/>
                            </a:schemeClr>
                          </a:solidFill>
                          <a:latin typeface="Cambria Math" panose="02040503050406030204" pitchFamily="18" charset="0"/>
                          <a:cs typeface="Cambria Math" panose="02040503050406030204" pitchFamily="18" charset="0"/>
                        </a:rPr>
                        <m:t>|</m:t>
                      </m:r>
                      <m:d>
                        <m:dPr>
                          <m:begChr m:val=""/>
                          <m:endChr m:val="⟩"/>
                          <m:ctrlPr>
                            <a:rPr lang="en-US" altLang="zh-CN" i="1">
                              <a:solidFill>
                                <a:schemeClr val="bg1">
                                  <a:lumMod val="65000"/>
                                </a:schemeClr>
                              </a:solidFill>
                              <a:latin typeface="Cambria Math" panose="02040503050406030204" pitchFamily="18" charset="0"/>
                              <a:cs typeface="Cambria Math" panose="02040503050406030204" pitchFamily="18" charset="0"/>
                            </a:rPr>
                          </m:ctrlPr>
                        </m:dPr>
                        <m:e>
                          <m:r>
                            <a:rPr lang="en-US" altLang="zh-CN" i="1">
                              <a:solidFill>
                                <a:schemeClr val="bg1">
                                  <a:lumMod val="65000"/>
                                </a:schemeClr>
                              </a:solidFill>
                              <a:latin typeface="Cambria Math" panose="02040503050406030204" pitchFamily="18" charset="0"/>
                              <a:cs typeface="Cambria Math" panose="02040503050406030204" pitchFamily="18" charset="0"/>
                            </a:rPr>
                            <m:t>0</m:t>
                          </m:r>
                        </m:e>
                      </m:d>
                    </m:oMath>
                  </m:oMathPara>
                </a14:m>
                <a:endParaRPr lang="en-US" altLang="zh-CN" i="1" dirty="0">
                  <a:solidFill>
                    <a:schemeClr val="bg1">
                      <a:lumMod val="65000"/>
                    </a:schemeClr>
                  </a:solidFill>
                  <a:cs typeface="Cambria Math" panose="02040503050406030204" pitchFamily="18" charset="0"/>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4301454" y="2912349"/>
                <a:ext cx="452755" cy="306705"/>
              </a:xfrm>
              <a:prstGeom prst="rect">
                <a:avLst/>
              </a:prstGeom>
              <a:blipFill>
                <a:blip r:embed="rId5"/>
                <a:stretch>
                  <a:fillRect l="-24324" t="-136000" r="-54054" b="-220000"/>
                </a:stretch>
              </a:blipFill>
            </p:spPr>
            <p:txBody>
              <a:bodyPr/>
              <a:lstStyle/>
              <a:p>
                <a:r>
                  <a:rPr lang="zh-CN" altLang="en-US">
                    <a:noFill/>
                  </a:rPr>
                  <a:t> </a:t>
                </a:r>
              </a:p>
            </p:txBody>
          </p:sp>
        </mc:Fallback>
      </mc:AlternateContent>
      <p:cxnSp>
        <p:nvCxnSpPr>
          <p:cNvPr id="13" name="直接连接符 12"/>
          <p:cNvCxnSpPr/>
          <p:nvPr/>
        </p:nvCxnSpPr>
        <p:spPr>
          <a:xfrm>
            <a:off x="6551295" y="2616835"/>
            <a:ext cx="62992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5" name="直接连接符 14"/>
          <p:cNvCxnSpPr/>
          <p:nvPr/>
        </p:nvCxnSpPr>
        <p:spPr>
          <a:xfrm>
            <a:off x="6551295" y="2757170"/>
            <a:ext cx="62992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6" name="直接连接符 15"/>
          <p:cNvCxnSpPr/>
          <p:nvPr/>
        </p:nvCxnSpPr>
        <p:spPr>
          <a:xfrm>
            <a:off x="6551295" y="2897505"/>
            <a:ext cx="62992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3835082" y="1969901"/>
            <a:ext cx="1447165" cy="245110"/>
          </a:xfrm>
          <a:prstGeom prst="rect">
            <a:avLst/>
          </a:prstGeom>
          <a:noFill/>
        </p:spPr>
        <p:txBody>
          <a:bodyPr wrap="square" rtlCol="0">
            <a:noAutofit/>
          </a:bodyPr>
          <a:lstStyle/>
          <a:p>
            <a:pPr>
              <a:lnSpc>
                <a:spcPct val="100000"/>
              </a:lnSpc>
            </a:pPr>
            <a:r>
              <a:rPr lang="zh-CN" altLang="en-US" sz="1600" dirty="0"/>
              <a:t>Query address state input</a:t>
            </a:r>
          </a:p>
        </p:txBody>
      </p:sp>
      <p:sp>
        <p:nvSpPr>
          <p:cNvPr id="18" name="文本框 17"/>
          <p:cNvSpPr txBox="1"/>
          <p:nvPr/>
        </p:nvSpPr>
        <p:spPr>
          <a:xfrm>
            <a:off x="3830032" y="3178376"/>
            <a:ext cx="1416050" cy="358865"/>
          </a:xfrm>
          <a:prstGeom prst="rect">
            <a:avLst/>
          </a:prstGeom>
          <a:noFill/>
        </p:spPr>
        <p:txBody>
          <a:bodyPr wrap="square" rtlCol="0">
            <a:noAutofit/>
          </a:bodyPr>
          <a:lstStyle/>
          <a:p>
            <a:pPr>
              <a:lnSpc>
                <a:spcPct val="100000"/>
              </a:lnSpc>
            </a:pPr>
            <a:r>
              <a:rPr lang="zh-CN" altLang="en-US" sz="1600" dirty="0"/>
              <a:t>Empty data bit to be written</a:t>
            </a:r>
          </a:p>
        </p:txBody>
      </p:sp>
      <p:cxnSp>
        <p:nvCxnSpPr>
          <p:cNvPr id="19" name="直接连接符 18"/>
          <p:cNvCxnSpPr/>
          <p:nvPr/>
        </p:nvCxnSpPr>
        <p:spPr>
          <a:xfrm>
            <a:off x="6551295" y="3139440"/>
            <a:ext cx="629920" cy="0"/>
          </a:xfrm>
          <a:prstGeom prst="line">
            <a:avLst/>
          </a:prstGeom>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20" name="文本框 19"/>
              <p:cNvSpPr txBox="1"/>
              <p:nvPr/>
            </p:nvSpPr>
            <p:spPr>
              <a:xfrm>
                <a:off x="7201535" y="2571750"/>
                <a:ext cx="1075055" cy="30670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m:t>
                      </m:r>
                      <m:d>
                        <m:dPr>
                          <m:begChr m:val=""/>
                          <m:endChr m:val="⟩"/>
                          <m:ctrlPr>
                            <a:rPr lang="en-US" altLang="zh-CN" i="1">
                              <a:latin typeface="Cambria Math" panose="02040503050406030204" pitchFamily="18" charset="0"/>
                              <a:cs typeface="Cambria Math" panose="02040503050406030204" pitchFamily="18" charset="0"/>
                            </a:rPr>
                          </m:ctrlPr>
                        </m:d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0</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1</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2</m:t>
                              </m:r>
                            </m:sub>
                          </m:sSub>
                        </m:e>
                      </m:d>
                    </m:oMath>
                  </m:oMathPara>
                </a14:m>
                <a:endParaRPr lang="en-US" altLang="zh-CN" i="1" dirty="0">
                  <a:cs typeface="Cambria Math" panose="02040503050406030204" pitchFamily="18" charset="0"/>
                </a:endParaRPr>
              </a:p>
            </p:txBody>
          </p:sp>
        </mc:Choice>
        <mc:Fallback xmlns="">
          <p:sp>
            <p:nvSpPr>
              <p:cNvPr id="20" name="文本框 19"/>
              <p:cNvSpPr txBox="1">
                <a:spLocks noRot="1" noChangeAspect="1" noMove="1" noResize="1" noEditPoints="1" noAdjustHandles="1" noChangeArrowheads="1" noChangeShapeType="1" noTextEdit="1"/>
              </p:cNvSpPr>
              <p:nvPr/>
            </p:nvSpPr>
            <p:spPr>
              <a:xfrm>
                <a:off x="7201535" y="2571750"/>
                <a:ext cx="1075055" cy="306705"/>
              </a:xfrm>
              <a:prstGeom prst="rect">
                <a:avLst/>
              </a:prstGeom>
              <a:blipFill>
                <a:blip r:embed="rId6"/>
                <a:stretch>
                  <a:fillRect t="-136000" r="-19767" b="-2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p:cNvSpPr txBox="1"/>
              <p:nvPr/>
            </p:nvSpPr>
            <p:spPr>
              <a:xfrm>
                <a:off x="7428194" y="2903459"/>
                <a:ext cx="452755" cy="30670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i="1">
                          <a:solidFill>
                            <a:schemeClr val="accent5">
                              <a:lumMod val="50000"/>
                            </a:schemeClr>
                          </a:solidFill>
                          <a:latin typeface="Cambria Math" panose="02040503050406030204" pitchFamily="18" charset="0"/>
                          <a:cs typeface="Cambria Math" panose="02040503050406030204" pitchFamily="18" charset="0"/>
                        </a:rPr>
                        <m:t>|</m:t>
                      </m:r>
                      <m:d>
                        <m:dPr>
                          <m:begChr m:val=""/>
                          <m:endChr m:val="⟩"/>
                          <m:ctrlPr>
                            <a:rPr lang="en-US" altLang="zh-CN" i="1">
                              <a:solidFill>
                                <a:schemeClr val="accent5">
                                  <a:lumMod val="50000"/>
                                </a:schemeClr>
                              </a:solidFill>
                              <a:latin typeface="Cambria Math" panose="02040503050406030204" pitchFamily="18" charset="0"/>
                              <a:cs typeface="Cambria Math" panose="02040503050406030204" pitchFamily="18" charset="0"/>
                            </a:rPr>
                          </m:ctrlPr>
                        </m:dPr>
                        <m:e>
                          <m:sSub>
                            <m:sSubPr>
                              <m:ctrlPr>
                                <a:rPr lang="en-US" altLang="zh-CN" i="1">
                                  <a:solidFill>
                                    <a:schemeClr val="accent5">
                                      <a:lumMod val="50000"/>
                                    </a:schemeClr>
                                  </a:solidFill>
                                  <a:latin typeface="Cambria Math" panose="02040503050406030204" pitchFamily="18" charset="0"/>
                                  <a:cs typeface="Cambria Math" panose="02040503050406030204" pitchFamily="18" charset="0"/>
                                </a:rPr>
                              </m:ctrlPr>
                            </m:sSubPr>
                            <m:e>
                              <m:r>
                                <a:rPr lang="en-US" altLang="zh-CN" i="1">
                                  <a:solidFill>
                                    <a:schemeClr val="accent5">
                                      <a:lumMod val="50000"/>
                                    </a:schemeClr>
                                  </a:solidFill>
                                  <a:latin typeface="Cambria Math" panose="02040503050406030204" pitchFamily="18" charset="0"/>
                                  <a:cs typeface="Cambria Math" panose="02040503050406030204" pitchFamily="18" charset="0"/>
                                </a:rPr>
                                <m:t>𝑥</m:t>
                              </m:r>
                            </m:e>
                            <m:sub>
                              <m:r>
                                <a:rPr lang="en-US" altLang="zh-CN" i="1">
                                  <a:solidFill>
                                    <a:schemeClr val="accent5">
                                      <a:lumMod val="50000"/>
                                    </a:schemeClr>
                                  </a:solidFill>
                                  <a:latin typeface="Cambria Math" panose="02040503050406030204" pitchFamily="18" charset="0"/>
                                  <a:cs typeface="Cambria Math" panose="02040503050406030204" pitchFamily="18" charset="0"/>
                                </a:rPr>
                                <m:t>0</m:t>
                              </m:r>
                            </m:sub>
                          </m:sSub>
                        </m:e>
                      </m:d>
                    </m:oMath>
                  </m:oMathPara>
                </a14:m>
                <a:endParaRPr lang="en-US" altLang="zh-CN" i="1">
                  <a:solidFill>
                    <a:schemeClr val="accent5">
                      <a:lumMod val="50000"/>
                    </a:schemeClr>
                  </a:solidFill>
                  <a:cs typeface="Cambria Math" panose="02040503050406030204" pitchFamily="18" charset="0"/>
                </a:endParaRPr>
              </a:p>
            </p:txBody>
          </p:sp>
        </mc:Choice>
        <mc:Fallback xmlns="">
          <p:sp>
            <p:nvSpPr>
              <p:cNvPr id="21" name="文本框 20"/>
              <p:cNvSpPr txBox="1">
                <a:spLocks noRot="1" noChangeAspect="1" noMove="1" noResize="1" noEditPoints="1" noAdjustHandles="1" noChangeArrowheads="1" noChangeShapeType="1" noTextEdit="1"/>
              </p:cNvSpPr>
              <p:nvPr/>
            </p:nvSpPr>
            <p:spPr>
              <a:xfrm>
                <a:off x="7428194" y="2903459"/>
                <a:ext cx="452755" cy="306705"/>
              </a:xfrm>
              <a:prstGeom prst="rect">
                <a:avLst/>
              </a:prstGeom>
              <a:blipFill>
                <a:blip r:embed="rId7"/>
                <a:stretch>
                  <a:fillRect l="-5556" t="-132000" r="-75000" b="-220000"/>
                </a:stretch>
              </a:blipFill>
            </p:spPr>
            <p:txBody>
              <a:bodyPr/>
              <a:lstStyle/>
              <a:p>
                <a:r>
                  <a:rPr lang="zh-CN" altLang="en-US">
                    <a:noFill/>
                  </a:rPr>
                  <a:t> </a:t>
                </a:r>
              </a:p>
            </p:txBody>
          </p:sp>
        </mc:Fallback>
      </mc:AlternateContent>
      <p:pic>
        <p:nvPicPr>
          <p:cNvPr id="22" name="图片 21"/>
          <p:cNvPicPr>
            <a:picLocks noChangeAspect="1"/>
          </p:cNvPicPr>
          <p:nvPr/>
        </p:nvPicPr>
        <p:blipFill>
          <a:blip r:embed="rId8"/>
          <a:stretch>
            <a:fillRect/>
          </a:stretch>
        </p:blipFill>
        <p:spPr>
          <a:xfrm>
            <a:off x="4817110" y="3763010"/>
            <a:ext cx="2868295" cy="528955"/>
          </a:xfrm>
          <a:prstGeom prst="rect">
            <a:avLst/>
          </a:prstGeom>
        </p:spPr>
      </p:pic>
      <p:sp>
        <p:nvSpPr>
          <p:cNvPr id="23" name="文本框 22"/>
          <p:cNvSpPr txBox="1"/>
          <p:nvPr/>
        </p:nvSpPr>
        <p:spPr>
          <a:xfrm>
            <a:off x="7238365" y="2001016"/>
            <a:ext cx="1800860" cy="245110"/>
          </a:xfrm>
          <a:prstGeom prst="rect">
            <a:avLst/>
          </a:prstGeom>
          <a:noFill/>
        </p:spPr>
        <p:txBody>
          <a:bodyPr wrap="square" rtlCol="0">
            <a:noAutofit/>
          </a:bodyPr>
          <a:lstStyle/>
          <a:p>
            <a:pPr>
              <a:lnSpc>
                <a:spcPct val="100000"/>
              </a:lnSpc>
            </a:pPr>
            <a:r>
              <a:rPr lang="zh-CN" altLang="en-US" sz="1600" dirty="0"/>
              <a:t>Read data from QRAM</a:t>
            </a:r>
          </a:p>
        </p:txBody>
      </p:sp>
      <p:sp>
        <p:nvSpPr>
          <p:cNvPr id="25" name="文本框 24"/>
          <p:cNvSpPr txBox="1"/>
          <p:nvPr/>
        </p:nvSpPr>
        <p:spPr>
          <a:xfrm>
            <a:off x="7155527" y="3178376"/>
            <a:ext cx="1416050" cy="358865"/>
          </a:xfrm>
          <a:prstGeom prst="rect">
            <a:avLst/>
          </a:prstGeom>
          <a:noFill/>
        </p:spPr>
        <p:txBody>
          <a:bodyPr wrap="square" rtlCol="0">
            <a:noAutofit/>
          </a:bodyPr>
          <a:lstStyle/>
          <a:p>
            <a:pPr>
              <a:lnSpc>
                <a:spcPct val="100000"/>
              </a:lnSpc>
            </a:pPr>
            <a:r>
              <a:rPr lang="zh-CN" altLang="en-US" sz="1600">
                <a:solidFill>
                  <a:srgbClr val="4A551D"/>
                </a:solidFill>
                <a:sym typeface="+mn-ea"/>
              </a:rPr>
              <a:t>Pre-stored data information</a:t>
            </a:r>
          </a:p>
        </p:txBody>
      </p:sp>
      <p:sp>
        <p:nvSpPr>
          <p:cNvPr id="26" name="矩形 25"/>
          <p:cNvSpPr/>
          <p:nvPr/>
        </p:nvSpPr>
        <p:spPr>
          <a:xfrm>
            <a:off x="494030" y="1508760"/>
            <a:ext cx="2309495" cy="44577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lang="zh-CN" altLang="en-US" b="1" dirty="0"/>
              <a:t>Binary-tree routing</a:t>
            </a:r>
          </a:p>
        </p:txBody>
      </p:sp>
      <p:sp>
        <p:nvSpPr>
          <p:cNvPr id="27" name="矩形 26"/>
          <p:cNvSpPr/>
          <p:nvPr/>
        </p:nvSpPr>
        <p:spPr>
          <a:xfrm>
            <a:off x="3875405" y="1501775"/>
            <a:ext cx="4576445" cy="44577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b="1" dirty="0">
                <a:ea typeface="微软雅黑" panose="020B0503020204020204" pitchFamily="34" charset="-122"/>
                <a:cs typeface="微软雅黑" panose="020B0503020204020204" pitchFamily="34" charset="-122"/>
              </a:rPr>
              <a:t>QRAM Functionality</a:t>
            </a:r>
          </a:p>
        </p:txBody>
      </p:sp>
      <p:sp>
        <p:nvSpPr>
          <p:cNvPr id="45" name="文本框 44"/>
          <p:cNvSpPr txBox="1"/>
          <p:nvPr/>
        </p:nvSpPr>
        <p:spPr>
          <a:xfrm>
            <a:off x="3843368" y="4313899"/>
            <a:ext cx="4640517" cy="583565"/>
          </a:xfrm>
          <a:prstGeom prst="rect">
            <a:avLst/>
          </a:prstGeom>
          <a:noFill/>
        </p:spPr>
        <p:txBody>
          <a:bodyPr wrap="square"/>
          <a:lstStyle/>
          <a:p>
            <a:pPr indent="0" algn="l" fontAlgn="auto">
              <a:lnSpc>
                <a:spcPct val="100000"/>
              </a:lnSpc>
            </a:pPr>
            <a:r>
              <a:rPr lang="zh-CN" altLang="en-US" sz="1600" b="1" dirty="0">
                <a:cs typeface="+mn-ea"/>
                <a:sym typeface="+mn-lt"/>
              </a:rPr>
              <a:t>Complete quantum data read/write in O(log N), breaking the O(N) data-access bottleneck.</a:t>
            </a:r>
            <a:endParaRPr lang="zh-CN" altLang="en-US" sz="1600" b="1" dirty="0">
              <a:solidFill>
                <a:srgbClr val="C00000"/>
              </a:solidFill>
              <a:cs typeface="+mn-ea"/>
              <a:sym typeface="+mn-lt"/>
            </a:endParaRPr>
          </a:p>
        </p:txBody>
      </p:sp>
      <p:sp>
        <p:nvSpPr>
          <p:cNvPr id="33" name="文本框 32"/>
          <p:cNvSpPr txBox="1"/>
          <p:nvPr/>
        </p:nvSpPr>
        <p:spPr>
          <a:xfrm>
            <a:off x="225425" y="4161155"/>
            <a:ext cx="3714115" cy="583565"/>
          </a:xfrm>
          <a:prstGeom prst="rect">
            <a:avLst/>
          </a:prstGeom>
          <a:noFill/>
        </p:spPr>
        <p:txBody>
          <a:bodyPr wrap="square"/>
          <a:lstStyle/>
          <a:p>
            <a:pPr lvl="0" indent="0" algn="l" fontAlgn="auto">
              <a:lnSpc>
                <a:spcPct val="100000"/>
              </a:lnSpc>
              <a:buClrTx/>
              <a:buSzTx/>
              <a:buFontTx/>
            </a:pPr>
            <a:r>
              <a:rPr lang="zh-CN" altLang="en-US" sz="1600" b="1" dirty="0">
                <a:cs typeface="+mn-ea"/>
                <a:sym typeface="+mn-ea"/>
              </a:rPr>
              <a:t>Auxiliary routing qubits organize quantum data in a binary tree.</a:t>
            </a:r>
          </a:p>
          <a:p>
            <a:pPr lvl="0" indent="0" algn="l" fontAlgn="auto">
              <a:lnSpc>
                <a:spcPct val="100000"/>
              </a:lnSpc>
              <a:buClrTx/>
              <a:buSzTx/>
              <a:buFontTx/>
            </a:pPr>
            <a:endParaRPr lang="zh-CN" altLang="en-US" sz="1600" b="1" dirty="0">
              <a:cs typeface="+mn-ea"/>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14"/>
          <p:cNvSpPr/>
          <p:nvPr/>
        </p:nvSpPr>
        <p:spPr>
          <a:xfrm>
            <a:off x="342628" y="1338000"/>
            <a:ext cx="2034812" cy="2615992"/>
          </a:xfrm>
          <a:prstGeom prst="roundRect">
            <a:avLst>
              <a:gd name="adj" fmla="val 5158"/>
            </a:avLst>
          </a:prstGeom>
          <a:solidFill>
            <a:schemeClr val="accent1">
              <a:alpha val="8000"/>
            </a:schemeClr>
          </a:solidFill>
          <a:ln w="1270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normAutofit fontScale="95000"/>
          </a:bodyPr>
          <a:lstStyle/>
          <a:p>
            <a:pPr algn="ctr">
              <a:lnSpc>
                <a:spcPct val="100000"/>
              </a:lnSpc>
            </a:pPr>
            <a:endParaRPr sz="1350"/>
          </a:p>
        </p:txBody>
      </p:sp>
      <p:sp>
        <p:nvSpPr>
          <p:cNvPr id="3" name="标题 2"/>
          <p:cNvSpPr>
            <a:spLocks noGrp="1"/>
          </p:cNvSpPr>
          <p:nvPr>
            <p:ph type="title"/>
          </p:nvPr>
        </p:nvSpPr>
        <p:spPr/>
        <p:txBody>
          <a:bodyPr/>
          <a:lstStyle/>
          <a:p>
            <a:pPr>
              <a:lnSpc>
                <a:spcPct val="100000"/>
              </a:lnSpc>
            </a:pPr>
            <a:r>
              <a:rPr lang="en-US" altLang="zh-CN" sz="1800" dirty="0">
                <a:latin typeface="+mn-lt"/>
              </a:rPr>
              <a:t>Challenges in Theory and Experiment</a:t>
            </a:r>
          </a:p>
        </p:txBody>
      </p:sp>
      <p:sp>
        <p:nvSpPr>
          <p:cNvPr id="6" name="Rounded Rectangle 15"/>
          <p:cNvSpPr/>
          <p:nvPr/>
        </p:nvSpPr>
        <p:spPr>
          <a:xfrm>
            <a:off x="351543" y="1470178"/>
            <a:ext cx="285743" cy="285749"/>
          </a:xfrm>
          <a:prstGeom prst="roundRect">
            <a:avLst>
              <a:gd name="adj" fmla="val 49995000"/>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normAutofit fontScale="50000" lnSpcReduction="20000"/>
          </a:bodyPr>
          <a:lstStyle/>
          <a:p>
            <a:pPr algn="ctr">
              <a:lnSpc>
                <a:spcPct val="100000"/>
              </a:lnSpc>
            </a:pPr>
            <a:endParaRPr/>
          </a:p>
        </p:txBody>
      </p:sp>
      <p:sp>
        <p:nvSpPr>
          <p:cNvPr id="7" name="TextBox 16"/>
          <p:cNvSpPr txBox="1"/>
          <p:nvPr/>
        </p:nvSpPr>
        <p:spPr>
          <a:xfrm>
            <a:off x="398232" y="1482743"/>
            <a:ext cx="253467" cy="272703"/>
          </a:xfrm>
          <a:prstGeom prst="rect">
            <a:avLst/>
          </a:prstGeom>
          <a:noFill/>
        </p:spPr>
        <p:txBody>
          <a:bodyPr wrap="none" lIns="54864" tIns="41148" rIns="54864" bIns="41148" anchor="ctr">
            <a:normAutofit fontScale="80000" lnSpcReduction="20000"/>
          </a:bodyPr>
          <a:lstStyle/>
          <a:p>
            <a:pPr>
              <a:lnSpc>
                <a:spcPct val="100000"/>
              </a:lnSpc>
            </a:pPr>
            <a:r>
              <a:rPr lang="en-US" b="1" dirty="0">
                <a:solidFill>
                  <a:srgbClr val="FFFFFF"/>
                </a:solidFill>
              </a:rPr>
              <a:t>1</a:t>
            </a:r>
            <a:endParaRPr b="1" dirty="0">
              <a:solidFill>
                <a:srgbClr val="FFFFFF"/>
              </a:solidFill>
            </a:endParaRPr>
          </a:p>
        </p:txBody>
      </p:sp>
      <p:sp>
        <p:nvSpPr>
          <p:cNvPr id="8" name="TextBox 17"/>
          <p:cNvSpPr txBox="1"/>
          <p:nvPr/>
        </p:nvSpPr>
        <p:spPr>
          <a:xfrm>
            <a:off x="637252" y="1463675"/>
            <a:ext cx="1659255" cy="292100"/>
          </a:xfrm>
          <a:prstGeom prst="rect">
            <a:avLst/>
          </a:prstGeom>
          <a:noFill/>
        </p:spPr>
        <p:txBody>
          <a:bodyPr wrap="none" lIns="54864" tIns="41148" rIns="54864" bIns="41148" anchor="ctr">
            <a:noAutofit/>
          </a:bodyPr>
          <a:lstStyle/>
          <a:p>
            <a:pPr>
              <a:lnSpc>
                <a:spcPct val="100000"/>
              </a:lnSpc>
            </a:pPr>
            <a:r>
              <a:rPr lang="zh-CN" altLang="en-US" sz="1600" b="1" dirty="0">
                <a:solidFill>
                  <a:schemeClr val="accent1"/>
                </a:solidFill>
              </a:rPr>
              <a:t>Topology mismatch</a:t>
            </a:r>
            <a:endParaRPr sz="1600" b="1" dirty="0">
              <a:solidFill>
                <a:schemeClr val="accent1"/>
              </a:solidFill>
            </a:endParaRPr>
          </a:p>
        </p:txBody>
      </p:sp>
      <p:sp>
        <p:nvSpPr>
          <p:cNvPr id="10" name="矩形: 圆角 9"/>
          <p:cNvSpPr/>
          <p:nvPr/>
        </p:nvSpPr>
        <p:spPr>
          <a:xfrm>
            <a:off x="1944611" y="4106268"/>
            <a:ext cx="7075917" cy="583178"/>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sz="1600" b="1" dirty="0">
                <a:solidFill>
                  <a:srgbClr val="C00000"/>
                </a:solidFill>
                <a:ea typeface="微软雅黑" panose="020B0503020204020204" pitchFamily="34" charset="-122"/>
                <a:cs typeface="微软雅黑" panose="020B0503020204020204" pitchFamily="34" charset="-122"/>
                <a:sym typeface="+mn-ea"/>
              </a:rPr>
              <a:t>QRAM is still theoretical; </a:t>
            </a:r>
          </a:p>
          <a:p>
            <a:pPr algn="ctr">
              <a:lnSpc>
                <a:spcPct val="100000"/>
              </a:lnSpc>
            </a:pPr>
            <a:r>
              <a:rPr lang="en-US" altLang="zh-CN" sz="1600" b="1" dirty="0">
                <a:solidFill>
                  <a:srgbClr val="C00000"/>
                </a:solidFill>
                <a:ea typeface="微软雅黑" panose="020B0503020204020204" pitchFamily="34" charset="-122"/>
                <a:cs typeface="微软雅黑" panose="020B0503020204020204" pitchFamily="34" charset="-122"/>
                <a:sym typeface="+mn-ea"/>
              </a:rPr>
              <a:t>it needs systematic architectural and hardware implementation.</a:t>
            </a:r>
          </a:p>
        </p:txBody>
      </p:sp>
      <p:sp>
        <p:nvSpPr>
          <p:cNvPr id="11" name="矩形: 圆角 10"/>
          <p:cNvSpPr/>
          <p:nvPr/>
        </p:nvSpPr>
        <p:spPr>
          <a:xfrm>
            <a:off x="210425" y="4106589"/>
            <a:ext cx="1784503" cy="583132"/>
          </a:xfrm>
          <a:prstGeom prst="roundRect">
            <a:avLst>
              <a:gd name="adj" fmla="val 1166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sz="1600" b="1" dirty="0"/>
              <a:t>Computer + Physics</a:t>
            </a:r>
          </a:p>
        </p:txBody>
      </p:sp>
      <p:sp>
        <p:nvSpPr>
          <p:cNvPr id="12" name="矩形 11"/>
          <p:cNvSpPr/>
          <p:nvPr/>
        </p:nvSpPr>
        <p:spPr>
          <a:xfrm>
            <a:off x="342628" y="875930"/>
            <a:ext cx="4171486" cy="36449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sz="1600" b="1" dirty="0">
                <a:ea typeface="微软雅黑" panose="020B0503020204020204" pitchFamily="34" charset="-122"/>
                <a:cs typeface="微软雅黑" panose="020B0503020204020204" pitchFamily="34" charset="-122"/>
              </a:rPr>
              <a:t>Theoretical Level</a:t>
            </a:r>
          </a:p>
        </p:txBody>
      </p:sp>
      <p:sp>
        <p:nvSpPr>
          <p:cNvPr id="13" name="矩形 12"/>
          <p:cNvSpPr/>
          <p:nvPr/>
        </p:nvSpPr>
        <p:spPr>
          <a:xfrm>
            <a:off x="4846514" y="875930"/>
            <a:ext cx="4114960" cy="36449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sz="1600" b="1" dirty="0">
                <a:ea typeface="微软雅黑" panose="020B0503020204020204" pitchFamily="34" charset="-122"/>
                <a:cs typeface="微软雅黑" panose="020B0503020204020204" pitchFamily="34" charset="-122"/>
              </a:rPr>
              <a:t>Experimental Level</a:t>
            </a:r>
          </a:p>
        </p:txBody>
      </p:sp>
      <p:sp>
        <p:nvSpPr>
          <p:cNvPr id="15" name="Rounded Rectangle 14"/>
          <p:cNvSpPr/>
          <p:nvPr/>
        </p:nvSpPr>
        <p:spPr>
          <a:xfrm>
            <a:off x="2479302" y="1338000"/>
            <a:ext cx="2034812" cy="2615992"/>
          </a:xfrm>
          <a:prstGeom prst="roundRect">
            <a:avLst>
              <a:gd name="adj" fmla="val 5158"/>
            </a:avLst>
          </a:prstGeom>
          <a:solidFill>
            <a:schemeClr val="accent1">
              <a:alpha val="8000"/>
            </a:schemeClr>
          </a:solidFill>
          <a:ln w="1270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normAutofit fontScale="95000"/>
          </a:bodyPr>
          <a:lstStyle/>
          <a:p>
            <a:pPr algn="ctr">
              <a:lnSpc>
                <a:spcPct val="100000"/>
              </a:lnSpc>
              <a:spcAft>
                <a:spcPts val="780"/>
              </a:spcAft>
            </a:pPr>
            <a:endParaRPr lang="zh-CN" altLang="en-US" sz="1400" dirty="0">
              <a:solidFill>
                <a:srgbClr val="5A6C7D"/>
              </a:solidFill>
            </a:endParaRPr>
          </a:p>
        </p:txBody>
      </p:sp>
      <p:sp>
        <p:nvSpPr>
          <p:cNvPr id="16" name="Rounded Rectangle 15"/>
          <p:cNvSpPr/>
          <p:nvPr/>
        </p:nvSpPr>
        <p:spPr>
          <a:xfrm>
            <a:off x="2613397" y="1447318"/>
            <a:ext cx="285743" cy="285749"/>
          </a:xfrm>
          <a:prstGeom prst="roundRect">
            <a:avLst>
              <a:gd name="adj" fmla="val 49995000"/>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normAutofit fontScale="50000" lnSpcReduction="20000"/>
          </a:bodyPr>
          <a:lstStyle/>
          <a:p>
            <a:pPr algn="ctr">
              <a:lnSpc>
                <a:spcPct val="100000"/>
              </a:lnSpc>
            </a:pPr>
            <a:endParaRPr/>
          </a:p>
        </p:txBody>
      </p:sp>
      <p:sp>
        <p:nvSpPr>
          <p:cNvPr id="17" name="TextBox 16"/>
          <p:cNvSpPr txBox="1"/>
          <p:nvPr/>
        </p:nvSpPr>
        <p:spPr>
          <a:xfrm>
            <a:off x="2657546" y="1476393"/>
            <a:ext cx="253467" cy="272703"/>
          </a:xfrm>
          <a:prstGeom prst="rect">
            <a:avLst/>
          </a:prstGeom>
          <a:noFill/>
        </p:spPr>
        <p:txBody>
          <a:bodyPr wrap="none" lIns="54864" tIns="41148" rIns="54864" bIns="41148" anchor="ctr">
            <a:normAutofit fontScale="80000" lnSpcReduction="20000"/>
          </a:bodyPr>
          <a:lstStyle/>
          <a:p>
            <a:pPr>
              <a:lnSpc>
                <a:spcPct val="100000"/>
              </a:lnSpc>
            </a:pPr>
            <a:r>
              <a:rPr lang="en-US" b="1" dirty="0">
                <a:solidFill>
                  <a:srgbClr val="FFFFFF"/>
                </a:solidFill>
              </a:rPr>
              <a:t>2</a:t>
            </a:r>
            <a:endParaRPr b="1" dirty="0">
              <a:solidFill>
                <a:srgbClr val="FFFFFF"/>
              </a:solidFill>
            </a:endParaRPr>
          </a:p>
        </p:txBody>
      </p:sp>
      <p:sp>
        <p:nvSpPr>
          <p:cNvPr id="18" name="TextBox 17"/>
          <p:cNvSpPr txBox="1"/>
          <p:nvPr/>
        </p:nvSpPr>
        <p:spPr>
          <a:xfrm>
            <a:off x="2933428" y="1440818"/>
            <a:ext cx="1264962" cy="291939"/>
          </a:xfrm>
          <a:prstGeom prst="rect">
            <a:avLst/>
          </a:prstGeom>
          <a:noFill/>
        </p:spPr>
        <p:txBody>
          <a:bodyPr wrap="none" lIns="54864" tIns="41148" rIns="54864" bIns="41148" anchor="ctr"/>
          <a:lstStyle/>
          <a:p>
            <a:pPr>
              <a:lnSpc>
                <a:spcPct val="100000"/>
              </a:lnSpc>
            </a:pPr>
            <a:r>
              <a:rPr lang="zh-CN" altLang="en-US" sz="1600" b="1" dirty="0">
                <a:solidFill>
                  <a:schemeClr val="accent1"/>
                </a:solidFill>
              </a:rPr>
              <a:t>Deep circuits</a:t>
            </a:r>
          </a:p>
        </p:txBody>
      </p:sp>
      <p:sp>
        <p:nvSpPr>
          <p:cNvPr id="19" name="Rounded Rectangle 14"/>
          <p:cNvSpPr/>
          <p:nvPr/>
        </p:nvSpPr>
        <p:spPr>
          <a:xfrm>
            <a:off x="4846514" y="1338000"/>
            <a:ext cx="1994425" cy="2615992"/>
          </a:xfrm>
          <a:prstGeom prst="roundRect">
            <a:avLst>
              <a:gd name="adj" fmla="val 5158"/>
            </a:avLst>
          </a:prstGeom>
          <a:solidFill>
            <a:schemeClr val="accent2">
              <a:alpha val="8000"/>
            </a:schemeClr>
          </a:solidFill>
          <a:ln w="1270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normAutofit fontScale="95000"/>
          </a:bodyPr>
          <a:lstStyle/>
          <a:p>
            <a:pPr algn="ctr">
              <a:lnSpc>
                <a:spcPct val="100000"/>
              </a:lnSpc>
            </a:pPr>
            <a:endParaRPr sz="1350"/>
          </a:p>
        </p:txBody>
      </p:sp>
      <p:sp>
        <p:nvSpPr>
          <p:cNvPr id="20" name="Rounded Rectangle 15"/>
          <p:cNvSpPr/>
          <p:nvPr/>
        </p:nvSpPr>
        <p:spPr>
          <a:xfrm>
            <a:off x="4856064" y="1447318"/>
            <a:ext cx="285743" cy="285749"/>
          </a:xfrm>
          <a:prstGeom prst="roundRect">
            <a:avLst>
              <a:gd name="adj" fmla="val 49995000"/>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normAutofit fontScale="50000" lnSpcReduction="20000"/>
          </a:bodyPr>
          <a:lstStyle/>
          <a:p>
            <a:pPr algn="ctr">
              <a:lnSpc>
                <a:spcPct val="100000"/>
              </a:lnSpc>
            </a:pPr>
            <a:endParaRPr>
              <a:solidFill>
                <a:schemeClr val="accent2"/>
              </a:solidFill>
            </a:endParaRPr>
          </a:p>
        </p:txBody>
      </p:sp>
      <p:sp>
        <p:nvSpPr>
          <p:cNvPr id="21" name="TextBox 16"/>
          <p:cNvSpPr txBox="1"/>
          <p:nvPr/>
        </p:nvSpPr>
        <p:spPr>
          <a:xfrm>
            <a:off x="4895061" y="1467503"/>
            <a:ext cx="253467" cy="272703"/>
          </a:xfrm>
          <a:prstGeom prst="rect">
            <a:avLst/>
          </a:prstGeom>
          <a:noFill/>
        </p:spPr>
        <p:txBody>
          <a:bodyPr wrap="none" lIns="54864" tIns="41148" rIns="54864" bIns="41148" anchor="ctr">
            <a:normAutofit fontScale="80000" lnSpcReduction="20000"/>
          </a:bodyPr>
          <a:lstStyle/>
          <a:p>
            <a:pPr>
              <a:lnSpc>
                <a:spcPct val="100000"/>
              </a:lnSpc>
            </a:pPr>
            <a:r>
              <a:rPr lang="en-US" b="1" dirty="0">
                <a:solidFill>
                  <a:srgbClr val="FFFFFF"/>
                </a:solidFill>
              </a:rPr>
              <a:t>1</a:t>
            </a:r>
            <a:endParaRPr b="1" dirty="0">
              <a:solidFill>
                <a:srgbClr val="FFFFFF"/>
              </a:solidFill>
            </a:endParaRPr>
          </a:p>
        </p:txBody>
      </p:sp>
      <p:sp>
        <p:nvSpPr>
          <p:cNvPr id="22" name="TextBox 17"/>
          <p:cNvSpPr txBox="1"/>
          <p:nvPr/>
        </p:nvSpPr>
        <p:spPr>
          <a:xfrm>
            <a:off x="5273538" y="1403154"/>
            <a:ext cx="1264920" cy="292100"/>
          </a:xfrm>
          <a:prstGeom prst="rect">
            <a:avLst/>
          </a:prstGeom>
          <a:noFill/>
        </p:spPr>
        <p:txBody>
          <a:bodyPr wrap="none" lIns="54864" tIns="41148" rIns="54864" bIns="41148" anchor="ctr"/>
          <a:lstStyle/>
          <a:p>
            <a:pPr>
              <a:lnSpc>
                <a:spcPct val="100000"/>
              </a:lnSpc>
            </a:pPr>
            <a:r>
              <a:rPr lang="zh-CN" altLang="en-US" sz="1600" b="1" dirty="0">
                <a:solidFill>
                  <a:schemeClr val="accent2"/>
                </a:solidFill>
              </a:rPr>
              <a:t>High control </a:t>
            </a:r>
          </a:p>
          <a:p>
            <a:pPr>
              <a:lnSpc>
                <a:spcPct val="100000"/>
              </a:lnSpc>
            </a:pPr>
            <a:r>
              <a:rPr lang="zh-CN" altLang="en-US" sz="1600" b="1" dirty="0">
                <a:solidFill>
                  <a:schemeClr val="accent2"/>
                </a:solidFill>
              </a:rPr>
              <a:t>requirements</a:t>
            </a:r>
          </a:p>
        </p:txBody>
      </p:sp>
      <p:sp>
        <p:nvSpPr>
          <p:cNvPr id="23" name="Rounded Rectangle 14"/>
          <p:cNvSpPr/>
          <p:nvPr/>
        </p:nvSpPr>
        <p:spPr>
          <a:xfrm>
            <a:off x="6926662" y="1338000"/>
            <a:ext cx="2034812" cy="2615992"/>
          </a:xfrm>
          <a:prstGeom prst="roundRect">
            <a:avLst>
              <a:gd name="adj" fmla="val 5158"/>
            </a:avLst>
          </a:prstGeom>
          <a:solidFill>
            <a:schemeClr val="accent2">
              <a:alpha val="8000"/>
            </a:schemeClr>
          </a:solidFill>
          <a:ln w="1270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normAutofit fontScale="95000"/>
          </a:bodyPr>
          <a:lstStyle/>
          <a:p>
            <a:pPr algn="ctr">
              <a:lnSpc>
                <a:spcPct val="100000"/>
              </a:lnSpc>
            </a:pPr>
            <a:endParaRPr sz="1350"/>
          </a:p>
        </p:txBody>
      </p:sp>
      <p:sp>
        <p:nvSpPr>
          <p:cNvPr id="24" name="Rounded Rectangle 15"/>
          <p:cNvSpPr/>
          <p:nvPr/>
        </p:nvSpPr>
        <p:spPr>
          <a:xfrm>
            <a:off x="7034925" y="1447318"/>
            <a:ext cx="285743" cy="285749"/>
          </a:xfrm>
          <a:prstGeom prst="roundRect">
            <a:avLst>
              <a:gd name="adj" fmla="val 49995000"/>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normAutofit fontScale="50000" lnSpcReduction="20000"/>
          </a:bodyPr>
          <a:lstStyle/>
          <a:p>
            <a:pPr algn="ctr">
              <a:lnSpc>
                <a:spcPct val="100000"/>
              </a:lnSpc>
            </a:pPr>
            <a:endParaRPr>
              <a:solidFill>
                <a:schemeClr val="accent2"/>
              </a:solidFill>
            </a:endParaRPr>
          </a:p>
        </p:txBody>
      </p:sp>
      <p:sp>
        <p:nvSpPr>
          <p:cNvPr id="25" name="TextBox 16"/>
          <p:cNvSpPr txBox="1"/>
          <p:nvPr/>
        </p:nvSpPr>
        <p:spPr>
          <a:xfrm>
            <a:off x="7060587" y="1469408"/>
            <a:ext cx="253467" cy="272703"/>
          </a:xfrm>
          <a:prstGeom prst="rect">
            <a:avLst/>
          </a:prstGeom>
          <a:noFill/>
        </p:spPr>
        <p:txBody>
          <a:bodyPr wrap="none" lIns="54864" tIns="41148" rIns="54864" bIns="41148" anchor="ctr">
            <a:normAutofit fontScale="80000" lnSpcReduction="20000"/>
          </a:bodyPr>
          <a:lstStyle/>
          <a:p>
            <a:pPr>
              <a:lnSpc>
                <a:spcPct val="100000"/>
              </a:lnSpc>
            </a:pPr>
            <a:r>
              <a:rPr lang="en-US" b="1" dirty="0">
                <a:solidFill>
                  <a:srgbClr val="FFFFFF"/>
                </a:solidFill>
              </a:rPr>
              <a:t>2</a:t>
            </a:r>
            <a:endParaRPr b="1" dirty="0">
              <a:solidFill>
                <a:srgbClr val="FFFFFF"/>
              </a:solidFill>
            </a:endParaRPr>
          </a:p>
        </p:txBody>
      </p:sp>
      <p:sp>
        <p:nvSpPr>
          <p:cNvPr id="26" name="TextBox 17"/>
          <p:cNvSpPr txBox="1"/>
          <p:nvPr/>
        </p:nvSpPr>
        <p:spPr>
          <a:xfrm>
            <a:off x="7369158" y="1456986"/>
            <a:ext cx="1342104" cy="291939"/>
          </a:xfrm>
          <a:prstGeom prst="rect">
            <a:avLst/>
          </a:prstGeom>
          <a:noFill/>
        </p:spPr>
        <p:txBody>
          <a:bodyPr wrap="none" lIns="54864" tIns="41148" rIns="54864" bIns="41148" anchor="ctr"/>
          <a:lstStyle/>
          <a:p>
            <a:pPr>
              <a:lnSpc>
                <a:spcPct val="100000"/>
              </a:lnSpc>
            </a:pPr>
            <a:r>
              <a:rPr lang="zh-CN" altLang="en-US" sz="1600" b="1" dirty="0">
                <a:solidFill>
                  <a:schemeClr val="accent2"/>
                </a:solidFill>
              </a:rPr>
              <a:t>Noi</a:t>
            </a:r>
            <a:r>
              <a:rPr lang="en-US" altLang="zh-CN" sz="1600" b="1" dirty="0">
                <a:solidFill>
                  <a:schemeClr val="accent2"/>
                </a:solidFill>
              </a:rPr>
              <a:t>se disruption</a:t>
            </a:r>
            <a:endParaRPr lang="zh-CN" altLang="en-US" sz="1600" b="1" dirty="0">
              <a:solidFill>
                <a:schemeClr val="accent2"/>
              </a:solidFill>
            </a:endParaRPr>
          </a:p>
        </p:txBody>
      </p:sp>
      <p:sp>
        <p:nvSpPr>
          <p:cNvPr id="35" name="文本框 34"/>
          <p:cNvSpPr txBox="1"/>
          <p:nvPr/>
        </p:nvSpPr>
        <p:spPr>
          <a:xfrm>
            <a:off x="2440620" y="3099223"/>
            <a:ext cx="2216354" cy="923290"/>
          </a:xfrm>
          <a:prstGeom prst="rect">
            <a:avLst/>
          </a:prstGeom>
          <a:noFill/>
        </p:spPr>
        <p:txBody>
          <a:bodyPr wrap="square"/>
          <a:lstStyle/>
          <a:p>
            <a:pPr indent="0" algn="ctr" fontAlgn="auto">
              <a:lnSpc>
                <a:spcPct val="100000"/>
              </a:lnSpc>
              <a:spcAft>
                <a:spcPts val="700"/>
              </a:spcAft>
            </a:pPr>
            <a:r>
              <a:rPr lang="zh-CN" altLang="en-US" sz="1600" dirty="0"/>
              <a:t>A quantum router needs to realize interactions among four qubits.</a:t>
            </a:r>
          </a:p>
        </p:txBody>
      </p:sp>
      <p:grpSp>
        <p:nvGrpSpPr>
          <p:cNvPr id="96" name="组合 95"/>
          <p:cNvGrpSpPr/>
          <p:nvPr/>
        </p:nvGrpSpPr>
        <p:grpSpPr>
          <a:xfrm>
            <a:off x="1164519" y="1808067"/>
            <a:ext cx="1016149" cy="1385308"/>
            <a:chOff x="2853776" y="2199984"/>
            <a:chExt cx="1016149" cy="1385308"/>
          </a:xfrm>
        </p:grpSpPr>
        <p:sp>
          <p:nvSpPr>
            <p:cNvPr id="66" name="箭头: 右 65"/>
            <p:cNvSpPr/>
            <p:nvPr/>
          </p:nvSpPr>
          <p:spPr>
            <a:xfrm rot="5400000">
              <a:off x="3282785" y="2869985"/>
              <a:ext cx="188302" cy="295475"/>
            </a:xfrm>
            <a:prstGeom prst="rightArrow">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noAutofit/>
            </a:bodyPr>
            <a:lstStyle/>
            <a:p>
              <a:pPr algn="ctr">
                <a:lnSpc>
                  <a:spcPct val="100000"/>
                </a:lnSpc>
              </a:pPr>
              <a:endParaRPr lang="zh-CN" altLang="en-US" sz="800"/>
            </a:p>
          </p:txBody>
        </p:sp>
        <p:grpSp>
          <p:nvGrpSpPr>
            <p:cNvPr id="67" name="组合 66"/>
            <p:cNvGrpSpPr/>
            <p:nvPr/>
          </p:nvGrpSpPr>
          <p:grpSpPr>
            <a:xfrm>
              <a:off x="2853776" y="2199984"/>
              <a:ext cx="1016149" cy="651969"/>
              <a:chOff x="2730885" y="2041687"/>
              <a:chExt cx="1016149" cy="651969"/>
            </a:xfrm>
          </p:grpSpPr>
          <p:sp>
            <p:nvSpPr>
              <p:cNvPr id="68" name="椭圆 67"/>
              <p:cNvSpPr/>
              <p:nvPr/>
            </p:nvSpPr>
            <p:spPr>
              <a:xfrm>
                <a:off x="3160897" y="2041687"/>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sp>
            <p:nvSpPr>
              <p:cNvPr id="69" name="椭圆 68"/>
              <p:cNvSpPr/>
              <p:nvPr/>
            </p:nvSpPr>
            <p:spPr>
              <a:xfrm>
                <a:off x="2879550" y="2230681"/>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dirty="0"/>
              </a:p>
            </p:txBody>
          </p:sp>
          <p:sp>
            <p:nvSpPr>
              <p:cNvPr id="70" name="椭圆 69"/>
              <p:cNvSpPr/>
              <p:nvPr/>
            </p:nvSpPr>
            <p:spPr>
              <a:xfrm>
                <a:off x="3425033" y="2245430"/>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sp>
            <p:nvSpPr>
              <p:cNvPr id="71" name="椭圆 70"/>
              <p:cNvSpPr/>
              <p:nvPr/>
            </p:nvSpPr>
            <p:spPr>
              <a:xfrm>
                <a:off x="2730885" y="2505352"/>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sp>
            <p:nvSpPr>
              <p:cNvPr id="72" name="椭圆 71"/>
              <p:cNvSpPr/>
              <p:nvPr/>
            </p:nvSpPr>
            <p:spPr>
              <a:xfrm>
                <a:off x="3007502" y="2505352"/>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sp>
            <p:nvSpPr>
              <p:cNvPr id="73" name="椭圆 72"/>
              <p:cNvSpPr/>
              <p:nvPr/>
            </p:nvSpPr>
            <p:spPr>
              <a:xfrm>
                <a:off x="3284119" y="2505352"/>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sp>
            <p:nvSpPr>
              <p:cNvPr id="74" name="椭圆 73"/>
              <p:cNvSpPr/>
              <p:nvPr/>
            </p:nvSpPr>
            <p:spPr>
              <a:xfrm>
                <a:off x="3560736" y="2505352"/>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cxnSp>
            <p:nvCxnSpPr>
              <p:cNvPr id="75" name="直接连接符 74"/>
              <p:cNvCxnSpPr>
                <a:stCxn id="68" idx="3"/>
                <a:endCxn id="69" idx="7"/>
              </p:cNvCxnSpPr>
              <p:nvPr/>
            </p:nvCxnSpPr>
            <p:spPr>
              <a:xfrm flipH="1">
                <a:off x="3038565" y="2202415"/>
                <a:ext cx="149615" cy="5584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a:stCxn id="68" idx="5"/>
                <a:endCxn id="70" idx="1"/>
              </p:cNvCxnSpPr>
              <p:nvPr/>
            </p:nvCxnSpPr>
            <p:spPr>
              <a:xfrm>
                <a:off x="3319912" y="2202415"/>
                <a:ext cx="132404" cy="70591"/>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a:stCxn id="69" idx="4"/>
                <a:endCxn id="71" idx="0"/>
              </p:cNvCxnSpPr>
              <p:nvPr/>
            </p:nvCxnSpPr>
            <p:spPr>
              <a:xfrm flipH="1">
                <a:off x="2824034" y="2418985"/>
                <a:ext cx="148665" cy="86367"/>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a:stCxn id="69" idx="4"/>
                <a:endCxn id="72" idx="0"/>
              </p:cNvCxnSpPr>
              <p:nvPr/>
            </p:nvCxnSpPr>
            <p:spPr>
              <a:xfrm>
                <a:off x="2972699" y="2418985"/>
                <a:ext cx="127952" cy="86367"/>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a:stCxn id="70" idx="4"/>
                <a:endCxn id="74" idx="0"/>
              </p:cNvCxnSpPr>
              <p:nvPr/>
            </p:nvCxnSpPr>
            <p:spPr>
              <a:xfrm>
                <a:off x="3518182" y="2433734"/>
                <a:ext cx="135703" cy="71618"/>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a:stCxn id="70" idx="4"/>
                <a:endCxn id="73" idx="0"/>
              </p:cNvCxnSpPr>
              <p:nvPr/>
            </p:nvCxnSpPr>
            <p:spPr>
              <a:xfrm flipH="1">
                <a:off x="3377268" y="2433734"/>
                <a:ext cx="140914" cy="71618"/>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81" name="组合 80"/>
            <p:cNvGrpSpPr/>
            <p:nvPr/>
          </p:nvGrpSpPr>
          <p:grpSpPr>
            <a:xfrm>
              <a:off x="2854288" y="3133965"/>
              <a:ext cx="998560" cy="451327"/>
              <a:chOff x="2862823" y="4522400"/>
              <a:chExt cx="998560" cy="451327"/>
            </a:xfrm>
          </p:grpSpPr>
          <p:cxnSp>
            <p:nvCxnSpPr>
              <p:cNvPr id="82" name="直接连接符 81"/>
              <p:cNvCxnSpPr>
                <a:stCxn id="83" idx="6"/>
                <a:endCxn id="84" idx="2"/>
              </p:cNvCxnSpPr>
              <p:nvPr/>
            </p:nvCxnSpPr>
            <p:spPr>
              <a:xfrm>
                <a:off x="3049121" y="4616552"/>
                <a:ext cx="625964" cy="0"/>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sp>
            <p:nvSpPr>
              <p:cNvPr id="83" name="椭圆 82"/>
              <p:cNvSpPr/>
              <p:nvPr/>
            </p:nvSpPr>
            <p:spPr>
              <a:xfrm>
                <a:off x="2862823" y="4522400"/>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sp>
            <p:nvSpPr>
              <p:cNvPr id="84" name="椭圆 83"/>
              <p:cNvSpPr/>
              <p:nvPr/>
            </p:nvSpPr>
            <p:spPr>
              <a:xfrm>
                <a:off x="3675085" y="4522400"/>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sp>
            <p:nvSpPr>
              <p:cNvPr id="85" name="椭圆 84"/>
              <p:cNvSpPr/>
              <p:nvPr/>
            </p:nvSpPr>
            <p:spPr>
              <a:xfrm>
                <a:off x="2862823" y="4785423"/>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sp>
            <p:nvSpPr>
              <p:cNvPr id="86" name="椭圆 85"/>
              <p:cNvSpPr/>
              <p:nvPr/>
            </p:nvSpPr>
            <p:spPr>
              <a:xfrm>
                <a:off x="3675085" y="4785423"/>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cxnSp>
            <p:nvCxnSpPr>
              <p:cNvPr id="87" name="直接连接符 86"/>
              <p:cNvCxnSpPr>
                <a:stCxn id="85" idx="6"/>
                <a:endCxn id="86" idx="2"/>
              </p:cNvCxnSpPr>
              <p:nvPr/>
            </p:nvCxnSpPr>
            <p:spPr>
              <a:xfrm>
                <a:off x="3049121" y="4879575"/>
                <a:ext cx="625964" cy="0"/>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sp>
            <p:nvSpPr>
              <p:cNvPr id="88" name="椭圆 87"/>
              <p:cNvSpPr/>
              <p:nvPr/>
            </p:nvSpPr>
            <p:spPr>
              <a:xfrm>
                <a:off x="3133577" y="4522400"/>
                <a:ext cx="186298" cy="188304"/>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sp>
            <p:nvSpPr>
              <p:cNvPr id="89" name="椭圆 88"/>
              <p:cNvSpPr/>
              <p:nvPr/>
            </p:nvSpPr>
            <p:spPr>
              <a:xfrm>
                <a:off x="3404331" y="4522400"/>
                <a:ext cx="186298" cy="188304"/>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dirty="0"/>
              </a:p>
            </p:txBody>
          </p:sp>
          <p:sp>
            <p:nvSpPr>
              <p:cNvPr id="90" name="椭圆 89"/>
              <p:cNvSpPr/>
              <p:nvPr/>
            </p:nvSpPr>
            <p:spPr>
              <a:xfrm>
                <a:off x="3133577" y="4785423"/>
                <a:ext cx="186298" cy="188304"/>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sp>
            <p:nvSpPr>
              <p:cNvPr id="91" name="椭圆 90"/>
              <p:cNvSpPr/>
              <p:nvPr/>
            </p:nvSpPr>
            <p:spPr>
              <a:xfrm>
                <a:off x="3404331" y="4785423"/>
                <a:ext cx="186298" cy="188304"/>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cxnSp>
            <p:nvCxnSpPr>
              <p:cNvPr id="92" name="直接连接符 91"/>
              <p:cNvCxnSpPr>
                <a:stCxn id="86" idx="0"/>
                <a:endCxn id="84" idx="4"/>
              </p:cNvCxnSpPr>
              <p:nvPr/>
            </p:nvCxnSpPr>
            <p:spPr>
              <a:xfrm flipV="1">
                <a:off x="3768234" y="4710704"/>
                <a:ext cx="0" cy="74719"/>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cxnSp>
            <p:nvCxnSpPr>
              <p:cNvPr id="93" name="直接连接符 92"/>
              <p:cNvCxnSpPr>
                <a:stCxn id="91" idx="0"/>
                <a:endCxn id="89" idx="4"/>
              </p:cNvCxnSpPr>
              <p:nvPr/>
            </p:nvCxnSpPr>
            <p:spPr>
              <a:xfrm flipV="1">
                <a:off x="3497480" y="4710704"/>
                <a:ext cx="0" cy="74719"/>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cxnSp>
            <p:nvCxnSpPr>
              <p:cNvPr id="94" name="直接连接符 93"/>
              <p:cNvCxnSpPr/>
              <p:nvPr/>
            </p:nvCxnSpPr>
            <p:spPr>
              <a:xfrm flipV="1">
                <a:off x="3226726" y="4710704"/>
                <a:ext cx="0" cy="74719"/>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cxnSp>
            <p:nvCxnSpPr>
              <p:cNvPr id="95" name="直接连接符 94"/>
              <p:cNvCxnSpPr/>
              <p:nvPr/>
            </p:nvCxnSpPr>
            <p:spPr>
              <a:xfrm flipV="1">
                <a:off x="2955972" y="4710704"/>
                <a:ext cx="0" cy="74719"/>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grpSp>
      </p:grpSp>
      <p:sp>
        <p:nvSpPr>
          <p:cNvPr id="97" name="文本框 96"/>
          <p:cNvSpPr txBox="1"/>
          <p:nvPr/>
        </p:nvSpPr>
        <p:spPr>
          <a:xfrm>
            <a:off x="363254" y="3184752"/>
            <a:ext cx="2013700" cy="526415"/>
          </a:xfrm>
          <a:prstGeom prst="rect">
            <a:avLst/>
          </a:prstGeom>
          <a:noFill/>
        </p:spPr>
        <p:txBody>
          <a:bodyPr wrap="square"/>
          <a:lstStyle/>
          <a:p>
            <a:pPr indent="0" algn="ctr" fontAlgn="auto">
              <a:lnSpc>
                <a:spcPct val="100000"/>
              </a:lnSpc>
              <a:spcAft>
                <a:spcPts val="700"/>
              </a:spcAft>
            </a:pPr>
            <a:r>
              <a:rPr lang="zh-CN" altLang="en-US" sz="1600" dirty="0"/>
              <a:t>Direct mapping causes exponential depth growth.</a:t>
            </a:r>
          </a:p>
        </p:txBody>
      </p:sp>
      <p:grpSp>
        <p:nvGrpSpPr>
          <p:cNvPr id="115" name="组合 114"/>
          <p:cNvGrpSpPr/>
          <p:nvPr/>
        </p:nvGrpSpPr>
        <p:grpSpPr>
          <a:xfrm>
            <a:off x="2859923" y="1821351"/>
            <a:ext cx="1221400" cy="1155542"/>
            <a:chOff x="2868861" y="1785764"/>
            <a:chExt cx="1221400" cy="1155542"/>
          </a:xfrm>
        </p:grpSpPr>
        <p:sp>
          <p:nvSpPr>
            <p:cNvPr id="101" name="椭圆 100"/>
            <p:cNvSpPr/>
            <p:nvPr/>
          </p:nvSpPr>
          <p:spPr>
            <a:xfrm>
              <a:off x="3324093" y="1785764"/>
              <a:ext cx="335280" cy="333928"/>
            </a:xfrm>
            <a:prstGeom prst="ellipse">
              <a:avLst/>
            </a:prstGeom>
          </p:spPr>
          <p:style>
            <a:lnRef idx="2">
              <a:schemeClr val="accent1"/>
            </a:lnRef>
            <a:fillRef idx="1">
              <a:schemeClr val="lt1"/>
            </a:fillRef>
            <a:effectRef idx="0">
              <a:schemeClr val="accent1"/>
            </a:effectRef>
            <a:fontRef idx="minor">
              <a:schemeClr val="dk1"/>
            </a:fontRef>
          </p:style>
          <p:txBody>
            <a:bodyPr rtlCol="0" anchor="ctr">
              <a:noAutofit/>
            </a:bodyPr>
            <a:lstStyle/>
            <a:p>
              <a:pPr algn="ctr">
                <a:lnSpc>
                  <a:spcPct val="100000"/>
                </a:lnSpc>
              </a:pPr>
              <a:r>
                <a:rPr lang="en-US" altLang="zh-CN" sz="1400" dirty="0"/>
                <a:t>A</a:t>
              </a:r>
              <a:endParaRPr lang="zh-CN" altLang="en-US" sz="1400" dirty="0"/>
            </a:p>
          </p:txBody>
        </p:sp>
        <p:sp>
          <p:nvSpPr>
            <p:cNvPr id="102" name="椭圆 101"/>
            <p:cNvSpPr/>
            <p:nvPr/>
          </p:nvSpPr>
          <p:spPr>
            <a:xfrm>
              <a:off x="3324093" y="2258010"/>
              <a:ext cx="335280" cy="333928"/>
            </a:xfrm>
            <a:prstGeom prst="ellipse">
              <a:avLst/>
            </a:prstGeom>
          </p:spPr>
          <p:style>
            <a:lnRef idx="2">
              <a:schemeClr val="accent1"/>
            </a:lnRef>
            <a:fillRef idx="1">
              <a:schemeClr val="lt1"/>
            </a:fillRef>
            <a:effectRef idx="0">
              <a:schemeClr val="accent1"/>
            </a:effectRef>
            <a:fontRef idx="minor">
              <a:schemeClr val="dk1"/>
            </a:fontRef>
          </p:style>
          <p:txBody>
            <a:bodyPr rtlCol="0" anchor="ctr">
              <a:noAutofit/>
            </a:bodyPr>
            <a:lstStyle/>
            <a:p>
              <a:pPr algn="ctr">
                <a:lnSpc>
                  <a:spcPct val="100000"/>
                </a:lnSpc>
              </a:pPr>
              <a:r>
                <a:rPr lang="en-US" altLang="zh-CN" sz="1400" dirty="0"/>
                <a:t>C</a:t>
              </a:r>
              <a:endParaRPr lang="zh-CN" altLang="en-US" sz="1400" dirty="0"/>
            </a:p>
          </p:txBody>
        </p:sp>
        <p:sp>
          <p:nvSpPr>
            <p:cNvPr id="103" name="椭圆 102"/>
            <p:cNvSpPr/>
            <p:nvPr/>
          </p:nvSpPr>
          <p:spPr>
            <a:xfrm>
              <a:off x="2868861" y="2607378"/>
              <a:ext cx="335280" cy="333928"/>
            </a:xfrm>
            <a:prstGeom prst="ellipse">
              <a:avLst/>
            </a:prstGeom>
          </p:spPr>
          <p:style>
            <a:lnRef idx="2">
              <a:schemeClr val="accent1"/>
            </a:lnRef>
            <a:fillRef idx="1">
              <a:schemeClr val="lt1"/>
            </a:fillRef>
            <a:effectRef idx="0">
              <a:schemeClr val="accent1"/>
            </a:effectRef>
            <a:fontRef idx="minor">
              <a:schemeClr val="dk1"/>
            </a:fontRef>
          </p:style>
          <p:txBody>
            <a:bodyPr rtlCol="0" anchor="ctr">
              <a:noAutofit/>
            </a:bodyPr>
            <a:lstStyle/>
            <a:p>
              <a:pPr algn="ctr">
                <a:lnSpc>
                  <a:spcPct val="100000"/>
                </a:lnSpc>
              </a:pPr>
              <a:r>
                <a:rPr lang="en-US" altLang="zh-CN" sz="1400" dirty="0"/>
                <a:t>L</a:t>
              </a:r>
              <a:endParaRPr lang="zh-CN" altLang="en-US" sz="1400" dirty="0"/>
            </a:p>
          </p:txBody>
        </p:sp>
        <p:sp>
          <p:nvSpPr>
            <p:cNvPr id="104" name="椭圆 103"/>
            <p:cNvSpPr/>
            <p:nvPr/>
          </p:nvSpPr>
          <p:spPr>
            <a:xfrm>
              <a:off x="3754981" y="2603540"/>
              <a:ext cx="335280" cy="333928"/>
            </a:xfrm>
            <a:prstGeom prst="ellipse">
              <a:avLst/>
            </a:prstGeom>
          </p:spPr>
          <p:style>
            <a:lnRef idx="2">
              <a:schemeClr val="accent1"/>
            </a:lnRef>
            <a:fillRef idx="1">
              <a:schemeClr val="lt1"/>
            </a:fillRef>
            <a:effectRef idx="0">
              <a:schemeClr val="accent1"/>
            </a:effectRef>
            <a:fontRef idx="minor">
              <a:schemeClr val="dk1"/>
            </a:fontRef>
          </p:style>
          <p:txBody>
            <a:bodyPr rtlCol="0" anchor="ctr">
              <a:noAutofit/>
            </a:bodyPr>
            <a:lstStyle/>
            <a:p>
              <a:pPr algn="ctr">
                <a:lnSpc>
                  <a:spcPct val="100000"/>
                </a:lnSpc>
              </a:pPr>
              <a:r>
                <a:rPr lang="en-US" altLang="zh-CN" sz="1400" dirty="0"/>
                <a:t>R</a:t>
              </a:r>
              <a:endParaRPr lang="zh-CN" altLang="en-US" sz="1400" dirty="0"/>
            </a:p>
          </p:txBody>
        </p:sp>
        <p:cxnSp>
          <p:nvCxnSpPr>
            <p:cNvPr id="106" name="直接箭头连接符 105"/>
            <p:cNvCxnSpPr>
              <a:stCxn id="101" idx="4"/>
              <a:endCxn id="102" idx="0"/>
            </p:cNvCxnSpPr>
            <p:nvPr/>
          </p:nvCxnSpPr>
          <p:spPr>
            <a:xfrm>
              <a:off x="3491733" y="2119692"/>
              <a:ext cx="0" cy="1383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直接箭头连接符 106"/>
            <p:cNvCxnSpPr>
              <a:stCxn id="102" idx="3"/>
              <a:endCxn id="103" idx="7"/>
            </p:cNvCxnSpPr>
            <p:nvPr/>
          </p:nvCxnSpPr>
          <p:spPr>
            <a:xfrm flipH="1">
              <a:off x="3155040" y="2543035"/>
              <a:ext cx="218154" cy="1132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2" name="直接箭头连接符 111"/>
            <p:cNvCxnSpPr>
              <a:stCxn id="102" idx="5"/>
              <a:endCxn id="104" idx="1"/>
            </p:cNvCxnSpPr>
            <p:nvPr/>
          </p:nvCxnSpPr>
          <p:spPr>
            <a:xfrm>
              <a:off x="3610272" y="2543035"/>
              <a:ext cx="193810" cy="109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16" name="文本框 115"/>
          <p:cNvSpPr txBox="1"/>
          <p:nvPr/>
        </p:nvSpPr>
        <p:spPr>
          <a:xfrm>
            <a:off x="4720154" y="3383580"/>
            <a:ext cx="2289185" cy="646331"/>
          </a:xfrm>
          <a:prstGeom prst="rect">
            <a:avLst/>
          </a:prstGeom>
          <a:noFill/>
        </p:spPr>
        <p:txBody>
          <a:bodyPr wrap="square"/>
          <a:lstStyle/>
          <a:p>
            <a:pPr indent="0" algn="ctr" fontAlgn="auto">
              <a:lnSpc>
                <a:spcPct val="100000"/>
              </a:lnSpc>
              <a:spcAft>
                <a:spcPts val="700"/>
              </a:spcAft>
            </a:pPr>
            <a:r>
              <a:rPr lang="zh-CN" altLang="en-US" sz="1600" dirty="0"/>
              <a:t>High-fidelity QRAM needs high-fidelity gates.</a:t>
            </a:r>
          </a:p>
        </p:txBody>
      </p:sp>
      <p:sp>
        <p:nvSpPr>
          <p:cNvPr id="117" name="文本框 116"/>
          <p:cNvSpPr txBox="1"/>
          <p:nvPr/>
        </p:nvSpPr>
        <p:spPr>
          <a:xfrm>
            <a:off x="6926662" y="3307223"/>
            <a:ext cx="2034812" cy="516255"/>
          </a:xfrm>
          <a:prstGeom prst="rect">
            <a:avLst/>
          </a:prstGeom>
          <a:noFill/>
        </p:spPr>
        <p:txBody>
          <a:bodyPr wrap="square"/>
          <a:lstStyle/>
          <a:p>
            <a:pPr algn="ctr" fontAlgn="auto">
              <a:lnSpc>
                <a:spcPct val="100000"/>
              </a:lnSpc>
              <a:spcAft>
                <a:spcPts val="700"/>
              </a:spcAft>
              <a:buClrTx/>
              <a:buSzTx/>
              <a:buFontTx/>
            </a:pPr>
            <a:r>
              <a:rPr lang="zh-CN" altLang="en-US" sz="1600" dirty="0"/>
              <a:t>Noise disrupts correct</a:t>
            </a:r>
          </a:p>
          <a:p>
            <a:pPr algn="ctr" fontAlgn="auto">
              <a:lnSpc>
                <a:spcPct val="100000"/>
              </a:lnSpc>
              <a:spcAft>
                <a:spcPts val="700"/>
              </a:spcAft>
              <a:buClrTx/>
              <a:buSzTx/>
              <a:buFontTx/>
            </a:pPr>
            <a:r>
              <a:rPr lang="zh-CN" altLang="en-US" sz="1600" dirty="0"/>
              <a:t> QRAM addressing.</a:t>
            </a:r>
          </a:p>
        </p:txBody>
      </p:sp>
      <p:pic>
        <p:nvPicPr>
          <p:cNvPr id="121" name="图片 120"/>
          <p:cNvPicPr>
            <a:picLocks noChangeAspect="1"/>
          </p:cNvPicPr>
          <p:nvPr/>
        </p:nvPicPr>
        <p:blipFill>
          <a:blip r:embed="rId3"/>
          <a:stretch>
            <a:fillRect/>
          </a:stretch>
        </p:blipFill>
        <p:spPr>
          <a:xfrm>
            <a:off x="5117615" y="1772465"/>
            <a:ext cx="1494265" cy="1494265"/>
          </a:xfrm>
          <a:prstGeom prst="rect">
            <a:avLst/>
          </a:prstGeom>
        </p:spPr>
      </p:pic>
      <p:pic>
        <p:nvPicPr>
          <p:cNvPr id="123" name="图片 122"/>
          <p:cNvPicPr>
            <a:picLocks noChangeAspect="1"/>
          </p:cNvPicPr>
          <p:nvPr/>
        </p:nvPicPr>
        <p:blipFill>
          <a:blip r:embed="rId4">
            <a:extLst>
              <a:ext uri="{BEBA8EAE-BF5A-486C-A8C5-ECC9F3942E4B}">
                <a14:imgProps xmlns:a14="http://schemas.microsoft.com/office/drawing/2010/main">
                  <a14:imgLayer r:embed="rId5">
                    <a14:imgEffect>
                      <a14:backgroundRemoval t="9955" b="93665" l="10000" r="98667">
                        <a14:foregroundMark x1="44667" y1="21267" x2="44667" y2="21267"/>
                        <a14:foregroundMark x1="45667" y1="28959" x2="45667" y2="28959"/>
                        <a14:foregroundMark x1="74667" y1="29412" x2="74667" y2="29412"/>
                        <a14:foregroundMark x1="68333" y1="26244" x2="68333" y2="26244"/>
                        <a14:foregroundMark x1="82333" y1="28959" x2="82333" y2="28959"/>
                        <a14:foregroundMark x1="80333" y1="25339" x2="80333" y2="25339"/>
                        <a14:foregroundMark x1="80333" y1="25792" x2="80333" y2="25792"/>
                        <a14:foregroundMark x1="95667" y1="30317" x2="95667" y2="30317"/>
                        <a14:foregroundMark x1="98667" y1="32127" x2="98667" y2="32127"/>
                        <a14:foregroundMark x1="22333" y1="93665" x2="22333" y2="93665"/>
                        <a14:foregroundMark x1="79333" y1="58824" x2="79333" y2="58824"/>
                        <a14:foregroundMark x1="86000" y1="35747" x2="86000" y2="35747"/>
                        <a14:foregroundMark x1="88000" y1="28959" x2="88000" y2="28959"/>
                        <a14:foregroundMark x1="71000" y1="29864" x2="71000" y2="29864"/>
                        <a14:foregroundMark x1="69667" y1="28959" x2="69667" y2="28959"/>
                        <a14:foregroundMark x1="67667" y1="30769" x2="67667" y2="30769"/>
                        <a14:foregroundMark x1="65667" y1="32127" x2="65667" y2="32127"/>
                        <a14:foregroundMark x1="92667" y1="36652" x2="92667" y2="36652"/>
                        <a14:foregroundMark x1="91000" y1="32127" x2="91000" y2="32127"/>
                        <a14:foregroundMark x1="89333" y1="30769" x2="89333" y2="30769"/>
                      </a14:backgroundRemoval>
                    </a14:imgEffect>
                  </a14:imgLayer>
                </a14:imgProps>
              </a:ext>
            </a:extLst>
          </a:blip>
          <a:stretch>
            <a:fillRect/>
          </a:stretch>
        </p:blipFill>
        <p:spPr>
          <a:xfrm>
            <a:off x="7035141" y="1880666"/>
            <a:ext cx="1817853" cy="1339151"/>
          </a:xfrm>
          <a:prstGeom prst="rect">
            <a:avLst/>
          </a:prstGeom>
        </p:spPr>
      </p:pic>
      <p:sp>
        <p:nvSpPr>
          <p:cNvPr id="124" name="文本框 123"/>
          <p:cNvSpPr txBox="1"/>
          <p:nvPr/>
        </p:nvSpPr>
        <p:spPr>
          <a:xfrm>
            <a:off x="428291" y="1880666"/>
            <a:ext cx="941813" cy="369332"/>
          </a:xfrm>
          <a:prstGeom prst="rect">
            <a:avLst/>
          </a:prstGeom>
          <a:noFill/>
        </p:spPr>
        <p:txBody>
          <a:bodyPr wrap="square" rtlCol="0">
            <a:noAutofit/>
          </a:bodyPr>
          <a:lstStyle/>
          <a:p>
            <a:pPr>
              <a:lnSpc>
                <a:spcPct val="100000"/>
              </a:lnSpc>
            </a:pPr>
            <a:r>
              <a:rPr lang="zh-CN" altLang="en-US" dirty="0"/>
              <a:t>Binary Tree</a:t>
            </a:r>
          </a:p>
        </p:txBody>
      </p:sp>
      <p:sp>
        <p:nvSpPr>
          <p:cNvPr id="125" name="文本框 124"/>
          <p:cNvSpPr txBox="1"/>
          <p:nvPr/>
        </p:nvSpPr>
        <p:spPr>
          <a:xfrm>
            <a:off x="428291" y="2796414"/>
            <a:ext cx="660197" cy="369332"/>
          </a:xfrm>
          <a:prstGeom prst="rect">
            <a:avLst/>
          </a:prstGeom>
          <a:noFill/>
        </p:spPr>
        <p:txBody>
          <a:bodyPr wrap="square" rtlCol="0">
            <a:normAutofit fontScale="95000"/>
          </a:bodyPr>
          <a:lstStyle/>
          <a:p>
            <a:pPr>
              <a:lnSpc>
                <a:spcPct val="100000"/>
              </a:lnSpc>
            </a:pPr>
            <a:r>
              <a:rPr lang="zh-CN" altLang="en-US" dirty="0"/>
              <a:t>Grid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1480" y="281940"/>
            <a:ext cx="3048000" cy="369332"/>
          </a:xfrm>
          <a:prstGeom prst="rect">
            <a:avLst/>
          </a:prstGeom>
          <a:noFill/>
        </p:spPr>
        <p:txBody>
          <a:bodyPr wrap="square" rtlCol="0">
            <a:spAutoFit/>
          </a:bodyPr>
          <a:lstStyle/>
          <a:p>
            <a:r>
              <a:rPr lang="en-US" b="1" dirty="0" err="1">
                <a:solidFill>
                  <a:schemeClr val="bg1"/>
                </a:solidFill>
                <a:sym typeface="+mn-ea"/>
              </a:rPr>
              <a:t>Outline of Presentation</a:t>
            </a:r>
          </a:p>
        </p:txBody>
      </p:sp>
      <p:sp>
        <p:nvSpPr>
          <p:cNvPr id="28" name="文本框 27"/>
          <p:cNvSpPr txBox="1"/>
          <p:nvPr/>
        </p:nvSpPr>
        <p:spPr>
          <a:xfrm>
            <a:off x="401287" y="898333"/>
            <a:ext cx="7791450" cy="2120004"/>
          </a:xfrm>
          <a:prstGeom prst="rect">
            <a:avLst/>
          </a:prstGeom>
          <a:noFill/>
        </p:spPr>
        <p:txBody>
          <a:bodyPr wrap="square" rtlCol="0">
            <a:spAutoFit/>
          </a:bodyPr>
          <a:lstStyle/>
          <a:p>
            <a:pPr marL="342900" indent="-285750" fontAlgn="auto">
              <a:lnSpc>
                <a:spcPct val="150000"/>
              </a:lnSpc>
              <a:buFont typeface="Arial" panose="020B0604020202020204" pitchFamily="34" charset="0"/>
              <a:buChar char="•"/>
            </a:pPr>
            <a:r>
              <a:rPr kumimoji="1" lang="en-US" dirty="0">
                <a:solidFill>
                  <a:schemeClr val="bg1">
                    <a:lumMod val="75000"/>
                  </a:schemeClr>
                </a:solidFill>
                <a:ea typeface="华文楷体" panose="02010600040101010101" pitchFamily="2" charset="-122"/>
                <a:cs typeface="Arial" panose="020B0604020202020204" pitchFamily="34" charset="0"/>
              </a:rPr>
              <a:t>Background and challenges</a:t>
            </a:r>
          </a:p>
          <a:p>
            <a:pPr marL="342900" indent="-285750" fontAlgn="auto">
              <a:lnSpc>
                <a:spcPct val="150000"/>
              </a:lnSpc>
              <a:buFont typeface="Arial" panose="020B0604020202020204" pitchFamily="34" charset="0"/>
              <a:buChar char="•"/>
            </a:pPr>
            <a:r>
              <a:rPr kumimoji="1" lang="en-US" altLang="zh-CN" b="1" dirty="0">
                <a:ea typeface="华文楷体" panose="02010600040101010101" pitchFamily="2" charset="-122"/>
                <a:cs typeface="Arial" panose="020B0604020202020204" pitchFamily="34" charset="0"/>
              </a:rPr>
              <a:t>Overview of QRAM</a:t>
            </a:r>
          </a:p>
          <a:p>
            <a:pPr marL="342900" indent="-285750" fontAlgn="auto">
              <a:lnSpc>
                <a:spcPct val="150000"/>
              </a:lnSpc>
              <a:buFont typeface="Arial" panose="020B0604020202020204" pitchFamily="34" charset="0"/>
              <a:buChar char="•"/>
            </a:pPr>
            <a:r>
              <a:rPr kumimoji="1" lang="en-US" dirty="0">
                <a:solidFill>
                  <a:schemeClr val="bg1">
                    <a:lumMod val="75000"/>
                  </a:schemeClr>
                </a:solidFill>
                <a:ea typeface="华文楷体" panose="02010600040101010101" pitchFamily="2" charset="-122"/>
                <a:cs typeface="Arial" panose="020B0604020202020204" pitchFamily="34" charset="0"/>
              </a:rPr>
              <a:t>QRAM optimization</a:t>
            </a:r>
            <a:endParaRPr kumimoji="1" lang="en-US" altLang="zh-CN" dirty="0">
              <a:solidFill>
                <a:schemeClr val="bg1">
                  <a:lumMod val="75000"/>
                </a:schemeClr>
              </a:solidFill>
              <a:ea typeface="华文楷体" panose="02010600040101010101" pitchFamily="2" charset="-122"/>
              <a:cs typeface="Arial" panose="020B0604020202020204" pitchFamily="34" charset="0"/>
            </a:endParaRP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Experiment</a:t>
            </a:r>
            <a:endParaRPr kumimoji="1" lang="en-US" altLang="zh-CN" b="1" dirty="0">
              <a:solidFill>
                <a:schemeClr val="bg1">
                  <a:lumMod val="75000"/>
                </a:schemeClr>
              </a:solidFill>
              <a:ea typeface="华文楷体" panose="02010600040101010101" pitchFamily="2" charset="-122"/>
              <a:cs typeface="Arial" panose="020B0604020202020204" pitchFamily="34" charset="0"/>
            </a:endParaRP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API</a:t>
            </a:r>
            <a:r>
              <a:rPr kumimoji="1" lang="zh-CN" altLang="en-US" dirty="0">
                <a:solidFill>
                  <a:schemeClr val="bg1">
                    <a:lumMod val="75000"/>
                  </a:schemeClr>
                </a:solidFill>
                <a:ea typeface="华文楷体" panose="02010600040101010101" pitchFamily="2" charset="-122"/>
                <a:cs typeface="Arial" panose="020B0604020202020204" pitchFamily="34" charset="0"/>
              </a:rPr>
              <a:t> </a:t>
            </a:r>
            <a:r>
              <a:rPr kumimoji="1" lang="en-US" altLang="zh-CN" dirty="0">
                <a:solidFill>
                  <a:schemeClr val="bg1">
                    <a:lumMod val="75000"/>
                  </a:schemeClr>
                </a:solidFill>
                <a:ea typeface="华文楷体" panose="02010600040101010101" pitchFamily="2" charset="-122"/>
                <a:cs typeface="Arial" panose="020B0604020202020204" pitchFamily="34" charset="0"/>
              </a:rPr>
              <a:t>of</a:t>
            </a:r>
            <a:r>
              <a:rPr kumimoji="1" lang="zh-CN" altLang="en-US" dirty="0">
                <a:solidFill>
                  <a:schemeClr val="bg1">
                    <a:lumMod val="75000"/>
                  </a:schemeClr>
                </a:solidFill>
                <a:ea typeface="华文楷体" panose="02010600040101010101" pitchFamily="2" charset="-122"/>
                <a:cs typeface="Arial" panose="020B0604020202020204" pitchFamily="34" charset="0"/>
              </a:rPr>
              <a:t> </a:t>
            </a:r>
            <a:r>
              <a:rPr kumimoji="1" lang="en-US" altLang="zh-CN" dirty="0">
                <a:solidFill>
                  <a:schemeClr val="bg1">
                    <a:lumMod val="75000"/>
                  </a:schemeClr>
                </a:solidFill>
                <a:ea typeface="华文楷体" panose="02010600040101010101" pitchFamily="2" charset="-122"/>
                <a:cs typeface="Arial" panose="020B0604020202020204" pitchFamily="34" charset="0"/>
              </a:rPr>
              <a:t>QRAM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209033" y="232346"/>
            <a:ext cx="8859402" cy="481927"/>
          </a:xfrm>
          <a:prstGeom prst="rect">
            <a:avLst/>
          </a:prstGeom>
          <a:noFill/>
        </p:spPr>
        <p:txBody>
          <a:bodyPr wrap="square" lIns="95250" tIns="95250" rIns="95250" bIns="95250" rtlCol="0" anchor="t"/>
          <a:lstStyle/>
          <a:p>
            <a:pPr>
              <a:spcBef>
                <a:spcPts val="375"/>
              </a:spcBef>
            </a:pPr>
            <a:r>
              <a:rPr lang="zh-CN" altLang="en-US" b="1" dirty="0">
                <a:solidFill>
                  <a:schemeClr val="bg1"/>
                </a:solidFill>
              </a:rPr>
              <a:t>Routing Scheme</a:t>
            </a:r>
            <a:r>
              <a:rPr lang="en-US" altLang="zh-CN" b="1" dirty="0">
                <a:solidFill>
                  <a:schemeClr val="bg1"/>
                </a:solidFill>
              </a:rPr>
              <a:t> </a:t>
            </a:r>
            <a:r>
              <a:rPr lang="zh-CN" altLang="en-US" b="1" dirty="0">
                <a:solidFill>
                  <a:schemeClr val="bg1"/>
                </a:solidFill>
              </a:rPr>
              <a:t>of QRAM</a:t>
            </a:r>
          </a:p>
        </p:txBody>
      </p:sp>
      <p:sp>
        <p:nvSpPr>
          <p:cNvPr id="14" name="文本框 13">
            <a:extLst>
              <a:ext uri="{FF2B5EF4-FFF2-40B4-BE49-F238E27FC236}">
                <a16:creationId xmlns:a16="http://schemas.microsoft.com/office/drawing/2014/main" id="{604FE330-7597-E40B-45F1-2D12E5C38343}"/>
              </a:ext>
            </a:extLst>
          </p:cNvPr>
          <p:cNvSpPr txBox="1"/>
          <p:nvPr>
            <p:custDataLst>
              <p:tags r:id="rId1"/>
            </p:custDataLst>
          </p:nvPr>
        </p:nvSpPr>
        <p:spPr>
          <a:xfrm>
            <a:off x="112395" y="3710305"/>
            <a:ext cx="2988945" cy="583565"/>
          </a:xfrm>
          <a:prstGeom prst="rect">
            <a:avLst/>
          </a:prstGeom>
          <a:noFill/>
        </p:spPr>
        <p:txBody>
          <a:bodyPr wrap="square" rtlCol="0" anchor="t"/>
          <a:lstStyle/>
          <a:p>
            <a:pPr indent="0" fontAlgn="auto">
              <a:lnSpc>
                <a:spcPct val="100000"/>
              </a:lnSpc>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A = |0&gt;: route to the left branch (same for A0/A1).</a:t>
            </a:r>
          </a:p>
        </p:txBody>
      </p:sp>
      <p:sp>
        <p:nvSpPr>
          <p:cNvPr id="28" name="矩形 27">
            <a:extLst>
              <a:ext uri="{FF2B5EF4-FFF2-40B4-BE49-F238E27FC236}">
                <a16:creationId xmlns:a16="http://schemas.microsoft.com/office/drawing/2014/main" id="{691A23AA-E8ED-A545-7791-D90226A1B42C}"/>
              </a:ext>
            </a:extLst>
          </p:cNvPr>
          <p:cNvSpPr/>
          <p:nvPr/>
        </p:nvSpPr>
        <p:spPr>
          <a:xfrm>
            <a:off x="452755" y="1501775"/>
            <a:ext cx="7991475" cy="36449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QRAM Address-Routing Branching Property</a:t>
            </a:r>
          </a:p>
        </p:txBody>
      </p:sp>
      <p:grpSp>
        <p:nvGrpSpPr>
          <p:cNvPr id="30" name="组合 29">
            <a:extLst>
              <a:ext uri="{FF2B5EF4-FFF2-40B4-BE49-F238E27FC236}">
                <a16:creationId xmlns:a16="http://schemas.microsoft.com/office/drawing/2014/main" id="{ABF96F39-8F62-FB32-D92C-CAC72CB9E6A9}"/>
              </a:ext>
            </a:extLst>
          </p:cNvPr>
          <p:cNvGrpSpPr/>
          <p:nvPr>
            <p:custDataLst>
              <p:tags r:id="rId2"/>
            </p:custDataLst>
          </p:nvPr>
        </p:nvGrpSpPr>
        <p:grpSpPr>
          <a:xfrm>
            <a:off x="1205865" y="1983740"/>
            <a:ext cx="492760" cy="492760"/>
            <a:chOff x="4344" y="2998"/>
            <a:chExt cx="776" cy="776"/>
          </a:xfrm>
        </p:grpSpPr>
        <p:sp>
          <p:nvSpPr>
            <p:cNvPr id="31" name="椭圆 30">
              <a:extLst>
                <a:ext uri="{FF2B5EF4-FFF2-40B4-BE49-F238E27FC236}">
                  <a16:creationId xmlns:a16="http://schemas.microsoft.com/office/drawing/2014/main" id="{181E284D-284F-958C-FA3B-75AB12268098}"/>
                </a:ext>
              </a:extLst>
            </p:cNvPr>
            <p:cNvSpPr/>
            <p:nvPr>
              <p:custDataLst>
                <p:tags r:id="rId15"/>
              </p:custDataLst>
            </p:nvPr>
          </p:nvSpPr>
          <p:spPr>
            <a:xfrm>
              <a:off x="4344" y="2998"/>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1DD3C228-21BC-7790-6D6F-EE53382B2F66}"/>
                    </a:ext>
                  </a:extLst>
                </p:cNvPr>
                <p:cNvSpPr txBox="1"/>
                <p:nvPr/>
              </p:nvSpPr>
              <p:spPr>
                <a:xfrm>
                  <a:off x="4442" y="3096"/>
                  <a:ext cx="398" cy="44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𝐴</m:t>
                        </m:r>
                      </m:oMath>
                    </m:oMathPara>
                  </a14:m>
                  <a:endParaRPr lang="zh-CN" altLang="en-US" dirty="0"/>
                </a:p>
              </p:txBody>
            </p:sp>
          </mc:Choice>
          <mc:Fallback xmlns="">
            <p:sp>
              <p:nvSpPr>
                <p:cNvPr id="5" name="文本框 4"/>
                <p:cNvSpPr txBox="1">
                  <a:spLocks noRot="1" noChangeAspect="1" noMove="1" noResize="1" noEditPoints="1" noAdjustHandles="1" noChangeArrowheads="1" noChangeShapeType="1" noTextEdit="1"/>
                </p:cNvSpPr>
                <p:nvPr/>
              </p:nvSpPr>
              <p:spPr>
                <a:xfrm>
                  <a:off x="4442" y="3096"/>
                  <a:ext cx="398" cy="445"/>
                </a:xfrm>
                <a:prstGeom prst="rect">
                  <a:avLst/>
                </a:prstGeom>
                <a:blipFill rotWithShape="1">
                  <a:blip r:embed="rId52"/>
                </a:blipFill>
              </p:spPr>
              <p:txBody>
                <a:bodyPr/>
                <a:lstStyle/>
                <a:p>
                  <a:r>
                    <a:rPr lang="zh-CN" altLang="en-US">
                      <a:noFill/>
                    </a:rPr>
                    <a:t> </a:t>
                  </a:r>
                </a:p>
              </p:txBody>
            </p:sp>
          </mc:Fallback>
        </mc:AlternateContent>
      </p:grpSp>
      <p:grpSp>
        <p:nvGrpSpPr>
          <p:cNvPr id="33" name="组合 32">
            <a:extLst>
              <a:ext uri="{FF2B5EF4-FFF2-40B4-BE49-F238E27FC236}">
                <a16:creationId xmlns:a16="http://schemas.microsoft.com/office/drawing/2014/main" id="{3B1387EA-3BED-AE8E-6B8A-15945A1DD961}"/>
              </a:ext>
            </a:extLst>
          </p:cNvPr>
          <p:cNvGrpSpPr/>
          <p:nvPr>
            <p:custDataLst>
              <p:tags r:id="rId3"/>
            </p:custDataLst>
          </p:nvPr>
        </p:nvGrpSpPr>
        <p:grpSpPr>
          <a:xfrm>
            <a:off x="730885" y="2638425"/>
            <a:ext cx="492760" cy="492760"/>
            <a:chOff x="4344" y="1672"/>
            <a:chExt cx="776" cy="776"/>
          </a:xfrm>
        </p:grpSpPr>
        <p:sp>
          <p:nvSpPr>
            <p:cNvPr id="34" name="椭圆 33">
              <a:extLst>
                <a:ext uri="{FF2B5EF4-FFF2-40B4-BE49-F238E27FC236}">
                  <a16:creationId xmlns:a16="http://schemas.microsoft.com/office/drawing/2014/main" id="{84C213B7-BA81-60B2-E885-B874B8317DC9}"/>
                </a:ext>
              </a:extLst>
            </p:cNvPr>
            <p:cNvSpPr/>
            <p:nvPr>
              <p:custDataLst>
                <p:tags r:id="rId14"/>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A85E7657-C0EE-9B97-DFD6-44EB4E6D4657}"/>
                    </a:ext>
                  </a:extLst>
                </p:cNvPr>
                <p:cNvSpPr txBox="1"/>
                <p:nvPr/>
              </p:nvSpPr>
              <p:spPr>
                <a:xfrm>
                  <a:off x="4418" y="1770"/>
                  <a:ext cx="588" cy="580"/>
                </a:xfrm>
                <a:prstGeom prst="rect">
                  <a:avLst/>
                </a:prstGeom>
                <a:noFill/>
              </p:spPr>
              <p:txBody>
                <a:bodyPr wrap="square" rtlCol="0">
                  <a:sp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0</m:t>
                            </m:r>
                          </m:sub>
                        </m:sSub>
                      </m:oMath>
                    </m:oMathPara>
                  </a14:m>
                  <a:endParaRPr lang="zh-CN" altLang="en-US"/>
                </a:p>
              </p:txBody>
            </p:sp>
          </mc:Choice>
          <mc:Fallback xmlns="">
            <p:sp>
              <p:nvSpPr>
                <p:cNvPr id="8" name="文本框 7"/>
                <p:cNvSpPr txBox="1">
                  <a:spLocks noRot="1" noChangeAspect="1" noMove="1" noResize="1" noEditPoints="1" noAdjustHandles="1" noChangeArrowheads="1" noChangeShapeType="1" noTextEdit="1"/>
                </p:cNvSpPr>
                <p:nvPr/>
              </p:nvSpPr>
              <p:spPr>
                <a:xfrm>
                  <a:off x="4418" y="1770"/>
                  <a:ext cx="588" cy="580"/>
                </a:xfrm>
                <a:prstGeom prst="rect">
                  <a:avLst/>
                </a:prstGeom>
                <a:blipFill rotWithShape="1">
                  <a:blip r:embed="rId53"/>
                </a:blipFill>
              </p:spPr>
              <p:txBody>
                <a:bodyPr/>
                <a:lstStyle/>
                <a:p>
                  <a:r>
                    <a:rPr lang="zh-CN" altLang="en-US">
                      <a:noFill/>
                    </a:rPr>
                    <a:t> </a:t>
                  </a:r>
                </a:p>
              </p:txBody>
            </p:sp>
          </mc:Fallback>
        </mc:AlternateContent>
      </p:grpSp>
      <p:grpSp>
        <p:nvGrpSpPr>
          <p:cNvPr id="36" name="组合 35">
            <a:extLst>
              <a:ext uri="{FF2B5EF4-FFF2-40B4-BE49-F238E27FC236}">
                <a16:creationId xmlns:a16="http://schemas.microsoft.com/office/drawing/2014/main" id="{119D1436-86D9-0BE7-B819-D2647DB00B9E}"/>
              </a:ext>
            </a:extLst>
          </p:cNvPr>
          <p:cNvGrpSpPr/>
          <p:nvPr>
            <p:custDataLst>
              <p:tags r:id="rId4"/>
            </p:custDataLst>
          </p:nvPr>
        </p:nvGrpSpPr>
        <p:grpSpPr>
          <a:xfrm>
            <a:off x="1670685" y="2638425"/>
            <a:ext cx="492760" cy="492760"/>
            <a:chOff x="4344" y="1672"/>
            <a:chExt cx="776" cy="776"/>
          </a:xfrm>
        </p:grpSpPr>
        <p:sp>
          <p:nvSpPr>
            <p:cNvPr id="37" name="椭圆 36">
              <a:extLst>
                <a:ext uri="{FF2B5EF4-FFF2-40B4-BE49-F238E27FC236}">
                  <a16:creationId xmlns:a16="http://schemas.microsoft.com/office/drawing/2014/main" id="{350A6195-6780-6A68-EA23-69FB646F95E1}"/>
                </a:ext>
              </a:extLst>
            </p:cNvPr>
            <p:cNvSpPr/>
            <p:nvPr>
              <p:custDataLst>
                <p:tags r:id="rId13"/>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DA94CF9B-BD54-C09F-20AE-35ACBDDB545E}"/>
                    </a:ext>
                  </a:extLst>
                </p:cNvPr>
                <p:cNvSpPr txBox="1"/>
                <p:nvPr/>
              </p:nvSpPr>
              <p:spPr>
                <a:xfrm>
                  <a:off x="4489" y="1770"/>
                  <a:ext cx="218" cy="318"/>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1</m:t>
                            </m:r>
                          </m:sub>
                        </m:sSub>
                      </m:oMath>
                    </m:oMathPara>
                  </a14:m>
                  <a:endParaRPr lang="zh-CN" altLang="en-US"/>
                </a:p>
              </p:txBody>
            </p:sp>
          </mc:Choice>
          <mc:Fallback xmlns="">
            <p:sp>
              <p:nvSpPr>
                <p:cNvPr id="12" name="文本框 11"/>
                <p:cNvSpPr txBox="1">
                  <a:spLocks noRot="1" noChangeAspect="1" noMove="1" noResize="1" noEditPoints="1" noAdjustHandles="1" noChangeArrowheads="1" noChangeShapeType="1" noTextEdit="1"/>
                </p:cNvSpPr>
                <p:nvPr/>
              </p:nvSpPr>
              <p:spPr>
                <a:xfrm>
                  <a:off x="4489" y="1770"/>
                  <a:ext cx="218" cy="318"/>
                </a:xfrm>
                <a:prstGeom prst="rect">
                  <a:avLst/>
                </a:prstGeom>
                <a:blipFill rotWithShape="1">
                  <a:blip r:embed="rId54"/>
                </a:blipFill>
              </p:spPr>
              <p:txBody>
                <a:bodyPr/>
                <a:lstStyle/>
                <a:p>
                  <a:r>
                    <a:rPr lang="zh-CN" altLang="en-US">
                      <a:noFill/>
                    </a:rPr>
                    <a:t> </a:t>
                  </a:r>
                </a:p>
              </p:txBody>
            </p:sp>
          </mc:Fallback>
        </mc:AlternateContent>
      </p:grpSp>
      <p:cxnSp>
        <p:nvCxnSpPr>
          <p:cNvPr id="41" name="直接连接符 12">
            <a:extLst>
              <a:ext uri="{FF2B5EF4-FFF2-40B4-BE49-F238E27FC236}">
                <a16:creationId xmlns:a16="http://schemas.microsoft.com/office/drawing/2014/main" id="{AA329D6E-BA6E-F260-0669-6227A220D338}"/>
              </a:ext>
            </a:extLst>
          </p:cNvPr>
          <p:cNvCxnSpPr/>
          <p:nvPr>
            <p:custDataLst>
              <p:tags r:id="rId5"/>
            </p:custDataLst>
          </p:nvPr>
        </p:nvCxnSpPr>
        <p:spPr>
          <a:xfrm flipH="1">
            <a:off x="1151255" y="2404110"/>
            <a:ext cx="127000" cy="306705"/>
          </a:xfrm>
          <a:prstGeom prst="line">
            <a:avLst/>
          </a:prstGeom>
          <a:ln w="12700">
            <a:solidFill>
              <a:srgbClr val="C00000"/>
            </a:solidFill>
          </a:ln>
        </p:spPr>
        <p:style>
          <a:lnRef idx="2">
            <a:schemeClr val="accent1"/>
          </a:lnRef>
          <a:fillRef idx="0">
            <a:srgbClr val="FFFFFF"/>
          </a:fillRef>
          <a:effectRef idx="0">
            <a:srgbClr val="FFFFFF"/>
          </a:effectRef>
          <a:fontRef idx="minor">
            <a:schemeClr val="tx1"/>
          </a:fontRef>
        </p:style>
      </p:cxnSp>
      <p:cxnSp>
        <p:nvCxnSpPr>
          <p:cNvPr id="42" name="直接连接符 14">
            <a:extLst>
              <a:ext uri="{FF2B5EF4-FFF2-40B4-BE49-F238E27FC236}">
                <a16:creationId xmlns:a16="http://schemas.microsoft.com/office/drawing/2014/main" id="{9B179ED1-33C8-DA37-E53F-B74649386EE0}"/>
              </a:ext>
            </a:extLst>
          </p:cNvPr>
          <p:cNvCxnSpPr/>
          <p:nvPr>
            <p:custDataLst>
              <p:tags r:id="rId6"/>
            </p:custDataLst>
          </p:nvPr>
        </p:nvCxnSpPr>
        <p:spPr>
          <a:xfrm>
            <a:off x="1626235" y="2404110"/>
            <a:ext cx="116840" cy="30670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43" name="矩形 42">
                <a:extLst>
                  <a:ext uri="{FF2B5EF4-FFF2-40B4-BE49-F238E27FC236}">
                    <a16:creationId xmlns:a16="http://schemas.microsoft.com/office/drawing/2014/main" id="{81D05EA3-1799-84DA-9747-AA66FD0C3553}"/>
                  </a:ext>
                </a:extLst>
              </p:cNvPr>
              <p:cNvSpPr/>
              <p:nvPr/>
            </p:nvSpPr>
            <p:spPr>
              <a:xfrm>
                <a:off x="47053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43" name="矩形 42">
                <a:extLst>
                  <a:ext uri="{FF2B5EF4-FFF2-40B4-BE49-F238E27FC236}">
                    <a16:creationId xmlns:a16="http://schemas.microsoft.com/office/drawing/2014/main" id="{81D05EA3-1799-84DA-9747-AA66FD0C3553}"/>
                  </a:ext>
                </a:extLst>
              </p:cNvPr>
              <p:cNvSpPr>
                <a:spLocks noRot="1" noChangeAspect="1" noMove="1" noResize="1" noEditPoints="1" noAdjustHandles="1" noChangeArrowheads="1" noChangeShapeType="1" noTextEdit="1"/>
              </p:cNvSpPr>
              <p:nvPr/>
            </p:nvSpPr>
            <p:spPr>
              <a:xfrm>
                <a:off x="470535" y="3228975"/>
                <a:ext cx="642620" cy="384175"/>
              </a:xfrm>
              <a:prstGeom prst="rect">
                <a:avLst/>
              </a:prstGeom>
              <a:blipFill>
                <a:blip r:embed="rId55"/>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矩形 43">
                <a:extLst>
                  <a:ext uri="{FF2B5EF4-FFF2-40B4-BE49-F238E27FC236}">
                    <a16:creationId xmlns:a16="http://schemas.microsoft.com/office/drawing/2014/main" id="{16E6D193-247D-8398-E276-188D4FFD094A}"/>
                  </a:ext>
                </a:extLst>
              </p:cNvPr>
              <p:cNvSpPr/>
              <p:nvPr/>
            </p:nvSpPr>
            <p:spPr>
              <a:xfrm>
                <a:off x="90551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44" name="矩形 43">
                <a:extLst>
                  <a:ext uri="{FF2B5EF4-FFF2-40B4-BE49-F238E27FC236}">
                    <a16:creationId xmlns:a16="http://schemas.microsoft.com/office/drawing/2014/main" id="{16E6D193-247D-8398-E276-188D4FFD094A}"/>
                  </a:ext>
                </a:extLst>
              </p:cNvPr>
              <p:cNvSpPr>
                <a:spLocks noRot="1" noChangeAspect="1" noMove="1" noResize="1" noEditPoints="1" noAdjustHandles="1" noChangeArrowheads="1" noChangeShapeType="1" noTextEdit="1"/>
              </p:cNvSpPr>
              <p:nvPr/>
            </p:nvSpPr>
            <p:spPr>
              <a:xfrm>
                <a:off x="905510" y="3228975"/>
                <a:ext cx="642620" cy="384175"/>
              </a:xfrm>
              <a:prstGeom prst="rect">
                <a:avLst/>
              </a:prstGeom>
              <a:blipFill>
                <a:blip r:embed="rId56"/>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矩形 44">
                <a:extLst>
                  <a:ext uri="{FF2B5EF4-FFF2-40B4-BE49-F238E27FC236}">
                    <a16:creationId xmlns:a16="http://schemas.microsoft.com/office/drawing/2014/main" id="{71BC0324-E2DA-4BBA-55E1-DC2A82F9BE94}"/>
                  </a:ext>
                </a:extLst>
              </p:cNvPr>
              <p:cNvSpPr/>
              <p:nvPr/>
            </p:nvSpPr>
            <p:spPr>
              <a:xfrm>
                <a:off x="144843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45" name="矩形 44">
                <a:extLst>
                  <a:ext uri="{FF2B5EF4-FFF2-40B4-BE49-F238E27FC236}">
                    <a16:creationId xmlns:a16="http://schemas.microsoft.com/office/drawing/2014/main" id="{71BC0324-E2DA-4BBA-55E1-DC2A82F9BE94}"/>
                  </a:ext>
                </a:extLst>
              </p:cNvPr>
              <p:cNvSpPr>
                <a:spLocks noRot="1" noChangeAspect="1" noMove="1" noResize="1" noEditPoints="1" noAdjustHandles="1" noChangeArrowheads="1" noChangeShapeType="1" noTextEdit="1"/>
              </p:cNvSpPr>
              <p:nvPr/>
            </p:nvSpPr>
            <p:spPr>
              <a:xfrm>
                <a:off x="1448435" y="3228975"/>
                <a:ext cx="642620" cy="384175"/>
              </a:xfrm>
              <a:prstGeom prst="rect">
                <a:avLst/>
              </a:prstGeom>
              <a:blipFill>
                <a:blip r:embed="rId57"/>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矩形 45">
                <a:extLst>
                  <a:ext uri="{FF2B5EF4-FFF2-40B4-BE49-F238E27FC236}">
                    <a16:creationId xmlns:a16="http://schemas.microsoft.com/office/drawing/2014/main" id="{6130E38D-9354-0C9B-4D7C-C7DD909491E2}"/>
                  </a:ext>
                </a:extLst>
              </p:cNvPr>
              <p:cNvSpPr/>
              <p:nvPr/>
            </p:nvSpPr>
            <p:spPr>
              <a:xfrm>
                <a:off x="186055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46" name="矩形 45">
                <a:extLst>
                  <a:ext uri="{FF2B5EF4-FFF2-40B4-BE49-F238E27FC236}">
                    <a16:creationId xmlns:a16="http://schemas.microsoft.com/office/drawing/2014/main" id="{6130E38D-9354-0C9B-4D7C-C7DD909491E2}"/>
                  </a:ext>
                </a:extLst>
              </p:cNvPr>
              <p:cNvSpPr>
                <a:spLocks noRot="1" noChangeAspect="1" noMove="1" noResize="1" noEditPoints="1" noAdjustHandles="1" noChangeArrowheads="1" noChangeShapeType="1" noTextEdit="1"/>
              </p:cNvSpPr>
              <p:nvPr/>
            </p:nvSpPr>
            <p:spPr>
              <a:xfrm>
                <a:off x="1860550" y="3228975"/>
                <a:ext cx="642620" cy="384175"/>
              </a:xfrm>
              <a:prstGeom prst="rect">
                <a:avLst/>
              </a:prstGeom>
              <a:blipFill>
                <a:blip r:embed="rId58"/>
                <a:stretch>
                  <a:fillRect/>
                </a:stretch>
              </a:blipFill>
              <a:ln w="12700">
                <a:noFill/>
              </a:ln>
            </p:spPr>
            <p:txBody>
              <a:bodyPr/>
              <a:lstStyle/>
              <a:p>
                <a:r>
                  <a:rPr lang="zh-CN" altLang="en-US">
                    <a:noFill/>
                  </a:rPr>
                  <a:t> </a:t>
                </a:r>
              </a:p>
            </p:txBody>
          </p:sp>
        </mc:Fallback>
      </mc:AlternateContent>
      <p:cxnSp>
        <p:nvCxnSpPr>
          <p:cNvPr id="47" name="直接连接符 19">
            <a:extLst>
              <a:ext uri="{FF2B5EF4-FFF2-40B4-BE49-F238E27FC236}">
                <a16:creationId xmlns:a16="http://schemas.microsoft.com/office/drawing/2014/main" id="{7B078EBC-F7FE-3CDA-B833-7D42F63419BD}"/>
              </a:ext>
            </a:extLst>
          </p:cNvPr>
          <p:cNvCxnSpPr/>
          <p:nvPr>
            <p:custDataLst>
              <p:tags r:id="rId7"/>
            </p:custDataLst>
          </p:nvPr>
        </p:nvCxnSpPr>
        <p:spPr>
          <a:xfrm flipH="1">
            <a:off x="77851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48" name="直接连接符 20">
            <a:extLst>
              <a:ext uri="{FF2B5EF4-FFF2-40B4-BE49-F238E27FC236}">
                <a16:creationId xmlns:a16="http://schemas.microsoft.com/office/drawing/2014/main" id="{4E33DC45-5DA6-54FE-908C-E98786B5053C}"/>
              </a:ext>
            </a:extLst>
          </p:cNvPr>
          <p:cNvCxnSpPr/>
          <p:nvPr>
            <p:custDataLst>
              <p:tags r:id="rId8"/>
            </p:custDataLst>
          </p:nvPr>
        </p:nvCxnSpPr>
        <p:spPr>
          <a:xfrm>
            <a:off x="97155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49" name="直接连接符 21">
            <a:extLst>
              <a:ext uri="{FF2B5EF4-FFF2-40B4-BE49-F238E27FC236}">
                <a16:creationId xmlns:a16="http://schemas.microsoft.com/office/drawing/2014/main" id="{752440F5-52E7-EED0-82C2-3C1EB092E2DF}"/>
              </a:ext>
            </a:extLst>
          </p:cNvPr>
          <p:cNvCxnSpPr/>
          <p:nvPr>
            <p:custDataLst>
              <p:tags r:id="rId9"/>
            </p:custDataLst>
          </p:nvPr>
        </p:nvCxnSpPr>
        <p:spPr>
          <a:xfrm flipH="1">
            <a:off x="173609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50" name="直接连接符 22">
            <a:extLst>
              <a:ext uri="{FF2B5EF4-FFF2-40B4-BE49-F238E27FC236}">
                <a16:creationId xmlns:a16="http://schemas.microsoft.com/office/drawing/2014/main" id="{39EBF90C-5F61-8EED-7563-00E45A9A2AF7}"/>
              </a:ext>
            </a:extLst>
          </p:cNvPr>
          <p:cNvCxnSpPr/>
          <p:nvPr>
            <p:custDataLst>
              <p:tags r:id="rId10"/>
            </p:custDataLst>
          </p:nvPr>
        </p:nvCxnSpPr>
        <p:spPr>
          <a:xfrm>
            <a:off x="192913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DAFD476A-8C20-8017-4528-4A176C70AF6A}"/>
                  </a:ext>
                </a:extLst>
              </p:cNvPr>
              <p:cNvSpPr txBox="1"/>
              <p:nvPr/>
            </p:nvSpPr>
            <p:spPr>
              <a:xfrm>
                <a:off x="297815" y="1979295"/>
                <a:ext cx="925830" cy="275590"/>
              </a:xfrm>
              <a:prstGeom prst="rect">
                <a:avLst/>
              </a:prstGeom>
              <a:noFill/>
            </p:spPr>
            <p:txBody>
              <a:bodyPr wrap="square" rtlCol="0" anchor="t">
                <a:sp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sz="1200" i="1">
                          <a:solidFill>
                            <a:srgbClr val="C00000"/>
                          </a:solidFill>
                          <a:latin typeface="Cambria Math" panose="02040503050406030204" pitchFamily="18" charset="0"/>
                          <a:ea typeface="MS Mincho" charset="0"/>
                          <a:cs typeface="Cambria Math" panose="02040503050406030204" pitchFamily="18" charset="0"/>
                        </a:rPr>
                        <m:t>𝐴</m:t>
                      </m:r>
                      <m:r>
                        <a:rPr lang="en-US" altLang="zh-CN" sz="1200" i="1">
                          <a:solidFill>
                            <a:srgbClr val="C00000"/>
                          </a:solidFill>
                          <a:latin typeface="Cambria Math" panose="02040503050406030204" pitchFamily="18" charset="0"/>
                          <a:ea typeface="MS Mincho" charset="0"/>
                          <a:cs typeface="Cambria Math" panose="02040503050406030204" pitchFamily="18" charset="0"/>
                        </a:rPr>
                        <m:t> =|</m:t>
                      </m:r>
                      <m:d>
                        <m:dPr>
                          <m:begChr m:val=""/>
                          <m:endChr m:val="⟩"/>
                          <m:ctrlPr>
                            <a:rPr lang="en-US" altLang="zh-CN" sz="1200" i="1">
                              <a:solidFill>
                                <a:srgbClr val="C00000"/>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1200" i="1">
                              <a:solidFill>
                                <a:srgbClr val="C00000"/>
                              </a:solidFill>
                              <a:latin typeface="Cambria Math" panose="02040503050406030204" pitchFamily="18" charset="0"/>
                              <a:ea typeface="MS Mincho" charset="0"/>
                              <a:cs typeface="Cambria Math" panose="02040503050406030204" pitchFamily="18" charset="0"/>
                            </a:rPr>
                            <m:t>0</m:t>
                          </m:r>
                        </m:e>
                      </m:d>
                    </m:oMath>
                  </m:oMathPara>
                </a14:m>
                <a:endParaRPr lang="en-US" altLang="zh-CN" sz="1200" i="1">
                  <a:solidFill>
                    <a:srgbClr val="C00000"/>
                  </a:solidFill>
                  <a:latin typeface="Cambria Math" panose="02040503050406030204" pitchFamily="18" charset="0"/>
                  <a:ea typeface="MS Mincho" charset="0"/>
                  <a:cs typeface="Cambria Math" panose="02040503050406030204" pitchFamily="18" charset="0"/>
                </a:endParaRPr>
              </a:p>
            </p:txBody>
          </p:sp>
        </mc:Choice>
        <mc:Fallback xmlns="">
          <p:sp>
            <p:nvSpPr>
              <p:cNvPr id="51" name="文本框 50">
                <a:extLst>
                  <a:ext uri="{FF2B5EF4-FFF2-40B4-BE49-F238E27FC236}">
                    <a16:creationId xmlns:a16="http://schemas.microsoft.com/office/drawing/2014/main" id="{DAFD476A-8C20-8017-4528-4A176C70AF6A}"/>
                  </a:ext>
                </a:extLst>
              </p:cNvPr>
              <p:cNvSpPr txBox="1">
                <a:spLocks noRot="1" noChangeAspect="1" noMove="1" noResize="1" noEditPoints="1" noAdjustHandles="1" noChangeArrowheads="1" noChangeShapeType="1" noTextEdit="1"/>
              </p:cNvSpPr>
              <p:nvPr/>
            </p:nvSpPr>
            <p:spPr>
              <a:xfrm>
                <a:off x="297815" y="1979295"/>
                <a:ext cx="925830" cy="275590"/>
              </a:xfrm>
              <a:prstGeom prst="rect">
                <a:avLst/>
              </a:prstGeom>
              <a:blipFill>
                <a:blip r:embed="rId59"/>
                <a:stretch>
                  <a:fillRect t="-100000" r="-2703" b="-159091"/>
                </a:stretch>
              </a:blipFill>
            </p:spPr>
            <p:txBody>
              <a:bodyPr/>
              <a:lstStyle/>
              <a:p>
                <a:r>
                  <a:rPr lang="zh-CN" altLang="en-US">
                    <a:noFill/>
                  </a:rPr>
                  <a:t> </a:t>
                </a:r>
              </a:p>
            </p:txBody>
          </p:sp>
        </mc:Fallback>
      </mc:AlternateContent>
      <p:cxnSp>
        <p:nvCxnSpPr>
          <p:cNvPr id="52" name="直接箭头连接符 25">
            <a:extLst>
              <a:ext uri="{FF2B5EF4-FFF2-40B4-BE49-F238E27FC236}">
                <a16:creationId xmlns:a16="http://schemas.microsoft.com/office/drawing/2014/main" id="{2B2B2B29-43FC-431B-355A-2A43C7DA4407}"/>
              </a:ext>
            </a:extLst>
          </p:cNvPr>
          <p:cNvCxnSpPr/>
          <p:nvPr>
            <p:custDataLst>
              <p:tags r:id="rId11"/>
            </p:custDataLst>
          </p:nvPr>
        </p:nvCxnSpPr>
        <p:spPr>
          <a:xfrm flipH="1">
            <a:off x="1017905" y="2400300"/>
            <a:ext cx="133350" cy="17145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97" name="右箭头 96">
            <a:extLst>
              <a:ext uri="{FF2B5EF4-FFF2-40B4-BE49-F238E27FC236}">
                <a16:creationId xmlns:a16="http://schemas.microsoft.com/office/drawing/2014/main" id="{572F9CA8-F891-BCE8-78A3-E6EBB3659847}"/>
              </a:ext>
            </a:extLst>
          </p:cNvPr>
          <p:cNvSpPr/>
          <p:nvPr>
            <p:custDataLst>
              <p:tags r:id="rId12"/>
            </p:custDataLst>
          </p:nvPr>
        </p:nvSpPr>
        <p:spPr>
          <a:xfrm>
            <a:off x="455295" y="2774950"/>
            <a:ext cx="222250" cy="220345"/>
          </a:xfrm>
          <a:prstGeom prst="rightArrow">
            <a:avLst/>
          </a:prstGeom>
          <a:solidFill>
            <a:srgbClr val="963E3E"/>
          </a:solidFill>
          <a:ln>
            <a:solidFill>
              <a:srgbClr val="623E3E"/>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p:grpSp>
        <p:nvGrpSpPr>
          <p:cNvPr id="101" name="组合 100">
            <a:extLst>
              <a:ext uri="{FF2B5EF4-FFF2-40B4-BE49-F238E27FC236}">
                <a16:creationId xmlns:a16="http://schemas.microsoft.com/office/drawing/2014/main" id="{F0CC147C-A3ED-F15C-EF4A-80107B9D622C}"/>
              </a:ext>
            </a:extLst>
          </p:cNvPr>
          <p:cNvGrpSpPr/>
          <p:nvPr/>
        </p:nvGrpSpPr>
        <p:grpSpPr>
          <a:xfrm>
            <a:off x="225552" y="956310"/>
            <a:ext cx="8764143" cy="438431"/>
            <a:chOff x="225552" y="956310"/>
            <a:chExt cx="8764143" cy="438431"/>
          </a:xfrm>
        </p:grpSpPr>
        <p:sp>
          <p:nvSpPr>
            <p:cNvPr id="102" name="矩形: 圆角 37">
              <a:extLst>
                <a:ext uri="{FF2B5EF4-FFF2-40B4-BE49-F238E27FC236}">
                  <a16:creationId xmlns:a16="http://schemas.microsoft.com/office/drawing/2014/main" id="{589889F6-3EEE-EFFF-755A-479F2B41E644}"/>
                </a:ext>
              </a:extLst>
            </p:cNvPr>
            <p:cNvSpPr/>
            <p:nvPr/>
          </p:nvSpPr>
          <p:spPr>
            <a:xfrm>
              <a:off x="677545" y="956310"/>
              <a:ext cx="831215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buClrTx/>
                <a:buSzTx/>
                <a:buFontTx/>
              </a:pPr>
              <a:r>
                <a:rPr lang="zh-CN" altLang="en-US" b="1" dirty="0">
                  <a:solidFill>
                    <a:schemeClr val="tx1"/>
                  </a:solidFill>
                  <a:ea typeface="微软雅黑" panose="020B0503020204020204" pitchFamily="34" charset="-122"/>
                  <a:cs typeface="微软雅黑" panose="020B0503020204020204" pitchFamily="34" charset="-122"/>
                  <a:sym typeface="+mn-ea"/>
                </a:rPr>
                <a:t>Address-routing node qubits organize QRAM access paths.</a:t>
              </a:r>
            </a:p>
          </p:txBody>
        </p:sp>
        <p:sp>
          <p:nvSpPr>
            <p:cNvPr id="103" name="矩形: 圆角 38">
              <a:extLst>
                <a:ext uri="{FF2B5EF4-FFF2-40B4-BE49-F238E27FC236}">
                  <a16:creationId xmlns:a16="http://schemas.microsoft.com/office/drawing/2014/main" id="{9A0CD503-F958-FDEF-18AA-DF4C021EC048}"/>
                </a:ext>
              </a:extLst>
            </p:cNvPr>
            <p:cNvSpPr/>
            <p:nvPr/>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lang="en-US" altLang="zh-CN" b="1" dirty="0"/>
                <a:t>Step 1</a:t>
              </a:r>
              <a:endParaRPr lang="zh-CN" altLang="en-US" b="1" dirty="0"/>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0">
            <a:extLst>
              <a:ext uri="{FF2B5EF4-FFF2-40B4-BE49-F238E27FC236}">
                <a16:creationId xmlns:a16="http://schemas.microsoft.com/office/drawing/2014/main" id="{E88EAA0C-CF7E-ADC5-5E2A-2CE121CC9F0D}"/>
              </a:ext>
            </a:extLst>
          </p:cNvPr>
          <p:cNvSpPr/>
          <p:nvPr/>
        </p:nvSpPr>
        <p:spPr>
          <a:xfrm>
            <a:off x="209033" y="232346"/>
            <a:ext cx="8859402" cy="481927"/>
          </a:xfrm>
          <a:prstGeom prst="rect">
            <a:avLst/>
          </a:prstGeom>
          <a:noFill/>
        </p:spPr>
        <p:txBody>
          <a:bodyPr wrap="square" lIns="95250" tIns="95250" rIns="95250" bIns="95250" rtlCol="0" anchor="t"/>
          <a:lstStyle/>
          <a:p>
            <a:pPr>
              <a:spcBef>
                <a:spcPts val="375"/>
              </a:spcBef>
            </a:pPr>
            <a:r>
              <a:rPr lang="zh-CN" altLang="en-US" b="1" dirty="0">
                <a:solidFill>
                  <a:schemeClr val="bg1"/>
                </a:solidFill>
              </a:rPr>
              <a:t>Routing Scheme</a:t>
            </a:r>
            <a:r>
              <a:rPr lang="en-US" altLang="zh-CN" b="1" dirty="0">
                <a:solidFill>
                  <a:schemeClr val="bg1"/>
                </a:solidFill>
              </a:rPr>
              <a:t> </a:t>
            </a:r>
            <a:r>
              <a:rPr lang="zh-CN" altLang="en-US" b="1" dirty="0">
                <a:solidFill>
                  <a:schemeClr val="bg1"/>
                </a:solidFill>
              </a:rPr>
              <a:t>of QRAM</a:t>
            </a:r>
          </a:p>
        </p:txBody>
      </p:sp>
      <p:sp>
        <p:nvSpPr>
          <p:cNvPr id="31" name="文本框 30">
            <a:extLst>
              <a:ext uri="{FF2B5EF4-FFF2-40B4-BE49-F238E27FC236}">
                <a16:creationId xmlns:a16="http://schemas.microsoft.com/office/drawing/2014/main" id="{05B5D570-043B-8A01-CC6D-86863B1BAC8D}"/>
              </a:ext>
            </a:extLst>
          </p:cNvPr>
          <p:cNvSpPr txBox="1"/>
          <p:nvPr>
            <p:custDataLst>
              <p:tags r:id="rId1"/>
            </p:custDataLst>
          </p:nvPr>
        </p:nvSpPr>
        <p:spPr>
          <a:xfrm>
            <a:off x="112395" y="3710305"/>
            <a:ext cx="2988945" cy="583565"/>
          </a:xfrm>
          <a:prstGeom prst="rect">
            <a:avLst/>
          </a:prstGeom>
          <a:noFill/>
        </p:spPr>
        <p:txBody>
          <a:bodyPr wrap="square" rtlCol="0" anchor="t"/>
          <a:lstStyle/>
          <a:p>
            <a:pPr indent="0" fontAlgn="auto">
              <a:lnSpc>
                <a:spcPct val="100000"/>
              </a:lnSpc>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A = |0&gt;: route to the left branch (same for A0/A1).</a:t>
            </a:r>
          </a:p>
        </p:txBody>
      </p:sp>
      <p:sp>
        <p:nvSpPr>
          <p:cNvPr id="32" name="文本框 31">
            <a:extLst>
              <a:ext uri="{FF2B5EF4-FFF2-40B4-BE49-F238E27FC236}">
                <a16:creationId xmlns:a16="http://schemas.microsoft.com/office/drawing/2014/main" id="{8F883EEC-DE20-4FC4-B3EF-87B42D26BA34}"/>
              </a:ext>
            </a:extLst>
          </p:cNvPr>
          <p:cNvSpPr txBox="1"/>
          <p:nvPr>
            <p:custDataLst>
              <p:tags r:id="rId2"/>
            </p:custDataLst>
          </p:nvPr>
        </p:nvSpPr>
        <p:spPr>
          <a:xfrm>
            <a:off x="3101340" y="3710305"/>
            <a:ext cx="2988945" cy="583565"/>
          </a:xfrm>
          <a:prstGeom prst="rect">
            <a:avLst/>
          </a:prstGeom>
          <a:noFill/>
        </p:spPr>
        <p:txBody>
          <a:bodyPr wrap="square" rtlCol="0" anchor="t"/>
          <a:lstStyle/>
          <a:p>
            <a:pPr>
              <a:lnSpc>
                <a:spcPct val="100000"/>
              </a:lnSpc>
            </a:pP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 = |1&gt;: route to the right branch.</a:t>
            </a:r>
          </a:p>
        </p:txBody>
      </p:sp>
      <p:sp>
        <p:nvSpPr>
          <p:cNvPr id="35" name="矩形 34">
            <a:extLst>
              <a:ext uri="{FF2B5EF4-FFF2-40B4-BE49-F238E27FC236}">
                <a16:creationId xmlns:a16="http://schemas.microsoft.com/office/drawing/2014/main" id="{54631A91-399E-E109-89F0-08270E60C55B}"/>
              </a:ext>
            </a:extLst>
          </p:cNvPr>
          <p:cNvSpPr/>
          <p:nvPr/>
        </p:nvSpPr>
        <p:spPr>
          <a:xfrm>
            <a:off x="452755" y="1501775"/>
            <a:ext cx="7991475" cy="36449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QRAM Address-Routing Branching Property</a:t>
            </a:r>
          </a:p>
        </p:txBody>
      </p:sp>
      <p:grpSp>
        <p:nvGrpSpPr>
          <p:cNvPr id="37" name="组合 36">
            <a:extLst>
              <a:ext uri="{FF2B5EF4-FFF2-40B4-BE49-F238E27FC236}">
                <a16:creationId xmlns:a16="http://schemas.microsoft.com/office/drawing/2014/main" id="{956A14A6-CE9B-37E5-CDB8-952510BBD68F}"/>
              </a:ext>
            </a:extLst>
          </p:cNvPr>
          <p:cNvGrpSpPr/>
          <p:nvPr>
            <p:custDataLst>
              <p:tags r:id="rId3"/>
            </p:custDataLst>
          </p:nvPr>
        </p:nvGrpSpPr>
        <p:grpSpPr>
          <a:xfrm>
            <a:off x="1205865" y="1983740"/>
            <a:ext cx="492760" cy="492760"/>
            <a:chOff x="4344" y="2998"/>
            <a:chExt cx="776" cy="776"/>
          </a:xfrm>
        </p:grpSpPr>
        <p:sp>
          <p:nvSpPr>
            <p:cNvPr id="41" name="椭圆 40">
              <a:extLst>
                <a:ext uri="{FF2B5EF4-FFF2-40B4-BE49-F238E27FC236}">
                  <a16:creationId xmlns:a16="http://schemas.microsoft.com/office/drawing/2014/main" id="{3FFB49A7-37F3-5639-AAAB-21BFD1A2E478}"/>
                </a:ext>
              </a:extLst>
            </p:cNvPr>
            <p:cNvSpPr/>
            <p:nvPr>
              <p:custDataLst>
                <p:tags r:id="rId30"/>
              </p:custDataLst>
            </p:nvPr>
          </p:nvSpPr>
          <p:spPr>
            <a:xfrm>
              <a:off x="4344" y="2998"/>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0A713782-4233-369E-C5D3-8588EC48686E}"/>
                    </a:ext>
                  </a:extLst>
                </p:cNvPr>
                <p:cNvSpPr txBox="1"/>
                <p:nvPr/>
              </p:nvSpPr>
              <p:spPr>
                <a:xfrm>
                  <a:off x="4442" y="3096"/>
                  <a:ext cx="398" cy="44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𝐴</m:t>
                        </m:r>
                      </m:oMath>
                    </m:oMathPara>
                  </a14:m>
                  <a:endParaRPr lang="zh-CN" altLang="en-US" dirty="0"/>
                </a:p>
              </p:txBody>
            </p:sp>
          </mc:Choice>
          <mc:Fallback xmlns="">
            <p:sp>
              <p:nvSpPr>
                <p:cNvPr id="5" name="文本框 4"/>
                <p:cNvSpPr txBox="1">
                  <a:spLocks noRot="1" noChangeAspect="1" noMove="1" noResize="1" noEditPoints="1" noAdjustHandles="1" noChangeArrowheads="1" noChangeShapeType="1" noTextEdit="1"/>
                </p:cNvSpPr>
                <p:nvPr/>
              </p:nvSpPr>
              <p:spPr>
                <a:xfrm>
                  <a:off x="4442" y="3096"/>
                  <a:ext cx="398" cy="445"/>
                </a:xfrm>
                <a:prstGeom prst="rect">
                  <a:avLst/>
                </a:prstGeom>
                <a:blipFill rotWithShape="1">
                  <a:blip r:embed="rId52"/>
                </a:blipFill>
              </p:spPr>
              <p:txBody>
                <a:bodyPr/>
                <a:lstStyle/>
                <a:p>
                  <a:r>
                    <a:rPr lang="zh-CN" altLang="en-US">
                      <a:noFill/>
                    </a:rPr>
                    <a:t> </a:t>
                  </a:r>
                </a:p>
              </p:txBody>
            </p:sp>
          </mc:Fallback>
        </mc:AlternateContent>
      </p:grpSp>
      <p:grpSp>
        <p:nvGrpSpPr>
          <p:cNvPr id="56" name="组合 55">
            <a:extLst>
              <a:ext uri="{FF2B5EF4-FFF2-40B4-BE49-F238E27FC236}">
                <a16:creationId xmlns:a16="http://schemas.microsoft.com/office/drawing/2014/main" id="{79B57190-EF39-B3B7-7D45-2E957CD5E6A2}"/>
              </a:ext>
            </a:extLst>
          </p:cNvPr>
          <p:cNvGrpSpPr/>
          <p:nvPr>
            <p:custDataLst>
              <p:tags r:id="rId4"/>
            </p:custDataLst>
          </p:nvPr>
        </p:nvGrpSpPr>
        <p:grpSpPr>
          <a:xfrm>
            <a:off x="730885" y="2638425"/>
            <a:ext cx="492760" cy="492760"/>
            <a:chOff x="4344" y="1672"/>
            <a:chExt cx="776" cy="776"/>
          </a:xfrm>
        </p:grpSpPr>
        <p:sp>
          <p:nvSpPr>
            <p:cNvPr id="60" name="椭圆 59">
              <a:extLst>
                <a:ext uri="{FF2B5EF4-FFF2-40B4-BE49-F238E27FC236}">
                  <a16:creationId xmlns:a16="http://schemas.microsoft.com/office/drawing/2014/main" id="{4F1CBC9D-130D-69FA-1B88-300D8DEF58F3}"/>
                </a:ext>
              </a:extLst>
            </p:cNvPr>
            <p:cNvSpPr/>
            <p:nvPr>
              <p:custDataLst>
                <p:tags r:id="rId29"/>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19A55F69-6E39-AED6-90BE-983E46DE6FDB}"/>
                    </a:ext>
                  </a:extLst>
                </p:cNvPr>
                <p:cNvSpPr txBox="1"/>
                <p:nvPr/>
              </p:nvSpPr>
              <p:spPr>
                <a:xfrm>
                  <a:off x="4418" y="1770"/>
                  <a:ext cx="588" cy="580"/>
                </a:xfrm>
                <a:prstGeom prst="rect">
                  <a:avLst/>
                </a:prstGeom>
                <a:noFill/>
              </p:spPr>
              <p:txBody>
                <a:bodyPr wrap="square" rtlCol="0">
                  <a:sp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0</m:t>
                            </m:r>
                          </m:sub>
                        </m:sSub>
                      </m:oMath>
                    </m:oMathPara>
                  </a14:m>
                  <a:endParaRPr lang="zh-CN" altLang="en-US"/>
                </a:p>
              </p:txBody>
            </p:sp>
          </mc:Choice>
          <mc:Fallback xmlns="">
            <p:sp>
              <p:nvSpPr>
                <p:cNvPr id="8" name="文本框 7"/>
                <p:cNvSpPr txBox="1">
                  <a:spLocks noRot="1" noChangeAspect="1" noMove="1" noResize="1" noEditPoints="1" noAdjustHandles="1" noChangeArrowheads="1" noChangeShapeType="1" noTextEdit="1"/>
                </p:cNvSpPr>
                <p:nvPr/>
              </p:nvSpPr>
              <p:spPr>
                <a:xfrm>
                  <a:off x="4418" y="1770"/>
                  <a:ext cx="588" cy="580"/>
                </a:xfrm>
                <a:prstGeom prst="rect">
                  <a:avLst/>
                </a:prstGeom>
                <a:blipFill rotWithShape="1">
                  <a:blip r:embed="rId53"/>
                </a:blipFill>
              </p:spPr>
              <p:txBody>
                <a:bodyPr/>
                <a:lstStyle/>
                <a:p>
                  <a:r>
                    <a:rPr lang="zh-CN" altLang="en-US">
                      <a:noFill/>
                    </a:rPr>
                    <a:t> </a:t>
                  </a:r>
                </a:p>
              </p:txBody>
            </p:sp>
          </mc:Fallback>
        </mc:AlternateContent>
      </p:grpSp>
      <p:grpSp>
        <p:nvGrpSpPr>
          <p:cNvPr id="62" name="组合 61">
            <a:extLst>
              <a:ext uri="{FF2B5EF4-FFF2-40B4-BE49-F238E27FC236}">
                <a16:creationId xmlns:a16="http://schemas.microsoft.com/office/drawing/2014/main" id="{A4C67E57-59F3-5FAA-8222-BFC277E451FE}"/>
              </a:ext>
            </a:extLst>
          </p:cNvPr>
          <p:cNvGrpSpPr/>
          <p:nvPr>
            <p:custDataLst>
              <p:tags r:id="rId5"/>
            </p:custDataLst>
          </p:nvPr>
        </p:nvGrpSpPr>
        <p:grpSpPr>
          <a:xfrm>
            <a:off x="1670685" y="2638425"/>
            <a:ext cx="492760" cy="492760"/>
            <a:chOff x="4344" y="1672"/>
            <a:chExt cx="776" cy="776"/>
          </a:xfrm>
        </p:grpSpPr>
        <p:sp>
          <p:nvSpPr>
            <p:cNvPr id="63" name="椭圆 62">
              <a:extLst>
                <a:ext uri="{FF2B5EF4-FFF2-40B4-BE49-F238E27FC236}">
                  <a16:creationId xmlns:a16="http://schemas.microsoft.com/office/drawing/2014/main" id="{FEA6613F-E5FA-29D1-D303-D19CCB184B7D}"/>
                </a:ext>
              </a:extLst>
            </p:cNvPr>
            <p:cNvSpPr/>
            <p:nvPr>
              <p:custDataLst>
                <p:tags r:id="rId28"/>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2CE62817-1481-BC24-9DCC-78F07FC8C779}"/>
                    </a:ext>
                  </a:extLst>
                </p:cNvPr>
                <p:cNvSpPr txBox="1"/>
                <p:nvPr/>
              </p:nvSpPr>
              <p:spPr>
                <a:xfrm>
                  <a:off x="4489" y="1770"/>
                  <a:ext cx="218" cy="318"/>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1</m:t>
                            </m:r>
                          </m:sub>
                        </m:sSub>
                      </m:oMath>
                    </m:oMathPara>
                  </a14:m>
                  <a:endParaRPr lang="zh-CN" altLang="en-US"/>
                </a:p>
              </p:txBody>
            </p:sp>
          </mc:Choice>
          <mc:Fallback xmlns="">
            <p:sp>
              <p:nvSpPr>
                <p:cNvPr id="12" name="文本框 11"/>
                <p:cNvSpPr txBox="1">
                  <a:spLocks noRot="1" noChangeAspect="1" noMove="1" noResize="1" noEditPoints="1" noAdjustHandles="1" noChangeArrowheads="1" noChangeShapeType="1" noTextEdit="1"/>
                </p:cNvSpPr>
                <p:nvPr/>
              </p:nvSpPr>
              <p:spPr>
                <a:xfrm>
                  <a:off x="4489" y="1770"/>
                  <a:ext cx="218" cy="318"/>
                </a:xfrm>
                <a:prstGeom prst="rect">
                  <a:avLst/>
                </a:prstGeom>
                <a:blipFill rotWithShape="1">
                  <a:blip r:embed="rId54"/>
                </a:blipFill>
              </p:spPr>
              <p:txBody>
                <a:bodyPr/>
                <a:lstStyle/>
                <a:p>
                  <a:r>
                    <a:rPr lang="zh-CN" altLang="en-US">
                      <a:noFill/>
                    </a:rPr>
                    <a:t> </a:t>
                  </a:r>
                </a:p>
              </p:txBody>
            </p:sp>
          </mc:Fallback>
        </mc:AlternateContent>
      </p:grpSp>
      <p:cxnSp>
        <p:nvCxnSpPr>
          <p:cNvPr id="65" name="直接连接符 12">
            <a:extLst>
              <a:ext uri="{FF2B5EF4-FFF2-40B4-BE49-F238E27FC236}">
                <a16:creationId xmlns:a16="http://schemas.microsoft.com/office/drawing/2014/main" id="{7452A453-21C0-6F24-343B-CCCB9929EEF4}"/>
              </a:ext>
            </a:extLst>
          </p:cNvPr>
          <p:cNvCxnSpPr/>
          <p:nvPr>
            <p:custDataLst>
              <p:tags r:id="rId6"/>
            </p:custDataLst>
          </p:nvPr>
        </p:nvCxnSpPr>
        <p:spPr>
          <a:xfrm flipH="1">
            <a:off x="1151255" y="2404110"/>
            <a:ext cx="127000" cy="306705"/>
          </a:xfrm>
          <a:prstGeom prst="line">
            <a:avLst/>
          </a:prstGeom>
          <a:ln w="12700">
            <a:solidFill>
              <a:srgbClr val="C00000"/>
            </a:solidFill>
          </a:ln>
        </p:spPr>
        <p:style>
          <a:lnRef idx="2">
            <a:schemeClr val="accent1"/>
          </a:lnRef>
          <a:fillRef idx="0">
            <a:srgbClr val="FFFFFF"/>
          </a:fillRef>
          <a:effectRef idx="0">
            <a:srgbClr val="FFFFFF"/>
          </a:effectRef>
          <a:fontRef idx="minor">
            <a:schemeClr val="tx1"/>
          </a:fontRef>
        </p:style>
      </p:cxnSp>
      <p:cxnSp>
        <p:nvCxnSpPr>
          <p:cNvPr id="66" name="直接连接符 14">
            <a:extLst>
              <a:ext uri="{FF2B5EF4-FFF2-40B4-BE49-F238E27FC236}">
                <a16:creationId xmlns:a16="http://schemas.microsoft.com/office/drawing/2014/main" id="{C804997A-A16F-2ECF-52CA-1A157E76E37E}"/>
              </a:ext>
            </a:extLst>
          </p:cNvPr>
          <p:cNvCxnSpPr/>
          <p:nvPr>
            <p:custDataLst>
              <p:tags r:id="rId7"/>
            </p:custDataLst>
          </p:nvPr>
        </p:nvCxnSpPr>
        <p:spPr>
          <a:xfrm>
            <a:off x="1626235" y="2404110"/>
            <a:ext cx="116840" cy="30670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68" name="矩形 67">
                <a:extLst>
                  <a:ext uri="{FF2B5EF4-FFF2-40B4-BE49-F238E27FC236}">
                    <a16:creationId xmlns:a16="http://schemas.microsoft.com/office/drawing/2014/main" id="{432717AB-6223-9D5D-78AC-4A2EBD6413AC}"/>
                  </a:ext>
                </a:extLst>
              </p:cNvPr>
              <p:cNvSpPr/>
              <p:nvPr/>
            </p:nvSpPr>
            <p:spPr>
              <a:xfrm>
                <a:off x="47053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68" name="矩形 67">
                <a:extLst>
                  <a:ext uri="{FF2B5EF4-FFF2-40B4-BE49-F238E27FC236}">
                    <a16:creationId xmlns:a16="http://schemas.microsoft.com/office/drawing/2014/main" id="{432717AB-6223-9D5D-78AC-4A2EBD6413AC}"/>
                  </a:ext>
                </a:extLst>
              </p:cNvPr>
              <p:cNvSpPr>
                <a:spLocks noRot="1" noChangeAspect="1" noMove="1" noResize="1" noEditPoints="1" noAdjustHandles="1" noChangeArrowheads="1" noChangeShapeType="1" noTextEdit="1"/>
              </p:cNvSpPr>
              <p:nvPr/>
            </p:nvSpPr>
            <p:spPr>
              <a:xfrm>
                <a:off x="470535" y="3228975"/>
                <a:ext cx="642620" cy="384175"/>
              </a:xfrm>
              <a:prstGeom prst="rect">
                <a:avLst/>
              </a:prstGeom>
              <a:blipFill>
                <a:blip r:embed="rId55"/>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矩形 68">
                <a:extLst>
                  <a:ext uri="{FF2B5EF4-FFF2-40B4-BE49-F238E27FC236}">
                    <a16:creationId xmlns:a16="http://schemas.microsoft.com/office/drawing/2014/main" id="{4C09B23C-66A0-7A3A-7884-926C7EF3A1BF}"/>
                  </a:ext>
                </a:extLst>
              </p:cNvPr>
              <p:cNvSpPr/>
              <p:nvPr/>
            </p:nvSpPr>
            <p:spPr>
              <a:xfrm>
                <a:off x="90551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69" name="矩形 68">
                <a:extLst>
                  <a:ext uri="{FF2B5EF4-FFF2-40B4-BE49-F238E27FC236}">
                    <a16:creationId xmlns:a16="http://schemas.microsoft.com/office/drawing/2014/main" id="{4C09B23C-66A0-7A3A-7884-926C7EF3A1BF}"/>
                  </a:ext>
                </a:extLst>
              </p:cNvPr>
              <p:cNvSpPr>
                <a:spLocks noRot="1" noChangeAspect="1" noMove="1" noResize="1" noEditPoints="1" noAdjustHandles="1" noChangeArrowheads="1" noChangeShapeType="1" noTextEdit="1"/>
              </p:cNvSpPr>
              <p:nvPr/>
            </p:nvSpPr>
            <p:spPr>
              <a:xfrm>
                <a:off x="905510" y="3228975"/>
                <a:ext cx="642620" cy="384175"/>
              </a:xfrm>
              <a:prstGeom prst="rect">
                <a:avLst/>
              </a:prstGeom>
              <a:blipFill>
                <a:blip r:embed="rId56"/>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矩形 69">
                <a:extLst>
                  <a:ext uri="{FF2B5EF4-FFF2-40B4-BE49-F238E27FC236}">
                    <a16:creationId xmlns:a16="http://schemas.microsoft.com/office/drawing/2014/main" id="{E0870098-BDF3-277D-03B4-BA46F4251E2B}"/>
                  </a:ext>
                </a:extLst>
              </p:cNvPr>
              <p:cNvSpPr/>
              <p:nvPr/>
            </p:nvSpPr>
            <p:spPr>
              <a:xfrm>
                <a:off x="144843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70" name="矩形 69">
                <a:extLst>
                  <a:ext uri="{FF2B5EF4-FFF2-40B4-BE49-F238E27FC236}">
                    <a16:creationId xmlns:a16="http://schemas.microsoft.com/office/drawing/2014/main" id="{E0870098-BDF3-277D-03B4-BA46F4251E2B}"/>
                  </a:ext>
                </a:extLst>
              </p:cNvPr>
              <p:cNvSpPr>
                <a:spLocks noRot="1" noChangeAspect="1" noMove="1" noResize="1" noEditPoints="1" noAdjustHandles="1" noChangeArrowheads="1" noChangeShapeType="1" noTextEdit="1"/>
              </p:cNvSpPr>
              <p:nvPr/>
            </p:nvSpPr>
            <p:spPr>
              <a:xfrm>
                <a:off x="1448435" y="3228975"/>
                <a:ext cx="642620" cy="384175"/>
              </a:xfrm>
              <a:prstGeom prst="rect">
                <a:avLst/>
              </a:prstGeom>
              <a:blipFill>
                <a:blip r:embed="rId57"/>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矩形 70">
                <a:extLst>
                  <a:ext uri="{FF2B5EF4-FFF2-40B4-BE49-F238E27FC236}">
                    <a16:creationId xmlns:a16="http://schemas.microsoft.com/office/drawing/2014/main" id="{B5B72DE0-28C4-7B68-7692-6A4DCBF7293A}"/>
                  </a:ext>
                </a:extLst>
              </p:cNvPr>
              <p:cNvSpPr/>
              <p:nvPr/>
            </p:nvSpPr>
            <p:spPr>
              <a:xfrm>
                <a:off x="186055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71" name="矩形 70">
                <a:extLst>
                  <a:ext uri="{FF2B5EF4-FFF2-40B4-BE49-F238E27FC236}">
                    <a16:creationId xmlns:a16="http://schemas.microsoft.com/office/drawing/2014/main" id="{B5B72DE0-28C4-7B68-7692-6A4DCBF7293A}"/>
                  </a:ext>
                </a:extLst>
              </p:cNvPr>
              <p:cNvSpPr>
                <a:spLocks noRot="1" noChangeAspect="1" noMove="1" noResize="1" noEditPoints="1" noAdjustHandles="1" noChangeArrowheads="1" noChangeShapeType="1" noTextEdit="1"/>
              </p:cNvSpPr>
              <p:nvPr/>
            </p:nvSpPr>
            <p:spPr>
              <a:xfrm>
                <a:off x="1860550" y="3228975"/>
                <a:ext cx="642620" cy="384175"/>
              </a:xfrm>
              <a:prstGeom prst="rect">
                <a:avLst/>
              </a:prstGeom>
              <a:blipFill>
                <a:blip r:embed="rId58"/>
                <a:stretch>
                  <a:fillRect/>
                </a:stretch>
              </a:blipFill>
              <a:ln w="12700">
                <a:noFill/>
              </a:ln>
            </p:spPr>
            <p:txBody>
              <a:bodyPr/>
              <a:lstStyle/>
              <a:p>
                <a:r>
                  <a:rPr lang="zh-CN" altLang="en-US">
                    <a:noFill/>
                  </a:rPr>
                  <a:t> </a:t>
                </a:r>
              </a:p>
            </p:txBody>
          </p:sp>
        </mc:Fallback>
      </mc:AlternateContent>
      <p:cxnSp>
        <p:nvCxnSpPr>
          <p:cNvPr id="72" name="直接连接符 19">
            <a:extLst>
              <a:ext uri="{FF2B5EF4-FFF2-40B4-BE49-F238E27FC236}">
                <a16:creationId xmlns:a16="http://schemas.microsoft.com/office/drawing/2014/main" id="{D64F50A5-1313-876C-349D-FCAAA24AD056}"/>
              </a:ext>
            </a:extLst>
          </p:cNvPr>
          <p:cNvCxnSpPr/>
          <p:nvPr>
            <p:custDataLst>
              <p:tags r:id="rId8"/>
            </p:custDataLst>
          </p:nvPr>
        </p:nvCxnSpPr>
        <p:spPr>
          <a:xfrm flipH="1">
            <a:off x="77851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73" name="直接连接符 20">
            <a:extLst>
              <a:ext uri="{FF2B5EF4-FFF2-40B4-BE49-F238E27FC236}">
                <a16:creationId xmlns:a16="http://schemas.microsoft.com/office/drawing/2014/main" id="{E0B2304C-C635-080D-0193-298DD15C66C2}"/>
              </a:ext>
            </a:extLst>
          </p:cNvPr>
          <p:cNvCxnSpPr/>
          <p:nvPr>
            <p:custDataLst>
              <p:tags r:id="rId9"/>
            </p:custDataLst>
          </p:nvPr>
        </p:nvCxnSpPr>
        <p:spPr>
          <a:xfrm>
            <a:off x="97155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74" name="直接连接符 21">
            <a:extLst>
              <a:ext uri="{FF2B5EF4-FFF2-40B4-BE49-F238E27FC236}">
                <a16:creationId xmlns:a16="http://schemas.microsoft.com/office/drawing/2014/main" id="{A51DFCF2-CAD2-0379-C87C-6C4490AD47F3}"/>
              </a:ext>
            </a:extLst>
          </p:cNvPr>
          <p:cNvCxnSpPr/>
          <p:nvPr>
            <p:custDataLst>
              <p:tags r:id="rId10"/>
            </p:custDataLst>
          </p:nvPr>
        </p:nvCxnSpPr>
        <p:spPr>
          <a:xfrm flipH="1">
            <a:off x="173609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75" name="直接连接符 22">
            <a:extLst>
              <a:ext uri="{FF2B5EF4-FFF2-40B4-BE49-F238E27FC236}">
                <a16:creationId xmlns:a16="http://schemas.microsoft.com/office/drawing/2014/main" id="{A52CEF0E-E03E-02A1-B22B-EFEFBD060537}"/>
              </a:ext>
            </a:extLst>
          </p:cNvPr>
          <p:cNvCxnSpPr/>
          <p:nvPr>
            <p:custDataLst>
              <p:tags r:id="rId11"/>
            </p:custDataLst>
          </p:nvPr>
        </p:nvCxnSpPr>
        <p:spPr>
          <a:xfrm>
            <a:off x="192913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76" name="文本框 75">
                <a:extLst>
                  <a:ext uri="{FF2B5EF4-FFF2-40B4-BE49-F238E27FC236}">
                    <a16:creationId xmlns:a16="http://schemas.microsoft.com/office/drawing/2014/main" id="{EFF33823-14F4-1291-FAA3-18E75FA664BC}"/>
                  </a:ext>
                </a:extLst>
              </p:cNvPr>
              <p:cNvSpPr txBox="1"/>
              <p:nvPr/>
            </p:nvSpPr>
            <p:spPr>
              <a:xfrm>
                <a:off x="297815" y="1979295"/>
                <a:ext cx="925830" cy="275590"/>
              </a:xfrm>
              <a:prstGeom prst="rect">
                <a:avLst/>
              </a:prstGeom>
              <a:noFill/>
            </p:spPr>
            <p:txBody>
              <a:bodyPr wrap="square" rtlCol="0" anchor="t">
                <a:sp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sz="1200" i="1">
                          <a:solidFill>
                            <a:srgbClr val="C00000"/>
                          </a:solidFill>
                          <a:latin typeface="Cambria Math" panose="02040503050406030204" pitchFamily="18" charset="0"/>
                          <a:ea typeface="MS Mincho" charset="0"/>
                          <a:cs typeface="Cambria Math" panose="02040503050406030204" pitchFamily="18" charset="0"/>
                        </a:rPr>
                        <m:t>𝐴</m:t>
                      </m:r>
                      <m:r>
                        <a:rPr lang="en-US" altLang="zh-CN" sz="1200" i="1">
                          <a:solidFill>
                            <a:srgbClr val="C00000"/>
                          </a:solidFill>
                          <a:latin typeface="Cambria Math" panose="02040503050406030204" pitchFamily="18" charset="0"/>
                          <a:ea typeface="MS Mincho" charset="0"/>
                          <a:cs typeface="Cambria Math" panose="02040503050406030204" pitchFamily="18" charset="0"/>
                        </a:rPr>
                        <m:t> =|</m:t>
                      </m:r>
                      <m:d>
                        <m:dPr>
                          <m:begChr m:val=""/>
                          <m:endChr m:val="⟩"/>
                          <m:ctrlPr>
                            <a:rPr lang="en-US" altLang="zh-CN" sz="1200" i="1">
                              <a:solidFill>
                                <a:srgbClr val="C00000"/>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1200" i="1">
                              <a:solidFill>
                                <a:srgbClr val="C00000"/>
                              </a:solidFill>
                              <a:latin typeface="Cambria Math" panose="02040503050406030204" pitchFamily="18" charset="0"/>
                              <a:ea typeface="MS Mincho" charset="0"/>
                              <a:cs typeface="Cambria Math" panose="02040503050406030204" pitchFamily="18" charset="0"/>
                            </a:rPr>
                            <m:t>0</m:t>
                          </m:r>
                        </m:e>
                      </m:d>
                    </m:oMath>
                  </m:oMathPara>
                </a14:m>
                <a:endParaRPr lang="en-US" altLang="zh-CN" sz="1200" i="1">
                  <a:solidFill>
                    <a:srgbClr val="C00000"/>
                  </a:solidFill>
                  <a:latin typeface="Cambria Math" panose="02040503050406030204" pitchFamily="18" charset="0"/>
                  <a:ea typeface="MS Mincho" charset="0"/>
                  <a:cs typeface="Cambria Math" panose="02040503050406030204" pitchFamily="18" charset="0"/>
                </a:endParaRPr>
              </a:p>
            </p:txBody>
          </p:sp>
        </mc:Choice>
        <mc:Fallback xmlns="">
          <p:sp>
            <p:nvSpPr>
              <p:cNvPr id="76" name="文本框 75">
                <a:extLst>
                  <a:ext uri="{FF2B5EF4-FFF2-40B4-BE49-F238E27FC236}">
                    <a16:creationId xmlns:a16="http://schemas.microsoft.com/office/drawing/2014/main" id="{EFF33823-14F4-1291-FAA3-18E75FA664BC}"/>
                  </a:ext>
                </a:extLst>
              </p:cNvPr>
              <p:cNvSpPr txBox="1">
                <a:spLocks noRot="1" noChangeAspect="1" noMove="1" noResize="1" noEditPoints="1" noAdjustHandles="1" noChangeArrowheads="1" noChangeShapeType="1" noTextEdit="1"/>
              </p:cNvSpPr>
              <p:nvPr/>
            </p:nvSpPr>
            <p:spPr>
              <a:xfrm>
                <a:off x="297815" y="1979295"/>
                <a:ext cx="925830" cy="275590"/>
              </a:xfrm>
              <a:prstGeom prst="rect">
                <a:avLst/>
              </a:prstGeom>
              <a:blipFill>
                <a:blip r:embed="rId59"/>
                <a:stretch>
                  <a:fillRect t="-100000" r="-2703" b="-159091"/>
                </a:stretch>
              </a:blipFill>
            </p:spPr>
            <p:txBody>
              <a:bodyPr/>
              <a:lstStyle/>
              <a:p>
                <a:r>
                  <a:rPr lang="zh-CN" altLang="en-US">
                    <a:noFill/>
                  </a:rPr>
                  <a:t> </a:t>
                </a:r>
              </a:p>
            </p:txBody>
          </p:sp>
        </mc:Fallback>
      </mc:AlternateContent>
      <p:cxnSp>
        <p:nvCxnSpPr>
          <p:cNvPr id="77" name="直接箭头连接符 25">
            <a:extLst>
              <a:ext uri="{FF2B5EF4-FFF2-40B4-BE49-F238E27FC236}">
                <a16:creationId xmlns:a16="http://schemas.microsoft.com/office/drawing/2014/main" id="{645127C9-3573-4A0E-4F1A-ADF7D930B502}"/>
              </a:ext>
            </a:extLst>
          </p:cNvPr>
          <p:cNvCxnSpPr/>
          <p:nvPr>
            <p:custDataLst>
              <p:tags r:id="rId12"/>
            </p:custDataLst>
          </p:nvPr>
        </p:nvCxnSpPr>
        <p:spPr>
          <a:xfrm flipH="1">
            <a:off x="1017905" y="2400300"/>
            <a:ext cx="133350" cy="17145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grpSp>
        <p:nvGrpSpPr>
          <p:cNvPr id="78" name="组合 77">
            <a:extLst>
              <a:ext uri="{FF2B5EF4-FFF2-40B4-BE49-F238E27FC236}">
                <a16:creationId xmlns:a16="http://schemas.microsoft.com/office/drawing/2014/main" id="{6BB4A1D5-DD8D-D744-EB5D-4280CCB59482}"/>
              </a:ext>
            </a:extLst>
          </p:cNvPr>
          <p:cNvGrpSpPr/>
          <p:nvPr>
            <p:custDataLst>
              <p:tags r:id="rId13"/>
            </p:custDataLst>
          </p:nvPr>
        </p:nvGrpSpPr>
        <p:grpSpPr>
          <a:xfrm>
            <a:off x="4008755" y="1983740"/>
            <a:ext cx="492760" cy="492760"/>
            <a:chOff x="4344" y="2998"/>
            <a:chExt cx="776" cy="776"/>
          </a:xfrm>
        </p:grpSpPr>
        <p:sp>
          <p:nvSpPr>
            <p:cNvPr id="79" name="椭圆 78">
              <a:extLst>
                <a:ext uri="{FF2B5EF4-FFF2-40B4-BE49-F238E27FC236}">
                  <a16:creationId xmlns:a16="http://schemas.microsoft.com/office/drawing/2014/main" id="{1519D59D-6A93-8B4D-361F-8D4AA27736FB}"/>
                </a:ext>
              </a:extLst>
            </p:cNvPr>
            <p:cNvSpPr/>
            <p:nvPr>
              <p:custDataLst>
                <p:tags r:id="rId27"/>
              </p:custDataLst>
            </p:nvPr>
          </p:nvSpPr>
          <p:spPr>
            <a:xfrm>
              <a:off x="4344" y="2998"/>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90B126D9-E056-58B7-9FEC-8FB0141C8043}"/>
                    </a:ext>
                  </a:extLst>
                </p:cNvPr>
                <p:cNvSpPr txBox="1"/>
                <p:nvPr/>
              </p:nvSpPr>
              <p:spPr>
                <a:xfrm>
                  <a:off x="4442" y="3096"/>
                  <a:ext cx="398" cy="44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𝐴</m:t>
                        </m:r>
                      </m:oMath>
                    </m:oMathPara>
                  </a14:m>
                  <a:endParaRPr lang="zh-CN" altLang="en-US"/>
                </a:p>
              </p:txBody>
            </p:sp>
          </mc:Choice>
          <mc:Fallback xmlns="">
            <p:sp>
              <p:nvSpPr>
                <p:cNvPr id="29" name="文本框 28"/>
                <p:cNvSpPr txBox="1">
                  <a:spLocks noRot="1" noChangeAspect="1" noMove="1" noResize="1" noEditPoints="1" noAdjustHandles="1" noChangeArrowheads="1" noChangeShapeType="1" noTextEdit="1"/>
                </p:cNvSpPr>
                <p:nvPr/>
              </p:nvSpPr>
              <p:spPr>
                <a:xfrm>
                  <a:off x="4442" y="3096"/>
                  <a:ext cx="398" cy="445"/>
                </a:xfrm>
                <a:prstGeom prst="rect">
                  <a:avLst/>
                </a:prstGeom>
                <a:blipFill rotWithShape="1">
                  <a:blip r:embed="rId52"/>
                </a:blipFill>
              </p:spPr>
              <p:txBody>
                <a:bodyPr/>
                <a:lstStyle/>
                <a:p>
                  <a:r>
                    <a:rPr lang="zh-CN" altLang="en-US">
                      <a:noFill/>
                    </a:rPr>
                    <a:t> </a:t>
                  </a:r>
                </a:p>
              </p:txBody>
            </p:sp>
          </mc:Fallback>
        </mc:AlternateContent>
      </p:grpSp>
      <p:grpSp>
        <p:nvGrpSpPr>
          <p:cNvPr id="81" name="组合 80">
            <a:extLst>
              <a:ext uri="{FF2B5EF4-FFF2-40B4-BE49-F238E27FC236}">
                <a16:creationId xmlns:a16="http://schemas.microsoft.com/office/drawing/2014/main" id="{A0B9AF86-A118-3703-DB93-ED7C4FD58625}"/>
              </a:ext>
            </a:extLst>
          </p:cNvPr>
          <p:cNvGrpSpPr/>
          <p:nvPr>
            <p:custDataLst>
              <p:tags r:id="rId14"/>
            </p:custDataLst>
          </p:nvPr>
        </p:nvGrpSpPr>
        <p:grpSpPr>
          <a:xfrm>
            <a:off x="3533775" y="2638425"/>
            <a:ext cx="492760" cy="492760"/>
            <a:chOff x="4344" y="1672"/>
            <a:chExt cx="776" cy="776"/>
          </a:xfrm>
        </p:grpSpPr>
        <p:sp>
          <p:nvSpPr>
            <p:cNvPr id="82" name="椭圆 81">
              <a:extLst>
                <a:ext uri="{FF2B5EF4-FFF2-40B4-BE49-F238E27FC236}">
                  <a16:creationId xmlns:a16="http://schemas.microsoft.com/office/drawing/2014/main" id="{395853D2-32EC-C951-49C4-3F9EEAB595E6}"/>
                </a:ext>
              </a:extLst>
            </p:cNvPr>
            <p:cNvSpPr/>
            <p:nvPr>
              <p:custDataLst>
                <p:tags r:id="rId26"/>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83" name="文本框 82">
                  <a:extLst>
                    <a:ext uri="{FF2B5EF4-FFF2-40B4-BE49-F238E27FC236}">
                      <a16:creationId xmlns:a16="http://schemas.microsoft.com/office/drawing/2014/main" id="{CEAF15AF-DD61-9FFE-8692-0F1A78D36034}"/>
                    </a:ext>
                  </a:extLst>
                </p:cNvPr>
                <p:cNvSpPr txBox="1"/>
                <p:nvPr/>
              </p:nvSpPr>
              <p:spPr>
                <a:xfrm>
                  <a:off x="4418" y="1770"/>
                  <a:ext cx="588" cy="580"/>
                </a:xfrm>
                <a:prstGeom prst="rect">
                  <a:avLst/>
                </a:prstGeom>
                <a:noFill/>
              </p:spPr>
              <p:txBody>
                <a:bodyPr wrap="square" rtlCol="0">
                  <a:sp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0</m:t>
                            </m:r>
                          </m:sub>
                        </m:sSub>
                      </m:oMath>
                    </m:oMathPara>
                  </a14:m>
                  <a:endParaRPr lang="zh-CN" altLang="en-US"/>
                </a:p>
              </p:txBody>
            </p:sp>
          </mc:Choice>
          <mc:Fallback xmlns="">
            <p:sp>
              <p:nvSpPr>
                <p:cNvPr id="43" name="文本框 42"/>
                <p:cNvSpPr txBox="1">
                  <a:spLocks noRot="1" noChangeAspect="1" noMove="1" noResize="1" noEditPoints="1" noAdjustHandles="1" noChangeArrowheads="1" noChangeShapeType="1" noTextEdit="1"/>
                </p:cNvSpPr>
                <p:nvPr/>
              </p:nvSpPr>
              <p:spPr>
                <a:xfrm>
                  <a:off x="4418" y="1770"/>
                  <a:ext cx="588" cy="580"/>
                </a:xfrm>
                <a:prstGeom prst="rect">
                  <a:avLst/>
                </a:prstGeom>
                <a:blipFill rotWithShape="1">
                  <a:blip r:embed="rId53"/>
                </a:blipFill>
              </p:spPr>
              <p:txBody>
                <a:bodyPr/>
                <a:lstStyle/>
                <a:p>
                  <a:r>
                    <a:rPr lang="zh-CN" altLang="en-US">
                      <a:noFill/>
                    </a:rPr>
                    <a:t> </a:t>
                  </a:r>
                </a:p>
              </p:txBody>
            </p:sp>
          </mc:Fallback>
        </mc:AlternateContent>
      </p:grpSp>
      <p:grpSp>
        <p:nvGrpSpPr>
          <p:cNvPr id="84" name="组合 83">
            <a:extLst>
              <a:ext uri="{FF2B5EF4-FFF2-40B4-BE49-F238E27FC236}">
                <a16:creationId xmlns:a16="http://schemas.microsoft.com/office/drawing/2014/main" id="{7DA1BA01-6A7E-224F-4C2A-D7EC44F8916D}"/>
              </a:ext>
            </a:extLst>
          </p:cNvPr>
          <p:cNvGrpSpPr/>
          <p:nvPr>
            <p:custDataLst>
              <p:tags r:id="rId15"/>
            </p:custDataLst>
          </p:nvPr>
        </p:nvGrpSpPr>
        <p:grpSpPr>
          <a:xfrm>
            <a:off x="4473575" y="2638425"/>
            <a:ext cx="492760" cy="492760"/>
            <a:chOff x="4344" y="1672"/>
            <a:chExt cx="776" cy="776"/>
          </a:xfrm>
        </p:grpSpPr>
        <p:sp>
          <p:nvSpPr>
            <p:cNvPr id="85" name="椭圆 84">
              <a:extLst>
                <a:ext uri="{FF2B5EF4-FFF2-40B4-BE49-F238E27FC236}">
                  <a16:creationId xmlns:a16="http://schemas.microsoft.com/office/drawing/2014/main" id="{F020B086-7834-08C3-B689-A15C71666276}"/>
                </a:ext>
              </a:extLst>
            </p:cNvPr>
            <p:cNvSpPr/>
            <p:nvPr>
              <p:custDataLst>
                <p:tags r:id="rId25"/>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86" name="文本框 85">
                  <a:extLst>
                    <a:ext uri="{FF2B5EF4-FFF2-40B4-BE49-F238E27FC236}">
                      <a16:creationId xmlns:a16="http://schemas.microsoft.com/office/drawing/2014/main" id="{45C6C9FC-99EF-01AB-B015-35CEAE113C75}"/>
                    </a:ext>
                  </a:extLst>
                </p:cNvPr>
                <p:cNvSpPr txBox="1"/>
                <p:nvPr/>
              </p:nvSpPr>
              <p:spPr>
                <a:xfrm>
                  <a:off x="4489" y="1770"/>
                  <a:ext cx="218" cy="318"/>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1</m:t>
                            </m:r>
                          </m:sub>
                        </m:sSub>
                      </m:oMath>
                    </m:oMathPara>
                  </a14:m>
                  <a:endParaRPr lang="zh-CN" altLang="en-US"/>
                </a:p>
              </p:txBody>
            </p:sp>
          </mc:Choice>
          <mc:Fallback xmlns="">
            <p:sp>
              <p:nvSpPr>
                <p:cNvPr id="46" name="文本框 45"/>
                <p:cNvSpPr txBox="1">
                  <a:spLocks noRot="1" noChangeAspect="1" noMove="1" noResize="1" noEditPoints="1" noAdjustHandles="1" noChangeArrowheads="1" noChangeShapeType="1" noTextEdit="1"/>
                </p:cNvSpPr>
                <p:nvPr/>
              </p:nvSpPr>
              <p:spPr>
                <a:xfrm>
                  <a:off x="4489" y="1770"/>
                  <a:ext cx="218" cy="318"/>
                </a:xfrm>
                <a:prstGeom prst="rect">
                  <a:avLst/>
                </a:prstGeom>
                <a:blipFill rotWithShape="1">
                  <a:blip r:embed="rId54"/>
                </a:blipFill>
              </p:spPr>
              <p:txBody>
                <a:bodyPr/>
                <a:lstStyle/>
                <a:p>
                  <a:r>
                    <a:rPr lang="zh-CN" altLang="en-US">
                      <a:noFill/>
                    </a:rPr>
                    <a:t> </a:t>
                  </a:r>
                </a:p>
              </p:txBody>
            </p:sp>
          </mc:Fallback>
        </mc:AlternateContent>
      </p:grpSp>
      <p:cxnSp>
        <p:nvCxnSpPr>
          <p:cNvPr id="87" name="直接连接符 46">
            <a:extLst>
              <a:ext uri="{FF2B5EF4-FFF2-40B4-BE49-F238E27FC236}">
                <a16:creationId xmlns:a16="http://schemas.microsoft.com/office/drawing/2014/main" id="{0BF39567-951A-0DDE-B83C-51C4E257DF5C}"/>
              </a:ext>
            </a:extLst>
          </p:cNvPr>
          <p:cNvCxnSpPr/>
          <p:nvPr>
            <p:custDataLst>
              <p:tags r:id="rId16"/>
            </p:custDataLst>
          </p:nvPr>
        </p:nvCxnSpPr>
        <p:spPr>
          <a:xfrm flipH="1">
            <a:off x="3954145" y="2404110"/>
            <a:ext cx="127000" cy="30670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88" name="直接连接符 47">
            <a:extLst>
              <a:ext uri="{FF2B5EF4-FFF2-40B4-BE49-F238E27FC236}">
                <a16:creationId xmlns:a16="http://schemas.microsoft.com/office/drawing/2014/main" id="{1F365272-E576-438B-5912-641684E5FE7F}"/>
              </a:ext>
            </a:extLst>
          </p:cNvPr>
          <p:cNvCxnSpPr/>
          <p:nvPr>
            <p:custDataLst>
              <p:tags r:id="rId17"/>
            </p:custDataLst>
          </p:nvPr>
        </p:nvCxnSpPr>
        <p:spPr>
          <a:xfrm>
            <a:off x="4429125" y="2404110"/>
            <a:ext cx="116840" cy="306705"/>
          </a:xfrm>
          <a:prstGeom prst="line">
            <a:avLst/>
          </a:prstGeom>
          <a:ln w="12700">
            <a:solidFill>
              <a:srgbClr val="C00000"/>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89" name="矩形 88">
                <a:extLst>
                  <a:ext uri="{FF2B5EF4-FFF2-40B4-BE49-F238E27FC236}">
                    <a16:creationId xmlns:a16="http://schemas.microsoft.com/office/drawing/2014/main" id="{70C14EF3-15AF-664A-3728-11D374C43C4B}"/>
                  </a:ext>
                </a:extLst>
              </p:cNvPr>
              <p:cNvSpPr/>
              <p:nvPr/>
            </p:nvSpPr>
            <p:spPr>
              <a:xfrm>
                <a:off x="327342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89" name="矩形 88">
                <a:extLst>
                  <a:ext uri="{FF2B5EF4-FFF2-40B4-BE49-F238E27FC236}">
                    <a16:creationId xmlns:a16="http://schemas.microsoft.com/office/drawing/2014/main" id="{70C14EF3-15AF-664A-3728-11D374C43C4B}"/>
                  </a:ext>
                </a:extLst>
              </p:cNvPr>
              <p:cNvSpPr>
                <a:spLocks noRot="1" noChangeAspect="1" noMove="1" noResize="1" noEditPoints="1" noAdjustHandles="1" noChangeArrowheads="1" noChangeShapeType="1" noTextEdit="1"/>
              </p:cNvSpPr>
              <p:nvPr/>
            </p:nvSpPr>
            <p:spPr>
              <a:xfrm>
                <a:off x="3273425" y="3228975"/>
                <a:ext cx="642620" cy="384175"/>
              </a:xfrm>
              <a:prstGeom prst="rect">
                <a:avLst/>
              </a:prstGeom>
              <a:blipFill>
                <a:blip r:embed="rId60"/>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 name="矩形 89">
                <a:extLst>
                  <a:ext uri="{FF2B5EF4-FFF2-40B4-BE49-F238E27FC236}">
                    <a16:creationId xmlns:a16="http://schemas.microsoft.com/office/drawing/2014/main" id="{9305F580-7675-7385-B47A-8056ACA07715}"/>
                  </a:ext>
                </a:extLst>
              </p:cNvPr>
              <p:cNvSpPr/>
              <p:nvPr/>
            </p:nvSpPr>
            <p:spPr>
              <a:xfrm>
                <a:off x="370840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90" name="矩形 89">
                <a:extLst>
                  <a:ext uri="{FF2B5EF4-FFF2-40B4-BE49-F238E27FC236}">
                    <a16:creationId xmlns:a16="http://schemas.microsoft.com/office/drawing/2014/main" id="{9305F580-7675-7385-B47A-8056ACA07715}"/>
                  </a:ext>
                </a:extLst>
              </p:cNvPr>
              <p:cNvSpPr>
                <a:spLocks noRot="1" noChangeAspect="1" noMove="1" noResize="1" noEditPoints="1" noAdjustHandles="1" noChangeArrowheads="1" noChangeShapeType="1" noTextEdit="1"/>
              </p:cNvSpPr>
              <p:nvPr/>
            </p:nvSpPr>
            <p:spPr>
              <a:xfrm>
                <a:off x="3708400" y="3228975"/>
                <a:ext cx="642620" cy="384175"/>
              </a:xfrm>
              <a:prstGeom prst="rect">
                <a:avLst/>
              </a:prstGeom>
              <a:blipFill>
                <a:blip r:embed="rId61"/>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矩形 90">
                <a:extLst>
                  <a:ext uri="{FF2B5EF4-FFF2-40B4-BE49-F238E27FC236}">
                    <a16:creationId xmlns:a16="http://schemas.microsoft.com/office/drawing/2014/main" id="{E3608693-188F-E134-F131-4E97E80228F2}"/>
                  </a:ext>
                </a:extLst>
              </p:cNvPr>
              <p:cNvSpPr/>
              <p:nvPr/>
            </p:nvSpPr>
            <p:spPr>
              <a:xfrm>
                <a:off x="425132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91" name="矩形 90">
                <a:extLst>
                  <a:ext uri="{FF2B5EF4-FFF2-40B4-BE49-F238E27FC236}">
                    <a16:creationId xmlns:a16="http://schemas.microsoft.com/office/drawing/2014/main" id="{E3608693-188F-E134-F131-4E97E80228F2}"/>
                  </a:ext>
                </a:extLst>
              </p:cNvPr>
              <p:cNvSpPr>
                <a:spLocks noRot="1" noChangeAspect="1" noMove="1" noResize="1" noEditPoints="1" noAdjustHandles="1" noChangeArrowheads="1" noChangeShapeType="1" noTextEdit="1"/>
              </p:cNvSpPr>
              <p:nvPr/>
            </p:nvSpPr>
            <p:spPr>
              <a:xfrm>
                <a:off x="4251325" y="3228975"/>
                <a:ext cx="642620" cy="384175"/>
              </a:xfrm>
              <a:prstGeom prst="rect">
                <a:avLst/>
              </a:prstGeom>
              <a:blipFill>
                <a:blip r:embed="rId62"/>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 name="矩形 91">
                <a:extLst>
                  <a:ext uri="{FF2B5EF4-FFF2-40B4-BE49-F238E27FC236}">
                    <a16:creationId xmlns:a16="http://schemas.microsoft.com/office/drawing/2014/main" id="{F960BB80-4E28-8606-CE18-9A2D5345E6D9}"/>
                  </a:ext>
                </a:extLst>
              </p:cNvPr>
              <p:cNvSpPr/>
              <p:nvPr/>
            </p:nvSpPr>
            <p:spPr>
              <a:xfrm>
                <a:off x="466344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92" name="矩形 91">
                <a:extLst>
                  <a:ext uri="{FF2B5EF4-FFF2-40B4-BE49-F238E27FC236}">
                    <a16:creationId xmlns:a16="http://schemas.microsoft.com/office/drawing/2014/main" id="{F960BB80-4E28-8606-CE18-9A2D5345E6D9}"/>
                  </a:ext>
                </a:extLst>
              </p:cNvPr>
              <p:cNvSpPr>
                <a:spLocks noRot="1" noChangeAspect="1" noMove="1" noResize="1" noEditPoints="1" noAdjustHandles="1" noChangeArrowheads="1" noChangeShapeType="1" noTextEdit="1"/>
              </p:cNvSpPr>
              <p:nvPr/>
            </p:nvSpPr>
            <p:spPr>
              <a:xfrm>
                <a:off x="4663440" y="3228975"/>
                <a:ext cx="642620" cy="384175"/>
              </a:xfrm>
              <a:prstGeom prst="rect">
                <a:avLst/>
              </a:prstGeom>
              <a:blipFill>
                <a:blip r:embed="rId63"/>
                <a:stretch>
                  <a:fillRect/>
                </a:stretch>
              </a:blipFill>
              <a:ln w="12700">
                <a:noFill/>
              </a:ln>
            </p:spPr>
            <p:txBody>
              <a:bodyPr/>
              <a:lstStyle/>
              <a:p>
                <a:r>
                  <a:rPr lang="zh-CN" altLang="en-US">
                    <a:noFill/>
                  </a:rPr>
                  <a:t> </a:t>
                </a:r>
              </a:p>
            </p:txBody>
          </p:sp>
        </mc:Fallback>
      </mc:AlternateContent>
      <p:cxnSp>
        <p:nvCxnSpPr>
          <p:cNvPr id="93" name="直接连接符 52">
            <a:extLst>
              <a:ext uri="{FF2B5EF4-FFF2-40B4-BE49-F238E27FC236}">
                <a16:creationId xmlns:a16="http://schemas.microsoft.com/office/drawing/2014/main" id="{616FEDFF-0656-523E-B1FD-6DBD895BE5B9}"/>
              </a:ext>
            </a:extLst>
          </p:cNvPr>
          <p:cNvCxnSpPr/>
          <p:nvPr>
            <p:custDataLst>
              <p:tags r:id="rId18"/>
            </p:custDataLst>
          </p:nvPr>
        </p:nvCxnSpPr>
        <p:spPr>
          <a:xfrm flipH="1">
            <a:off x="358140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94" name="直接连接符 53">
            <a:extLst>
              <a:ext uri="{FF2B5EF4-FFF2-40B4-BE49-F238E27FC236}">
                <a16:creationId xmlns:a16="http://schemas.microsoft.com/office/drawing/2014/main" id="{21C88147-7AC2-4068-D3D1-6E423104DE3E}"/>
              </a:ext>
            </a:extLst>
          </p:cNvPr>
          <p:cNvCxnSpPr/>
          <p:nvPr>
            <p:custDataLst>
              <p:tags r:id="rId19"/>
            </p:custDataLst>
          </p:nvPr>
        </p:nvCxnSpPr>
        <p:spPr>
          <a:xfrm>
            <a:off x="377444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95" name="直接连接符 54">
            <a:extLst>
              <a:ext uri="{FF2B5EF4-FFF2-40B4-BE49-F238E27FC236}">
                <a16:creationId xmlns:a16="http://schemas.microsoft.com/office/drawing/2014/main" id="{0E1E6261-B11E-D166-5632-F0D94BEAC962}"/>
              </a:ext>
            </a:extLst>
          </p:cNvPr>
          <p:cNvCxnSpPr/>
          <p:nvPr>
            <p:custDataLst>
              <p:tags r:id="rId20"/>
            </p:custDataLst>
          </p:nvPr>
        </p:nvCxnSpPr>
        <p:spPr>
          <a:xfrm flipH="1">
            <a:off x="453898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96" name="直接连接符 56">
            <a:extLst>
              <a:ext uri="{FF2B5EF4-FFF2-40B4-BE49-F238E27FC236}">
                <a16:creationId xmlns:a16="http://schemas.microsoft.com/office/drawing/2014/main" id="{ABF7D95E-6A2E-609B-24EA-AD1AE0BD3336}"/>
              </a:ext>
            </a:extLst>
          </p:cNvPr>
          <p:cNvCxnSpPr/>
          <p:nvPr>
            <p:custDataLst>
              <p:tags r:id="rId21"/>
            </p:custDataLst>
          </p:nvPr>
        </p:nvCxnSpPr>
        <p:spPr>
          <a:xfrm>
            <a:off x="473202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97" name="文本框 96">
                <a:extLst>
                  <a:ext uri="{FF2B5EF4-FFF2-40B4-BE49-F238E27FC236}">
                    <a16:creationId xmlns:a16="http://schemas.microsoft.com/office/drawing/2014/main" id="{738919F8-A2F2-DFB3-77E9-84F3800B0BA7}"/>
                  </a:ext>
                </a:extLst>
              </p:cNvPr>
              <p:cNvSpPr txBox="1"/>
              <p:nvPr/>
            </p:nvSpPr>
            <p:spPr>
              <a:xfrm>
                <a:off x="3100705" y="1979295"/>
                <a:ext cx="925830" cy="275590"/>
              </a:xfrm>
              <a:prstGeom prst="rect">
                <a:avLst/>
              </a:prstGeom>
              <a:noFill/>
            </p:spPr>
            <p:txBody>
              <a:bodyPr wrap="square" rtlCol="0" anchor="t">
                <a:sp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sz="1200" i="1">
                          <a:solidFill>
                            <a:srgbClr val="C00000"/>
                          </a:solidFill>
                          <a:latin typeface="Cambria Math" panose="02040503050406030204" pitchFamily="18" charset="0"/>
                          <a:ea typeface="MS Mincho" charset="0"/>
                          <a:cs typeface="Cambria Math" panose="02040503050406030204" pitchFamily="18" charset="0"/>
                        </a:rPr>
                        <m:t>𝐴</m:t>
                      </m:r>
                      <m:r>
                        <a:rPr lang="en-US" altLang="zh-CN" sz="1200" i="1">
                          <a:solidFill>
                            <a:srgbClr val="C00000"/>
                          </a:solidFill>
                          <a:latin typeface="Cambria Math" panose="02040503050406030204" pitchFamily="18" charset="0"/>
                          <a:ea typeface="MS Mincho" charset="0"/>
                          <a:cs typeface="Cambria Math" panose="02040503050406030204" pitchFamily="18" charset="0"/>
                        </a:rPr>
                        <m:t> =|</m:t>
                      </m:r>
                      <m:d>
                        <m:dPr>
                          <m:begChr m:val=""/>
                          <m:endChr m:val="⟩"/>
                          <m:ctrlPr>
                            <a:rPr lang="en-US" altLang="zh-CN" sz="1200" i="1">
                              <a:solidFill>
                                <a:srgbClr val="C00000"/>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1200" i="1">
                              <a:solidFill>
                                <a:srgbClr val="C00000"/>
                              </a:solidFill>
                              <a:latin typeface="Cambria Math" panose="02040503050406030204" pitchFamily="18" charset="0"/>
                              <a:ea typeface="MS Mincho" charset="0"/>
                              <a:cs typeface="Cambria Math" panose="02040503050406030204" pitchFamily="18" charset="0"/>
                            </a:rPr>
                            <m:t>1</m:t>
                          </m:r>
                        </m:e>
                      </m:d>
                    </m:oMath>
                  </m:oMathPara>
                </a14:m>
                <a:endParaRPr lang="en-US" altLang="zh-CN" sz="1200" i="1">
                  <a:solidFill>
                    <a:srgbClr val="C00000"/>
                  </a:solidFill>
                  <a:latin typeface="Cambria Math" panose="02040503050406030204" pitchFamily="18" charset="0"/>
                  <a:ea typeface="MS Mincho" charset="0"/>
                  <a:cs typeface="Cambria Math" panose="02040503050406030204" pitchFamily="18" charset="0"/>
                </a:endParaRPr>
              </a:p>
            </p:txBody>
          </p:sp>
        </mc:Choice>
        <mc:Fallback xmlns="">
          <p:sp>
            <p:nvSpPr>
              <p:cNvPr id="97" name="文本框 96">
                <a:extLst>
                  <a:ext uri="{FF2B5EF4-FFF2-40B4-BE49-F238E27FC236}">
                    <a16:creationId xmlns:a16="http://schemas.microsoft.com/office/drawing/2014/main" id="{738919F8-A2F2-DFB3-77E9-84F3800B0BA7}"/>
                  </a:ext>
                </a:extLst>
              </p:cNvPr>
              <p:cNvSpPr txBox="1">
                <a:spLocks noRot="1" noChangeAspect="1" noMove="1" noResize="1" noEditPoints="1" noAdjustHandles="1" noChangeArrowheads="1" noChangeShapeType="1" noTextEdit="1"/>
              </p:cNvSpPr>
              <p:nvPr/>
            </p:nvSpPr>
            <p:spPr>
              <a:xfrm>
                <a:off x="3100705" y="1979295"/>
                <a:ext cx="925830" cy="275590"/>
              </a:xfrm>
              <a:prstGeom prst="rect">
                <a:avLst/>
              </a:prstGeom>
              <a:blipFill>
                <a:blip r:embed="rId64"/>
                <a:stretch>
                  <a:fillRect t="-100000" r="-1351" b="-159091"/>
                </a:stretch>
              </a:blipFill>
            </p:spPr>
            <p:txBody>
              <a:bodyPr/>
              <a:lstStyle/>
              <a:p>
                <a:r>
                  <a:rPr lang="zh-CN" altLang="en-US">
                    <a:noFill/>
                  </a:rPr>
                  <a:t> </a:t>
                </a:r>
              </a:p>
            </p:txBody>
          </p:sp>
        </mc:Fallback>
      </mc:AlternateContent>
      <p:cxnSp>
        <p:nvCxnSpPr>
          <p:cNvPr id="98" name="直接箭头连接符 58">
            <a:extLst>
              <a:ext uri="{FF2B5EF4-FFF2-40B4-BE49-F238E27FC236}">
                <a16:creationId xmlns:a16="http://schemas.microsoft.com/office/drawing/2014/main" id="{87D3A9E6-10D5-FEF8-4DF1-035E116A031A}"/>
              </a:ext>
            </a:extLst>
          </p:cNvPr>
          <p:cNvCxnSpPr/>
          <p:nvPr>
            <p:custDataLst>
              <p:tags r:id="rId22"/>
            </p:custDataLst>
          </p:nvPr>
        </p:nvCxnSpPr>
        <p:spPr>
          <a:xfrm>
            <a:off x="4545965" y="2404110"/>
            <a:ext cx="68580" cy="16764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124" name="右箭头 123">
            <a:extLst>
              <a:ext uri="{FF2B5EF4-FFF2-40B4-BE49-F238E27FC236}">
                <a16:creationId xmlns:a16="http://schemas.microsoft.com/office/drawing/2014/main" id="{060EDE12-684A-3C69-372C-0659DE7FB8D9}"/>
              </a:ext>
            </a:extLst>
          </p:cNvPr>
          <p:cNvSpPr/>
          <p:nvPr>
            <p:custDataLst>
              <p:tags r:id="rId23"/>
            </p:custDataLst>
          </p:nvPr>
        </p:nvSpPr>
        <p:spPr>
          <a:xfrm>
            <a:off x="455295" y="2774950"/>
            <a:ext cx="222250" cy="220345"/>
          </a:xfrm>
          <a:prstGeom prst="rightArrow">
            <a:avLst/>
          </a:prstGeom>
          <a:solidFill>
            <a:srgbClr val="963E3E"/>
          </a:solidFill>
          <a:ln>
            <a:solidFill>
              <a:srgbClr val="623E3E"/>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p:sp>
        <p:nvSpPr>
          <p:cNvPr id="125" name="右箭头 124">
            <a:extLst>
              <a:ext uri="{FF2B5EF4-FFF2-40B4-BE49-F238E27FC236}">
                <a16:creationId xmlns:a16="http://schemas.microsoft.com/office/drawing/2014/main" id="{D7D43010-3D33-F8CA-B33F-B7D65DF83360}"/>
              </a:ext>
            </a:extLst>
          </p:cNvPr>
          <p:cNvSpPr/>
          <p:nvPr>
            <p:custDataLst>
              <p:tags r:id="rId24"/>
            </p:custDataLst>
          </p:nvPr>
        </p:nvSpPr>
        <p:spPr>
          <a:xfrm rot="10800000">
            <a:off x="5020945" y="2774950"/>
            <a:ext cx="222250" cy="220345"/>
          </a:xfrm>
          <a:prstGeom prst="rightArrow">
            <a:avLst/>
          </a:prstGeom>
          <a:solidFill>
            <a:srgbClr val="963E3E"/>
          </a:solidFill>
          <a:ln>
            <a:solidFill>
              <a:srgbClr val="623E3E"/>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p:grpSp>
        <p:nvGrpSpPr>
          <p:cNvPr id="128" name="组合 127">
            <a:extLst>
              <a:ext uri="{FF2B5EF4-FFF2-40B4-BE49-F238E27FC236}">
                <a16:creationId xmlns:a16="http://schemas.microsoft.com/office/drawing/2014/main" id="{040AE760-B841-D5F4-1DA0-DAC0C28FEACF}"/>
              </a:ext>
            </a:extLst>
          </p:cNvPr>
          <p:cNvGrpSpPr/>
          <p:nvPr/>
        </p:nvGrpSpPr>
        <p:grpSpPr>
          <a:xfrm>
            <a:off x="225552" y="956310"/>
            <a:ext cx="8764143" cy="438431"/>
            <a:chOff x="225552" y="956310"/>
            <a:chExt cx="8764143" cy="438431"/>
          </a:xfrm>
        </p:grpSpPr>
        <p:sp>
          <p:nvSpPr>
            <p:cNvPr id="129" name="矩形: 圆角 37">
              <a:extLst>
                <a:ext uri="{FF2B5EF4-FFF2-40B4-BE49-F238E27FC236}">
                  <a16:creationId xmlns:a16="http://schemas.microsoft.com/office/drawing/2014/main" id="{AC6D460F-D28F-CC8B-451E-E504C95099BA}"/>
                </a:ext>
              </a:extLst>
            </p:cNvPr>
            <p:cNvSpPr/>
            <p:nvPr/>
          </p:nvSpPr>
          <p:spPr>
            <a:xfrm>
              <a:off x="677545" y="956310"/>
              <a:ext cx="831215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buClrTx/>
                <a:buSzTx/>
                <a:buFontTx/>
              </a:pPr>
              <a:r>
                <a:rPr lang="zh-CN" altLang="en-US" b="1" dirty="0">
                  <a:solidFill>
                    <a:schemeClr val="tx1"/>
                  </a:solidFill>
                  <a:ea typeface="微软雅黑" panose="020B0503020204020204" pitchFamily="34" charset="-122"/>
                  <a:cs typeface="微软雅黑" panose="020B0503020204020204" pitchFamily="34" charset="-122"/>
                  <a:sym typeface="+mn-ea"/>
                </a:rPr>
                <a:t>Address-routing node qubits organize QRAM access paths.</a:t>
              </a:r>
            </a:p>
          </p:txBody>
        </p:sp>
        <p:sp>
          <p:nvSpPr>
            <p:cNvPr id="130" name="矩形: 圆角 38">
              <a:extLst>
                <a:ext uri="{FF2B5EF4-FFF2-40B4-BE49-F238E27FC236}">
                  <a16:creationId xmlns:a16="http://schemas.microsoft.com/office/drawing/2014/main" id="{B7A14564-C00A-EDF1-FD99-27326D315952}"/>
                </a:ext>
              </a:extLst>
            </p:cNvPr>
            <p:cNvSpPr/>
            <p:nvPr/>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lang="en-US" altLang="zh-CN" b="1" dirty="0"/>
                <a:t>Step 1</a:t>
              </a:r>
              <a:endParaRPr lang="zh-CN" altLang="en-US" b="1" dirty="0"/>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文本框 66"/>
          <p:cNvSpPr txBox="1"/>
          <p:nvPr>
            <p:custDataLst>
              <p:tags r:id="rId1"/>
            </p:custDataLst>
          </p:nvPr>
        </p:nvSpPr>
        <p:spPr>
          <a:xfrm>
            <a:off x="112395" y="3710305"/>
            <a:ext cx="2988945" cy="583565"/>
          </a:xfrm>
          <a:prstGeom prst="rect">
            <a:avLst/>
          </a:prstGeom>
          <a:noFill/>
        </p:spPr>
        <p:txBody>
          <a:bodyPr wrap="square" rtlCol="0" anchor="t"/>
          <a:lstStyle/>
          <a:p>
            <a:pPr indent="0" fontAlgn="auto">
              <a:lnSpc>
                <a:spcPct val="100000"/>
              </a:lnSpc>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A = |0&gt;: route to the left branch (same for A0/A1).</a:t>
            </a:r>
          </a:p>
        </p:txBody>
      </p:sp>
      <p:sp>
        <p:nvSpPr>
          <p:cNvPr id="117" name="文本框 116"/>
          <p:cNvSpPr txBox="1"/>
          <p:nvPr>
            <p:custDataLst>
              <p:tags r:id="rId2"/>
            </p:custDataLst>
          </p:nvPr>
        </p:nvSpPr>
        <p:spPr>
          <a:xfrm>
            <a:off x="3101340" y="3710305"/>
            <a:ext cx="2988945" cy="583565"/>
          </a:xfrm>
          <a:prstGeom prst="rect">
            <a:avLst/>
          </a:prstGeom>
          <a:noFill/>
        </p:spPr>
        <p:txBody>
          <a:bodyPr wrap="square" rtlCol="0" anchor="t"/>
          <a:lstStyle/>
          <a:p>
            <a:pPr>
              <a:lnSpc>
                <a:spcPct val="100000"/>
              </a:lnSpc>
            </a:pP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 = |1&gt;: route to the right branch.</a:t>
            </a:r>
          </a:p>
        </p:txBody>
      </p:sp>
      <mc:AlternateContent xmlns:mc="http://schemas.openxmlformats.org/markup-compatibility/2006" xmlns:a14="http://schemas.microsoft.com/office/drawing/2010/main">
        <mc:Choice Requires="a14">
          <p:sp>
            <p:nvSpPr>
              <p:cNvPr id="118" name="文本框 117"/>
              <p:cNvSpPr txBox="1"/>
              <p:nvPr>
                <p:custDataLst>
                  <p:tags r:id="rId3"/>
                </p:custDataLst>
              </p:nvPr>
            </p:nvSpPr>
            <p:spPr>
              <a:xfrm>
                <a:off x="5901748" y="3681441"/>
                <a:ext cx="3223029" cy="583565"/>
              </a:xfrm>
              <a:prstGeom prst="rect">
                <a:avLst/>
              </a:prstGeom>
              <a:noFill/>
            </p:spPr>
            <p:txBody>
              <a:bodyPr wrap="square" rtlCol="0" anchor="t"/>
              <a:lstStyle/>
              <a:p>
                <a:pPr>
                  <a:lnSpc>
                    <a:spcPct val="100000"/>
                  </a:lnSpc>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A = (|0&gt; + |1&gt;)/</a:t>
                </a:r>
                <a14:m>
                  <m:oMath xmlns:m="http://schemas.openxmlformats.org/officeDocument/2006/math">
                    <m:rad>
                      <m:radPr>
                        <m:degHide m:val="on"/>
                        <m:ctrlPr>
                          <a:rPr lang="en-US" altLang="zh-CN" sz="1600" i="1">
                            <a:latin typeface="Cambria Math" panose="02040503050406030204" pitchFamily="18" charset="0"/>
                            <a:ea typeface="微软雅黑" panose="020B0503020204020204" pitchFamily="34" charset="-122"/>
                            <a:cs typeface="Cambria Math" panose="02040503050406030204" pitchFamily="18" charset="0"/>
                            <a:sym typeface="+mn-ea"/>
                          </a:rPr>
                        </m:ctrlPr>
                      </m:radPr>
                      <m:deg/>
                      <m:e>
                        <m:r>
                          <a:rPr lang="en-US" altLang="zh-CN" sz="1600" i="1">
                            <a:latin typeface="Cambria Math" panose="02040503050406030204" pitchFamily="18" charset="0"/>
                            <a:ea typeface="微软雅黑" panose="020B0503020204020204" pitchFamily="34" charset="-122"/>
                            <a:cs typeface="Cambria Math" panose="02040503050406030204" pitchFamily="18" charset="0"/>
                            <a:sym typeface="+mn-ea"/>
                          </a:rPr>
                          <m:t>2</m:t>
                        </m:r>
                      </m:e>
                    </m:rad>
                  </m:oMath>
                </a14:m>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 route to both branches probabilistically.</a:t>
                </a:r>
              </a:p>
            </p:txBody>
          </p:sp>
        </mc:Choice>
        <mc:Fallback xmlns="">
          <p:sp>
            <p:nvSpPr>
              <p:cNvPr id="118" name="文本框 117"/>
              <p:cNvSpPr txBox="1">
                <a:spLocks noRot="1" noChangeAspect="1" noMove="1" noResize="1" noEditPoints="1" noAdjustHandles="1" noChangeArrowheads="1" noChangeShapeType="1" noTextEdit="1"/>
              </p:cNvSpPr>
              <p:nvPr>
                <p:custDataLst>
                  <p:tags r:id="rId50"/>
                </p:custDataLst>
              </p:nvPr>
            </p:nvSpPr>
            <p:spPr>
              <a:xfrm>
                <a:off x="5901748" y="3681441"/>
                <a:ext cx="3223029" cy="583565"/>
              </a:xfrm>
              <a:prstGeom prst="rect">
                <a:avLst/>
              </a:prstGeom>
              <a:blipFill>
                <a:blip r:embed="rId51"/>
                <a:stretch>
                  <a:fillRect l="-784" r="-392" b="-17021"/>
                </a:stretch>
              </a:blipFill>
            </p:spPr>
            <p:txBody>
              <a:bodyPr/>
              <a:lstStyle/>
              <a:p>
                <a:r>
                  <a:rPr lang="zh-CN" altLang="en-US">
                    <a:noFill/>
                  </a:rPr>
                  <a:t> </a:t>
                </a:r>
              </a:p>
            </p:txBody>
          </p:sp>
        </mc:Fallback>
      </mc:AlternateContent>
      <p:sp>
        <p:nvSpPr>
          <p:cNvPr id="119" name="矩形 118"/>
          <p:cNvSpPr/>
          <p:nvPr/>
        </p:nvSpPr>
        <p:spPr>
          <a:xfrm>
            <a:off x="452755" y="1501775"/>
            <a:ext cx="7991475" cy="36449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QRAM Address-Routing Branching Property</a:t>
            </a:r>
          </a:p>
        </p:txBody>
      </p:sp>
      <p:sp>
        <p:nvSpPr>
          <p:cNvPr id="121" name="文本框 120"/>
          <p:cNvSpPr txBox="1"/>
          <p:nvPr/>
        </p:nvSpPr>
        <p:spPr>
          <a:xfrm>
            <a:off x="670560" y="4386299"/>
            <a:ext cx="7802880" cy="368300"/>
          </a:xfrm>
          <a:prstGeom prst="rect">
            <a:avLst/>
          </a:prstGeom>
          <a:noFill/>
        </p:spPr>
        <p:txBody>
          <a:bodyPr wrap="square" rtlCol="0"/>
          <a:lstStyle/>
          <a:p>
            <a:pPr lvl="0" algn="l">
              <a:lnSpc>
                <a:spcPct val="100000"/>
              </a:lnSpc>
              <a:buClrTx/>
              <a:buSzTx/>
              <a:buFontTx/>
            </a:pPr>
            <a:r>
              <a:rPr lang="en-US" altLang="zh-CN" b="1" dirty="0">
                <a:cs typeface="+mn-ea"/>
                <a:sym typeface="+mn-ea"/>
              </a:rPr>
              <a:t>The QRAM data-readout route is fully determined by the input address state.</a:t>
            </a:r>
          </a:p>
        </p:txBody>
      </p:sp>
      <p:grpSp>
        <p:nvGrpSpPr>
          <p:cNvPr id="2" name="组合 1"/>
          <p:cNvGrpSpPr/>
          <p:nvPr>
            <p:custDataLst>
              <p:tags r:id="rId4"/>
            </p:custDataLst>
          </p:nvPr>
        </p:nvGrpSpPr>
        <p:grpSpPr>
          <a:xfrm>
            <a:off x="1205865" y="1983740"/>
            <a:ext cx="492760" cy="492760"/>
            <a:chOff x="4344" y="2998"/>
            <a:chExt cx="776" cy="776"/>
          </a:xfrm>
        </p:grpSpPr>
        <p:sp>
          <p:nvSpPr>
            <p:cNvPr id="3" name="椭圆 2"/>
            <p:cNvSpPr/>
            <p:nvPr>
              <p:custDataLst>
                <p:tags r:id="rId47"/>
              </p:custDataLst>
            </p:nvPr>
          </p:nvSpPr>
          <p:spPr>
            <a:xfrm>
              <a:off x="4344" y="2998"/>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5" name="文本框 4"/>
                <p:cNvSpPr txBox="1"/>
                <p:nvPr/>
              </p:nvSpPr>
              <p:spPr>
                <a:xfrm>
                  <a:off x="4442" y="3096"/>
                  <a:ext cx="398" cy="44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𝐴</m:t>
                        </m:r>
                      </m:oMath>
                    </m:oMathPara>
                  </a14:m>
                  <a:endParaRPr lang="zh-CN" altLang="en-US" dirty="0"/>
                </a:p>
              </p:txBody>
            </p:sp>
          </mc:Choice>
          <mc:Fallback xmlns="">
            <p:sp>
              <p:nvSpPr>
                <p:cNvPr id="5" name="文本框 4"/>
                <p:cNvSpPr txBox="1">
                  <a:spLocks noRot="1" noChangeAspect="1" noMove="1" noResize="1" noEditPoints="1" noAdjustHandles="1" noChangeArrowheads="1" noChangeShapeType="1" noTextEdit="1"/>
                </p:cNvSpPr>
                <p:nvPr/>
              </p:nvSpPr>
              <p:spPr>
                <a:xfrm>
                  <a:off x="4442" y="3096"/>
                  <a:ext cx="398" cy="445"/>
                </a:xfrm>
                <a:prstGeom prst="rect">
                  <a:avLst/>
                </a:prstGeom>
                <a:blipFill rotWithShape="1">
                  <a:blip r:embed="rId52"/>
                </a:blipFill>
              </p:spPr>
              <p:txBody>
                <a:bodyPr/>
                <a:lstStyle/>
                <a:p>
                  <a:r>
                    <a:rPr lang="zh-CN" altLang="en-US">
                      <a:noFill/>
                    </a:rPr>
                    <a:t> </a:t>
                  </a:r>
                </a:p>
              </p:txBody>
            </p:sp>
          </mc:Fallback>
        </mc:AlternateContent>
      </p:grpSp>
      <p:grpSp>
        <p:nvGrpSpPr>
          <p:cNvPr id="6" name="组合 5"/>
          <p:cNvGrpSpPr/>
          <p:nvPr>
            <p:custDataLst>
              <p:tags r:id="rId5"/>
            </p:custDataLst>
          </p:nvPr>
        </p:nvGrpSpPr>
        <p:grpSpPr>
          <a:xfrm>
            <a:off x="730885" y="2638425"/>
            <a:ext cx="492760" cy="492760"/>
            <a:chOff x="4344" y="1672"/>
            <a:chExt cx="776" cy="776"/>
          </a:xfrm>
        </p:grpSpPr>
        <p:sp>
          <p:nvSpPr>
            <p:cNvPr id="7" name="椭圆 6"/>
            <p:cNvSpPr/>
            <p:nvPr>
              <p:custDataLst>
                <p:tags r:id="rId46"/>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8" name="文本框 7"/>
                <p:cNvSpPr txBox="1"/>
                <p:nvPr/>
              </p:nvSpPr>
              <p:spPr>
                <a:xfrm>
                  <a:off x="4418" y="1770"/>
                  <a:ext cx="588" cy="580"/>
                </a:xfrm>
                <a:prstGeom prst="rect">
                  <a:avLst/>
                </a:prstGeom>
                <a:noFill/>
              </p:spPr>
              <p:txBody>
                <a:bodyPr wrap="square" rtlCol="0">
                  <a:sp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0</m:t>
                            </m:r>
                          </m:sub>
                        </m:sSub>
                      </m:oMath>
                    </m:oMathPara>
                  </a14:m>
                  <a:endParaRPr lang="zh-CN" altLang="en-US"/>
                </a:p>
              </p:txBody>
            </p:sp>
          </mc:Choice>
          <mc:Fallback xmlns="">
            <p:sp>
              <p:nvSpPr>
                <p:cNvPr id="8" name="文本框 7"/>
                <p:cNvSpPr txBox="1">
                  <a:spLocks noRot="1" noChangeAspect="1" noMove="1" noResize="1" noEditPoints="1" noAdjustHandles="1" noChangeArrowheads="1" noChangeShapeType="1" noTextEdit="1"/>
                </p:cNvSpPr>
                <p:nvPr/>
              </p:nvSpPr>
              <p:spPr>
                <a:xfrm>
                  <a:off x="4418" y="1770"/>
                  <a:ext cx="588" cy="580"/>
                </a:xfrm>
                <a:prstGeom prst="rect">
                  <a:avLst/>
                </a:prstGeom>
                <a:blipFill rotWithShape="1">
                  <a:blip r:embed="rId53"/>
                </a:blipFill>
              </p:spPr>
              <p:txBody>
                <a:bodyPr/>
                <a:lstStyle/>
                <a:p>
                  <a:r>
                    <a:rPr lang="zh-CN" altLang="en-US">
                      <a:noFill/>
                    </a:rPr>
                    <a:t> </a:t>
                  </a:r>
                </a:p>
              </p:txBody>
            </p:sp>
          </mc:Fallback>
        </mc:AlternateContent>
      </p:grpSp>
      <p:grpSp>
        <p:nvGrpSpPr>
          <p:cNvPr id="9" name="组合 8"/>
          <p:cNvGrpSpPr/>
          <p:nvPr>
            <p:custDataLst>
              <p:tags r:id="rId6"/>
            </p:custDataLst>
          </p:nvPr>
        </p:nvGrpSpPr>
        <p:grpSpPr>
          <a:xfrm>
            <a:off x="1670685" y="2638425"/>
            <a:ext cx="492760" cy="492760"/>
            <a:chOff x="4344" y="1672"/>
            <a:chExt cx="776" cy="776"/>
          </a:xfrm>
        </p:grpSpPr>
        <p:sp>
          <p:nvSpPr>
            <p:cNvPr id="11" name="椭圆 10"/>
            <p:cNvSpPr/>
            <p:nvPr>
              <p:custDataLst>
                <p:tags r:id="rId45"/>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12" name="文本框 11"/>
                <p:cNvSpPr txBox="1"/>
                <p:nvPr/>
              </p:nvSpPr>
              <p:spPr>
                <a:xfrm>
                  <a:off x="4489" y="1770"/>
                  <a:ext cx="218" cy="318"/>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1</m:t>
                            </m:r>
                          </m:sub>
                        </m:sSub>
                      </m:oMath>
                    </m:oMathPara>
                  </a14:m>
                  <a:endParaRPr lang="zh-CN" altLang="en-US"/>
                </a:p>
              </p:txBody>
            </p:sp>
          </mc:Choice>
          <mc:Fallback xmlns="">
            <p:sp>
              <p:nvSpPr>
                <p:cNvPr id="12" name="文本框 11"/>
                <p:cNvSpPr txBox="1">
                  <a:spLocks noRot="1" noChangeAspect="1" noMove="1" noResize="1" noEditPoints="1" noAdjustHandles="1" noChangeArrowheads="1" noChangeShapeType="1" noTextEdit="1"/>
                </p:cNvSpPr>
                <p:nvPr/>
              </p:nvSpPr>
              <p:spPr>
                <a:xfrm>
                  <a:off x="4489" y="1770"/>
                  <a:ext cx="218" cy="318"/>
                </a:xfrm>
                <a:prstGeom prst="rect">
                  <a:avLst/>
                </a:prstGeom>
                <a:blipFill rotWithShape="1">
                  <a:blip r:embed="rId54"/>
                </a:blipFill>
              </p:spPr>
              <p:txBody>
                <a:bodyPr/>
                <a:lstStyle/>
                <a:p>
                  <a:r>
                    <a:rPr lang="zh-CN" altLang="en-US">
                      <a:noFill/>
                    </a:rPr>
                    <a:t> </a:t>
                  </a:r>
                </a:p>
              </p:txBody>
            </p:sp>
          </mc:Fallback>
        </mc:AlternateContent>
      </p:grpSp>
      <p:cxnSp>
        <p:nvCxnSpPr>
          <p:cNvPr id="13" name="直接连接符 12"/>
          <p:cNvCxnSpPr/>
          <p:nvPr>
            <p:custDataLst>
              <p:tags r:id="rId7"/>
            </p:custDataLst>
          </p:nvPr>
        </p:nvCxnSpPr>
        <p:spPr>
          <a:xfrm flipH="1">
            <a:off x="1151255" y="2404110"/>
            <a:ext cx="127000" cy="306705"/>
          </a:xfrm>
          <a:prstGeom prst="line">
            <a:avLst/>
          </a:prstGeom>
          <a:ln w="12700">
            <a:solidFill>
              <a:srgbClr val="C00000"/>
            </a:solidFill>
          </a:ln>
        </p:spPr>
        <p:style>
          <a:lnRef idx="2">
            <a:schemeClr val="accent1"/>
          </a:lnRef>
          <a:fillRef idx="0">
            <a:srgbClr val="FFFFFF"/>
          </a:fillRef>
          <a:effectRef idx="0">
            <a:srgbClr val="FFFFFF"/>
          </a:effectRef>
          <a:fontRef idx="minor">
            <a:schemeClr val="tx1"/>
          </a:fontRef>
        </p:style>
      </p:cxnSp>
      <p:cxnSp>
        <p:nvCxnSpPr>
          <p:cNvPr id="15" name="直接连接符 14"/>
          <p:cNvCxnSpPr/>
          <p:nvPr>
            <p:custDataLst>
              <p:tags r:id="rId8"/>
            </p:custDataLst>
          </p:nvPr>
        </p:nvCxnSpPr>
        <p:spPr>
          <a:xfrm>
            <a:off x="1626235" y="2404110"/>
            <a:ext cx="116840" cy="30670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16" name="矩形 15"/>
              <p:cNvSpPr/>
              <p:nvPr/>
            </p:nvSpPr>
            <p:spPr>
              <a:xfrm>
                <a:off x="47053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16" name="矩形 15"/>
              <p:cNvSpPr>
                <a:spLocks noRot="1" noChangeAspect="1" noMove="1" noResize="1" noEditPoints="1" noAdjustHandles="1" noChangeArrowheads="1" noChangeShapeType="1" noTextEdit="1"/>
              </p:cNvSpPr>
              <p:nvPr/>
            </p:nvSpPr>
            <p:spPr>
              <a:xfrm>
                <a:off x="470535" y="3228975"/>
                <a:ext cx="642620" cy="384175"/>
              </a:xfrm>
              <a:prstGeom prst="rect">
                <a:avLst/>
              </a:prstGeom>
              <a:blipFill rotWithShape="1">
                <a:blip r:embed="rId55"/>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90551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17" name="矩形 16"/>
              <p:cNvSpPr>
                <a:spLocks noRot="1" noChangeAspect="1" noMove="1" noResize="1" noEditPoints="1" noAdjustHandles="1" noChangeArrowheads="1" noChangeShapeType="1" noTextEdit="1"/>
              </p:cNvSpPr>
              <p:nvPr/>
            </p:nvSpPr>
            <p:spPr>
              <a:xfrm>
                <a:off x="905510" y="3228975"/>
                <a:ext cx="642620" cy="384175"/>
              </a:xfrm>
              <a:prstGeom prst="rect">
                <a:avLst/>
              </a:prstGeom>
              <a:blipFill rotWithShape="1">
                <a:blip r:embed="rId56"/>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144843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18" name="矩形 17"/>
              <p:cNvSpPr>
                <a:spLocks noRot="1" noChangeAspect="1" noMove="1" noResize="1" noEditPoints="1" noAdjustHandles="1" noChangeArrowheads="1" noChangeShapeType="1" noTextEdit="1"/>
              </p:cNvSpPr>
              <p:nvPr/>
            </p:nvSpPr>
            <p:spPr>
              <a:xfrm>
                <a:off x="1448435" y="3228975"/>
                <a:ext cx="642620" cy="384175"/>
              </a:xfrm>
              <a:prstGeom prst="rect">
                <a:avLst/>
              </a:prstGeom>
              <a:blipFill rotWithShape="1">
                <a:blip r:embed="rId57"/>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186055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19" name="矩形 18"/>
              <p:cNvSpPr>
                <a:spLocks noRot="1" noChangeAspect="1" noMove="1" noResize="1" noEditPoints="1" noAdjustHandles="1" noChangeArrowheads="1" noChangeShapeType="1" noTextEdit="1"/>
              </p:cNvSpPr>
              <p:nvPr/>
            </p:nvSpPr>
            <p:spPr>
              <a:xfrm>
                <a:off x="1860550" y="3228975"/>
                <a:ext cx="642620" cy="384175"/>
              </a:xfrm>
              <a:prstGeom prst="rect">
                <a:avLst/>
              </a:prstGeom>
              <a:blipFill rotWithShape="1">
                <a:blip r:embed="rId58"/>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p:cxnSp>
        <p:nvCxnSpPr>
          <p:cNvPr id="20" name="直接连接符 19"/>
          <p:cNvCxnSpPr/>
          <p:nvPr>
            <p:custDataLst>
              <p:tags r:id="rId9"/>
            </p:custDataLst>
          </p:nvPr>
        </p:nvCxnSpPr>
        <p:spPr>
          <a:xfrm flipH="1">
            <a:off x="77851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21" name="直接连接符 20"/>
          <p:cNvCxnSpPr/>
          <p:nvPr>
            <p:custDataLst>
              <p:tags r:id="rId10"/>
            </p:custDataLst>
          </p:nvPr>
        </p:nvCxnSpPr>
        <p:spPr>
          <a:xfrm>
            <a:off x="97155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22" name="直接连接符 21"/>
          <p:cNvCxnSpPr/>
          <p:nvPr>
            <p:custDataLst>
              <p:tags r:id="rId11"/>
            </p:custDataLst>
          </p:nvPr>
        </p:nvCxnSpPr>
        <p:spPr>
          <a:xfrm flipH="1">
            <a:off x="173609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23" name="直接连接符 22"/>
          <p:cNvCxnSpPr/>
          <p:nvPr>
            <p:custDataLst>
              <p:tags r:id="rId12"/>
            </p:custDataLst>
          </p:nvPr>
        </p:nvCxnSpPr>
        <p:spPr>
          <a:xfrm>
            <a:off x="192913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25" name="文本框 24"/>
              <p:cNvSpPr txBox="1"/>
              <p:nvPr/>
            </p:nvSpPr>
            <p:spPr>
              <a:xfrm>
                <a:off x="297815" y="1979295"/>
                <a:ext cx="925830" cy="275590"/>
              </a:xfrm>
              <a:prstGeom prst="rect">
                <a:avLst/>
              </a:prstGeom>
              <a:noFill/>
            </p:spPr>
            <p:txBody>
              <a:bodyPr wrap="square" rtlCol="0" anchor="t">
                <a:sp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sz="1200" i="1">
                          <a:solidFill>
                            <a:srgbClr val="C00000"/>
                          </a:solidFill>
                          <a:latin typeface="Cambria Math" panose="02040503050406030204" pitchFamily="18" charset="0"/>
                          <a:ea typeface="MS Mincho" charset="0"/>
                          <a:cs typeface="Cambria Math" panose="02040503050406030204" pitchFamily="18" charset="0"/>
                        </a:rPr>
                        <m:t>𝐴</m:t>
                      </m:r>
                      <m:r>
                        <a:rPr lang="en-US" altLang="zh-CN" sz="1200" i="1">
                          <a:solidFill>
                            <a:srgbClr val="C00000"/>
                          </a:solidFill>
                          <a:latin typeface="Cambria Math" panose="02040503050406030204" pitchFamily="18" charset="0"/>
                          <a:ea typeface="MS Mincho" charset="0"/>
                          <a:cs typeface="Cambria Math" panose="02040503050406030204" pitchFamily="18" charset="0"/>
                        </a:rPr>
                        <m:t> =|</m:t>
                      </m:r>
                      <m:d>
                        <m:dPr>
                          <m:begChr m:val=""/>
                          <m:endChr m:val="⟩"/>
                          <m:ctrlPr>
                            <a:rPr lang="en-US" altLang="zh-CN" sz="1200" i="1">
                              <a:solidFill>
                                <a:srgbClr val="C00000"/>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1200" i="1">
                              <a:solidFill>
                                <a:srgbClr val="C00000"/>
                              </a:solidFill>
                              <a:latin typeface="Cambria Math" panose="02040503050406030204" pitchFamily="18" charset="0"/>
                              <a:ea typeface="MS Mincho" charset="0"/>
                              <a:cs typeface="Cambria Math" panose="02040503050406030204" pitchFamily="18" charset="0"/>
                            </a:rPr>
                            <m:t>0</m:t>
                          </m:r>
                        </m:e>
                      </m:d>
                    </m:oMath>
                  </m:oMathPara>
                </a14:m>
                <a:endParaRPr lang="en-US" altLang="zh-CN" sz="1200" i="1">
                  <a:solidFill>
                    <a:srgbClr val="C00000"/>
                  </a:solidFill>
                  <a:latin typeface="Cambria Math" panose="02040503050406030204" pitchFamily="18" charset="0"/>
                  <a:ea typeface="MS Mincho" charset="0"/>
                  <a:cs typeface="Cambria Math" panose="02040503050406030204" pitchFamily="18" charset="0"/>
                </a:endParaRPr>
              </a:p>
            </p:txBody>
          </p:sp>
        </mc:Choice>
        <mc:Fallback xmlns="">
          <p:sp>
            <p:nvSpPr>
              <p:cNvPr id="25" name="文本框 24"/>
              <p:cNvSpPr txBox="1">
                <a:spLocks noRot="1" noChangeAspect="1" noMove="1" noResize="1" noEditPoints="1" noAdjustHandles="1" noChangeArrowheads="1" noChangeShapeType="1" noTextEdit="1"/>
              </p:cNvSpPr>
              <p:nvPr/>
            </p:nvSpPr>
            <p:spPr>
              <a:xfrm>
                <a:off x="297815" y="1979295"/>
                <a:ext cx="925830" cy="275590"/>
              </a:xfrm>
              <a:prstGeom prst="rect">
                <a:avLst/>
              </a:prstGeom>
              <a:blipFill rotWithShape="1">
                <a:blip r:embed="rId59"/>
                <a:stretch>
                  <a:fillRect/>
                </a:stretch>
              </a:blipFill>
            </p:spPr>
            <p:txBody>
              <a:bodyPr/>
              <a:lstStyle/>
              <a:p>
                <a:r>
                  <a:rPr lang="zh-CN" altLang="en-US">
                    <a:noFill/>
                  </a:rPr>
                  <a:t> </a:t>
                </a:r>
              </a:p>
            </p:txBody>
          </p:sp>
        </mc:Fallback>
      </mc:AlternateContent>
      <p:cxnSp>
        <p:nvCxnSpPr>
          <p:cNvPr id="26" name="直接箭头连接符 25"/>
          <p:cNvCxnSpPr/>
          <p:nvPr>
            <p:custDataLst>
              <p:tags r:id="rId13"/>
            </p:custDataLst>
          </p:nvPr>
        </p:nvCxnSpPr>
        <p:spPr>
          <a:xfrm flipH="1">
            <a:off x="1017905" y="2400300"/>
            <a:ext cx="133350" cy="17145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grpSp>
        <p:nvGrpSpPr>
          <p:cNvPr id="27" name="组合 26"/>
          <p:cNvGrpSpPr/>
          <p:nvPr>
            <p:custDataLst>
              <p:tags r:id="rId14"/>
            </p:custDataLst>
          </p:nvPr>
        </p:nvGrpSpPr>
        <p:grpSpPr>
          <a:xfrm>
            <a:off x="4008755" y="1983740"/>
            <a:ext cx="492760" cy="492760"/>
            <a:chOff x="4344" y="2998"/>
            <a:chExt cx="776" cy="776"/>
          </a:xfrm>
        </p:grpSpPr>
        <p:sp>
          <p:nvSpPr>
            <p:cNvPr id="28" name="椭圆 27"/>
            <p:cNvSpPr/>
            <p:nvPr>
              <p:custDataLst>
                <p:tags r:id="rId44"/>
              </p:custDataLst>
            </p:nvPr>
          </p:nvSpPr>
          <p:spPr>
            <a:xfrm>
              <a:off x="4344" y="2998"/>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29" name="文本框 28"/>
                <p:cNvSpPr txBox="1"/>
                <p:nvPr/>
              </p:nvSpPr>
              <p:spPr>
                <a:xfrm>
                  <a:off x="4442" y="3096"/>
                  <a:ext cx="398" cy="44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𝐴</m:t>
                        </m:r>
                      </m:oMath>
                    </m:oMathPara>
                  </a14:m>
                  <a:endParaRPr lang="zh-CN" altLang="en-US"/>
                </a:p>
              </p:txBody>
            </p:sp>
          </mc:Choice>
          <mc:Fallback xmlns="">
            <p:sp>
              <p:nvSpPr>
                <p:cNvPr id="29" name="文本框 28"/>
                <p:cNvSpPr txBox="1">
                  <a:spLocks noRot="1" noChangeAspect="1" noMove="1" noResize="1" noEditPoints="1" noAdjustHandles="1" noChangeArrowheads="1" noChangeShapeType="1" noTextEdit="1"/>
                </p:cNvSpPr>
                <p:nvPr/>
              </p:nvSpPr>
              <p:spPr>
                <a:xfrm>
                  <a:off x="4442" y="3096"/>
                  <a:ext cx="398" cy="445"/>
                </a:xfrm>
                <a:prstGeom prst="rect">
                  <a:avLst/>
                </a:prstGeom>
                <a:blipFill rotWithShape="1">
                  <a:blip r:embed="rId52"/>
                </a:blipFill>
              </p:spPr>
              <p:txBody>
                <a:bodyPr/>
                <a:lstStyle/>
                <a:p>
                  <a:r>
                    <a:rPr lang="zh-CN" altLang="en-US">
                      <a:noFill/>
                    </a:rPr>
                    <a:t> </a:t>
                  </a:r>
                </a:p>
              </p:txBody>
            </p:sp>
          </mc:Fallback>
        </mc:AlternateContent>
      </p:grpSp>
      <p:grpSp>
        <p:nvGrpSpPr>
          <p:cNvPr id="33" name="组合 32"/>
          <p:cNvGrpSpPr/>
          <p:nvPr>
            <p:custDataLst>
              <p:tags r:id="rId15"/>
            </p:custDataLst>
          </p:nvPr>
        </p:nvGrpSpPr>
        <p:grpSpPr>
          <a:xfrm>
            <a:off x="3533775" y="2638425"/>
            <a:ext cx="492760" cy="492760"/>
            <a:chOff x="4344" y="1672"/>
            <a:chExt cx="776" cy="776"/>
          </a:xfrm>
        </p:grpSpPr>
        <p:sp>
          <p:nvSpPr>
            <p:cNvPr id="40" name="椭圆 39"/>
            <p:cNvSpPr/>
            <p:nvPr>
              <p:custDataLst>
                <p:tags r:id="rId43"/>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43" name="文本框 42"/>
                <p:cNvSpPr txBox="1"/>
                <p:nvPr/>
              </p:nvSpPr>
              <p:spPr>
                <a:xfrm>
                  <a:off x="4418" y="1770"/>
                  <a:ext cx="588" cy="580"/>
                </a:xfrm>
                <a:prstGeom prst="rect">
                  <a:avLst/>
                </a:prstGeom>
                <a:noFill/>
              </p:spPr>
              <p:txBody>
                <a:bodyPr wrap="square" rtlCol="0">
                  <a:sp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0</m:t>
                            </m:r>
                          </m:sub>
                        </m:sSub>
                      </m:oMath>
                    </m:oMathPara>
                  </a14:m>
                  <a:endParaRPr lang="zh-CN" altLang="en-US"/>
                </a:p>
              </p:txBody>
            </p:sp>
          </mc:Choice>
          <mc:Fallback xmlns="">
            <p:sp>
              <p:nvSpPr>
                <p:cNvPr id="43" name="文本框 42"/>
                <p:cNvSpPr txBox="1">
                  <a:spLocks noRot="1" noChangeAspect="1" noMove="1" noResize="1" noEditPoints="1" noAdjustHandles="1" noChangeArrowheads="1" noChangeShapeType="1" noTextEdit="1"/>
                </p:cNvSpPr>
                <p:nvPr/>
              </p:nvSpPr>
              <p:spPr>
                <a:xfrm>
                  <a:off x="4418" y="1770"/>
                  <a:ext cx="588" cy="580"/>
                </a:xfrm>
                <a:prstGeom prst="rect">
                  <a:avLst/>
                </a:prstGeom>
                <a:blipFill rotWithShape="1">
                  <a:blip r:embed="rId53"/>
                </a:blipFill>
              </p:spPr>
              <p:txBody>
                <a:bodyPr/>
                <a:lstStyle/>
                <a:p>
                  <a:r>
                    <a:rPr lang="zh-CN" altLang="en-US">
                      <a:noFill/>
                    </a:rPr>
                    <a:t> </a:t>
                  </a:r>
                </a:p>
              </p:txBody>
            </p:sp>
          </mc:Fallback>
        </mc:AlternateContent>
      </p:grpSp>
      <p:grpSp>
        <p:nvGrpSpPr>
          <p:cNvPr id="44" name="组合 43"/>
          <p:cNvGrpSpPr/>
          <p:nvPr>
            <p:custDataLst>
              <p:tags r:id="rId16"/>
            </p:custDataLst>
          </p:nvPr>
        </p:nvGrpSpPr>
        <p:grpSpPr>
          <a:xfrm>
            <a:off x="4473575" y="2638425"/>
            <a:ext cx="492760" cy="492760"/>
            <a:chOff x="4344" y="1672"/>
            <a:chExt cx="776" cy="776"/>
          </a:xfrm>
        </p:grpSpPr>
        <p:sp>
          <p:nvSpPr>
            <p:cNvPr id="45" name="椭圆 44"/>
            <p:cNvSpPr/>
            <p:nvPr>
              <p:custDataLst>
                <p:tags r:id="rId42"/>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46" name="文本框 45"/>
                <p:cNvSpPr txBox="1"/>
                <p:nvPr/>
              </p:nvSpPr>
              <p:spPr>
                <a:xfrm>
                  <a:off x="4489" y="1770"/>
                  <a:ext cx="218" cy="318"/>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1</m:t>
                            </m:r>
                          </m:sub>
                        </m:sSub>
                      </m:oMath>
                    </m:oMathPara>
                  </a14:m>
                  <a:endParaRPr lang="zh-CN" altLang="en-US"/>
                </a:p>
              </p:txBody>
            </p:sp>
          </mc:Choice>
          <mc:Fallback xmlns="">
            <p:sp>
              <p:nvSpPr>
                <p:cNvPr id="46" name="文本框 45"/>
                <p:cNvSpPr txBox="1">
                  <a:spLocks noRot="1" noChangeAspect="1" noMove="1" noResize="1" noEditPoints="1" noAdjustHandles="1" noChangeArrowheads="1" noChangeShapeType="1" noTextEdit="1"/>
                </p:cNvSpPr>
                <p:nvPr/>
              </p:nvSpPr>
              <p:spPr>
                <a:xfrm>
                  <a:off x="4489" y="1770"/>
                  <a:ext cx="218" cy="318"/>
                </a:xfrm>
                <a:prstGeom prst="rect">
                  <a:avLst/>
                </a:prstGeom>
                <a:blipFill rotWithShape="1">
                  <a:blip r:embed="rId54"/>
                </a:blipFill>
              </p:spPr>
              <p:txBody>
                <a:bodyPr/>
                <a:lstStyle/>
                <a:p>
                  <a:r>
                    <a:rPr lang="zh-CN" altLang="en-US">
                      <a:noFill/>
                    </a:rPr>
                    <a:t> </a:t>
                  </a:r>
                </a:p>
              </p:txBody>
            </p:sp>
          </mc:Fallback>
        </mc:AlternateContent>
      </p:grpSp>
      <p:cxnSp>
        <p:nvCxnSpPr>
          <p:cNvPr id="47" name="直接连接符 46"/>
          <p:cNvCxnSpPr/>
          <p:nvPr>
            <p:custDataLst>
              <p:tags r:id="rId17"/>
            </p:custDataLst>
          </p:nvPr>
        </p:nvCxnSpPr>
        <p:spPr>
          <a:xfrm flipH="1">
            <a:off x="3954145" y="2404110"/>
            <a:ext cx="127000" cy="30670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48" name="直接连接符 47"/>
          <p:cNvCxnSpPr/>
          <p:nvPr>
            <p:custDataLst>
              <p:tags r:id="rId18"/>
            </p:custDataLst>
          </p:nvPr>
        </p:nvCxnSpPr>
        <p:spPr>
          <a:xfrm>
            <a:off x="4429125" y="2404110"/>
            <a:ext cx="116840" cy="306705"/>
          </a:xfrm>
          <a:prstGeom prst="line">
            <a:avLst/>
          </a:prstGeom>
          <a:ln w="12700">
            <a:solidFill>
              <a:srgbClr val="C00000"/>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49" name="矩形 48"/>
              <p:cNvSpPr/>
              <p:nvPr/>
            </p:nvSpPr>
            <p:spPr>
              <a:xfrm>
                <a:off x="327342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49" name="矩形 48"/>
              <p:cNvSpPr>
                <a:spLocks noRot="1" noChangeAspect="1" noMove="1" noResize="1" noEditPoints="1" noAdjustHandles="1" noChangeArrowheads="1" noChangeShapeType="1" noTextEdit="1"/>
              </p:cNvSpPr>
              <p:nvPr/>
            </p:nvSpPr>
            <p:spPr>
              <a:xfrm>
                <a:off x="3273425" y="3228975"/>
                <a:ext cx="642620" cy="384175"/>
              </a:xfrm>
              <a:prstGeom prst="rect">
                <a:avLst/>
              </a:prstGeom>
              <a:blipFill rotWithShape="1">
                <a:blip r:embed="rId55"/>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矩形 49"/>
              <p:cNvSpPr/>
              <p:nvPr/>
            </p:nvSpPr>
            <p:spPr>
              <a:xfrm>
                <a:off x="370840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50" name="矩形 49"/>
              <p:cNvSpPr>
                <a:spLocks noRot="1" noChangeAspect="1" noMove="1" noResize="1" noEditPoints="1" noAdjustHandles="1" noChangeArrowheads="1" noChangeShapeType="1" noTextEdit="1"/>
              </p:cNvSpPr>
              <p:nvPr/>
            </p:nvSpPr>
            <p:spPr>
              <a:xfrm>
                <a:off x="3708400" y="3228975"/>
                <a:ext cx="642620" cy="384175"/>
              </a:xfrm>
              <a:prstGeom prst="rect">
                <a:avLst/>
              </a:prstGeom>
              <a:blipFill rotWithShape="1">
                <a:blip r:embed="rId56"/>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矩形 50"/>
              <p:cNvSpPr/>
              <p:nvPr/>
            </p:nvSpPr>
            <p:spPr>
              <a:xfrm>
                <a:off x="425132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51" name="矩形 50"/>
              <p:cNvSpPr>
                <a:spLocks noRot="1" noChangeAspect="1" noMove="1" noResize="1" noEditPoints="1" noAdjustHandles="1" noChangeArrowheads="1" noChangeShapeType="1" noTextEdit="1"/>
              </p:cNvSpPr>
              <p:nvPr/>
            </p:nvSpPr>
            <p:spPr>
              <a:xfrm>
                <a:off x="4251325" y="3228975"/>
                <a:ext cx="642620" cy="384175"/>
              </a:xfrm>
              <a:prstGeom prst="rect">
                <a:avLst/>
              </a:prstGeom>
              <a:blipFill rotWithShape="1">
                <a:blip r:embed="rId57"/>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矩形 51"/>
              <p:cNvSpPr/>
              <p:nvPr/>
            </p:nvSpPr>
            <p:spPr>
              <a:xfrm>
                <a:off x="466344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52" name="矩形 51"/>
              <p:cNvSpPr>
                <a:spLocks noRot="1" noChangeAspect="1" noMove="1" noResize="1" noEditPoints="1" noAdjustHandles="1" noChangeArrowheads="1" noChangeShapeType="1" noTextEdit="1"/>
              </p:cNvSpPr>
              <p:nvPr/>
            </p:nvSpPr>
            <p:spPr>
              <a:xfrm>
                <a:off x="4663440" y="3228975"/>
                <a:ext cx="642620" cy="384175"/>
              </a:xfrm>
              <a:prstGeom prst="rect">
                <a:avLst/>
              </a:prstGeom>
              <a:blipFill rotWithShape="1">
                <a:blip r:embed="rId58"/>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p:cxnSp>
        <p:nvCxnSpPr>
          <p:cNvPr id="53" name="直接连接符 52"/>
          <p:cNvCxnSpPr/>
          <p:nvPr>
            <p:custDataLst>
              <p:tags r:id="rId19"/>
            </p:custDataLst>
          </p:nvPr>
        </p:nvCxnSpPr>
        <p:spPr>
          <a:xfrm flipH="1">
            <a:off x="358140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54" name="直接连接符 53"/>
          <p:cNvCxnSpPr/>
          <p:nvPr>
            <p:custDataLst>
              <p:tags r:id="rId20"/>
            </p:custDataLst>
          </p:nvPr>
        </p:nvCxnSpPr>
        <p:spPr>
          <a:xfrm>
            <a:off x="377444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55" name="直接连接符 54"/>
          <p:cNvCxnSpPr/>
          <p:nvPr>
            <p:custDataLst>
              <p:tags r:id="rId21"/>
            </p:custDataLst>
          </p:nvPr>
        </p:nvCxnSpPr>
        <p:spPr>
          <a:xfrm flipH="1">
            <a:off x="453898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57" name="直接连接符 56"/>
          <p:cNvCxnSpPr/>
          <p:nvPr>
            <p:custDataLst>
              <p:tags r:id="rId22"/>
            </p:custDataLst>
          </p:nvPr>
        </p:nvCxnSpPr>
        <p:spPr>
          <a:xfrm>
            <a:off x="473202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58" name="文本框 57"/>
              <p:cNvSpPr txBox="1"/>
              <p:nvPr/>
            </p:nvSpPr>
            <p:spPr>
              <a:xfrm>
                <a:off x="3100705" y="1979295"/>
                <a:ext cx="925830" cy="275590"/>
              </a:xfrm>
              <a:prstGeom prst="rect">
                <a:avLst/>
              </a:prstGeom>
              <a:noFill/>
            </p:spPr>
            <p:txBody>
              <a:bodyPr wrap="square" rtlCol="0" anchor="t">
                <a:sp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sz="1200" i="1">
                          <a:solidFill>
                            <a:srgbClr val="C00000"/>
                          </a:solidFill>
                          <a:latin typeface="Cambria Math" panose="02040503050406030204" pitchFamily="18" charset="0"/>
                          <a:ea typeface="MS Mincho" charset="0"/>
                          <a:cs typeface="Cambria Math" panose="02040503050406030204" pitchFamily="18" charset="0"/>
                        </a:rPr>
                        <m:t>𝐴</m:t>
                      </m:r>
                      <m:r>
                        <a:rPr lang="en-US" altLang="zh-CN" sz="1200" i="1">
                          <a:solidFill>
                            <a:srgbClr val="C00000"/>
                          </a:solidFill>
                          <a:latin typeface="Cambria Math" panose="02040503050406030204" pitchFamily="18" charset="0"/>
                          <a:ea typeface="MS Mincho" charset="0"/>
                          <a:cs typeface="Cambria Math" panose="02040503050406030204" pitchFamily="18" charset="0"/>
                        </a:rPr>
                        <m:t> =|</m:t>
                      </m:r>
                      <m:d>
                        <m:dPr>
                          <m:begChr m:val=""/>
                          <m:endChr m:val="⟩"/>
                          <m:ctrlPr>
                            <a:rPr lang="en-US" altLang="zh-CN" sz="1200" i="1">
                              <a:solidFill>
                                <a:srgbClr val="C00000"/>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1200" i="1">
                              <a:solidFill>
                                <a:srgbClr val="C00000"/>
                              </a:solidFill>
                              <a:latin typeface="Cambria Math" panose="02040503050406030204" pitchFamily="18" charset="0"/>
                              <a:ea typeface="MS Mincho" charset="0"/>
                              <a:cs typeface="Cambria Math" panose="02040503050406030204" pitchFamily="18" charset="0"/>
                            </a:rPr>
                            <m:t>1</m:t>
                          </m:r>
                        </m:e>
                      </m:d>
                    </m:oMath>
                  </m:oMathPara>
                </a14:m>
                <a:endParaRPr lang="en-US" altLang="zh-CN" sz="1200" i="1">
                  <a:solidFill>
                    <a:srgbClr val="C00000"/>
                  </a:solidFill>
                  <a:latin typeface="Cambria Math" panose="02040503050406030204" pitchFamily="18" charset="0"/>
                  <a:ea typeface="MS Mincho" charset="0"/>
                  <a:cs typeface="Cambria Math" panose="02040503050406030204" pitchFamily="18" charset="0"/>
                </a:endParaRPr>
              </a:p>
            </p:txBody>
          </p:sp>
        </mc:Choice>
        <mc:Fallback xmlns="">
          <p:sp>
            <p:nvSpPr>
              <p:cNvPr id="58" name="文本框 57"/>
              <p:cNvSpPr txBox="1">
                <a:spLocks noRot="1" noChangeAspect="1" noMove="1" noResize="1" noEditPoints="1" noAdjustHandles="1" noChangeArrowheads="1" noChangeShapeType="1" noTextEdit="1"/>
              </p:cNvSpPr>
              <p:nvPr/>
            </p:nvSpPr>
            <p:spPr>
              <a:xfrm>
                <a:off x="3100705" y="1979295"/>
                <a:ext cx="925830" cy="275590"/>
              </a:xfrm>
              <a:prstGeom prst="rect">
                <a:avLst/>
              </a:prstGeom>
              <a:blipFill rotWithShape="1">
                <a:blip r:embed="rId60"/>
                <a:stretch>
                  <a:fillRect/>
                </a:stretch>
              </a:blipFill>
            </p:spPr>
            <p:txBody>
              <a:bodyPr/>
              <a:lstStyle/>
              <a:p>
                <a:r>
                  <a:rPr lang="zh-CN" altLang="en-US">
                    <a:noFill/>
                  </a:rPr>
                  <a:t> </a:t>
                </a:r>
              </a:p>
            </p:txBody>
          </p:sp>
        </mc:Fallback>
      </mc:AlternateContent>
      <p:cxnSp>
        <p:nvCxnSpPr>
          <p:cNvPr id="59" name="直接箭头连接符 58"/>
          <p:cNvCxnSpPr/>
          <p:nvPr>
            <p:custDataLst>
              <p:tags r:id="rId23"/>
            </p:custDataLst>
          </p:nvPr>
        </p:nvCxnSpPr>
        <p:spPr>
          <a:xfrm>
            <a:off x="4545965" y="2404110"/>
            <a:ext cx="68580" cy="16764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grpSp>
        <p:nvGrpSpPr>
          <p:cNvPr id="120" name="组合 119"/>
          <p:cNvGrpSpPr/>
          <p:nvPr>
            <p:custDataLst>
              <p:tags r:id="rId24"/>
            </p:custDataLst>
          </p:nvPr>
        </p:nvGrpSpPr>
        <p:grpSpPr>
          <a:xfrm>
            <a:off x="7211695" y="1983740"/>
            <a:ext cx="492760" cy="492760"/>
            <a:chOff x="4344" y="2998"/>
            <a:chExt cx="776" cy="776"/>
          </a:xfrm>
        </p:grpSpPr>
        <p:sp>
          <p:nvSpPr>
            <p:cNvPr id="122" name="椭圆 121"/>
            <p:cNvSpPr/>
            <p:nvPr>
              <p:custDataLst>
                <p:tags r:id="rId41"/>
              </p:custDataLst>
            </p:nvPr>
          </p:nvSpPr>
          <p:spPr>
            <a:xfrm>
              <a:off x="4344" y="2998"/>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123" name="文本框 122"/>
                <p:cNvSpPr txBox="1"/>
                <p:nvPr/>
              </p:nvSpPr>
              <p:spPr>
                <a:xfrm>
                  <a:off x="4442" y="3096"/>
                  <a:ext cx="398" cy="44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𝐴</m:t>
                        </m:r>
                      </m:oMath>
                    </m:oMathPara>
                  </a14:m>
                  <a:endParaRPr lang="zh-CN" altLang="en-US"/>
                </a:p>
              </p:txBody>
            </p:sp>
          </mc:Choice>
          <mc:Fallback xmlns="">
            <p:sp>
              <p:nvSpPr>
                <p:cNvPr id="123" name="文本框 122"/>
                <p:cNvSpPr txBox="1">
                  <a:spLocks noRot="1" noChangeAspect="1" noMove="1" noResize="1" noEditPoints="1" noAdjustHandles="1" noChangeArrowheads="1" noChangeShapeType="1" noTextEdit="1"/>
                </p:cNvSpPr>
                <p:nvPr/>
              </p:nvSpPr>
              <p:spPr>
                <a:xfrm>
                  <a:off x="4442" y="3096"/>
                  <a:ext cx="398" cy="445"/>
                </a:xfrm>
                <a:prstGeom prst="rect">
                  <a:avLst/>
                </a:prstGeom>
                <a:blipFill rotWithShape="1">
                  <a:blip r:embed="rId52"/>
                </a:blipFill>
              </p:spPr>
              <p:txBody>
                <a:bodyPr/>
                <a:lstStyle/>
                <a:p>
                  <a:r>
                    <a:rPr lang="zh-CN" altLang="en-US">
                      <a:noFill/>
                    </a:rPr>
                    <a:t> </a:t>
                  </a:r>
                </a:p>
              </p:txBody>
            </p:sp>
          </mc:Fallback>
        </mc:AlternateContent>
      </p:grpSp>
      <p:grpSp>
        <p:nvGrpSpPr>
          <p:cNvPr id="124" name="组合 123"/>
          <p:cNvGrpSpPr/>
          <p:nvPr>
            <p:custDataLst>
              <p:tags r:id="rId25"/>
            </p:custDataLst>
          </p:nvPr>
        </p:nvGrpSpPr>
        <p:grpSpPr>
          <a:xfrm>
            <a:off x="6736715" y="2638425"/>
            <a:ext cx="492760" cy="492760"/>
            <a:chOff x="4344" y="1672"/>
            <a:chExt cx="776" cy="776"/>
          </a:xfrm>
        </p:grpSpPr>
        <p:sp>
          <p:nvSpPr>
            <p:cNvPr id="125" name="椭圆 124"/>
            <p:cNvSpPr/>
            <p:nvPr>
              <p:custDataLst>
                <p:tags r:id="rId40"/>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126" name="文本框 125"/>
                <p:cNvSpPr txBox="1"/>
                <p:nvPr/>
              </p:nvSpPr>
              <p:spPr>
                <a:xfrm>
                  <a:off x="4418" y="1770"/>
                  <a:ext cx="588" cy="580"/>
                </a:xfrm>
                <a:prstGeom prst="rect">
                  <a:avLst/>
                </a:prstGeom>
                <a:noFill/>
              </p:spPr>
              <p:txBody>
                <a:bodyPr wrap="square" rtlCol="0">
                  <a:sp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0</m:t>
                            </m:r>
                          </m:sub>
                        </m:sSub>
                      </m:oMath>
                    </m:oMathPara>
                  </a14:m>
                  <a:endParaRPr lang="zh-CN" altLang="en-US"/>
                </a:p>
              </p:txBody>
            </p:sp>
          </mc:Choice>
          <mc:Fallback xmlns="">
            <p:sp>
              <p:nvSpPr>
                <p:cNvPr id="126" name="文本框 125"/>
                <p:cNvSpPr txBox="1">
                  <a:spLocks noRot="1" noChangeAspect="1" noMove="1" noResize="1" noEditPoints="1" noAdjustHandles="1" noChangeArrowheads="1" noChangeShapeType="1" noTextEdit="1"/>
                </p:cNvSpPr>
                <p:nvPr/>
              </p:nvSpPr>
              <p:spPr>
                <a:xfrm>
                  <a:off x="4418" y="1770"/>
                  <a:ext cx="588" cy="580"/>
                </a:xfrm>
                <a:prstGeom prst="rect">
                  <a:avLst/>
                </a:prstGeom>
                <a:blipFill rotWithShape="1">
                  <a:blip r:embed="rId53"/>
                </a:blipFill>
              </p:spPr>
              <p:txBody>
                <a:bodyPr/>
                <a:lstStyle/>
                <a:p>
                  <a:r>
                    <a:rPr lang="zh-CN" altLang="en-US">
                      <a:noFill/>
                    </a:rPr>
                    <a:t> </a:t>
                  </a:r>
                </a:p>
              </p:txBody>
            </p:sp>
          </mc:Fallback>
        </mc:AlternateContent>
      </p:grpSp>
      <p:grpSp>
        <p:nvGrpSpPr>
          <p:cNvPr id="127" name="组合 126"/>
          <p:cNvGrpSpPr/>
          <p:nvPr>
            <p:custDataLst>
              <p:tags r:id="rId26"/>
            </p:custDataLst>
          </p:nvPr>
        </p:nvGrpSpPr>
        <p:grpSpPr>
          <a:xfrm>
            <a:off x="7676515" y="2638425"/>
            <a:ext cx="492760" cy="492760"/>
            <a:chOff x="4344" y="1672"/>
            <a:chExt cx="776" cy="776"/>
          </a:xfrm>
        </p:grpSpPr>
        <p:sp>
          <p:nvSpPr>
            <p:cNvPr id="128" name="椭圆 127"/>
            <p:cNvSpPr/>
            <p:nvPr>
              <p:custDataLst>
                <p:tags r:id="rId39"/>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129" name="文本框 128"/>
                <p:cNvSpPr txBox="1"/>
                <p:nvPr/>
              </p:nvSpPr>
              <p:spPr>
                <a:xfrm>
                  <a:off x="4489" y="1770"/>
                  <a:ext cx="218" cy="318"/>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1</m:t>
                            </m:r>
                          </m:sub>
                        </m:sSub>
                      </m:oMath>
                    </m:oMathPara>
                  </a14:m>
                  <a:endParaRPr lang="zh-CN" altLang="en-US"/>
                </a:p>
              </p:txBody>
            </p:sp>
          </mc:Choice>
          <mc:Fallback xmlns="">
            <p:sp>
              <p:nvSpPr>
                <p:cNvPr id="129" name="文本框 128"/>
                <p:cNvSpPr txBox="1">
                  <a:spLocks noRot="1" noChangeAspect="1" noMove="1" noResize="1" noEditPoints="1" noAdjustHandles="1" noChangeArrowheads="1" noChangeShapeType="1" noTextEdit="1"/>
                </p:cNvSpPr>
                <p:nvPr/>
              </p:nvSpPr>
              <p:spPr>
                <a:xfrm>
                  <a:off x="4489" y="1770"/>
                  <a:ext cx="218" cy="318"/>
                </a:xfrm>
                <a:prstGeom prst="rect">
                  <a:avLst/>
                </a:prstGeom>
                <a:blipFill rotWithShape="1">
                  <a:blip r:embed="rId54"/>
                </a:blipFill>
              </p:spPr>
              <p:txBody>
                <a:bodyPr/>
                <a:lstStyle/>
                <a:p>
                  <a:r>
                    <a:rPr lang="zh-CN" altLang="en-US">
                      <a:noFill/>
                    </a:rPr>
                    <a:t> </a:t>
                  </a:r>
                </a:p>
              </p:txBody>
            </p:sp>
          </mc:Fallback>
        </mc:AlternateContent>
      </p:grpSp>
      <p:cxnSp>
        <p:nvCxnSpPr>
          <p:cNvPr id="130" name="直接连接符 129"/>
          <p:cNvCxnSpPr/>
          <p:nvPr>
            <p:custDataLst>
              <p:tags r:id="rId27"/>
            </p:custDataLst>
          </p:nvPr>
        </p:nvCxnSpPr>
        <p:spPr>
          <a:xfrm flipH="1">
            <a:off x="7157085" y="2404110"/>
            <a:ext cx="127000" cy="306705"/>
          </a:xfrm>
          <a:prstGeom prst="line">
            <a:avLst/>
          </a:prstGeom>
          <a:ln w="12700">
            <a:solidFill>
              <a:srgbClr val="C00000"/>
            </a:solidFill>
          </a:ln>
        </p:spPr>
        <p:style>
          <a:lnRef idx="2">
            <a:schemeClr val="accent1"/>
          </a:lnRef>
          <a:fillRef idx="0">
            <a:srgbClr val="FFFFFF"/>
          </a:fillRef>
          <a:effectRef idx="0">
            <a:srgbClr val="FFFFFF"/>
          </a:effectRef>
          <a:fontRef idx="minor">
            <a:schemeClr val="tx1"/>
          </a:fontRef>
        </p:style>
      </p:cxnSp>
      <p:cxnSp>
        <p:nvCxnSpPr>
          <p:cNvPr id="131" name="直接连接符 130"/>
          <p:cNvCxnSpPr/>
          <p:nvPr>
            <p:custDataLst>
              <p:tags r:id="rId28"/>
            </p:custDataLst>
          </p:nvPr>
        </p:nvCxnSpPr>
        <p:spPr>
          <a:xfrm>
            <a:off x="7632065" y="2404110"/>
            <a:ext cx="116840" cy="306705"/>
          </a:xfrm>
          <a:prstGeom prst="line">
            <a:avLst/>
          </a:prstGeom>
          <a:ln w="12700">
            <a:solidFill>
              <a:srgbClr val="C00000"/>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132" name="矩形 131"/>
              <p:cNvSpPr/>
              <p:nvPr/>
            </p:nvSpPr>
            <p:spPr>
              <a:xfrm>
                <a:off x="647636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132" name="矩形 131"/>
              <p:cNvSpPr>
                <a:spLocks noRot="1" noChangeAspect="1" noMove="1" noResize="1" noEditPoints="1" noAdjustHandles="1" noChangeArrowheads="1" noChangeShapeType="1" noTextEdit="1"/>
              </p:cNvSpPr>
              <p:nvPr/>
            </p:nvSpPr>
            <p:spPr>
              <a:xfrm>
                <a:off x="6476365" y="3228975"/>
                <a:ext cx="642620" cy="384175"/>
              </a:xfrm>
              <a:prstGeom prst="rect">
                <a:avLst/>
              </a:prstGeom>
              <a:blipFill rotWithShape="1">
                <a:blip r:embed="rId55"/>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3" name="矩形 132"/>
              <p:cNvSpPr/>
              <p:nvPr/>
            </p:nvSpPr>
            <p:spPr>
              <a:xfrm>
                <a:off x="691134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133" name="矩形 132"/>
              <p:cNvSpPr>
                <a:spLocks noRot="1" noChangeAspect="1" noMove="1" noResize="1" noEditPoints="1" noAdjustHandles="1" noChangeArrowheads="1" noChangeShapeType="1" noTextEdit="1"/>
              </p:cNvSpPr>
              <p:nvPr/>
            </p:nvSpPr>
            <p:spPr>
              <a:xfrm>
                <a:off x="6911340" y="3228975"/>
                <a:ext cx="642620" cy="384175"/>
              </a:xfrm>
              <a:prstGeom prst="rect">
                <a:avLst/>
              </a:prstGeom>
              <a:blipFill rotWithShape="1">
                <a:blip r:embed="rId56"/>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4" name="矩形 133"/>
              <p:cNvSpPr/>
              <p:nvPr/>
            </p:nvSpPr>
            <p:spPr>
              <a:xfrm>
                <a:off x="745426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134" name="矩形 133"/>
              <p:cNvSpPr>
                <a:spLocks noRot="1" noChangeAspect="1" noMove="1" noResize="1" noEditPoints="1" noAdjustHandles="1" noChangeArrowheads="1" noChangeShapeType="1" noTextEdit="1"/>
              </p:cNvSpPr>
              <p:nvPr/>
            </p:nvSpPr>
            <p:spPr>
              <a:xfrm>
                <a:off x="7454265" y="3228975"/>
                <a:ext cx="642620" cy="384175"/>
              </a:xfrm>
              <a:prstGeom prst="rect">
                <a:avLst/>
              </a:prstGeom>
              <a:blipFill rotWithShape="1">
                <a:blip r:embed="rId57"/>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5" name="矩形 134"/>
              <p:cNvSpPr/>
              <p:nvPr/>
            </p:nvSpPr>
            <p:spPr>
              <a:xfrm>
                <a:off x="786638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135" name="矩形 134"/>
              <p:cNvSpPr>
                <a:spLocks noRot="1" noChangeAspect="1" noMove="1" noResize="1" noEditPoints="1" noAdjustHandles="1" noChangeArrowheads="1" noChangeShapeType="1" noTextEdit="1"/>
              </p:cNvSpPr>
              <p:nvPr/>
            </p:nvSpPr>
            <p:spPr>
              <a:xfrm>
                <a:off x="7866380" y="3228975"/>
                <a:ext cx="642620" cy="384175"/>
              </a:xfrm>
              <a:prstGeom prst="rect">
                <a:avLst/>
              </a:prstGeom>
              <a:blipFill rotWithShape="1">
                <a:blip r:embed="rId58"/>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p:cxnSp>
        <p:nvCxnSpPr>
          <p:cNvPr id="136" name="直接连接符 135"/>
          <p:cNvCxnSpPr/>
          <p:nvPr>
            <p:custDataLst>
              <p:tags r:id="rId29"/>
            </p:custDataLst>
          </p:nvPr>
        </p:nvCxnSpPr>
        <p:spPr>
          <a:xfrm flipH="1">
            <a:off x="678434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137" name="直接连接符 136"/>
          <p:cNvCxnSpPr/>
          <p:nvPr>
            <p:custDataLst>
              <p:tags r:id="rId30"/>
            </p:custDataLst>
          </p:nvPr>
        </p:nvCxnSpPr>
        <p:spPr>
          <a:xfrm>
            <a:off x="697738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138" name="直接连接符 137"/>
          <p:cNvCxnSpPr/>
          <p:nvPr>
            <p:custDataLst>
              <p:tags r:id="rId31"/>
            </p:custDataLst>
          </p:nvPr>
        </p:nvCxnSpPr>
        <p:spPr>
          <a:xfrm flipH="1">
            <a:off x="774192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139" name="直接连接符 138"/>
          <p:cNvCxnSpPr/>
          <p:nvPr>
            <p:custDataLst>
              <p:tags r:id="rId32"/>
            </p:custDataLst>
          </p:nvPr>
        </p:nvCxnSpPr>
        <p:spPr>
          <a:xfrm>
            <a:off x="793496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140" name="文本框 139"/>
              <p:cNvSpPr txBox="1"/>
              <p:nvPr/>
            </p:nvSpPr>
            <p:spPr>
              <a:xfrm>
                <a:off x="5508625" y="1931670"/>
                <a:ext cx="1945640" cy="468630"/>
              </a:xfrm>
              <a:prstGeom prst="rect">
                <a:avLst/>
              </a:prstGeom>
              <a:noFill/>
            </p:spPr>
            <p:txBody>
              <a:bodyPr wrap="square" rtlCol="0" anchor="t">
                <a:sp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sz="1200" i="1">
                          <a:solidFill>
                            <a:srgbClr val="C00000"/>
                          </a:solidFill>
                          <a:latin typeface="Cambria Math" panose="02040503050406030204" pitchFamily="18" charset="0"/>
                          <a:ea typeface="MS Mincho" charset="0"/>
                          <a:cs typeface="Cambria Math" panose="02040503050406030204" pitchFamily="18" charset="0"/>
                        </a:rPr>
                        <m:t>𝐴</m:t>
                      </m:r>
                      <m:r>
                        <a:rPr lang="en-US" altLang="zh-CN" sz="1200" i="1">
                          <a:solidFill>
                            <a:srgbClr val="C00000"/>
                          </a:solidFill>
                          <a:latin typeface="Cambria Math" panose="02040503050406030204" pitchFamily="18" charset="0"/>
                          <a:ea typeface="MS Mincho" charset="0"/>
                          <a:cs typeface="Cambria Math" panose="02040503050406030204" pitchFamily="18" charset="0"/>
                        </a:rPr>
                        <m:t> =</m:t>
                      </m:r>
                      <m:f>
                        <m:fPr>
                          <m:ctrlPr>
                            <a:rPr lang="en-US" altLang="zh-CN" sz="1200" i="1">
                              <a:solidFill>
                                <a:srgbClr val="C00000"/>
                              </a:solidFill>
                              <a:latin typeface="Cambria Math" panose="02040503050406030204" pitchFamily="18" charset="0"/>
                              <a:ea typeface="微软雅黑" panose="020B0503020204020204" pitchFamily="34" charset="-122"/>
                              <a:cs typeface="Cambria Math" panose="02040503050406030204" pitchFamily="18" charset="0"/>
                            </a:rPr>
                          </m:ctrlPr>
                        </m:fPr>
                        <m:num>
                          <m:r>
                            <a:rPr lang="en-US" altLang="zh-CN" sz="1200" i="1">
                              <a:solidFill>
                                <a:srgbClr val="C00000"/>
                              </a:solidFill>
                              <a:latin typeface="Cambria Math" panose="02040503050406030204" pitchFamily="18" charset="0"/>
                              <a:ea typeface="MS Mincho" charset="0"/>
                              <a:cs typeface="Cambria Math" panose="02040503050406030204" pitchFamily="18" charset="0"/>
                            </a:rPr>
                            <m:t>1</m:t>
                          </m:r>
                        </m:num>
                        <m:den>
                          <m:rad>
                            <m:radPr>
                              <m:degHide m:val="on"/>
                              <m:ctrlPr>
                                <a:rPr lang="en-US" altLang="zh-CN" sz="1200" i="1">
                                  <a:solidFill>
                                    <a:srgbClr val="C00000"/>
                                  </a:solidFill>
                                  <a:latin typeface="Cambria Math" panose="02040503050406030204" pitchFamily="18" charset="0"/>
                                  <a:ea typeface="微软雅黑" panose="020B0503020204020204" pitchFamily="34" charset="-122"/>
                                  <a:cs typeface="Cambria Math" panose="02040503050406030204" pitchFamily="18" charset="0"/>
                                </a:rPr>
                              </m:ctrlPr>
                            </m:radPr>
                            <m:deg/>
                            <m:e>
                              <m:r>
                                <a:rPr lang="en-US" altLang="zh-CN" sz="1200" i="1">
                                  <a:solidFill>
                                    <a:srgbClr val="C00000"/>
                                  </a:solidFill>
                                  <a:latin typeface="Cambria Math" panose="02040503050406030204" pitchFamily="18" charset="0"/>
                                  <a:ea typeface="MS Mincho" charset="0"/>
                                  <a:cs typeface="Cambria Math" panose="02040503050406030204" pitchFamily="18" charset="0"/>
                                </a:rPr>
                                <m:t>2</m:t>
                              </m:r>
                            </m:e>
                          </m:rad>
                        </m:den>
                      </m:f>
                      <m:r>
                        <a:rPr lang="en-US" altLang="zh-CN" sz="1200">
                          <a:solidFill>
                            <a:srgbClr val="C00000"/>
                          </a:solidFill>
                          <a:latin typeface="Cambria Math" panose="02040503050406030204" pitchFamily="18" charset="0"/>
                          <a:ea typeface="MS Mincho" charset="0"/>
                          <a:cs typeface="Cambria Math" panose="02040503050406030204" pitchFamily="18" charset="0"/>
                          <a:sym typeface="+mn-ea"/>
                        </a:rPr>
                        <m:t> </m:t>
                      </m:r>
                      <m:r>
                        <a:rPr lang="en-US" altLang="zh-CN" sz="1200">
                          <a:solidFill>
                            <a:srgbClr val="C00000"/>
                          </a:solidFill>
                          <a:latin typeface="Cambria Math" panose="02040503050406030204" pitchFamily="18" charset="0"/>
                          <a:ea typeface="微软雅黑" panose="020B0503020204020204" pitchFamily="34" charset="-122"/>
                          <a:cs typeface="微软雅黑" panose="020B0503020204020204" pitchFamily="34" charset="-122"/>
                          <a:sym typeface="+mn-ea"/>
                        </a:rPr>
                        <m:t>( </m:t>
                      </m:r>
                      <m:r>
                        <a:rPr lang="en-US" altLang="zh-CN" sz="1200" i="1">
                          <a:solidFill>
                            <a:srgbClr val="C00000"/>
                          </a:solidFill>
                          <a:latin typeface="Cambria Math" panose="02040503050406030204" pitchFamily="18" charset="0"/>
                          <a:ea typeface="MS Mincho" charset="0"/>
                          <a:cs typeface="Cambria Math" panose="02040503050406030204" pitchFamily="18" charset="0"/>
                        </a:rPr>
                        <m:t>|</m:t>
                      </m:r>
                      <m:d>
                        <m:dPr>
                          <m:begChr m:val=""/>
                          <m:endChr m:val="⟩"/>
                          <m:ctrlPr>
                            <a:rPr lang="en-US" altLang="zh-CN" sz="1200" i="1">
                              <a:solidFill>
                                <a:srgbClr val="C00000"/>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1200" i="1">
                              <a:solidFill>
                                <a:srgbClr val="C00000"/>
                              </a:solidFill>
                              <a:latin typeface="Cambria Math" panose="02040503050406030204" pitchFamily="18" charset="0"/>
                              <a:ea typeface="MS Mincho" charset="0"/>
                              <a:cs typeface="Cambria Math" panose="02040503050406030204" pitchFamily="18" charset="0"/>
                            </a:rPr>
                            <m:t>0</m:t>
                          </m:r>
                        </m:e>
                      </m:d>
                      <m:r>
                        <a:rPr lang="en-US" altLang="zh-CN" sz="1200" i="1">
                          <a:solidFill>
                            <a:srgbClr val="C00000"/>
                          </a:solidFill>
                          <a:latin typeface="Cambria Math" panose="02040503050406030204" pitchFamily="18" charset="0"/>
                          <a:ea typeface="MS Mincho" charset="0"/>
                          <a:cs typeface="Cambria Math" panose="02040503050406030204" pitchFamily="18" charset="0"/>
                        </a:rPr>
                        <m:t> +|</m:t>
                      </m:r>
                      <m:d>
                        <m:dPr>
                          <m:begChr m:val=""/>
                          <m:endChr m:val="⟩"/>
                          <m:ctrlPr>
                            <a:rPr lang="en-US" altLang="zh-CN" sz="1200" i="1">
                              <a:solidFill>
                                <a:srgbClr val="C00000"/>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1200" i="1">
                              <a:solidFill>
                                <a:srgbClr val="C00000"/>
                              </a:solidFill>
                              <a:latin typeface="Cambria Math" panose="02040503050406030204" pitchFamily="18" charset="0"/>
                              <a:ea typeface="MS Mincho" charset="0"/>
                              <a:cs typeface="Cambria Math" panose="02040503050406030204" pitchFamily="18" charset="0"/>
                            </a:rPr>
                            <m:t>1</m:t>
                          </m:r>
                        </m:e>
                      </m:d>
                      <m:r>
                        <a:rPr lang="en-US" altLang="zh-CN" sz="1200">
                          <a:solidFill>
                            <a:srgbClr val="C00000"/>
                          </a:solidFill>
                          <a:latin typeface="Cambria Math" panose="02040503050406030204" pitchFamily="18" charset="0"/>
                          <a:ea typeface="微软雅黑" panose="020B0503020204020204" pitchFamily="34" charset="-122"/>
                          <a:cs typeface="Cambria Math" panose="02040503050406030204" pitchFamily="18" charset="0"/>
                          <a:sym typeface="+mn-ea"/>
                        </a:rPr>
                        <m:t> )</m:t>
                      </m:r>
                    </m:oMath>
                  </m:oMathPara>
                </a14:m>
                <a:endParaRPr lang="en-US" altLang="zh-CN" sz="1200" i="1">
                  <a:solidFill>
                    <a:srgbClr val="C00000"/>
                  </a:solidFill>
                  <a:latin typeface="Cambria Math" panose="02040503050406030204" pitchFamily="18" charset="0"/>
                  <a:ea typeface="微软雅黑" panose="020B0503020204020204" pitchFamily="34" charset="-122"/>
                  <a:cs typeface="Cambria Math" panose="02040503050406030204" pitchFamily="18" charset="0"/>
                  <a:sym typeface="+mn-ea"/>
                </a:endParaRPr>
              </a:p>
            </p:txBody>
          </p:sp>
        </mc:Choice>
        <mc:Fallback xmlns="">
          <p:sp>
            <p:nvSpPr>
              <p:cNvPr id="140" name="文本框 139"/>
              <p:cNvSpPr txBox="1">
                <a:spLocks noRot="1" noChangeAspect="1" noMove="1" noResize="1" noEditPoints="1" noAdjustHandles="1" noChangeArrowheads="1" noChangeShapeType="1" noTextEdit="1"/>
              </p:cNvSpPr>
              <p:nvPr/>
            </p:nvSpPr>
            <p:spPr>
              <a:xfrm>
                <a:off x="5508625" y="1931670"/>
                <a:ext cx="1945640" cy="468630"/>
              </a:xfrm>
              <a:prstGeom prst="rect">
                <a:avLst/>
              </a:prstGeom>
              <a:blipFill rotWithShape="1">
                <a:blip r:embed="rId61"/>
                <a:stretch>
                  <a:fillRect/>
                </a:stretch>
              </a:blipFill>
            </p:spPr>
            <p:txBody>
              <a:bodyPr/>
              <a:lstStyle/>
              <a:p>
                <a:r>
                  <a:rPr lang="zh-CN" altLang="en-US">
                    <a:noFill/>
                  </a:rPr>
                  <a:t> </a:t>
                </a:r>
              </a:p>
            </p:txBody>
          </p:sp>
        </mc:Fallback>
      </mc:AlternateContent>
      <p:cxnSp>
        <p:nvCxnSpPr>
          <p:cNvPr id="141" name="直接箭头连接符 140"/>
          <p:cNvCxnSpPr/>
          <p:nvPr>
            <p:custDataLst>
              <p:tags r:id="rId33"/>
            </p:custDataLst>
          </p:nvPr>
        </p:nvCxnSpPr>
        <p:spPr>
          <a:xfrm>
            <a:off x="7748905" y="2404110"/>
            <a:ext cx="68580" cy="16764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142" name="直接箭头连接符 141"/>
          <p:cNvCxnSpPr/>
          <p:nvPr>
            <p:custDataLst>
              <p:tags r:id="rId34"/>
            </p:custDataLst>
          </p:nvPr>
        </p:nvCxnSpPr>
        <p:spPr>
          <a:xfrm flipH="1">
            <a:off x="7045960" y="2404110"/>
            <a:ext cx="111125" cy="16764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143" name="右箭头 142"/>
          <p:cNvSpPr/>
          <p:nvPr>
            <p:custDataLst>
              <p:tags r:id="rId35"/>
            </p:custDataLst>
          </p:nvPr>
        </p:nvSpPr>
        <p:spPr>
          <a:xfrm>
            <a:off x="455295" y="2774950"/>
            <a:ext cx="222250" cy="220345"/>
          </a:xfrm>
          <a:prstGeom prst="rightArrow">
            <a:avLst/>
          </a:prstGeom>
          <a:solidFill>
            <a:srgbClr val="963E3E"/>
          </a:solidFill>
          <a:ln>
            <a:solidFill>
              <a:srgbClr val="623E3E"/>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p:sp>
        <p:nvSpPr>
          <p:cNvPr id="144" name="右箭头 143"/>
          <p:cNvSpPr/>
          <p:nvPr>
            <p:custDataLst>
              <p:tags r:id="rId36"/>
            </p:custDataLst>
          </p:nvPr>
        </p:nvSpPr>
        <p:spPr>
          <a:xfrm rot="10800000">
            <a:off x="5020945" y="2774950"/>
            <a:ext cx="222250" cy="220345"/>
          </a:xfrm>
          <a:prstGeom prst="rightArrow">
            <a:avLst/>
          </a:prstGeom>
          <a:solidFill>
            <a:srgbClr val="963E3E"/>
          </a:solidFill>
          <a:ln>
            <a:solidFill>
              <a:srgbClr val="623E3E"/>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p:sp>
        <p:nvSpPr>
          <p:cNvPr id="145" name="右箭头 144"/>
          <p:cNvSpPr/>
          <p:nvPr>
            <p:custDataLst>
              <p:tags r:id="rId37"/>
            </p:custDataLst>
          </p:nvPr>
        </p:nvSpPr>
        <p:spPr>
          <a:xfrm>
            <a:off x="6467475" y="2774950"/>
            <a:ext cx="222250" cy="220345"/>
          </a:xfrm>
          <a:prstGeom prst="rightArrow">
            <a:avLst/>
          </a:prstGeom>
          <a:solidFill>
            <a:srgbClr val="963E3E"/>
          </a:solidFill>
          <a:ln>
            <a:solidFill>
              <a:srgbClr val="623E3E"/>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p:sp>
        <p:nvSpPr>
          <p:cNvPr id="146" name="右箭头 145"/>
          <p:cNvSpPr/>
          <p:nvPr>
            <p:custDataLst>
              <p:tags r:id="rId38"/>
            </p:custDataLst>
          </p:nvPr>
        </p:nvSpPr>
        <p:spPr>
          <a:xfrm rot="10800000">
            <a:off x="8200390" y="2774950"/>
            <a:ext cx="222250" cy="220345"/>
          </a:xfrm>
          <a:prstGeom prst="rightArrow">
            <a:avLst/>
          </a:prstGeom>
          <a:solidFill>
            <a:srgbClr val="963E3E"/>
          </a:solidFill>
          <a:ln>
            <a:solidFill>
              <a:srgbClr val="623E3E"/>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p:sp>
        <p:nvSpPr>
          <p:cNvPr id="10" name="Text 0">
            <a:extLst>
              <a:ext uri="{FF2B5EF4-FFF2-40B4-BE49-F238E27FC236}">
                <a16:creationId xmlns:a16="http://schemas.microsoft.com/office/drawing/2014/main" id="{B8F469D5-FFA2-FCFA-1415-BECD43D9232D}"/>
              </a:ext>
            </a:extLst>
          </p:cNvPr>
          <p:cNvSpPr/>
          <p:nvPr/>
        </p:nvSpPr>
        <p:spPr>
          <a:xfrm>
            <a:off x="209033" y="232346"/>
            <a:ext cx="8859402" cy="481927"/>
          </a:xfrm>
          <a:prstGeom prst="rect">
            <a:avLst/>
          </a:prstGeom>
          <a:noFill/>
        </p:spPr>
        <p:txBody>
          <a:bodyPr wrap="square" lIns="95250" tIns="95250" rIns="95250" bIns="95250" rtlCol="0" anchor="t"/>
          <a:lstStyle/>
          <a:p>
            <a:pPr>
              <a:spcBef>
                <a:spcPts val="375"/>
              </a:spcBef>
            </a:pPr>
            <a:r>
              <a:rPr lang="zh-CN" altLang="en-US" b="1" dirty="0">
                <a:solidFill>
                  <a:schemeClr val="bg1"/>
                </a:solidFill>
              </a:rPr>
              <a:t>Routing Scheme</a:t>
            </a:r>
            <a:r>
              <a:rPr lang="en-US" altLang="zh-CN" b="1" dirty="0">
                <a:solidFill>
                  <a:schemeClr val="bg1"/>
                </a:solidFill>
              </a:rPr>
              <a:t> </a:t>
            </a:r>
            <a:r>
              <a:rPr lang="zh-CN" altLang="en-US" b="1" dirty="0">
                <a:solidFill>
                  <a:schemeClr val="bg1"/>
                </a:solidFill>
              </a:rPr>
              <a:t>of QRAM</a:t>
            </a:r>
          </a:p>
        </p:txBody>
      </p:sp>
      <p:grpSp>
        <p:nvGrpSpPr>
          <p:cNvPr id="14" name="组合 13">
            <a:extLst>
              <a:ext uri="{FF2B5EF4-FFF2-40B4-BE49-F238E27FC236}">
                <a16:creationId xmlns:a16="http://schemas.microsoft.com/office/drawing/2014/main" id="{D00D3662-F9D5-5F58-E209-1E8474EF65A8}"/>
              </a:ext>
            </a:extLst>
          </p:cNvPr>
          <p:cNvGrpSpPr/>
          <p:nvPr/>
        </p:nvGrpSpPr>
        <p:grpSpPr>
          <a:xfrm>
            <a:off x="225552" y="956310"/>
            <a:ext cx="8764143" cy="438431"/>
            <a:chOff x="225552" y="956310"/>
            <a:chExt cx="8764143" cy="438431"/>
          </a:xfrm>
        </p:grpSpPr>
        <p:sp>
          <p:nvSpPr>
            <p:cNvPr id="24" name="矩形: 圆角 37">
              <a:extLst>
                <a:ext uri="{FF2B5EF4-FFF2-40B4-BE49-F238E27FC236}">
                  <a16:creationId xmlns:a16="http://schemas.microsoft.com/office/drawing/2014/main" id="{6872DBAE-6F65-4201-6BA4-B7AEE28CDAF4}"/>
                </a:ext>
              </a:extLst>
            </p:cNvPr>
            <p:cNvSpPr/>
            <p:nvPr/>
          </p:nvSpPr>
          <p:spPr>
            <a:xfrm>
              <a:off x="677545" y="956310"/>
              <a:ext cx="831215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buClrTx/>
                <a:buSzTx/>
                <a:buFontTx/>
              </a:pPr>
              <a:r>
                <a:rPr lang="zh-CN" altLang="en-US" b="1" dirty="0">
                  <a:solidFill>
                    <a:schemeClr val="tx1"/>
                  </a:solidFill>
                  <a:ea typeface="微软雅黑" panose="020B0503020204020204" pitchFamily="34" charset="-122"/>
                  <a:cs typeface="微软雅黑" panose="020B0503020204020204" pitchFamily="34" charset="-122"/>
                  <a:sym typeface="+mn-ea"/>
                </a:rPr>
                <a:t>Address-routing node qubits organize QRAM access paths.</a:t>
              </a:r>
            </a:p>
          </p:txBody>
        </p:sp>
        <p:sp>
          <p:nvSpPr>
            <p:cNvPr id="30" name="矩形: 圆角 38">
              <a:extLst>
                <a:ext uri="{FF2B5EF4-FFF2-40B4-BE49-F238E27FC236}">
                  <a16:creationId xmlns:a16="http://schemas.microsoft.com/office/drawing/2014/main" id="{A494F130-D44B-5FB4-DE3E-458D6EB1C390}"/>
                </a:ext>
              </a:extLst>
            </p:cNvPr>
            <p:cNvSpPr/>
            <p:nvPr/>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lang="en-US" altLang="zh-CN" b="1" dirty="0"/>
                <a:t>Step 1</a:t>
              </a:r>
              <a:endParaRPr lang="zh-CN" altLang="en-US" b="1" dirty="0"/>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圆角 37"/>
          <p:cNvSpPr/>
          <p:nvPr/>
        </p:nvSpPr>
        <p:spPr>
          <a:xfrm>
            <a:off x="225425" y="956310"/>
            <a:ext cx="866648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buClrTx/>
              <a:buSzTx/>
              <a:buFontTx/>
            </a:pPr>
            <a:r>
              <a:rPr lang="zh-CN" altLang="en-US" b="1" dirty="0">
                <a:solidFill>
                  <a:schemeClr val="tx1"/>
                </a:solidFill>
                <a:ea typeface="微软雅黑" panose="020B0503020204020204" pitchFamily="34" charset="-122"/>
                <a:cs typeface="微软雅黑" panose="020B0503020204020204" pitchFamily="34" charset="-122"/>
              </a:rPr>
              <a:t>Address bits determine the QRAM data-access path.</a:t>
            </a:r>
          </a:p>
        </p:txBody>
      </p:sp>
      <p:sp>
        <p:nvSpPr>
          <p:cNvPr id="39" name="矩形: 圆角 38"/>
          <p:cNvSpPr/>
          <p:nvPr/>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lang="en-US" altLang="zh-CN" b="1" dirty="0"/>
              <a:t>Step 2</a:t>
            </a:r>
            <a:endParaRPr lang="zh-CN" altLang="en-US" b="1" dirty="0"/>
          </a:p>
        </p:txBody>
      </p:sp>
      <p:sp>
        <p:nvSpPr>
          <p:cNvPr id="2" name="文本框 1"/>
          <p:cNvSpPr txBox="1"/>
          <p:nvPr/>
        </p:nvSpPr>
        <p:spPr>
          <a:xfrm>
            <a:off x="195580" y="1430083"/>
            <a:ext cx="5204460" cy="337185"/>
          </a:xfrm>
          <a:prstGeom prst="rect">
            <a:avLst/>
          </a:prstGeom>
          <a:noFill/>
        </p:spPr>
        <p:txBody>
          <a:bodyPr wrap="square" rtlCol="0"/>
          <a:lstStyle/>
          <a:p>
            <a:pPr>
              <a:lnSpc>
                <a:spcPct val="100000"/>
              </a:lnSpc>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Example: a 2-layer QRAM (2-bit address, 4 data bits)</a:t>
            </a:r>
          </a:p>
        </p:txBody>
      </p:sp>
      <p:pic>
        <p:nvPicPr>
          <p:cNvPr id="23" name="图片 22"/>
          <p:cNvPicPr>
            <a:picLocks noChangeAspect="1"/>
          </p:cNvPicPr>
          <p:nvPr/>
        </p:nvPicPr>
        <p:blipFill>
          <a:blip r:embed="rId3"/>
          <a:stretch>
            <a:fillRect/>
          </a:stretch>
        </p:blipFill>
        <p:spPr>
          <a:xfrm>
            <a:off x="335280" y="2644775"/>
            <a:ext cx="1246505" cy="1547495"/>
          </a:xfrm>
          <a:prstGeom prst="rect">
            <a:avLst/>
          </a:prstGeom>
        </p:spPr>
      </p:pic>
      <p:pic>
        <p:nvPicPr>
          <p:cNvPr id="32" name="图片 31"/>
          <p:cNvPicPr>
            <a:picLocks noChangeAspect="1"/>
          </p:cNvPicPr>
          <p:nvPr/>
        </p:nvPicPr>
        <p:blipFill>
          <a:blip r:embed="rId3"/>
          <a:stretch>
            <a:fillRect/>
          </a:stretch>
        </p:blipFill>
        <p:spPr>
          <a:xfrm>
            <a:off x="1704975" y="2767965"/>
            <a:ext cx="1246505" cy="1547495"/>
          </a:xfrm>
          <a:prstGeom prst="rect">
            <a:avLst/>
          </a:prstGeom>
        </p:spPr>
      </p:pic>
      <p:pic>
        <p:nvPicPr>
          <p:cNvPr id="34" name="图片 33"/>
          <p:cNvPicPr>
            <a:picLocks noChangeAspect="1"/>
          </p:cNvPicPr>
          <p:nvPr/>
        </p:nvPicPr>
        <p:blipFill>
          <a:blip r:embed="rId4"/>
          <a:stretch>
            <a:fillRect/>
          </a:stretch>
        </p:blipFill>
        <p:spPr>
          <a:xfrm>
            <a:off x="2374265" y="2867660"/>
            <a:ext cx="259080" cy="245110"/>
          </a:xfrm>
          <a:prstGeom prst="rect">
            <a:avLst/>
          </a:prstGeom>
        </p:spPr>
      </p:pic>
      <p:pic>
        <p:nvPicPr>
          <p:cNvPr id="35" name="图片 34"/>
          <p:cNvPicPr>
            <a:picLocks noChangeAspect="1"/>
          </p:cNvPicPr>
          <p:nvPr/>
        </p:nvPicPr>
        <p:blipFill>
          <a:blip r:embed="rId5"/>
          <a:stretch>
            <a:fillRect/>
          </a:stretch>
        </p:blipFill>
        <p:spPr>
          <a:xfrm>
            <a:off x="284480" y="4239260"/>
            <a:ext cx="494030" cy="219075"/>
          </a:xfrm>
          <a:prstGeom prst="rect">
            <a:avLst/>
          </a:prstGeom>
        </p:spPr>
      </p:pic>
      <p:sp>
        <p:nvSpPr>
          <p:cNvPr id="36" name="文本框 35"/>
          <p:cNvSpPr txBox="1"/>
          <p:nvPr/>
        </p:nvSpPr>
        <p:spPr>
          <a:xfrm>
            <a:off x="758190" y="4241800"/>
            <a:ext cx="978535" cy="245110"/>
          </a:xfrm>
          <a:prstGeom prst="rect">
            <a:avLst/>
          </a:prstGeom>
          <a:noFill/>
        </p:spPr>
        <p:txBody>
          <a:bodyPr wrap="square" rtlCol="0"/>
          <a:lstStyle/>
          <a:p>
            <a:pPr>
              <a:lnSpc>
                <a:spcPct val="100000"/>
              </a:lnSpc>
            </a:pPr>
            <a:r>
              <a:rPr lang="zh-CN" altLang="en-US" sz="1050"/>
              <a:t>Address bit</a:t>
            </a:r>
          </a:p>
        </p:txBody>
      </p:sp>
      <p:sp>
        <p:nvSpPr>
          <p:cNvPr id="37" name="矩形 36"/>
          <p:cNvSpPr/>
          <p:nvPr/>
        </p:nvSpPr>
        <p:spPr>
          <a:xfrm>
            <a:off x="218440" y="1788035"/>
            <a:ext cx="2975610" cy="5336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b="1" dirty="0"/>
              <a:t>Load the first address bit into the routing node</a:t>
            </a:r>
          </a:p>
        </p:txBody>
      </p:sp>
      <p:sp>
        <p:nvSpPr>
          <p:cNvPr id="40" name="文本框 39"/>
          <p:cNvSpPr txBox="1"/>
          <p:nvPr/>
        </p:nvSpPr>
        <p:spPr>
          <a:xfrm>
            <a:off x="154940" y="2268220"/>
            <a:ext cx="754380" cy="254635"/>
          </a:xfrm>
          <a:prstGeom prst="rect">
            <a:avLst/>
          </a:prstGeom>
          <a:noFill/>
        </p:spPr>
        <p:txBody>
          <a:bodyPr wrap="square" rtlCol="0"/>
          <a:lstStyle/>
          <a:p>
            <a:pPr>
              <a:lnSpc>
                <a:spcPct val="100000"/>
              </a:lnSpc>
            </a:pPr>
            <a:r>
              <a:rPr lang="en-US" altLang="zh-CN" sz="1400" b="1" dirty="0">
                <a:solidFill>
                  <a:srgbClr val="C00000"/>
                </a:solidFill>
                <a:latin typeface="微软雅黑" panose="020B0503020204020204" pitchFamily="34" charset="-122"/>
                <a:ea typeface="微软雅黑" panose="020B0503020204020204" pitchFamily="34" charset="-122"/>
              </a:rPr>
              <a:t>step1</a:t>
            </a:r>
          </a:p>
        </p:txBody>
      </p:sp>
      <p:cxnSp>
        <p:nvCxnSpPr>
          <p:cNvPr id="41" name="直接箭头连接符 40"/>
          <p:cNvCxnSpPr/>
          <p:nvPr/>
        </p:nvCxnSpPr>
        <p:spPr>
          <a:xfrm>
            <a:off x="1408430" y="2944495"/>
            <a:ext cx="890270" cy="0"/>
          </a:xfrm>
          <a:prstGeom prst="straightConnector1">
            <a:avLst/>
          </a:prstGeom>
          <a:ln>
            <a:solidFill>
              <a:srgbClr val="C00000"/>
            </a:solidFill>
            <a:tailEnd type="arrow"/>
          </a:ln>
        </p:spPr>
        <p:style>
          <a:lnRef idx="2">
            <a:schemeClr val="accent1"/>
          </a:lnRef>
          <a:fillRef idx="0">
            <a:srgbClr val="FFFFFF"/>
          </a:fillRef>
          <a:effectRef idx="0">
            <a:srgbClr val="FFFFFF"/>
          </a:effectRef>
          <a:fontRef idx="minor">
            <a:schemeClr val="tx1"/>
          </a:fontRef>
        </p:style>
      </p:cxnSp>
      <p:sp>
        <p:nvSpPr>
          <p:cNvPr id="43" name="文本框 42"/>
          <p:cNvSpPr txBox="1"/>
          <p:nvPr/>
        </p:nvSpPr>
        <p:spPr>
          <a:xfrm>
            <a:off x="1229995" y="2399665"/>
            <a:ext cx="1612900" cy="245110"/>
          </a:xfrm>
          <a:prstGeom prst="rect">
            <a:avLst/>
          </a:prstGeom>
          <a:noFill/>
        </p:spPr>
        <p:txBody>
          <a:bodyPr wrap="square" rtlCol="0"/>
          <a:lstStyle/>
          <a:p>
            <a:pPr>
              <a:lnSpc>
                <a:spcPct val="100000"/>
              </a:lnSpc>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Treat a0 as node A</a:t>
            </a:r>
          </a:p>
        </p:txBody>
      </p:sp>
      <p:pic>
        <p:nvPicPr>
          <p:cNvPr id="44" name="图片 43"/>
          <p:cNvPicPr>
            <a:picLocks noChangeAspect="1"/>
          </p:cNvPicPr>
          <p:nvPr/>
        </p:nvPicPr>
        <p:blipFill>
          <a:blip r:embed="rId5"/>
          <a:srcRect l="52699"/>
          <a:stretch>
            <a:fillRect/>
          </a:stretch>
        </p:blipFill>
        <p:spPr>
          <a:xfrm>
            <a:off x="1482725" y="2688590"/>
            <a:ext cx="233680" cy="219075"/>
          </a:xfrm>
          <a:prstGeom prst="rect">
            <a:avLst/>
          </a:prstGeom>
        </p:spPr>
      </p:pic>
      <p:pic>
        <p:nvPicPr>
          <p:cNvPr id="45" name="图片 44"/>
          <p:cNvPicPr>
            <a:picLocks noChangeAspect="1"/>
          </p:cNvPicPr>
          <p:nvPr/>
        </p:nvPicPr>
        <p:blipFill>
          <a:blip r:embed="rId4"/>
          <a:stretch>
            <a:fillRect/>
          </a:stretch>
        </p:blipFill>
        <p:spPr>
          <a:xfrm>
            <a:off x="1906905" y="2673985"/>
            <a:ext cx="259080" cy="245110"/>
          </a:xfrm>
          <a:prstGeom prst="rect">
            <a:avLst/>
          </a:prstGeom>
        </p:spPr>
      </p:pic>
      <p:sp>
        <p:nvSpPr>
          <p:cNvPr id="46" name="文本框 45"/>
          <p:cNvSpPr txBox="1"/>
          <p:nvPr/>
        </p:nvSpPr>
        <p:spPr>
          <a:xfrm>
            <a:off x="1654810" y="2614295"/>
            <a:ext cx="307975" cy="368300"/>
          </a:xfrm>
          <a:prstGeom prst="rect">
            <a:avLst/>
          </a:prstGeom>
          <a:noFill/>
        </p:spPr>
        <p:txBody>
          <a:bodyPr wrap="square" rtlCol="0">
            <a:normAutofit lnSpcReduction="10000"/>
          </a:bodyPr>
          <a:lstStyle/>
          <a:p>
            <a:pPr>
              <a:lnSpc>
                <a:spcPct val="100000"/>
              </a:lnSpc>
            </a:pPr>
            <a:r>
              <a:rPr lang="en-US" altLang="zh-CN" sz="2000" b="1"/>
              <a:t>=</a:t>
            </a:r>
          </a:p>
        </p:txBody>
      </p:sp>
      <p:pic>
        <p:nvPicPr>
          <p:cNvPr id="50" name="图片 49"/>
          <p:cNvPicPr>
            <a:picLocks noChangeAspect="1"/>
          </p:cNvPicPr>
          <p:nvPr/>
        </p:nvPicPr>
        <p:blipFill>
          <a:blip r:embed="rId6"/>
          <a:stretch>
            <a:fillRect/>
          </a:stretch>
        </p:blipFill>
        <p:spPr>
          <a:xfrm>
            <a:off x="284480" y="4489450"/>
            <a:ext cx="241300" cy="238760"/>
          </a:xfrm>
          <a:prstGeom prst="rect">
            <a:avLst/>
          </a:prstGeom>
        </p:spPr>
      </p:pic>
      <p:pic>
        <p:nvPicPr>
          <p:cNvPr id="51" name="图片 50"/>
          <p:cNvPicPr>
            <a:picLocks noChangeAspect="1"/>
          </p:cNvPicPr>
          <p:nvPr/>
        </p:nvPicPr>
        <p:blipFill>
          <a:blip r:embed="rId7"/>
          <a:stretch>
            <a:fillRect/>
          </a:stretch>
        </p:blipFill>
        <p:spPr>
          <a:xfrm>
            <a:off x="525780" y="4489450"/>
            <a:ext cx="248285" cy="241935"/>
          </a:xfrm>
          <a:prstGeom prst="rect">
            <a:avLst/>
          </a:prstGeom>
        </p:spPr>
      </p:pic>
      <p:sp>
        <p:nvSpPr>
          <p:cNvPr id="52" name="文本框 51"/>
          <p:cNvSpPr txBox="1"/>
          <p:nvPr/>
        </p:nvSpPr>
        <p:spPr>
          <a:xfrm>
            <a:off x="758190" y="4518025"/>
            <a:ext cx="2073275" cy="245110"/>
          </a:xfrm>
          <a:prstGeom prst="rect">
            <a:avLst/>
          </a:prstGeom>
          <a:noFill/>
        </p:spPr>
        <p:txBody>
          <a:bodyPr wrap="square" rtlCol="0"/>
          <a:lstStyle/>
          <a:p>
            <a:pPr>
              <a:lnSpc>
                <a:spcPct val="100000"/>
              </a:lnSpc>
            </a:pPr>
            <a:r>
              <a:rPr lang="zh-CN" altLang="en-US" sz="1050"/>
              <a:t>Empty address-routing qubit</a:t>
            </a:r>
          </a:p>
        </p:txBody>
      </p:sp>
      <p:sp>
        <p:nvSpPr>
          <p:cNvPr id="3" name="Text 0">
            <a:extLst>
              <a:ext uri="{FF2B5EF4-FFF2-40B4-BE49-F238E27FC236}">
                <a16:creationId xmlns:a16="http://schemas.microsoft.com/office/drawing/2014/main" id="{65F9F5FA-0282-63E4-4B70-D2AB1C21A791}"/>
              </a:ext>
            </a:extLst>
          </p:cNvPr>
          <p:cNvSpPr/>
          <p:nvPr/>
        </p:nvSpPr>
        <p:spPr>
          <a:xfrm>
            <a:off x="209033" y="232346"/>
            <a:ext cx="8859402" cy="481927"/>
          </a:xfrm>
          <a:prstGeom prst="rect">
            <a:avLst/>
          </a:prstGeom>
          <a:noFill/>
        </p:spPr>
        <p:txBody>
          <a:bodyPr wrap="square" lIns="95250" tIns="95250" rIns="95250" bIns="95250" rtlCol="0" anchor="t"/>
          <a:lstStyle/>
          <a:p>
            <a:pPr>
              <a:spcBef>
                <a:spcPts val="375"/>
              </a:spcBef>
            </a:pPr>
            <a:r>
              <a:rPr lang="zh-CN" altLang="en-US" b="1" dirty="0">
                <a:solidFill>
                  <a:schemeClr val="bg1"/>
                </a:solidFill>
              </a:rPr>
              <a:t>Routing Scheme</a:t>
            </a:r>
            <a:r>
              <a:rPr lang="en-US" altLang="zh-CN" b="1" dirty="0">
                <a:solidFill>
                  <a:schemeClr val="bg1"/>
                </a:solidFill>
              </a:rPr>
              <a:t> </a:t>
            </a:r>
            <a:r>
              <a:rPr lang="zh-CN" altLang="en-US" b="1" dirty="0">
                <a:solidFill>
                  <a:schemeClr val="bg1"/>
                </a:solidFill>
              </a:rPr>
              <a:t>of QRAM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57AA9-07E8-872B-B458-AFE0504AF2DF}"/>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A7ED9BD5-E6B0-10CD-03A0-E9DF3658EEBD}"/>
              </a:ext>
            </a:extLst>
          </p:cNvPr>
          <p:cNvSpPr txBox="1"/>
          <p:nvPr/>
        </p:nvSpPr>
        <p:spPr>
          <a:xfrm>
            <a:off x="195580" y="1430083"/>
            <a:ext cx="5204460" cy="337185"/>
          </a:xfrm>
          <a:prstGeom prst="rect">
            <a:avLst/>
          </a:prstGeom>
          <a:noFill/>
        </p:spPr>
        <p:txBody>
          <a:bodyPr wrap="square" rtlCol="0"/>
          <a:lstStyle/>
          <a:p>
            <a:pPr>
              <a:lnSpc>
                <a:spcPct val="100000"/>
              </a:lnSpc>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Example: a 2-layer QRAM (2-bit address, 4 data bits)</a:t>
            </a:r>
          </a:p>
        </p:txBody>
      </p:sp>
      <p:pic>
        <p:nvPicPr>
          <p:cNvPr id="23" name="图片 22">
            <a:extLst>
              <a:ext uri="{FF2B5EF4-FFF2-40B4-BE49-F238E27FC236}">
                <a16:creationId xmlns:a16="http://schemas.microsoft.com/office/drawing/2014/main" id="{804CCDDE-178A-E6D2-EA9E-24B0613C3FEE}"/>
              </a:ext>
            </a:extLst>
          </p:cNvPr>
          <p:cNvPicPr>
            <a:picLocks noChangeAspect="1"/>
          </p:cNvPicPr>
          <p:nvPr/>
        </p:nvPicPr>
        <p:blipFill>
          <a:blip r:embed="rId3"/>
          <a:stretch>
            <a:fillRect/>
          </a:stretch>
        </p:blipFill>
        <p:spPr>
          <a:xfrm>
            <a:off x="335280" y="2644775"/>
            <a:ext cx="1246505" cy="1547495"/>
          </a:xfrm>
          <a:prstGeom prst="rect">
            <a:avLst/>
          </a:prstGeom>
        </p:spPr>
      </p:pic>
      <p:pic>
        <p:nvPicPr>
          <p:cNvPr id="24" name="图片 23">
            <a:extLst>
              <a:ext uri="{FF2B5EF4-FFF2-40B4-BE49-F238E27FC236}">
                <a16:creationId xmlns:a16="http://schemas.microsoft.com/office/drawing/2014/main" id="{D15F9C7B-8FEB-BCE9-4B25-F57548FC55D7}"/>
              </a:ext>
            </a:extLst>
          </p:cNvPr>
          <p:cNvPicPr>
            <a:picLocks noChangeAspect="1"/>
          </p:cNvPicPr>
          <p:nvPr/>
        </p:nvPicPr>
        <p:blipFill>
          <a:blip r:embed="rId4"/>
          <a:srcRect b="7994"/>
          <a:stretch>
            <a:fillRect/>
          </a:stretch>
        </p:blipFill>
        <p:spPr>
          <a:xfrm>
            <a:off x="3717925" y="2490470"/>
            <a:ext cx="942975" cy="1323340"/>
          </a:xfrm>
          <a:prstGeom prst="rect">
            <a:avLst/>
          </a:prstGeom>
        </p:spPr>
      </p:pic>
      <p:pic>
        <p:nvPicPr>
          <p:cNvPr id="25" name="图片 24">
            <a:extLst>
              <a:ext uri="{FF2B5EF4-FFF2-40B4-BE49-F238E27FC236}">
                <a16:creationId xmlns:a16="http://schemas.microsoft.com/office/drawing/2014/main" id="{4EC7DBA4-8876-4339-9E31-40B3DC4EC3AF}"/>
              </a:ext>
            </a:extLst>
          </p:cNvPr>
          <p:cNvPicPr>
            <a:picLocks noChangeAspect="1"/>
          </p:cNvPicPr>
          <p:nvPr/>
        </p:nvPicPr>
        <p:blipFill>
          <a:blip r:embed="rId5"/>
          <a:srcRect t="8298" b="48361"/>
          <a:stretch>
            <a:fillRect/>
          </a:stretch>
        </p:blipFill>
        <p:spPr>
          <a:xfrm>
            <a:off x="4660900" y="2644775"/>
            <a:ext cx="1494155" cy="922020"/>
          </a:xfrm>
          <a:prstGeom prst="rect">
            <a:avLst/>
          </a:prstGeom>
        </p:spPr>
      </p:pic>
      <p:pic>
        <p:nvPicPr>
          <p:cNvPr id="32" name="图片 31">
            <a:extLst>
              <a:ext uri="{FF2B5EF4-FFF2-40B4-BE49-F238E27FC236}">
                <a16:creationId xmlns:a16="http://schemas.microsoft.com/office/drawing/2014/main" id="{BA67E9C6-E0CD-C7B4-5CCF-938364717E8F}"/>
              </a:ext>
            </a:extLst>
          </p:cNvPr>
          <p:cNvPicPr>
            <a:picLocks noChangeAspect="1"/>
          </p:cNvPicPr>
          <p:nvPr/>
        </p:nvPicPr>
        <p:blipFill>
          <a:blip r:embed="rId3"/>
          <a:stretch>
            <a:fillRect/>
          </a:stretch>
        </p:blipFill>
        <p:spPr>
          <a:xfrm>
            <a:off x="1704975" y="2767965"/>
            <a:ext cx="1246505" cy="1547495"/>
          </a:xfrm>
          <a:prstGeom prst="rect">
            <a:avLst/>
          </a:prstGeom>
        </p:spPr>
      </p:pic>
      <p:pic>
        <p:nvPicPr>
          <p:cNvPr id="34" name="图片 33">
            <a:extLst>
              <a:ext uri="{FF2B5EF4-FFF2-40B4-BE49-F238E27FC236}">
                <a16:creationId xmlns:a16="http://schemas.microsoft.com/office/drawing/2014/main" id="{58EA5F3F-192C-D63D-F395-145D01F4130D}"/>
              </a:ext>
            </a:extLst>
          </p:cNvPr>
          <p:cNvPicPr>
            <a:picLocks noChangeAspect="1"/>
          </p:cNvPicPr>
          <p:nvPr/>
        </p:nvPicPr>
        <p:blipFill>
          <a:blip r:embed="rId6"/>
          <a:stretch>
            <a:fillRect/>
          </a:stretch>
        </p:blipFill>
        <p:spPr>
          <a:xfrm>
            <a:off x="2374265" y="2867660"/>
            <a:ext cx="259080" cy="245110"/>
          </a:xfrm>
          <a:prstGeom prst="rect">
            <a:avLst/>
          </a:prstGeom>
        </p:spPr>
      </p:pic>
      <p:pic>
        <p:nvPicPr>
          <p:cNvPr id="35" name="图片 34">
            <a:extLst>
              <a:ext uri="{FF2B5EF4-FFF2-40B4-BE49-F238E27FC236}">
                <a16:creationId xmlns:a16="http://schemas.microsoft.com/office/drawing/2014/main" id="{3ED91C78-6092-1788-A2E1-3579E87F54BE}"/>
              </a:ext>
            </a:extLst>
          </p:cNvPr>
          <p:cNvPicPr>
            <a:picLocks noChangeAspect="1"/>
          </p:cNvPicPr>
          <p:nvPr/>
        </p:nvPicPr>
        <p:blipFill>
          <a:blip r:embed="rId7"/>
          <a:stretch>
            <a:fillRect/>
          </a:stretch>
        </p:blipFill>
        <p:spPr>
          <a:xfrm>
            <a:off x="284480" y="4239260"/>
            <a:ext cx="494030" cy="219075"/>
          </a:xfrm>
          <a:prstGeom prst="rect">
            <a:avLst/>
          </a:prstGeom>
        </p:spPr>
      </p:pic>
      <p:sp>
        <p:nvSpPr>
          <p:cNvPr id="36" name="文本框 35">
            <a:extLst>
              <a:ext uri="{FF2B5EF4-FFF2-40B4-BE49-F238E27FC236}">
                <a16:creationId xmlns:a16="http://schemas.microsoft.com/office/drawing/2014/main" id="{76FFA138-26D8-9AEC-09B0-2E8387C6A0DB}"/>
              </a:ext>
            </a:extLst>
          </p:cNvPr>
          <p:cNvSpPr txBox="1"/>
          <p:nvPr/>
        </p:nvSpPr>
        <p:spPr>
          <a:xfrm>
            <a:off x="758190" y="4241800"/>
            <a:ext cx="978535" cy="245110"/>
          </a:xfrm>
          <a:prstGeom prst="rect">
            <a:avLst/>
          </a:prstGeom>
          <a:noFill/>
        </p:spPr>
        <p:txBody>
          <a:bodyPr wrap="square" rtlCol="0"/>
          <a:lstStyle/>
          <a:p>
            <a:pPr>
              <a:lnSpc>
                <a:spcPct val="100000"/>
              </a:lnSpc>
            </a:pPr>
            <a:r>
              <a:rPr lang="zh-CN" altLang="en-US" sz="1050" dirty="0"/>
              <a:t>Address bit</a:t>
            </a:r>
          </a:p>
        </p:txBody>
      </p:sp>
      <p:sp>
        <p:nvSpPr>
          <p:cNvPr id="37" name="矩形 36">
            <a:extLst>
              <a:ext uri="{FF2B5EF4-FFF2-40B4-BE49-F238E27FC236}">
                <a16:creationId xmlns:a16="http://schemas.microsoft.com/office/drawing/2014/main" id="{9DCE569E-119E-42C2-3A4E-63B45236D903}"/>
              </a:ext>
            </a:extLst>
          </p:cNvPr>
          <p:cNvSpPr/>
          <p:nvPr/>
        </p:nvSpPr>
        <p:spPr>
          <a:xfrm>
            <a:off x="218440" y="1788035"/>
            <a:ext cx="2975610" cy="5336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b="1" dirty="0"/>
              <a:t>Load the first address bit into the routing node</a:t>
            </a:r>
          </a:p>
        </p:txBody>
      </p:sp>
      <p:sp>
        <p:nvSpPr>
          <p:cNvPr id="40" name="文本框 39">
            <a:extLst>
              <a:ext uri="{FF2B5EF4-FFF2-40B4-BE49-F238E27FC236}">
                <a16:creationId xmlns:a16="http://schemas.microsoft.com/office/drawing/2014/main" id="{1A8CA985-AB6F-EAB8-8367-B2F7B353F036}"/>
              </a:ext>
            </a:extLst>
          </p:cNvPr>
          <p:cNvSpPr txBox="1"/>
          <p:nvPr/>
        </p:nvSpPr>
        <p:spPr>
          <a:xfrm>
            <a:off x="154940" y="2268220"/>
            <a:ext cx="754380" cy="254635"/>
          </a:xfrm>
          <a:prstGeom prst="rect">
            <a:avLst/>
          </a:prstGeom>
          <a:noFill/>
        </p:spPr>
        <p:txBody>
          <a:bodyPr wrap="square" rtlCol="0"/>
          <a:lstStyle/>
          <a:p>
            <a:pPr>
              <a:lnSpc>
                <a:spcPct val="100000"/>
              </a:lnSpc>
            </a:pPr>
            <a:r>
              <a:rPr lang="en-US" altLang="zh-CN" sz="1400" b="1" dirty="0">
                <a:solidFill>
                  <a:srgbClr val="C00000"/>
                </a:solidFill>
                <a:latin typeface="微软雅黑" panose="020B0503020204020204" pitchFamily="34" charset="-122"/>
                <a:ea typeface="微软雅黑" panose="020B0503020204020204" pitchFamily="34" charset="-122"/>
              </a:rPr>
              <a:t>step1</a:t>
            </a:r>
          </a:p>
        </p:txBody>
      </p:sp>
      <p:cxnSp>
        <p:nvCxnSpPr>
          <p:cNvPr id="41" name="直接箭头连接符 40">
            <a:extLst>
              <a:ext uri="{FF2B5EF4-FFF2-40B4-BE49-F238E27FC236}">
                <a16:creationId xmlns:a16="http://schemas.microsoft.com/office/drawing/2014/main" id="{99DD6DCE-885B-5BCA-3CE1-2EC613914851}"/>
              </a:ext>
            </a:extLst>
          </p:cNvPr>
          <p:cNvCxnSpPr/>
          <p:nvPr/>
        </p:nvCxnSpPr>
        <p:spPr>
          <a:xfrm>
            <a:off x="1408430" y="2944495"/>
            <a:ext cx="890270" cy="0"/>
          </a:xfrm>
          <a:prstGeom prst="straightConnector1">
            <a:avLst/>
          </a:prstGeom>
          <a:ln>
            <a:solidFill>
              <a:srgbClr val="C00000"/>
            </a:solidFill>
            <a:tailEnd type="arrow"/>
          </a:ln>
        </p:spPr>
        <p:style>
          <a:lnRef idx="2">
            <a:schemeClr val="accent1"/>
          </a:lnRef>
          <a:fillRef idx="0">
            <a:srgbClr val="FFFFFF"/>
          </a:fillRef>
          <a:effectRef idx="0">
            <a:srgbClr val="FFFFFF"/>
          </a:effectRef>
          <a:fontRef idx="minor">
            <a:schemeClr val="tx1"/>
          </a:fontRef>
        </p:style>
      </p:cxnSp>
      <p:sp>
        <p:nvSpPr>
          <p:cNvPr id="43" name="文本框 42">
            <a:extLst>
              <a:ext uri="{FF2B5EF4-FFF2-40B4-BE49-F238E27FC236}">
                <a16:creationId xmlns:a16="http://schemas.microsoft.com/office/drawing/2014/main" id="{5C73AF44-4870-9C38-CE07-493E267B7BE4}"/>
              </a:ext>
            </a:extLst>
          </p:cNvPr>
          <p:cNvSpPr txBox="1"/>
          <p:nvPr/>
        </p:nvSpPr>
        <p:spPr>
          <a:xfrm>
            <a:off x="1229995" y="2399665"/>
            <a:ext cx="1612900" cy="245110"/>
          </a:xfrm>
          <a:prstGeom prst="rect">
            <a:avLst/>
          </a:prstGeom>
          <a:noFill/>
        </p:spPr>
        <p:txBody>
          <a:bodyPr wrap="square" rtlCol="0"/>
          <a:lstStyle/>
          <a:p>
            <a:pPr>
              <a:lnSpc>
                <a:spcPct val="100000"/>
              </a:lnSpc>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Treat a0 as node A</a:t>
            </a:r>
          </a:p>
        </p:txBody>
      </p:sp>
      <p:pic>
        <p:nvPicPr>
          <p:cNvPr id="44" name="图片 43">
            <a:extLst>
              <a:ext uri="{FF2B5EF4-FFF2-40B4-BE49-F238E27FC236}">
                <a16:creationId xmlns:a16="http://schemas.microsoft.com/office/drawing/2014/main" id="{5EF085DD-FB60-F147-CDCF-340C35BD54F5}"/>
              </a:ext>
            </a:extLst>
          </p:cNvPr>
          <p:cNvPicPr>
            <a:picLocks noChangeAspect="1"/>
          </p:cNvPicPr>
          <p:nvPr/>
        </p:nvPicPr>
        <p:blipFill>
          <a:blip r:embed="rId7"/>
          <a:srcRect l="52699"/>
          <a:stretch>
            <a:fillRect/>
          </a:stretch>
        </p:blipFill>
        <p:spPr>
          <a:xfrm>
            <a:off x="1482725" y="2688590"/>
            <a:ext cx="233680" cy="219075"/>
          </a:xfrm>
          <a:prstGeom prst="rect">
            <a:avLst/>
          </a:prstGeom>
        </p:spPr>
      </p:pic>
      <p:pic>
        <p:nvPicPr>
          <p:cNvPr id="45" name="图片 44">
            <a:extLst>
              <a:ext uri="{FF2B5EF4-FFF2-40B4-BE49-F238E27FC236}">
                <a16:creationId xmlns:a16="http://schemas.microsoft.com/office/drawing/2014/main" id="{4BBC32C4-1E3B-C1F1-7E97-D3A6F312A02F}"/>
              </a:ext>
            </a:extLst>
          </p:cNvPr>
          <p:cNvPicPr>
            <a:picLocks noChangeAspect="1"/>
          </p:cNvPicPr>
          <p:nvPr/>
        </p:nvPicPr>
        <p:blipFill>
          <a:blip r:embed="rId6"/>
          <a:stretch>
            <a:fillRect/>
          </a:stretch>
        </p:blipFill>
        <p:spPr>
          <a:xfrm>
            <a:off x="1906905" y="2673985"/>
            <a:ext cx="259080" cy="245110"/>
          </a:xfrm>
          <a:prstGeom prst="rect">
            <a:avLst/>
          </a:prstGeom>
        </p:spPr>
      </p:pic>
      <p:sp>
        <p:nvSpPr>
          <p:cNvPr id="46" name="文本框 45">
            <a:extLst>
              <a:ext uri="{FF2B5EF4-FFF2-40B4-BE49-F238E27FC236}">
                <a16:creationId xmlns:a16="http://schemas.microsoft.com/office/drawing/2014/main" id="{3E257D85-01A9-AF5A-81A9-8C0AE5BB3593}"/>
              </a:ext>
            </a:extLst>
          </p:cNvPr>
          <p:cNvSpPr txBox="1"/>
          <p:nvPr/>
        </p:nvSpPr>
        <p:spPr>
          <a:xfrm>
            <a:off x="1654810" y="2614295"/>
            <a:ext cx="307975" cy="368300"/>
          </a:xfrm>
          <a:prstGeom prst="rect">
            <a:avLst/>
          </a:prstGeom>
          <a:noFill/>
        </p:spPr>
        <p:txBody>
          <a:bodyPr wrap="square" rtlCol="0">
            <a:normAutofit lnSpcReduction="10000"/>
          </a:bodyPr>
          <a:lstStyle/>
          <a:p>
            <a:pPr>
              <a:lnSpc>
                <a:spcPct val="100000"/>
              </a:lnSpc>
            </a:pPr>
            <a:r>
              <a:rPr lang="en-US" altLang="zh-CN" sz="2000" b="1"/>
              <a:t>=</a:t>
            </a:r>
          </a:p>
        </p:txBody>
      </p:sp>
      <p:sp>
        <p:nvSpPr>
          <p:cNvPr id="48" name="矩形 47">
            <a:extLst>
              <a:ext uri="{FF2B5EF4-FFF2-40B4-BE49-F238E27FC236}">
                <a16:creationId xmlns:a16="http://schemas.microsoft.com/office/drawing/2014/main" id="{4147E1FD-359B-DC31-2F3E-908E095FEA1A}"/>
              </a:ext>
            </a:extLst>
          </p:cNvPr>
          <p:cNvSpPr/>
          <p:nvPr/>
        </p:nvSpPr>
        <p:spPr>
          <a:xfrm>
            <a:off x="3416300" y="1788035"/>
            <a:ext cx="2975610" cy="5336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b="1" dirty="0"/>
              <a:t>Load the second address bit into the routing node</a:t>
            </a:r>
          </a:p>
        </p:txBody>
      </p:sp>
      <p:sp>
        <p:nvSpPr>
          <p:cNvPr id="49" name="文本框 48">
            <a:extLst>
              <a:ext uri="{FF2B5EF4-FFF2-40B4-BE49-F238E27FC236}">
                <a16:creationId xmlns:a16="http://schemas.microsoft.com/office/drawing/2014/main" id="{AB32D966-7770-835A-C701-EA8CFF31201A}"/>
              </a:ext>
            </a:extLst>
          </p:cNvPr>
          <p:cNvSpPr txBox="1"/>
          <p:nvPr/>
        </p:nvSpPr>
        <p:spPr>
          <a:xfrm>
            <a:off x="3416300" y="2268220"/>
            <a:ext cx="754380" cy="254635"/>
          </a:xfrm>
          <a:prstGeom prst="rect">
            <a:avLst/>
          </a:prstGeom>
          <a:noFill/>
        </p:spPr>
        <p:txBody>
          <a:bodyPr wrap="square" rtlCol="0"/>
          <a:lstStyle/>
          <a:p>
            <a:pPr>
              <a:lnSpc>
                <a:spcPct val="100000"/>
              </a:lnSpc>
            </a:pPr>
            <a:r>
              <a:rPr lang="en-US" altLang="zh-CN" sz="1400" b="1">
                <a:solidFill>
                  <a:srgbClr val="C00000"/>
                </a:solidFill>
                <a:latin typeface="微软雅黑" panose="020B0503020204020204" pitchFamily="34" charset="-122"/>
                <a:ea typeface="微软雅黑" panose="020B0503020204020204" pitchFamily="34" charset="-122"/>
              </a:rPr>
              <a:t>step2</a:t>
            </a:r>
          </a:p>
        </p:txBody>
      </p:sp>
      <p:pic>
        <p:nvPicPr>
          <p:cNvPr id="50" name="图片 49">
            <a:extLst>
              <a:ext uri="{FF2B5EF4-FFF2-40B4-BE49-F238E27FC236}">
                <a16:creationId xmlns:a16="http://schemas.microsoft.com/office/drawing/2014/main" id="{CA5DD5E5-5E8A-B20E-F6DD-5ADEE36A9383}"/>
              </a:ext>
            </a:extLst>
          </p:cNvPr>
          <p:cNvPicPr>
            <a:picLocks noChangeAspect="1"/>
          </p:cNvPicPr>
          <p:nvPr/>
        </p:nvPicPr>
        <p:blipFill>
          <a:blip r:embed="rId8"/>
          <a:stretch>
            <a:fillRect/>
          </a:stretch>
        </p:blipFill>
        <p:spPr>
          <a:xfrm>
            <a:off x="284480" y="4489450"/>
            <a:ext cx="241300" cy="238760"/>
          </a:xfrm>
          <a:prstGeom prst="rect">
            <a:avLst/>
          </a:prstGeom>
        </p:spPr>
      </p:pic>
      <p:pic>
        <p:nvPicPr>
          <p:cNvPr id="51" name="图片 50">
            <a:extLst>
              <a:ext uri="{FF2B5EF4-FFF2-40B4-BE49-F238E27FC236}">
                <a16:creationId xmlns:a16="http://schemas.microsoft.com/office/drawing/2014/main" id="{F3335A4C-8B34-42EA-2C6B-4FF81582501A}"/>
              </a:ext>
            </a:extLst>
          </p:cNvPr>
          <p:cNvPicPr>
            <a:picLocks noChangeAspect="1"/>
          </p:cNvPicPr>
          <p:nvPr/>
        </p:nvPicPr>
        <p:blipFill>
          <a:blip r:embed="rId9"/>
          <a:stretch>
            <a:fillRect/>
          </a:stretch>
        </p:blipFill>
        <p:spPr>
          <a:xfrm>
            <a:off x="525780" y="4489450"/>
            <a:ext cx="248285" cy="241935"/>
          </a:xfrm>
          <a:prstGeom prst="rect">
            <a:avLst/>
          </a:prstGeom>
        </p:spPr>
      </p:pic>
      <p:sp>
        <p:nvSpPr>
          <p:cNvPr id="52" name="文本框 51">
            <a:extLst>
              <a:ext uri="{FF2B5EF4-FFF2-40B4-BE49-F238E27FC236}">
                <a16:creationId xmlns:a16="http://schemas.microsoft.com/office/drawing/2014/main" id="{3B87F4B4-46CE-0691-5470-59591FD19B30}"/>
              </a:ext>
            </a:extLst>
          </p:cNvPr>
          <p:cNvSpPr txBox="1"/>
          <p:nvPr/>
        </p:nvSpPr>
        <p:spPr>
          <a:xfrm>
            <a:off x="758190" y="4518025"/>
            <a:ext cx="2073275" cy="245110"/>
          </a:xfrm>
          <a:prstGeom prst="rect">
            <a:avLst/>
          </a:prstGeom>
          <a:noFill/>
        </p:spPr>
        <p:txBody>
          <a:bodyPr wrap="square" rtlCol="0"/>
          <a:lstStyle/>
          <a:p>
            <a:pPr>
              <a:lnSpc>
                <a:spcPct val="100000"/>
              </a:lnSpc>
            </a:pPr>
            <a:r>
              <a:rPr lang="zh-CN" altLang="en-US" sz="1050"/>
              <a:t>Empty address-routing qubit</a:t>
            </a:r>
          </a:p>
        </p:txBody>
      </p:sp>
      <p:pic>
        <p:nvPicPr>
          <p:cNvPr id="56" name="图片 55">
            <a:extLst>
              <a:ext uri="{FF2B5EF4-FFF2-40B4-BE49-F238E27FC236}">
                <a16:creationId xmlns:a16="http://schemas.microsoft.com/office/drawing/2014/main" id="{B77A88D1-7AF0-8158-1E46-E4BA95EF40C6}"/>
              </a:ext>
            </a:extLst>
          </p:cNvPr>
          <p:cNvPicPr>
            <a:picLocks noChangeAspect="1"/>
          </p:cNvPicPr>
          <p:nvPr/>
        </p:nvPicPr>
        <p:blipFill>
          <a:blip r:embed="rId7"/>
          <a:srcRect r="51542"/>
          <a:stretch>
            <a:fillRect/>
          </a:stretch>
        </p:blipFill>
        <p:spPr>
          <a:xfrm>
            <a:off x="4899025" y="3797935"/>
            <a:ext cx="239395" cy="219075"/>
          </a:xfrm>
          <a:prstGeom prst="rect">
            <a:avLst/>
          </a:prstGeom>
        </p:spPr>
      </p:pic>
      <p:sp>
        <p:nvSpPr>
          <p:cNvPr id="57" name="文本框 56">
            <a:extLst>
              <a:ext uri="{FF2B5EF4-FFF2-40B4-BE49-F238E27FC236}">
                <a16:creationId xmlns:a16="http://schemas.microsoft.com/office/drawing/2014/main" id="{1092B570-C998-3803-AFFE-C76948C2EE63}"/>
              </a:ext>
            </a:extLst>
          </p:cNvPr>
          <p:cNvSpPr txBox="1"/>
          <p:nvPr/>
        </p:nvSpPr>
        <p:spPr>
          <a:xfrm>
            <a:off x="5085715" y="3739515"/>
            <a:ext cx="2033270" cy="275590"/>
          </a:xfrm>
          <a:prstGeom prst="rect">
            <a:avLst/>
          </a:prstGeom>
          <a:noFill/>
        </p:spPr>
        <p:txBody>
          <a:bodyPr wrap="square" rtlCol="0">
            <a:noAutofit/>
          </a:bodyPr>
          <a:lstStyle/>
          <a:p>
            <a:pPr>
              <a:lnSpc>
                <a:spcPct val="100000"/>
              </a:lnSpc>
            </a:pPr>
            <a:r>
              <a:rPr lang="zh-CN" altLang="en-US" sz="1400" dirty="0"/>
              <a:t>Original addres</a:t>
            </a:r>
            <a:r>
              <a:rPr lang="en-US" altLang="zh-CN" sz="1400" dirty="0"/>
              <a:t>s</a:t>
            </a:r>
            <a:endParaRPr lang="zh-CN" altLang="en-US" sz="1400" dirty="0"/>
          </a:p>
        </p:txBody>
      </p:sp>
      <p:sp>
        <p:nvSpPr>
          <p:cNvPr id="58" name="矩形 57">
            <a:extLst>
              <a:ext uri="{FF2B5EF4-FFF2-40B4-BE49-F238E27FC236}">
                <a16:creationId xmlns:a16="http://schemas.microsoft.com/office/drawing/2014/main" id="{BE80A04B-4153-9891-3955-F6F5B894404C}"/>
              </a:ext>
            </a:extLst>
          </p:cNvPr>
          <p:cNvSpPr/>
          <p:nvPr/>
        </p:nvSpPr>
        <p:spPr>
          <a:xfrm>
            <a:off x="4810760" y="3769360"/>
            <a:ext cx="1557655" cy="275590"/>
          </a:xfrm>
          <a:prstGeom prst="rect">
            <a:avLst/>
          </a:prstGeom>
          <a:noFill/>
          <a:ln w="12700">
            <a:solidFill>
              <a:schemeClr val="bg1">
                <a:lumMod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85000" lnSpcReduction="20000"/>
          </a:bodyPr>
          <a:lstStyle/>
          <a:p>
            <a:pPr algn="ctr">
              <a:lnSpc>
                <a:spcPct val="100000"/>
              </a:lnSpc>
            </a:pPr>
            <a:endParaRPr lang="zh-CN" altLang="en-US" sz="1600"/>
          </a:p>
        </p:txBody>
      </p:sp>
      <p:cxnSp>
        <p:nvCxnSpPr>
          <p:cNvPr id="59" name="直接箭头连接符 58">
            <a:extLst>
              <a:ext uri="{FF2B5EF4-FFF2-40B4-BE49-F238E27FC236}">
                <a16:creationId xmlns:a16="http://schemas.microsoft.com/office/drawing/2014/main" id="{534AD7AD-78CA-695F-EFB6-ABF290C7883F}"/>
              </a:ext>
            </a:extLst>
          </p:cNvPr>
          <p:cNvCxnSpPr/>
          <p:nvPr/>
        </p:nvCxnSpPr>
        <p:spPr>
          <a:xfrm flipH="1" flipV="1">
            <a:off x="5138420" y="3176905"/>
            <a:ext cx="198755" cy="74930"/>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60" name="直接箭头连接符 59">
            <a:extLst>
              <a:ext uri="{FF2B5EF4-FFF2-40B4-BE49-F238E27FC236}">
                <a16:creationId xmlns:a16="http://schemas.microsoft.com/office/drawing/2014/main" id="{8B29CFCE-35A4-D9A6-6859-18971E5F26B8}"/>
              </a:ext>
            </a:extLst>
          </p:cNvPr>
          <p:cNvCxnSpPr/>
          <p:nvPr/>
        </p:nvCxnSpPr>
        <p:spPr>
          <a:xfrm>
            <a:off x="5588635" y="3312795"/>
            <a:ext cx="199390" cy="95885"/>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61" name="直接箭头连接符 60">
            <a:extLst>
              <a:ext uri="{FF2B5EF4-FFF2-40B4-BE49-F238E27FC236}">
                <a16:creationId xmlns:a16="http://schemas.microsoft.com/office/drawing/2014/main" id="{F9F17C3F-2956-444E-CED5-1B712E672601}"/>
              </a:ext>
            </a:extLst>
          </p:cNvPr>
          <p:cNvCxnSpPr/>
          <p:nvPr/>
        </p:nvCxnSpPr>
        <p:spPr>
          <a:xfrm flipV="1">
            <a:off x="5293360" y="3408680"/>
            <a:ext cx="106680" cy="320040"/>
          </a:xfrm>
          <a:prstGeom prst="straightConnector1">
            <a:avLst/>
          </a:prstGeom>
          <a:ln w="19050">
            <a:solidFill>
              <a:srgbClr val="C00000"/>
            </a:solidFill>
            <a:tailEnd type="arrow"/>
          </a:ln>
        </p:spPr>
        <p:style>
          <a:lnRef idx="2">
            <a:schemeClr val="accent1"/>
          </a:lnRef>
          <a:fillRef idx="0">
            <a:srgbClr val="FFFFFF"/>
          </a:fillRef>
          <a:effectRef idx="0">
            <a:srgbClr val="FFFFFF"/>
          </a:effectRef>
          <a:fontRef idx="minor">
            <a:schemeClr val="tx1"/>
          </a:fontRef>
        </p:style>
      </p:cxnSp>
      <p:sp>
        <p:nvSpPr>
          <p:cNvPr id="3" name="Text 0">
            <a:extLst>
              <a:ext uri="{FF2B5EF4-FFF2-40B4-BE49-F238E27FC236}">
                <a16:creationId xmlns:a16="http://schemas.microsoft.com/office/drawing/2014/main" id="{D6E5357C-6393-4D8D-66EE-991F66000D6D}"/>
              </a:ext>
            </a:extLst>
          </p:cNvPr>
          <p:cNvSpPr/>
          <p:nvPr/>
        </p:nvSpPr>
        <p:spPr>
          <a:xfrm>
            <a:off x="209033" y="232346"/>
            <a:ext cx="8859402" cy="481927"/>
          </a:xfrm>
          <a:prstGeom prst="rect">
            <a:avLst/>
          </a:prstGeom>
          <a:noFill/>
        </p:spPr>
        <p:txBody>
          <a:bodyPr wrap="square" lIns="95250" tIns="95250" rIns="95250" bIns="95250" rtlCol="0" anchor="t"/>
          <a:lstStyle/>
          <a:p>
            <a:pPr>
              <a:spcBef>
                <a:spcPts val="375"/>
              </a:spcBef>
            </a:pPr>
            <a:r>
              <a:rPr lang="zh-CN" altLang="en-US" b="1" dirty="0">
                <a:solidFill>
                  <a:schemeClr val="bg1"/>
                </a:solidFill>
              </a:rPr>
              <a:t>Routing Scheme</a:t>
            </a:r>
            <a:r>
              <a:rPr lang="en-US" altLang="zh-CN" b="1" dirty="0">
                <a:solidFill>
                  <a:schemeClr val="bg1"/>
                </a:solidFill>
              </a:rPr>
              <a:t> </a:t>
            </a:r>
            <a:r>
              <a:rPr lang="zh-CN" altLang="en-US" b="1" dirty="0">
                <a:solidFill>
                  <a:schemeClr val="bg1"/>
                </a:solidFill>
              </a:rPr>
              <a:t>of QRAM</a:t>
            </a:r>
          </a:p>
        </p:txBody>
      </p:sp>
      <p:sp>
        <p:nvSpPr>
          <p:cNvPr id="5" name="矩形: 圆角 37">
            <a:extLst>
              <a:ext uri="{FF2B5EF4-FFF2-40B4-BE49-F238E27FC236}">
                <a16:creationId xmlns:a16="http://schemas.microsoft.com/office/drawing/2014/main" id="{E37210D4-41FA-39F1-1E64-564B1FD663BB}"/>
              </a:ext>
            </a:extLst>
          </p:cNvPr>
          <p:cNvSpPr/>
          <p:nvPr/>
        </p:nvSpPr>
        <p:spPr>
          <a:xfrm>
            <a:off x="225425" y="956310"/>
            <a:ext cx="866648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buClrTx/>
              <a:buSzTx/>
              <a:buFontTx/>
            </a:pPr>
            <a:r>
              <a:rPr lang="zh-CN" altLang="en-US" b="1" dirty="0">
                <a:solidFill>
                  <a:schemeClr val="tx1"/>
                </a:solidFill>
                <a:ea typeface="微软雅黑" panose="020B0503020204020204" pitchFamily="34" charset="-122"/>
                <a:cs typeface="微软雅黑" panose="020B0503020204020204" pitchFamily="34" charset="-122"/>
              </a:rPr>
              <a:t>Address bits determine the QRAM data-access path.</a:t>
            </a:r>
          </a:p>
        </p:txBody>
      </p:sp>
      <p:sp>
        <p:nvSpPr>
          <p:cNvPr id="6" name="矩形: 圆角 38">
            <a:extLst>
              <a:ext uri="{FF2B5EF4-FFF2-40B4-BE49-F238E27FC236}">
                <a16:creationId xmlns:a16="http://schemas.microsoft.com/office/drawing/2014/main" id="{AB153E97-45C8-C70B-9312-1A237DFB0F7F}"/>
              </a:ext>
            </a:extLst>
          </p:cNvPr>
          <p:cNvSpPr/>
          <p:nvPr/>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lang="en-US" altLang="zh-CN" b="1" dirty="0"/>
              <a:t>Step 2</a:t>
            </a:r>
            <a:endParaRPr lang="zh-CN" altLang="en-US" b="1" dirty="0"/>
          </a:p>
        </p:txBody>
      </p:sp>
      <p:sp>
        <p:nvSpPr>
          <p:cNvPr id="7" name="文本框 6">
            <a:extLst>
              <a:ext uri="{FF2B5EF4-FFF2-40B4-BE49-F238E27FC236}">
                <a16:creationId xmlns:a16="http://schemas.microsoft.com/office/drawing/2014/main" id="{71525437-22AE-DC6F-D4A6-C05437004532}"/>
              </a:ext>
            </a:extLst>
          </p:cNvPr>
          <p:cNvSpPr txBox="1"/>
          <p:nvPr/>
        </p:nvSpPr>
        <p:spPr>
          <a:xfrm>
            <a:off x="3301042" y="4144645"/>
            <a:ext cx="3067373" cy="583565"/>
          </a:xfrm>
          <a:prstGeom prst="rect">
            <a:avLst/>
          </a:prstGeom>
          <a:noFill/>
        </p:spPr>
        <p:txBody>
          <a:bodyPr wrap="square" rtlCol="0"/>
          <a:lstStyle/>
          <a:p>
            <a:pPr indent="0" fontAlgn="auto">
              <a:lnSpc>
                <a:spcPct val="100000"/>
              </a:lnSpc>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The original a1 information is routed to A0/A1 by a controlled-SWAP gate according to the first address bit.</a:t>
            </a:r>
            <a:endParaRPr lang="zh-CN" altLang="en-US" sz="1400" baseline="-25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367440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DE056-9CB0-4F8B-5AC6-624B468A9F96}"/>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05CD556E-67F9-5849-69AA-11DCEE300671}"/>
              </a:ext>
            </a:extLst>
          </p:cNvPr>
          <p:cNvSpPr txBox="1"/>
          <p:nvPr/>
        </p:nvSpPr>
        <p:spPr>
          <a:xfrm>
            <a:off x="195580" y="1430083"/>
            <a:ext cx="5204460" cy="337185"/>
          </a:xfrm>
          <a:prstGeom prst="rect">
            <a:avLst/>
          </a:prstGeom>
          <a:noFill/>
        </p:spPr>
        <p:txBody>
          <a:bodyPr wrap="square" rtlCol="0"/>
          <a:lstStyle/>
          <a:p>
            <a:pPr>
              <a:lnSpc>
                <a:spcPct val="100000"/>
              </a:lnSpc>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Example: a 2-layer QRAM (2-bit address, 4 data bits)</a:t>
            </a:r>
          </a:p>
        </p:txBody>
      </p:sp>
      <p:pic>
        <p:nvPicPr>
          <p:cNvPr id="23" name="图片 22">
            <a:extLst>
              <a:ext uri="{FF2B5EF4-FFF2-40B4-BE49-F238E27FC236}">
                <a16:creationId xmlns:a16="http://schemas.microsoft.com/office/drawing/2014/main" id="{ECB8107F-3549-F5C2-E906-D17777662543}"/>
              </a:ext>
            </a:extLst>
          </p:cNvPr>
          <p:cNvPicPr>
            <a:picLocks noChangeAspect="1"/>
          </p:cNvPicPr>
          <p:nvPr/>
        </p:nvPicPr>
        <p:blipFill>
          <a:blip r:embed="rId15"/>
          <a:stretch>
            <a:fillRect/>
          </a:stretch>
        </p:blipFill>
        <p:spPr>
          <a:xfrm>
            <a:off x="335280" y="2644775"/>
            <a:ext cx="1246505" cy="1547495"/>
          </a:xfrm>
          <a:prstGeom prst="rect">
            <a:avLst/>
          </a:prstGeom>
        </p:spPr>
      </p:pic>
      <p:pic>
        <p:nvPicPr>
          <p:cNvPr id="24" name="图片 23">
            <a:extLst>
              <a:ext uri="{FF2B5EF4-FFF2-40B4-BE49-F238E27FC236}">
                <a16:creationId xmlns:a16="http://schemas.microsoft.com/office/drawing/2014/main" id="{72C5160E-639B-F66B-1448-37908259822B}"/>
              </a:ext>
            </a:extLst>
          </p:cNvPr>
          <p:cNvPicPr>
            <a:picLocks noChangeAspect="1"/>
          </p:cNvPicPr>
          <p:nvPr/>
        </p:nvPicPr>
        <p:blipFill>
          <a:blip r:embed="rId16"/>
          <a:srcRect b="7994"/>
          <a:stretch>
            <a:fillRect/>
          </a:stretch>
        </p:blipFill>
        <p:spPr>
          <a:xfrm>
            <a:off x="3717925" y="2490470"/>
            <a:ext cx="942975" cy="1323340"/>
          </a:xfrm>
          <a:prstGeom prst="rect">
            <a:avLst/>
          </a:prstGeom>
        </p:spPr>
      </p:pic>
      <p:pic>
        <p:nvPicPr>
          <p:cNvPr id="25" name="图片 24">
            <a:extLst>
              <a:ext uri="{FF2B5EF4-FFF2-40B4-BE49-F238E27FC236}">
                <a16:creationId xmlns:a16="http://schemas.microsoft.com/office/drawing/2014/main" id="{9C3570DC-7FDA-1D30-8216-F0DB44D188AF}"/>
              </a:ext>
            </a:extLst>
          </p:cNvPr>
          <p:cNvPicPr>
            <a:picLocks noChangeAspect="1"/>
          </p:cNvPicPr>
          <p:nvPr/>
        </p:nvPicPr>
        <p:blipFill>
          <a:blip r:embed="rId17"/>
          <a:srcRect t="8298" b="48361"/>
          <a:stretch>
            <a:fillRect/>
          </a:stretch>
        </p:blipFill>
        <p:spPr>
          <a:xfrm>
            <a:off x="4660900" y="2644775"/>
            <a:ext cx="1494155" cy="922020"/>
          </a:xfrm>
          <a:prstGeom prst="rect">
            <a:avLst/>
          </a:prstGeom>
        </p:spPr>
      </p:pic>
      <p:pic>
        <p:nvPicPr>
          <p:cNvPr id="32" name="图片 31">
            <a:extLst>
              <a:ext uri="{FF2B5EF4-FFF2-40B4-BE49-F238E27FC236}">
                <a16:creationId xmlns:a16="http://schemas.microsoft.com/office/drawing/2014/main" id="{5E2DAC1C-1E63-755A-F6DB-9604ED882AA4}"/>
              </a:ext>
            </a:extLst>
          </p:cNvPr>
          <p:cNvPicPr>
            <a:picLocks noChangeAspect="1"/>
          </p:cNvPicPr>
          <p:nvPr/>
        </p:nvPicPr>
        <p:blipFill>
          <a:blip r:embed="rId15"/>
          <a:stretch>
            <a:fillRect/>
          </a:stretch>
        </p:blipFill>
        <p:spPr>
          <a:xfrm>
            <a:off x="1704975" y="2767965"/>
            <a:ext cx="1246505" cy="1547495"/>
          </a:xfrm>
          <a:prstGeom prst="rect">
            <a:avLst/>
          </a:prstGeom>
        </p:spPr>
      </p:pic>
      <p:pic>
        <p:nvPicPr>
          <p:cNvPr id="34" name="图片 33">
            <a:extLst>
              <a:ext uri="{FF2B5EF4-FFF2-40B4-BE49-F238E27FC236}">
                <a16:creationId xmlns:a16="http://schemas.microsoft.com/office/drawing/2014/main" id="{9057DC34-F268-615E-2838-A807008F8B41}"/>
              </a:ext>
            </a:extLst>
          </p:cNvPr>
          <p:cNvPicPr>
            <a:picLocks noChangeAspect="1"/>
          </p:cNvPicPr>
          <p:nvPr/>
        </p:nvPicPr>
        <p:blipFill>
          <a:blip r:embed="rId18"/>
          <a:stretch>
            <a:fillRect/>
          </a:stretch>
        </p:blipFill>
        <p:spPr>
          <a:xfrm>
            <a:off x="2374265" y="2867660"/>
            <a:ext cx="259080" cy="245110"/>
          </a:xfrm>
          <a:prstGeom prst="rect">
            <a:avLst/>
          </a:prstGeom>
        </p:spPr>
      </p:pic>
      <p:pic>
        <p:nvPicPr>
          <p:cNvPr id="35" name="图片 34">
            <a:extLst>
              <a:ext uri="{FF2B5EF4-FFF2-40B4-BE49-F238E27FC236}">
                <a16:creationId xmlns:a16="http://schemas.microsoft.com/office/drawing/2014/main" id="{BBB3D72A-6AC4-6098-BA53-59BBE216E9A5}"/>
              </a:ext>
            </a:extLst>
          </p:cNvPr>
          <p:cNvPicPr>
            <a:picLocks noChangeAspect="1"/>
          </p:cNvPicPr>
          <p:nvPr/>
        </p:nvPicPr>
        <p:blipFill>
          <a:blip r:embed="rId19"/>
          <a:stretch>
            <a:fillRect/>
          </a:stretch>
        </p:blipFill>
        <p:spPr>
          <a:xfrm>
            <a:off x="284480" y="4239260"/>
            <a:ext cx="494030" cy="219075"/>
          </a:xfrm>
          <a:prstGeom prst="rect">
            <a:avLst/>
          </a:prstGeom>
        </p:spPr>
      </p:pic>
      <p:sp>
        <p:nvSpPr>
          <p:cNvPr id="36" name="文本框 35">
            <a:extLst>
              <a:ext uri="{FF2B5EF4-FFF2-40B4-BE49-F238E27FC236}">
                <a16:creationId xmlns:a16="http://schemas.microsoft.com/office/drawing/2014/main" id="{3E099872-55D8-D289-5E00-A7FF33CD47CB}"/>
              </a:ext>
            </a:extLst>
          </p:cNvPr>
          <p:cNvSpPr txBox="1"/>
          <p:nvPr/>
        </p:nvSpPr>
        <p:spPr>
          <a:xfrm>
            <a:off x="758190" y="4241800"/>
            <a:ext cx="978535" cy="245110"/>
          </a:xfrm>
          <a:prstGeom prst="rect">
            <a:avLst/>
          </a:prstGeom>
          <a:noFill/>
        </p:spPr>
        <p:txBody>
          <a:bodyPr wrap="square" rtlCol="0"/>
          <a:lstStyle/>
          <a:p>
            <a:pPr>
              <a:lnSpc>
                <a:spcPct val="100000"/>
              </a:lnSpc>
            </a:pPr>
            <a:r>
              <a:rPr lang="zh-CN" altLang="en-US" sz="1050"/>
              <a:t>Address bit</a:t>
            </a:r>
          </a:p>
        </p:txBody>
      </p:sp>
      <p:sp>
        <p:nvSpPr>
          <p:cNvPr id="37" name="矩形 36">
            <a:extLst>
              <a:ext uri="{FF2B5EF4-FFF2-40B4-BE49-F238E27FC236}">
                <a16:creationId xmlns:a16="http://schemas.microsoft.com/office/drawing/2014/main" id="{E8CF5E38-5E20-7929-8A98-CA8D067C5F78}"/>
              </a:ext>
            </a:extLst>
          </p:cNvPr>
          <p:cNvSpPr/>
          <p:nvPr/>
        </p:nvSpPr>
        <p:spPr>
          <a:xfrm>
            <a:off x="218440" y="1788035"/>
            <a:ext cx="2975610" cy="5336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b="1" dirty="0"/>
              <a:t>Load the first address bit into the routing node</a:t>
            </a:r>
          </a:p>
        </p:txBody>
      </p:sp>
      <p:sp>
        <p:nvSpPr>
          <p:cNvPr id="40" name="文本框 39">
            <a:extLst>
              <a:ext uri="{FF2B5EF4-FFF2-40B4-BE49-F238E27FC236}">
                <a16:creationId xmlns:a16="http://schemas.microsoft.com/office/drawing/2014/main" id="{E5E4E235-C53D-FE88-1F14-4D878BD99374}"/>
              </a:ext>
            </a:extLst>
          </p:cNvPr>
          <p:cNvSpPr txBox="1"/>
          <p:nvPr/>
        </p:nvSpPr>
        <p:spPr>
          <a:xfrm>
            <a:off x="154940" y="2268220"/>
            <a:ext cx="754380" cy="254635"/>
          </a:xfrm>
          <a:prstGeom prst="rect">
            <a:avLst/>
          </a:prstGeom>
          <a:noFill/>
        </p:spPr>
        <p:txBody>
          <a:bodyPr wrap="square" rtlCol="0"/>
          <a:lstStyle/>
          <a:p>
            <a:pPr>
              <a:lnSpc>
                <a:spcPct val="100000"/>
              </a:lnSpc>
            </a:pPr>
            <a:r>
              <a:rPr lang="en-US" altLang="zh-CN" sz="1400" b="1" dirty="0">
                <a:solidFill>
                  <a:srgbClr val="C00000"/>
                </a:solidFill>
                <a:latin typeface="微软雅黑" panose="020B0503020204020204" pitchFamily="34" charset="-122"/>
                <a:ea typeface="微软雅黑" panose="020B0503020204020204" pitchFamily="34" charset="-122"/>
              </a:rPr>
              <a:t>step1</a:t>
            </a:r>
          </a:p>
        </p:txBody>
      </p:sp>
      <p:cxnSp>
        <p:nvCxnSpPr>
          <p:cNvPr id="41" name="直接箭头连接符 40">
            <a:extLst>
              <a:ext uri="{FF2B5EF4-FFF2-40B4-BE49-F238E27FC236}">
                <a16:creationId xmlns:a16="http://schemas.microsoft.com/office/drawing/2014/main" id="{3A48D003-23C9-54B0-043C-718338BBFD87}"/>
              </a:ext>
            </a:extLst>
          </p:cNvPr>
          <p:cNvCxnSpPr/>
          <p:nvPr/>
        </p:nvCxnSpPr>
        <p:spPr>
          <a:xfrm>
            <a:off x="1408430" y="2944495"/>
            <a:ext cx="890270" cy="0"/>
          </a:xfrm>
          <a:prstGeom prst="straightConnector1">
            <a:avLst/>
          </a:prstGeom>
          <a:ln>
            <a:solidFill>
              <a:srgbClr val="C00000"/>
            </a:solidFill>
            <a:tailEnd type="arrow"/>
          </a:ln>
        </p:spPr>
        <p:style>
          <a:lnRef idx="2">
            <a:schemeClr val="accent1"/>
          </a:lnRef>
          <a:fillRef idx="0">
            <a:srgbClr val="FFFFFF"/>
          </a:fillRef>
          <a:effectRef idx="0">
            <a:srgbClr val="FFFFFF"/>
          </a:effectRef>
          <a:fontRef idx="minor">
            <a:schemeClr val="tx1"/>
          </a:fontRef>
        </p:style>
      </p:cxnSp>
      <p:sp>
        <p:nvSpPr>
          <p:cNvPr id="43" name="文本框 42">
            <a:extLst>
              <a:ext uri="{FF2B5EF4-FFF2-40B4-BE49-F238E27FC236}">
                <a16:creationId xmlns:a16="http://schemas.microsoft.com/office/drawing/2014/main" id="{C1E59356-4300-7FF1-3BEE-64C0635709E0}"/>
              </a:ext>
            </a:extLst>
          </p:cNvPr>
          <p:cNvSpPr txBox="1"/>
          <p:nvPr/>
        </p:nvSpPr>
        <p:spPr>
          <a:xfrm>
            <a:off x="1229995" y="2399665"/>
            <a:ext cx="1612900" cy="245110"/>
          </a:xfrm>
          <a:prstGeom prst="rect">
            <a:avLst/>
          </a:prstGeom>
          <a:noFill/>
        </p:spPr>
        <p:txBody>
          <a:bodyPr wrap="square" rtlCol="0"/>
          <a:lstStyle/>
          <a:p>
            <a:pPr>
              <a:lnSpc>
                <a:spcPct val="100000"/>
              </a:lnSpc>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Treat a0 as node A</a:t>
            </a:r>
          </a:p>
        </p:txBody>
      </p:sp>
      <p:pic>
        <p:nvPicPr>
          <p:cNvPr id="44" name="图片 43">
            <a:extLst>
              <a:ext uri="{FF2B5EF4-FFF2-40B4-BE49-F238E27FC236}">
                <a16:creationId xmlns:a16="http://schemas.microsoft.com/office/drawing/2014/main" id="{BA4362C4-F02A-03B7-75EC-2EA4425BABAF}"/>
              </a:ext>
            </a:extLst>
          </p:cNvPr>
          <p:cNvPicPr>
            <a:picLocks noChangeAspect="1"/>
          </p:cNvPicPr>
          <p:nvPr/>
        </p:nvPicPr>
        <p:blipFill>
          <a:blip r:embed="rId19"/>
          <a:srcRect l="52699"/>
          <a:stretch>
            <a:fillRect/>
          </a:stretch>
        </p:blipFill>
        <p:spPr>
          <a:xfrm>
            <a:off x="1482725" y="2688590"/>
            <a:ext cx="233680" cy="219075"/>
          </a:xfrm>
          <a:prstGeom prst="rect">
            <a:avLst/>
          </a:prstGeom>
        </p:spPr>
      </p:pic>
      <p:pic>
        <p:nvPicPr>
          <p:cNvPr id="45" name="图片 44">
            <a:extLst>
              <a:ext uri="{FF2B5EF4-FFF2-40B4-BE49-F238E27FC236}">
                <a16:creationId xmlns:a16="http://schemas.microsoft.com/office/drawing/2014/main" id="{CD65F33D-8C18-888B-851A-CB67D4A656B2}"/>
              </a:ext>
            </a:extLst>
          </p:cNvPr>
          <p:cNvPicPr>
            <a:picLocks noChangeAspect="1"/>
          </p:cNvPicPr>
          <p:nvPr/>
        </p:nvPicPr>
        <p:blipFill>
          <a:blip r:embed="rId18"/>
          <a:stretch>
            <a:fillRect/>
          </a:stretch>
        </p:blipFill>
        <p:spPr>
          <a:xfrm>
            <a:off x="1906905" y="2673985"/>
            <a:ext cx="259080" cy="245110"/>
          </a:xfrm>
          <a:prstGeom prst="rect">
            <a:avLst/>
          </a:prstGeom>
        </p:spPr>
      </p:pic>
      <p:sp>
        <p:nvSpPr>
          <p:cNvPr id="46" name="文本框 45">
            <a:extLst>
              <a:ext uri="{FF2B5EF4-FFF2-40B4-BE49-F238E27FC236}">
                <a16:creationId xmlns:a16="http://schemas.microsoft.com/office/drawing/2014/main" id="{414219FD-F077-79A7-F09F-5D0662DB19B3}"/>
              </a:ext>
            </a:extLst>
          </p:cNvPr>
          <p:cNvSpPr txBox="1"/>
          <p:nvPr/>
        </p:nvSpPr>
        <p:spPr>
          <a:xfrm>
            <a:off x="1654810" y="2614295"/>
            <a:ext cx="307975" cy="368300"/>
          </a:xfrm>
          <a:prstGeom prst="rect">
            <a:avLst/>
          </a:prstGeom>
          <a:noFill/>
        </p:spPr>
        <p:txBody>
          <a:bodyPr wrap="square" rtlCol="0">
            <a:normAutofit lnSpcReduction="10000"/>
          </a:bodyPr>
          <a:lstStyle/>
          <a:p>
            <a:pPr>
              <a:lnSpc>
                <a:spcPct val="100000"/>
              </a:lnSpc>
            </a:pPr>
            <a:r>
              <a:rPr lang="en-US" altLang="zh-CN" sz="2000" b="1"/>
              <a:t>=</a:t>
            </a:r>
          </a:p>
        </p:txBody>
      </p:sp>
      <p:sp>
        <p:nvSpPr>
          <p:cNvPr id="47" name="文本框 46">
            <a:extLst>
              <a:ext uri="{FF2B5EF4-FFF2-40B4-BE49-F238E27FC236}">
                <a16:creationId xmlns:a16="http://schemas.microsoft.com/office/drawing/2014/main" id="{8E7DCCFE-C7AE-EF23-F718-5B149E145669}"/>
              </a:ext>
            </a:extLst>
          </p:cNvPr>
          <p:cNvSpPr txBox="1"/>
          <p:nvPr/>
        </p:nvSpPr>
        <p:spPr>
          <a:xfrm>
            <a:off x="3301042" y="4138589"/>
            <a:ext cx="3067373" cy="583565"/>
          </a:xfrm>
          <a:prstGeom prst="rect">
            <a:avLst/>
          </a:prstGeom>
          <a:noFill/>
        </p:spPr>
        <p:txBody>
          <a:bodyPr wrap="square" rtlCol="0"/>
          <a:lstStyle/>
          <a:p>
            <a:pPr indent="0" fontAlgn="auto">
              <a:lnSpc>
                <a:spcPct val="100000"/>
              </a:lnSpc>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The original a1 information is routed to A0/A1 by a controlled-SWAP gate according to the first address bit.</a:t>
            </a:r>
            <a:endParaRPr lang="zh-CN" altLang="en-US" sz="1400" baseline="-25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 name="矩形 47">
            <a:extLst>
              <a:ext uri="{FF2B5EF4-FFF2-40B4-BE49-F238E27FC236}">
                <a16:creationId xmlns:a16="http://schemas.microsoft.com/office/drawing/2014/main" id="{F9E73E36-D784-566B-90D4-DB563BE15ED1}"/>
              </a:ext>
            </a:extLst>
          </p:cNvPr>
          <p:cNvSpPr/>
          <p:nvPr/>
        </p:nvSpPr>
        <p:spPr>
          <a:xfrm>
            <a:off x="3416300" y="1788035"/>
            <a:ext cx="2975610" cy="5336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b="1" dirty="0"/>
              <a:t>Load the second address bit into the routing node</a:t>
            </a:r>
          </a:p>
        </p:txBody>
      </p:sp>
      <p:sp>
        <p:nvSpPr>
          <p:cNvPr id="49" name="文本框 48">
            <a:extLst>
              <a:ext uri="{FF2B5EF4-FFF2-40B4-BE49-F238E27FC236}">
                <a16:creationId xmlns:a16="http://schemas.microsoft.com/office/drawing/2014/main" id="{47EBB503-A696-363A-626F-E464E17617D4}"/>
              </a:ext>
            </a:extLst>
          </p:cNvPr>
          <p:cNvSpPr txBox="1"/>
          <p:nvPr/>
        </p:nvSpPr>
        <p:spPr>
          <a:xfrm>
            <a:off x="3416300" y="2268220"/>
            <a:ext cx="754380" cy="254635"/>
          </a:xfrm>
          <a:prstGeom prst="rect">
            <a:avLst/>
          </a:prstGeom>
          <a:noFill/>
        </p:spPr>
        <p:txBody>
          <a:bodyPr wrap="square" rtlCol="0"/>
          <a:lstStyle/>
          <a:p>
            <a:pPr>
              <a:lnSpc>
                <a:spcPct val="100000"/>
              </a:lnSpc>
            </a:pPr>
            <a:r>
              <a:rPr lang="en-US" altLang="zh-CN" sz="1400" b="1">
                <a:solidFill>
                  <a:srgbClr val="C00000"/>
                </a:solidFill>
                <a:latin typeface="微软雅黑" panose="020B0503020204020204" pitchFamily="34" charset="-122"/>
                <a:ea typeface="微软雅黑" panose="020B0503020204020204" pitchFamily="34" charset="-122"/>
              </a:rPr>
              <a:t>step2</a:t>
            </a:r>
          </a:p>
        </p:txBody>
      </p:sp>
      <p:pic>
        <p:nvPicPr>
          <p:cNvPr id="50" name="图片 49">
            <a:extLst>
              <a:ext uri="{FF2B5EF4-FFF2-40B4-BE49-F238E27FC236}">
                <a16:creationId xmlns:a16="http://schemas.microsoft.com/office/drawing/2014/main" id="{43020EBD-7959-5612-EB40-849A29BDBEFD}"/>
              </a:ext>
            </a:extLst>
          </p:cNvPr>
          <p:cNvPicPr>
            <a:picLocks noChangeAspect="1"/>
          </p:cNvPicPr>
          <p:nvPr/>
        </p:nvPicPr>
        <p:blipFill>
          <a:blip r:embed="rId20"/>
          <a:stretch>
            <a:fillRect/>
          </a:stretch>
        </p:blipFill>
        <p:spPr>
          <a:xfrm>
            <a:off x="284480" y="4489450"/>
            <a:ext cx="241300" cy="238760"/>
          </a:xfrm>
          <a:prstGeom prst="rect">
            <a:avLst/>
          </a:prstGeom>
        </p:spPr>
      </p:pic>
      <p:pic>
        <p:nvPicPr>
          <p:cNvPr id="51" name="图片 50">
            <a:extLst>
              <a:ext uri="{FF2B5EF4-FFF2-40B4-BE49-F238E27FC236}">
                <a16:creationId xmlns:a16="http://schemas.microsoft.com/office/drawing/2014/main" id="{68BF2E8C-E6C9-A26C-14D0-5BE653EDBA3D}"/>
              </a:ext>
            </a:extLst>
          </p:cNvPr>
          <p:cNvPicPr>
            <a:picLocks noChangeAspect="1"/>
          </p:cNvPicPr>
          <p:nvPr/>
        </p:nvPicPr>
        <p:blipFill>
          <a:blip r:embed="rId21"/>
          <a:stretch>
            <a:fillRect/>
          </a:stretch>
        </p:blipFill>
        <p:spPr>
          <a:xfrm>
            <a:off x="525780" y="4489450"/>
            <a:ext cx="248285" cy="241935"/>
          </a:xfrm>
          <a:prstGeom prst="rect">
            <a:avLst/>
          </a:prstGeom>
        </p:spPr>
      </p:pic>
      <p:sp>
        <p:nvSpPr>
          <p:cNvPr id="52" name="文本框 51">
            <a:extLst>
              <a:ext uri="{FF2B5EF4-FFF2-40B4-BE49-F238E27FC236}">
                <a16:creationId xmlns:a16="http://schemas.microsoft.com/office/drawing/2014/main" id="{7BD79F4E-F813-6CA7-07D0-6707F731BE2A}"/>
              </a:ext>
            </a:extLst>
          </p:cNvPr>
          <p:cNvSpPr txBox="1"/>
          <p:nvPr/>
        </p:nvSpPr>
        <p:spPr>
          <a:xfrm>
            <a:off x="758190" y="4518025"/>
            <a:ext cx="2073275" cy="245110"/>
          </a:xfrm>
          <a:prstGeom prst="rect">
            <a:avLst/>
          </a:prstGeom>
          <a:noFill/>
        </p:spPr>
        <p:txBody>
          <a:bodyPr wrap="square" rtlCol="0"/>
          <a:lstStyle/>
          <a:p>
            <a:pPr>
              <a:lnSpc>
                <a:spcPct val="100000"/>
              </a:lnSpc>
            </a:pPr>
            <a:r>
              <a:rPr lang="zh-CN" altLang="en-US" sz="1050"/>
              <a:t>Empty address-routing qubit</a:t>
            </a:r>
          </a:p>
        </p:txBody>
      </p:sp>
      <p:sp>
        <p:nvSpPr>
          <p:cNvPr id="53" name="右箭头 52">
            <a:extLst>
              <a:ext uri="{FF2B5EF4-FFF2-40B4-BE49-F238E27FC236}">
                <a16:creationId xmlns:a16="http://schemas.microsoft.com/office/drawing/2014/main" id="{B498F6D3-2142-3DA6-44DD-9CF5C2D272AA}"/>
              </a:ext>
            </a:extLst>
          </p:cNvPr>
          <p:cNvSpPr/>
          <p:nvPr/>
        </p:nvSpPr>
        <p:spPr>
          <a:xfrm>
            <a:off x="6315710" y="2948940"/>
            <a:ext cx="304800" cy="344805"/>
          </a:xfrm>
          <a:prstGeom prst="rightArrow">
            <a:avLst/>
          </a:prstGeom>
          <a:solidFill>
            <a:schemeClr val="accent6">
              <a:lumMod val="75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85000" lnSpcReduction="20000"/>
          </a:bodyPr>
          <a:lstStyle/>
          <a:p>
            <a:pPr algn="ctr">
              <a:lnSpc>
                <a:spcPct val="100000"/>
              </a:lnSpc>
            </a:pPr>
            <a:endParaRPr lang="zh-CN" altLang="en-US" sz="700"/>
          </a:p>
        </p:txBody>
      </p:sp>
      <p:sp>
        <p:nvSpPr>
          <p:cNvPr id="54" name="文本框 53">
            <a:extLst>
              <a:ext uri="{FF2B5EF4-FFF2-40B4-BE49-F238E27FC236}">
                <a16:creationId xmlns:a16="http://schemas.microsoft.com/office/drawing/2014/main" id="{8764E7D0-601F-114A-E318-05E0CF6B792D}"/>
              </a:ext>
            </a:extLst>
          </p:cNvPr>
          <p:cNvSpPr txBox="1"/>
          <p:nvPr/>
        </p:nvSpPr>
        <p:spPr>
          <a:xfrm>
            <a:off x="6620511" y="4164018"/>
            <a:ext cx="2339460" cy="583565"/>
          </a:xfrm>
          <a:prstGeom prst="rect">
            <a:avLst/>
          </a:prstGeom>
          <a:noFill/>
        </p:spPr>
        <p:txBody>
          <a:bodyPr wrap="square" rtlCol="0"/>
          <a:lstStyle/>
          <a:p>
            <a:pPr indent="0" fontAlgn="auto">
              <a:lnSpc>
                <a:spcPct val="100000"/>
              </a:lnSpc>
            </a:pPr>
            <a:r>
              <a:rPr lang="zh-CN" sz="1400" b="1" dirty="0">
                <a:ea typeface="微软雅黑" panose="020B0503020204020204" pitchFamily="34" charset="-122"/>
                <a:cs typeface="微软雅黑" panose="020B0503020204020204" pitchFamily="34" charset="-122"/>
              </a:rPr>
              <a:t>QRAM can determine the access path corresponding to the input address.</a:t>
            </a:r>
            <a:endParaRPr lang="zh-CN" altLang="en-US" sz="1400" b="1" baseline="-25000" dirty="0">
              <a:ea typeface="微软雅黑" panose="020B0503020204020204" pitchFamily="34" charset="-122"/>
              <a:cs typeface="微软雅黑" panose="020B0503020204020204" pitchFamily="34" charset="-122"/>
            </a:endParaRPr>
          </a:p>
        </p:txBody>
      </p:sp>
      <p:sp>
        <p:nvSpPr>
          <p:cNvPr id="55" name="矩形 54">
            <a:extLst>
              <a:ext uri="{FF2B5EF4-FFF2-40B4-BE49-F238E27FC236}">
                <a16:creationId xmlns:a16="http://schemas.microsoft.com/office/drawing/2014/main" id="{B1BC71A8-90E9-FCD1-DBC0-CDB25C1B6B3B}"/>
              </a:ext>
            </a:extLst>
          </p:cNvPr>
          <p:cNvSpPr/>
          <p:nvPr/>
        </p:nvSpPr>
        <p:spPr>
          <a:xfrm>
            <a:off x="6696710" y="1788035"/>
            <a:ext cx="2141855" cy="5336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sz="1600" b="1" dirty="0"/>
              <a:t>Address routing completed</a:t>
            </a:r>
          </a:p>
        </p:txBody>
      </p:sp>
      <p:pic>
        <p:nvPicPr>
          <p:cNvPr id="56" name="图片 55">
            <a:extLst>
              <a:ext uri="{FF2B5EF4-FFF2-40B4-BE49-F238E27FC236}">
                <a16:creationId xmlns:a16="http://schemas.microsoft.com/office/drawing/2014/main" id="{4F8142BC-2375-3C4E-43FD-32BA551386FF}"/>
              </a:ext>
            </a:extLst>
          </p:cNvPr>
          <p:cNvPicPr>
            <a:picLocks noChangeAspect="1"/>
          </p:cNvPicPr>
          <p:nvPr/>
        </p:nvPicPr>
        <p:blipFill>
          <a:blip r:embed="rId19"/>
          <a:srcRect r="51542"/>
          <a:stretch>
            <a:fillRect/>
          </a:stretch>
        </p:blipFill>
        <p:spPr>
          <a:xfrm>
            <a:off x="4899025" y="3797935"/>
            <a:ext cx="239395" cy="219075"/>
          </a:xfrm>
          <a:prstGeom prst="rect">
            <a:avLst/>
          </a:prstGeom>
        </p:spPr>
      </p:pic>
      <p:sp>
        <p:nvSpPr>
          <p:cNvPr id="57" name="文本框 56">
            <a:extLst>
              <a:ext uri="{FF2B5EF4-FFF2-40B4-BE49-F238E27FC236}">
                <a16:creationId xmlns:a16="http://schemas.microsoft.com/office/drawing/2014/main" id="{ACBF0BE4-BB0C-6518-DC19-37201669E3C5}"/>
              </a:ext>
            </a:extLst>
          </p:cNvPr>
          <p:cNvSpPr txBox="1"/>
          <p:nvPr/>
        </p:nvSpPr>
        <p:spPr>
          <a:xfrm>
            <a:off x="5085715" y="3739515"/>
            <a:ext cx="2033270" cy="275590"/>
          </a:xfrm>
          <a:prstGeom prst="rect">
            <a:avLst/>
          </a:prstGeom>
          <a:noFill/>
        </p:spPr>
        <p:txBody>
          <a:bodyPr wrap="square" rtlCol="0">
            <a:noAutofit/>
          </a:bodyPr>
          <a:lstStyle/>
          <a:p>
            <a:pPr>
              <a:lnSpc>
                <a:spcPct val="100000"/>
              </a:lnSpc>
            </a:pPr>
            <a:r>
              <a:rPr lang="zh-CN" altLang="en-US" sz="1400" dirty="0"/>
              <a:t>Original addres</a:t>
            </a:r>
            <a:r>
              <a:rPr lang="en-US" altLang="zh-CN" sz="1400" dirty="0"/>
              <a:t>s</a:t>
            </a:r>
            <a:endParaRPr lang="zh-CN" altLang="en-US" sz="1400" dirty="0"/>
          </a:p>
        </p:txBody>
      </p:sp>
      <p:sp>
        <p:nvSpPr>
          <p:cNvPr id="58" name="矩形 57">
            <a:extLst>
              <a:ext uri="{FF2B5EF4-FFF2-40B4-BE49-F238E27FC236}">
                <a16:creationId xmlns:a16="http://schemas.microsoft.com/office/drawing/2014/main" id="{590547BC-0060-FE36-0C0F-40AE511D940C}"/>
              </a:ext>
            </a:extLst>
          </p:cNvPr>
          <p:cNvSpPr/>
          <p:nvPr/>
        </p:nvSpPr>
        <p:spPr>
          <a:xfrm>
            <a:off x="4810760" y="3769360"/>
            <a:ext cx="1557655" cy="275590"/>
          </a:xfrm>
          <a:prstGeom prst="rect">
            <a:avLst/>
          </a:prstGeom>
          <a:noFill/>
          <a:ln w="12700">
            <a:solidFill>
              <a:schemeClr val="bg1">
                <a:lumMod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85000" lnSpcReduction="20000"/>
          </a:bodyPr>
          <a:lstStyle/>
          <a:p>
            <a:pPr algn="ctr">
              <a:lnSpc>
                <a:spcPct val="100000"/>
              </a:lnSpc>
            </a:pPr>
            <a:endParaRPr lang="zh-CN" altLang="en-US" sz="1600"/>
          </a:p>
        </p:txBody>
      </p:sp>
      <p:cxnSp>
        <p:nvCxnSpPr>
          <p:cNvPr id="59" name="直接箭头连接符 58">
            <a:extLst>
              <a:ext uri="{FF2B5EF4-FFF2-40B4-BE49-F238E27FC236}">
                <a16:creationId xmlns:a16="http://schemas.microsoft.com/office/drawing/2014/main" id="{F1F88BF2-A335-088F-61F2-58225978EB74}"/>
              </a:ext>
            </a:extLst>
          </p:cNvPr>
          <p:cNvCxnSpPr/>
          <p:nvPr/>
        </p:nvCxnSpPr>
        <p:spPr>
          <a:xfrm flipH="1" flipV="1">
            <a:off x="5138420" y="3176905"/>
            <a:ext cx="198755" cy="74930"/>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60" name="直接箭头连接符 59">
            <a:extLst>
              <a:ext uri="{FF2B5EF4-FFF2-40B4-BE49-F238E27FC236}">
                <a16:creationId xmlns:a16="http://schemas.microsoft.com/office/drawing/2014/main" id="{386496B5-E3DE-E7A5-2370-2D5CF72CC8CC}"/>
              </a:ext>
            </a:extLst>
          </p:cNvPr>
          <p:cNvCxnSpPr/>
          <p:nvPr/>
        </p:nvCxnSpPr>
        <p:spPr>
          <a:xfrm>
            <a:off x="5588635" y="3312795"/>
            <a:ext cx="199390" cy="95885"/>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61" name="直接箭头连接符 60">
            <a:extLst>
              <a:ext uri="{FF2B5EF4-FFF2-40B4-BE49-F238E27FC236}">
                <a16:creationId xmlns:a16="http://schemas.microsoft.com/office/drawing/2014/main" id="{D8EE5D07-B1B2-35C9-EF27-1A560D3AE04F}"/>
              </a:ext>
            </a:extLst>
          </p:cNvPr>
          <p:cNvCxnSpPr/>
          <p:nvPr/>
        </p:nvCxnSpPr>
        <p:spPr>
          <a:xfrm flipV="1">
            <a:off x="5293360" y="3408680"/>
            <a:ext cx="106680" cy="320040"/>
          </a:xfrm>
          <a:prstGeom prst="straightConnector1">
            <a:avLst/>
          </a:prstGeom>
          <a:ln w="19050">
            <a:solidFill>
              <a:srgbClr val="C00000"/>
            </a:solidFill>
            <a:tailEnd type="arrow"/>
          </a:ln>
        </p:spPr>
        <p:style>
          <a:lnRef idx="2">
            <a:schemeClr val="accent1"/>
          </a:lnRef>
          <a:fillRef idx="0">
            <a:srgbClr val="FFFFFF"/>
          </a:fillRef>
          <a:effectRef idx="0">
            <a:srgbClr val="FFFFFF"/>
          </a:effectRef>
          <a:fontRef idx="minor">
            <a:schemeClr val="tx1"/>
          </a:fontRef>
        </p:style>
      </p:cxnSp>
      <p:sp>
        <p:nvSpPr>
          <p:cNvPr id="26" name="矩形 25">
            <a:extLst>
              <a:ext uri="{FF2B5EF4-FFF2-40B4-BE49-F238E27FC236}">
                <a16:creationId xmlns:a16="http://schemas.microsoft.com/office/drawing/2014/main" id="{28FA8B1F-DAC5-367B-2E2A-BD00BC385E04}"/>
              </a:ext>
            </a:extLst>
          </p:cNvPr>
          <p:cNvSpPr/>
          <p:nvPr/>
        </p:nvSpPr>
        <p:spPr>
          <a:xfrm>
            <a:off x="6703695" y="2326005"/>
            <a:ext cx="2134870" cy="1776730"/>
          </a:xfrm>
          <a:prstGeom prst="rect">
            <a:avLst/>
          </a:prstGeom>
          <a:solidFill>
            <a:schemeClr val="accent6">
              <a:lumMod val="20000"/>
              <a:lumOff val="80000"/>
              <a:alpha val="25000"/>
            </a:schemeClr>
          </a:solidFill>
          <a:ln w="9525">
            <a:solidFill>
              <a:schemeClr val="accent6">
                <a:lumMod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sz="2000"/>
          </a:p>
        </p:txBody>
      </p:sp>
      <p:grpSp>
        <p:nvGrpSpPr>
          <p:cNvPr id="27" name="组合 26">
            <a:extLst>
              <a:ext uri="{FF2B5EF4-FFF2-40B4-BE49-F238E27FC236}">
                <a16:creationId xmlns:a16="http://schemas.microsoft.com/office/drawing/2014/main" id="{C94F0943-11A6-F007-9CEA-6567BB3E311D}"/>
              </a:ext>
            </a:extLst>
          </p:cNvPr>
          <p:cNvGrpSpPr/>
          <p:nvPr>
            <p:custDataLst>
              <p:tags r:id="rId1"/>
            </p:custDataLst>
          </p:nvPr>
        </p:nvGrpSpPr>
        <p:grpSpPr>
          <a:xfrm>
            <a:off x="7515225" y="2374900"/>
            <a:ext cx="492760" cy="492760"/>
            <a:chOff x="4344" y="2998"/>
            <a:chExt cx="776" cy="776"/>
          </a:xfrm>
        </p:grpSpPr>
        <p:sp>
          <p:nvSpPr>
            <p:cNvPr id="28" name="椭圆 27">
              <a:extLst>
                <a:ext uri="{FF2B5EF4-FFF2-40B4-BE49-F238E27FC236}">
                  <a16:creationId xmlns:a16="http://schemas.microsoft.com/office/drawing/2014/main" id="{4ED018A6-0D02-34E9-CC2D-6A376BBB4EC1}"/>
                </a:ext>
              </a:extLst>
            </p:cNvPr>
            <p:cNvSpPr/>
            <p:nvPr>
              <p:custDataLst>
                <p:tags r:id="rId12"/>
              </p:custDataLst>
            </p:nvPr>
          </p:nvSpPr>
          <p:spPr>
            <a:xfrm>
              <a:off x="4344" y="2998"/>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sz="2000"/>
            </a:p>
          </p:txBody>
        </p:sp>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5BD2BD13-DA71-EE52-8A04-9B34C817BC25}"/>
                    </a:ext>
                  </a:extLst>
                </p:cNvPr>
                <p:cNvSpPr txBox="1"/>
                <p:nvPr/>
              </p:nvSpPr>
              <p:spPr>
                <a:xfrm>
                  <a:off x="4442" y="3096"/>
                  <a:ext cx="398" cy="44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cs typeface="Cambria Math" panose="02040503050406030204" pitchFamily="18" charset="0"/>
                          </a:rPr>
                          <m:t>𝐴</m:t>
                        </m:r>
                      </m:oMath>
                    </m:oMathPara>
                  </a14:m>
                  <a:endParaRPr lang="zh-CN" altLang="en-US" sz="2000"/>
                </a:p>
              </p:txBody>
            </p:sp>
          </mc:Choice>
          <mc:Fallback xmlns="">
            <p:sp>
              <p:nvSpPr>
                <p:cNvPr id="29" name="文本框 28">
                  <a:extLst>
                    <a:ext uri="{FF2B5EF4-FFF2-40B4-BE49-F238E27FC236}">
                      <a16:creationId xmlns:a16="http://schemas.microsoft.com/office/drawing/2014/main" id="{5BD2BD13-DA71-EE52-8A04-9B34C817BC25}"/>
                    </a:ext>
                  </a:extLst>
                </p:cNvPr>
                <p:cNvSpPr txBox="1">
                  <a:spLocks noRot="1" noChangeAspect="1" noMove="1" noResize="1" noEditPoints="1" noAdjustHandles="1" noChangeArrowheads="1" noChangeShapeType="1" noTextEdit="1"/>
                </p:cNvSpPr>
                <p:nvPr/>
              </p:nvSpPr>
              <p:spPr>
                <a:xfrm>
                  <a:off x="4442" y="3096"/>
                  <a:ext cx="398" cy="445"/>
                </a:xfrm>
                <a:prstGeom prst="rect">
                  <a:avLst/>
                </a:prstGeom>
                <a:blipFill>
                  <a:blip r:embed="rId22"/>
                  <a:stretch>
                    <a:fillRect r="-33333" b="-30435"/>
                  </a:stretch>
                </a:blipFill>
              </p:spPr>
              <p:txBody>
                <a:bodyPr/>
                <a:lstStyle/>
                <a:p>
                  <a:r>
                    <a:rPr lang="zh-CN" altLang="en-US">
                      <a:noFill/>
                    </a:rPr>
                    <a:t> </a:t>
                  </a:r>
                </a:p>
              </p:txBody>
            </p:sp>
          </mc:Fallback>
        </mc:AlternateContent>
      </p:grpSp>
      <p:grpSp>
        <p:nvGrpSpPr>
          <p:cNvPr id="30" name="组合 29">
            <a:extLst>
              <a:ext uri="{FF2B5EF4-FFF2-40B4-BE49-F238E27FC236}">
                <a16:creationId xmlns:a16="http://schemas.microsoft.com/office/drawing/2014/main" id="{B0574A0D-FA02-EAA0-CD72-B1A2468BD2F9}"/>
              </a:ext>
            </a:extLst>
          </p:cNvPr>
          <p:cNvGrpSpPr/>
          <p:nvPr>
            <p:custDataLst>
              <p:tags r:id="rId2"/>
            </p:custDataLst>
          </p:nvPr>
        </p:nvGrpSpPr>
        <p:grpSpPr>
          <a:xfrm>
            <a:off x="7040245" y="3029585"/>
            <a:ext cx="492760" cy="492760"/>
            <a:chOff x="4344" y="1672"/>
            <a:chExt cx="776" cy="776"/>
          </a:xfrm>
        </p:grpSpPr>
        <p:sp>
          <p:nvSpPr>
            <p:cNvPr id="31" name="椭圆 30">
              <a:extLst>
                <a:ext uri="{FF2B5EF4-FFF2-40B4-BE49-F238E27FC236}">
                  <a16:creationId xmlns:a16="http://schemas.microsoft.com/office/drawing/2014/main" id="{7AF3F5E6-E3BA-2116-B527-F96D1B945B4C}"/>
                </a:ext>
              </a:extLst>
            </p:cNvPr>
            <p:cNvSpPr/>
            <p:nvPr>
              <p:custDataLst>
                <p:tags r:id="rId11"/>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sz="2000"/>
            </a:p>
          </p:txBody>
        </p:sp>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4F03015B-F718-0750-CC73-AFEEB26EFFE9}"/>
                    </a:ext>
                  </a:extLst>
                </p:cNvPr>
                <p:cNvSpPr txBox="1"/>
                <p:nvPr/>
              </p:nvSpPr>
              <p:spPr>
                <a:xfrm>
                  <a:off x="4418" y="1770"/>
                  <a:ext cx="588" cy="630"/>
                </a:xfrm>
                <a:prstGeom prst="rect">
                  <a:avLst/>
                </a:prstGeom>
                <a:noFill/>
              </p:spPr>
              <p:txBody>
                <a:bodyPr wrap="square" rtlCol="0">
                  <a:sp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𝐴</m:t>
                            </m:r>
                          </m:e>
                          <m:sub>
                            <m:r>
                              <a:rPr lang="en-US" altLang="zh-CN" sz="2000" i="1">
                                <a:latin typeface="Cambria Math" panose="02040503050406030204" pitchFamily="18" charset="0"/>
                                <a:cs typeface="Cambria Math" panose="02040503050406030204" pitchFamily="18" charset="0"/>
                              </a:rPr>
                              <m:t>0</m:t>
                            </m:r>
                          </m:sub>
                        </m:sSub>
                      </m:oMath>
                    </m:oMathPara>
                  </a14:m>
                  <a:endParaRPr lang="zh-CN" altLang="en-US" sz="2000"/>
                </a:p>
              </p:txBody>
            </p:sp>
          </mc:Choice>
          <mc:Fallback xmlns="">
            <p:sp>
              <p:nvSpPr>
                <p:cNvPr id="33" name="文本框 32">
                  <a:extLst>
                    <a:ext uri="{FF2B5EF4-FFF2-40B4-BE49-F238E27FC236}">
                      <a16:creationId xmlns:a16="http://schemas.microsoft.com/office/drawing/2014/main" id="{4F03015B-F718-0750-CC73-AFEEB26EFFE9}"/>
                    </a:ext>
                  </a:extLst>
                </p:cNvPr>
                <p:cNvSpPr txBox="1">
                  <a:spLocks noRot="1" noChangeAspect="1" noMove="1" noResize="1" noEditPoints="1" noAdjustHandles="1" noChangeArrowheads="1" noChangeShapeType="1" noTextEdit="1"/>
                </p:cNvSpPr>
                <p:nvPr/>
              </p:nvSpPr>
              <p:spPr>
                <a:xfrm>
                  <a:off x="4418" y="1770"/>
                  <a:ext cx="588" cy="630"/>
                </a:xfrm>
                <a:prstGeom prst="rect">
                  <a:avLst/>
                </a:prstGeom>
                <a:blipFill>
                  <a:blip r:embed="rId23"/>
                  <a:stretch>
                    <a:fillRect r="-10000"/>
                  </a:stretch>
                </a:blipFill>
              </p:spPr>
              <p:txBody>
                <a:bodyPr/>
                <a:lstStyle/>
                <a:p>
                  <a:r>
                    <a:rPr lang="zh-CN" altLang="en-US">
                      <a:noFill/>
                    </a:rPr>
                    <a:t> </a:t>
                  </a:r>
                </a:p>
              </p:txBody>
            </p:sp>
          </mc:Fallback>
        </mc:AlternateContent>
      </p:grpSp>
      <p:grpSp>
        <p:nvGrpSpPr>
          <p:cNvPr id="42" name="组合 41">
            <a:extLst>
              <a:ext uri="{FF2B5EF4-FFF2-40B4-BE49-F238E27FC236}">
                <a16:creationId xmlns:a16="http://schemas.microsoft.com/office/drawing/2014/main" id="{26D8D878-050F-769E-7815-007B3B1690C4}"/>
              </a:ext>
            </a:extLst>
          </p:cNvPr>
          <p:cNvGrpSpPr/>
          <p:nvPr>
            <p:custDataLst>
              <p:tags r:id="rId3"/>
            </p:custDataLst>
          </p:nvPr>
        </p:nvGrpSpPr>
        <p:grpSpPr>
          <a:xfrm>
            <a:off x="7980045" y="3029585"/>
            <a:ext cx="492760" cy="492760"/>
            <a:chOff x="4344" y="1672"/>
            <a:chExt cx="776" cy="776"/>
          </a:xfrm>
        </p:grpSpPr>
        <p:sp>
          <p:nvSpPr>
            <p:cNvPr id="63" name="椭圆 62">
              <a:extLst>
                <a:ext uri="{FF2B5EF4-FFF2-40B4-BE49-F238E27FC236}">
                  <a16:creationId xmlns:a16="http://schemas.microsoft.com/office/drawing/2014/main" id="{9CC1F179-8100-C7FB-5E42-7A796033E627}"/>
                </a:ext>
              </a:extLst>
            </p:cNvPr>
            <p:cNvSpPr/>
            <p:nvPr>
              <p:custDataLst>
                <p:tags r:id="rId10"/>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sz="2000"/>
            </a:p>
          </p:txBody>
        </p:sp>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B5790246-A809-E5B6-4C48-4EDDB940A1BC}"/>
                    </a:ext>
                  </a:extLst>
                </p:cNvPr>
                <p:cNvSpPr txBox="1"/>
                <p:nvPr/>
              </p:nvSpPr>
              <p:spPr>
                <a:xfrm>
                  <a:off x="4489" y="1770"/>
                  <a:ext cx="218" cy="318"/>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𝐴</m:t>
                            </m:r>
                          </m:e>
                          <m:sub>
                            <m:r>
                              <a:rPr lang="en-US" altLang="zh-CN" sz="2000" i="1">
                                <a:latin typeface="Cambria Math" panose="02040503050406030204" pitchFamily="18" charset="0"/>
                                <a:cs typeface="Cambria Math" panose="02040503050406030204" pitchFamily="18" charset="0"/>
                              </a:rPr>
                              <m:t>1</m:t>
                            </m:r>
                          </m:sub>
                        </m:sSub>
                      </m:oMath>
                    </m:oMathPara>
                  </a14:m>
                  <a:endParaRPr lang="zh-CN" altLang="en-US" sz="2000"/>
                </a:p>
              </p:txBody>
            </p:sp>
          </mc:Choice>
          <mc:Fallback xmlns="">
            <p:sp>
              <p:nvSpPr>
                <p:cNvPr id="64" name="文本框 63">
                  <a:extLst>
                    <a:ext uri="{FF2B5EF4-FFF2-40B4-BE49-F238E27FC236}">
                      <a16:creationId xmlns:a16="http://schemas.microsoft.com/office/drawing/2014/main" id="{B5790246-A809-E5B6-4C48-4EDDB940A1BC}"/>
                    </a:ext>
                  </a:extLst>
                </p:cNvPr>
                <p:cNvSpPr txBox="1">
                  <a:spLocks noRot="1" noChangeAspect="1" noMove="1" noResize="1" noEditPoints="1" noAdjustHandles="1" noChangeArrowheads="1" noChangeShapeType="1" noTextEdit="1"/>
                </p:cNvSpPr>
                <p:nvPr/>
              </p:nvSpPr>
              <p:spPr>
                <a:xfrm>
                  <a:off x="4489" y="1770"/>
                  <a:ext cx="218" cy="318"/>
                </a:xfrm>
                <a:prstGeom prst="rect">
                  <a:avLst/>
                </a:prstGeom>
                <a:blipFill>
                  <a:blip r:embed="rId24"/>
                  <a:stretch>
                    <a:fillRect l="-8333" r="-166667" b="-94118"/>
                  </a:stretch>
                </a:blipFill>
              </p:spPr>
              <p:txBody>
                <a:bodyPr/>
                <a:lstStyle/>
                <a:p>
                  <a:r>
                    <a:rPr lang="zh-CN" altLang="en-US">
                      <a:noFill/>
                    </a:rPr>
                    <a:t> </a:t>
                  </a:r>
                </a:p>
              </p:txBody>
            </p:sp>
          </mc:Fallback>
        </mc:AlternateContent>
      </p:grpSp>
      <p:cxnSp>
        <p:nvCxnSpPr>
          <p:cNvPr id="65" name="直接连接符 64">
            <a:extLst>
              <a:ext uri="{FF2B5EF4-FFF2-40B4-BE49-F238E27FC236}">
                <a16:creationId xmlns:a16="http://schemas.microsoft.com/office/drawing/2014/main" id="{EA21066A-BBEE-5421-8847-6E9681837F36}"/>
              </a:ext>
            </a:extLst>
          </p:cNvPr>
          <p:cNvCxnSpPr/>
          <p:nvPr>
            <p:custDataLst>
              <p:tags r:id="rId4"/>
            </p:custDataLst>
          </p:nvPr>
        </p:nvCxnSpPr>
        <p:spPr>
          <a:xfrm flipH="1">
            <a:off x="7460615" y="2795270"/>
            <a:ext cx="127000" cy="30670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66" name="直接连接符 65">
            <a:extLst>
              <a:ext uri="{FF2B5EF4-FFF2-40B4-BE49-F238E27FC236}">
                <a16:creationId xmlns:a16="http://schemas.microsoft.com/office/drawing/2014/main" id="{84DBD6EF-063C-1D3A-3C81-5CD0374BB232}"/>
              </a:ext>
            </a:extLst>
          </p:cNvPr>
          <p:cNvCxnSpPr/>
          <p:nvPr>
            <p:custDataLst>
              <p:tags r:id="rId5"/>
            </p:custDataLst>
          </p:nvPr>
        </p:nvCxnSpPr>
        <p:spPr>
          <a:xfrm>
            <a:off x="7935595" y="2795270"/>
            <a:ext cx="116840" cy="30670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67" name="矩形 66">
                <a:extLst>
                  <a:ext uri="{FF2B5EF4-FFF2-40B4-BE49-F238E27FC236}">
                    <a16:creationId xmlns:a16="http://schemas.microsoft.com/office/drawing/2014/main" id="{39EE6232-34D3-B9A6-1551-6227FF872213}"/>
                  </a:ext>
                </a:extLst>
              </p:cNvPr>
              <p:cNvSpPr/>
              <p:nvPr/>
            </p:nvSpPr>
            <p:spPr>
              <a:xfrm>
                <a:off x="6779895" y="362013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sz="2000" i="1">
                              <a:solidFill>
                                <a:schemeClr val="tx1"/>
                              </a:solidFill>
                              <a:latin typeface="Cambria Math" panose="02040503050406030204" pitchFamily="18" charset="0"/>
                              <a:cs typeface="Cambria Math" panose="02040503050406030204" pitchFamily="18" charset="0"/>
                            </a:rPr>
                          </m:ctrlPr>
                        </m:sSubPr>
                        <m:e>
                          <m:r>
                            <a:rPr lang="en-US" altLang="zh-CN" sz="2000" i="1">
                              <a:solidFill>
                                <a:schemeClr val="tx1"/>
                              </a:solidFill>
                              <a:latin typeface="Cambria Math" panose="02040503050406030204" pitchFamily="18" charset="0"/>
                              <a:cs typeface="Cambria Math" panose="02040503050406030204" pitchFamily="18" charset="0"/>
                            </a:rPr>
                            <m:t>𝑥</m:t>
                          </m:r>
                        </m:e>
                        <m:sub>
                          <m:r>
                            <a:rPr lang="en-US" altLang="zh-CN" sz="2000" i="1">
                              <a:solidFill>
                                <a:schemeClr val="tx1"/>
                              </a:solidFill>
                              <a:latin typeface="Cambria Math" panose="02040503050406030204" pitchFamily="18" charset="0"/>
                              <a:cs typeface="Cambria Math" panose="02040503050406030204" pitchFamily="18" charset="0"/>
                            </a:rPr>
                            <m:t>00</m:t>
                          </m:r>
                        </m:sub>
                      </m:sSub>
                    </m:oMath>
                  </m:oMathPara>
                </a14:m>
                <a:endParaRPr lang="en-US" altLang="zh-CN" sz="2000" i="1">
                  <a:solidFill>
                    <a:schemeClr val="tx1"/>
                  </a:solidFill>
                  <a:latin typeface="Cambria Math" panose="02040503050406030204" pitchFamily="18" charset="0"/>
                  <a:cs typeface="Cambria Math" panose="02040503050406030204" pitchFamily="18" charset="0"/>
                </a:endParaRPr>
              </a:p>
            </p:txBody>
          </p:sp>
        </mc:Choice>
        <mc:Fallback xmlns="">
          <p:sp>
            <p:nvSpPr>
              <p:cNvPr id="67" name="矩形 66">
                <a:extLst>
                  <a:ext uri="{FF2B5EF4-FFF2-40B4-BE49-F238E27FC236}">
                    <a16:creationId xmlns:a16="http://schemas.microsoft.com/office/drawing/2014/main" id="{39EE6232-34D3-B9A6-1551-6227FF872213}"/>
                  </a:ext>
                </a:extLst>
              </p:cNvPr>
              <p:cNvSpPr>
                <a:spLocks noRot="1" noChangeAspect="1" noMove="1" noResize="1" noEditPoints="1" noAdjustHandles="1" noChangeArrowheads="1" noChangeShapeType="1" noTextEdit="1"/>
              </p:cNvSpPr>
              <p:nvPr/>
            </p:nvSpPr>
            <p:spPr>
              <a:xfrm>
                <a:off x="6779895" y="3620135"/>
                <a:ext cx="642620" cy="384175"/>
              </a:xfrm>
              <a:prstGeom prst="rect">
                <a:avLst/>
              </a:prstGeom>
              <a:blipFill>
                <a:blip r:embed="rId25"/>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 name="矩形 67">
                <a:extLst>
                  <a:ext uri="{FF2B5EF4-FFF2-40B4-BE49-F238E27FC236}">
                    <a16:creationId xmlns:a16="http://schemas.microsoft.com/office/drawing/2014/main" id="{5E814526-81EA-78EA-765A-651BFDFBC52E}"/>
                  </a:ext>
                </a:extLst>
              </p:cNvPr>
              <p:cNvSpPr/>
              <p:nvPr/>
            </p:nvSpPr>
            <p:spPr>
              <a:xfrm>
                <a:off x="7214870" y="362013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sz="2000" i="1">
                              <a:solidFill>
                                <a:schemeClr val="tx1"/>
                              </a:solidFill>
                              <a:latin typeface="Cambria Math" panose="02040503050406030204" pitchFamily="18" charset="0"/>
                              <a:cs typeface="Cambria Math" panose="02040503050406030204" pitchFamily="18" charset="0"/>
                            </a:rPr>
                          </m:ctrlPr>
                        </m:sSubPr>
                        <m:e>
                          <m:r>
                            <a:rPr lang="en-US" altLang="zh-CN" sz="2000" i="1">
                              <a:solidFill>
                                <a:schemeClr val="tx1"/>
                              </a:solidFill>
                              <a:latin typeface="Cambria Math" panose="02040503050406030204" pitchFamily="18" charset="0"/>
                              <a:cs typeface="Cambria Math" panose="02040503050406030204" pitchFamily="18" charset="0"/>
                            </a:rPr>
                            <m:t>𝑥</m:t>
                          </m:r>
                        </m:e>
                        <m:sub>
                          <m:r>
                            <a:rPr lang="en-US" altLang="zh-CN" sz="2000" i="1">
                              <a:solidFill>
                                <a:schemeClr val="tx1"/>
                              </a:solidFill>
                              <a:latin typeface="Cambria Math" panose="02040503050406030204" pitchFamily="18" charset="0"/>
                              <a:cs typeface="Cambria Math" panose="02040503050406030204" pitchFamily="18" charset="0"/>
                            </a:rPr>
                            <m:t>01</m:t>
                          </m:r>
                        </m:sub>
                      </m:sSub>
                    </m:oMath>
                  </m:oMathPara>
                </a14:m>
                <a:endParaRPr lang="en-US" altLang="zh-CN" sz="2000" i="1">
                  <a:solidFill>
                    <a:schemeClr val="tx1"/>
                  </a:solidFill>
                  <a:latin typeface="Cambria Math" panose="02040503050406030204" pitchFamily="18" charset="0"/>
                  <a:cs typeface="Cambria Math" panose="02040503050406030204" pitchFamily="18" charset="0"/>
                </a:endParaRPr>
              </a:p>
            </p:txBody>
          </p:sp>
        </mc:Choice>
        <mc:Fallback xmlns="">
          <p:sp>
            <p:nvSpPr>
              <p:cNvPr id="68" name="矩形 67">
                <a:extLst>
                  <a:ext uri="{FF2B5EF4-FFF2-40B4-BE49-F238E27FC236}">
                    <a16:creationId xmlns:a16="http://schemas.microsoft.com/office/drawing/2014/main" id="{5E814526-81EA-78EA-765A-651BFDFBC52E}"/>
                  </a:ext>
                </a:extLst>
              </p:cNvPr>
              <p:cNvSpPr>
                <a:spLocks noRot="1" noChangeAspect="1" noMove="1" noResize="1" noEditPoints="1" noAdjustHandles="1" noChangeArrowheads="1" noChangeShapeType="1" noTextEdit="1"/>
              </p:cNvSpPr>
              <p:nvPr/>
            </p:nvSpPr>
            <p:spPr>
              <a:xfrm>
                <a:off x="7214870" y="3620135"/>
                <a:ext cx="642620" cy="384175"/>
              </a:xfrm>
              <a:prstGeom prst="rect">
                <a:avLst/>
              </a:prstGeom>
              <a:blipFill>
                <a:blip r:embed="rId26"/>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矩形 68">
                <a:extLst>
                  <a:ext uri="{FF2B5EF4-FFF2-40B4-BE49-F238E27FC236}">
                    <a16:creationId xmlns:a16="http://schemas.microsoft.com/office/drawing/2014/main" id="{61CC2C43-8B5F-2B5A-CE5C-9D2920AF3BA8}"/>
                  </a:ext>
                </a:extLst>
              </p:cNvPr>
              <p:cNvSpPr/>
              <p:nvPr/>
            </p:nvSpPr>
            <p:spPr>
              <a:xfrm>
                <a:off x="7757795" y="362013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sz="2000" i="1">
                              <a:solidFill>
                                <a:schemeClr val="tx1"/>
                              </a:solidFill>
                              <a:latin typeface="Cambria Math" panose="02040503050406030204" pitchFamily="18" charset="0"/>
                              <a:cs typeface="Cambria Math" panose="02040503050406030204" pitchFamily="18" charset="0"/>
                            </a:rPr>
                          </m:ctrlPr>
                        </m:sSubPr>
                        <m:e>
                          <m:r>
                            <a:rPr lang="en-US" altLang="zh-CN" sz="2000" i="1">
                              <a:solidFill>
                                <a:schemeClr val="tx1"/>
                              </a:solidFill>
                              <a:latin typeface="Cambria Math" panose="02040503050406030204" pitchFamily="18" charset="0"/>
                              <a:cs typeface="Cambria Math" panose="02040503050406030204" pitchFamily="18" charset="0"/>
                            </a:rPr>
                            <m:t>𝑥</m:t>
                          </m:r>
                        </m:e>
                        <m:sub>
                          <m:r>
                            <a:rPr lang="en-US" altLang="zh-CN" sz="2000" i="1">
                              <a:solidFill>
                                <a:schemeClr val="tx1"/>
                              </a:solidFill>
                              <a:latin typeface="Cambria Math" panose="02040503050406030204" pitchFamily="18" charset="0"/>
                              <a:cs typeface="Cambria Math" panose="02040503050406030204" pitchFamily="18" charset="0"/>
                            </a:rPr>
                            <m:t>10</m:t>
                          </m:r>
                        </m:sub>
                      </m:sSub>
                    </m:oMath>
                  </m:oMathPara>
                </a14:m>
                <a:endParaRPr lang="en-US" altLang="zh-CN" sz="2000" i="1">
                  <a:solidFill>
                    <a:schemeClr val="tx1"/>
                  </a:solidFill>
                  <a:latin typeface="Cambria Math" panose="02040503050406030204" pitchFamily="18" charset="0"/>
                  <a:cs typeface="Cambria Math" panose="02040503050406030204" pitchFamily="18" charset="0"/>
                </a:endParaRPr>
              </a:p>
            </p:txBody>
          </p:sp>
        </mc:Choice>
        <mc:Fallback xmlns="">
          <p:sp>
            <p:nvSpPr>
              <p:cNvPr id="69" name="矩形 68">
                <a:extLst>
                  <a:ext uri="{FF2B5EF4-FFF2-40B4-BE49-F238E27FC236}">
                    <a16:creationId xmlns:a16="http://schemas.microsoft.com/office/drawing/2014/main" id="{61CC2C43-8B5F-2B5A-CE5C-9D2920AF3BA8}"/>
                  </a:ext>
                </a:extLst>
              </p:cNvPr>
              <p:cNvSpPr>
                <a:spLocks noRot="1" noChangeAspect="1" noMove="1" noResize="1" noEditPoints="1" noAdjustHandles="1" noChangeArrowheads="1" noChangeShapeType="1" noTextEdit="1"/>
              </p:cNvSpPr>
              <p:nvPr/>
            </p:nvSpPr>
            <p:spPr>
              <a:xfrm>
                <a:off x="7757795" y="3620135"/>
                <a:ext cx="642620" cy="384175"/>
              </a:xfrm>
              <a:prstGeom prst="rect">
                <a:avLst/>
              </a:prstGeom>
              <a:blipFill>
                <a:blip r:embed="rId27"/>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矩形 69">
                <a:extLst>
                  <a:ext uri="{FF2B5EF4-FFF2-40B4-BE49-F238E27FC236}">
                    <a16:creationId xmlns:a16="http://schemas.microsoft.com/office/drawing/2014/main" id="{F117ECAA-6173-9C0B-9872-12F9D72EF2DB}"/>
                  </a:ext>
                </a:extLst>
              </p:cNvPr>
              <p:cNvSpPr/>
              <p:nvPr/>
            </p:nvSpPr>
            <p:spPr>
              <a:xfrm>
                <a:off x="8195310" y="363283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sz="2000" i="1">
                              <a:solidFill>
                                <a:schemeClr val="tx1"/>
                              </a:solidFill>
                              <a:latin typeface="Cambria Math" panose="02040503050406030204" pitchFamily="18" charset="0"/>
                              <a:cs typeface="Cambria Math" panose="02040503050406030204" pitchFamily="18" charset="0"/>
                            </a:rPr>
                          </m:ctrlPr>
                        </m:sSubPr>
                        <m:e>
                          <m:r>
                            <a:rPr lang="en-US" altLang="zh-CN" sz="2000" i="1">
                              <a:solidFill>
                                <a:schemeClr val="tx1"/>
                              </a:solidFill>
                              <a:latin typeface="Cambria Math" panose="02040503050406030204" pitchFamily="18" charset="0"/>
                              <a:cs typeface="Cambria Math" panose="02040503050406030204" pitchFamily="18" charset="0"/>
                            </a:rPr>
                            <m:t>𝑥</m:t>
                          </m:r>
                        </m:e>
                        <m:sub>
                          <m:r>
                            <a:rPr lang="en-US" altLang="zh-CN" sz="2000" i="1">
                              <a:solidFill>
                                <a:schemeClr val="tx1"/>
                              </a:solidFill>
                              <a:latin typeface="Cambria Math" panose="02040503050406030204" pitchFamily="18" charset="0"/>
                              <a:cs typeface="Cambria Math" panose="02040503050406030204" pitchFamily="18" charset="0"/>
                            </a:rPr>
                            <m:t>11</m:t>
                          </m:r>
                        </m:sub>
                      </m:sSub>
                    </m:oMath>
                  </m:oMathPara>
                </a14:m>
                <a:endParaRPr lang="en-US" altLang="zh-CN" sz="2000" i="1">
                  <a:solidFill>
                    <a:schemeClr val="tx1"/>
                  </a:solidFill>
                  <a:latin typeface="Cambria Math" panose="02040503050406030204" pitchFamily="18" charset="0"/>
                  <a:cs typeface="Cambria Math" panose="02040503050406030204" pitchFamily="18" charset="0"/>
                </a:endParaRPr>
              </a:p>
            </p:txBody>
          </p:sp>
        </mc:Choice>
        <mc:Fallback xmlns="">
          <p:sp>
            <p:nvSpPr>
              <p:cNvPr id="70" name="矩形 69">
                <a:extLst>
                  <a:ext uri="{FF2B5EF4-FFF2-40B4-BE49-F238E27FC236}">
                    <a16:creationId xmlns:a16="http://schemas.microsoft.com/office/drawing/2014/main" id="{F117ECAA-6173-9C0B-9872-12F9D72EF2DB}"/>
                  </a:ext>
                </a:extLst>
              </p:cNvPr>
              <p:cNvSpPr>
                <a:spLocks noRot="1" noChangeAspect="1" noMove="1" noResize="1" noEditPoints="1" noAdjustHandles="1" noChangeArrowheads="1" noChangeShapeType="1" noTextEdit="1"/>
              </p:cNvSpPr>
              <p:nvPr/>
            </p:nvSpPr>
            <p:spPr>
              <a:xfrm>
                <a:off x="8195310" y="3632835"/>
                <a:ext cx="642620" cy="384175"/>
              </a:xfrm>
              <a:prstGeom prst="rect">
                <a:avLst/>
              </a:prstGeom>
              <a:blipFill>
                <a:blip r:embed="rId28"/>
                <a:stretch>
                  <a:fillRect/>
                </a:stretch>
              </a:blipFill>
              <a:ln w="12700">
                <a:noFill/>
              </a:ln>
            </p:spPr>
            <p:txBody>
              <a:bodyPr/>
              <a:lstStyle/>
              <a:p>
                <a:r>
                  <a:rPr lang="zh-CN" altLang="en-US">
                    <a:noFill/>
                  </a:rPr>
                  <a:t> </a:t>
                </a:r>
              </a:p>
            </p:txBody>
          </p:sp>
        </mc:Fallback>
      </mc:AlternateContent>
      <p:cxnSp>
        <p:nvCxnSpPr>
          <p:cNvPr id="71" name="直接连接符 70">
            <a:extLst>
              <a:ext uri="{FF2B5EF4-FFF2-40B4-BE49-F238E27FC236}">
                <a16:creationId xmlns:a16="http://schemas.microsoft.com/office/drawing/2014/main" id="{82B780DF-A4E5-6A8B-899F-70EA06E61869}"/>
              </a:ext>
            </a:extLst>
          </p:cNvPr>
          <p:cNvCxnSpPr/>
          <p:nvPr>
            <p:custDataLst>
              <p:tags r:id="rId6"/>
            </p:custDataLst>
          </p:nvPr>
        </p:nvCxnSpPr>
        <p:spPr>
          <a:xfrm flipH="1">
            <a:off x="7087870" y="352234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72" name="直接连接符 71">
            <a:extLst>
              <a:ext uri="{FF2B5EF4-FFF2-40B4-BE49-F238E27FC236}">
                <a16:creationId xmlns:a16="http://schemas.microsoft.com/office/drawing/2014/main" id="{3CCB554F-23DE-E45B-F809-3062E464B4B2}"/>
              </a:ext>
            </a:extLst>
          </p:cNvPr>
          <p:cNvCxnSpPr/>
          <p:nvPr>
            <p:custDataLst>
              <p:tags r:id="rId7"/>
            </p:custDataLst>
          </p:nvPr>
        </p:nvCxnSpPr>
        <p:spPr>
          <a:xfrm>
            <a:off x="7280910" y="352234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73" name="直接连接符 72">
            <a:extLst>
              <a:ext uri="{FF2B5EF4-FFF2-40B4-BE49-F238E27FC236}">
                <a16:creationId xmlns:a16="http://schemas.microsoft.com/office/drawing/2014/main" id="{BE9BD386-021E-2CA9-8737-7EFB53CB3BFC}"/>
              </a:ext>
            </a:extLst>
          </p:cNvPr>
          <p:cNvCxnSpPr/>
          <p:nvPr>
            <p:custDataLst>
              <p:tags r:id="rId8"/>
            </p:custDataLst>
          </p:nvPr>
        </p:nvCxnSpPr>
        <p:spPr>
          <a:xfrm flipH="1">
            <a:off x="8045450" y="352234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74" name="直接连接符 73">
            <a:extLst>
              <a:ext uri="{FF2B5EF4-FFF2-40B4-BE49-F238E27FC236}">
                <a16:creationId xmlns:a16="http://schemas.microsoft.com/office/drawing/2014/main" id="{A605B920-3DA5-C4C7-9960-A3D1B0CC648B}"/>
              </a:ext>
            </a:extLst>
          </p:cNvPr>
          <p:cNvCxnSpPr/>
          <p:nvPr>
            <p:custDataLst>
              <p:tags r:id="rId9"/>
            </p:custDataLst>
          </p:nvPr>
        </p:nvCxnSpPr>
        <p:spPr>
          <a:xfrm>
            <a:off x="8238490" y="352234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sp>
        <p:nvSpPr>
          <p:cNvPr id="3" name="Text 0">
            <a:extLst>
              <a:ext uri="{FF2B5EF4-FFF2-40B4-BE49-F238E27FC236}">
                <a16:creationId xmlns:a16="http://schemas.microsoft.com/office/drawing/2014/main" id="{DD0D1417-072E-C9F5-C637-2071B1B75C8A}"/>
              </a:ext>
            </a:extLst>
          </p:cNvPr>
          <p:cNvSpPr/>
          <p:nvPr/>
        </p:nvSpPr>
        <p:spPr>
          <a:xfrm>
            <a:off x="209033" y="232346"/>
            <a:ext cx="8859402" cy="481927"/>
          </a:xfrm>
          <a:prstGeom prst="rect">
            <a:avLst/>
          </a:prstGeom>
          <a:noFill/>
        </p:spPr>
        <p:txBody>
          <a:bodyPr wrap="square" lIns="95250" tIns="95250" rIns="95250" bIns="95250" rtlCol="0" anchor="t"/>
          <a:lstStyle/>
          <a:p>
            <a:pPr>
              <a:spcBef>
                <a:spcPts val="375"/>
              </a:spcBef>
            </a:pPr>
            <a:r>
              <a:rPr lang="zh-CN" altLang="en-US" b="1" dirty="0">
                <a:solidFill>
                  <a:schemeClr val="bg1"/>
                </a:solidFill>
              </a:rPr>
              <a:t>Routing Scheme</a:t>
            </a:r>
            <a:r>
              <a:rPr lang="en-US" altLang="zh-CN" b="1" dirty="0">
                <a:solidFill>
                  <a:schemeClr val="bg1"/>
                </a:solidFill>
              </a:rPr>
              <a:t> </a:t>
            </a:r>
            <a:r>
              <a:rPr lang="zh-CN" altLang="en-US" b="1" dirty="0">
                <a:solidFill>
                  <a:schemeClr val="bg1"/>
                </a:solidFill>
              </a:rPr>
              <a:t>of QRAM</a:t>
            </a:r>
          </a:p>
        </p:txBody>
      </p:sp>
      <p:sp>
        <p:nvSpPr>
          <p:cNvPr id="5" name="矩形: 圆角 37">
            <a:extLst>
              <a:ext uri="{FF2B5EF4-FFF2-40B4-BE49-F238E27FC236}">
                <a16:creationId xmlns:a16="http://schemas.microsoft.com/office/drawing/2014/main" id="{231BBBA7-84CC-5A82-58A3-5C007E6EC8FC}"/>
              </a:ext>
            </a:extLst>
          </p:cNvPr>
          <p:cNvSpPr/>
          <p:nvPr/>
        </p:nvSpPr>
        <p:spPr>
          <a:xfrm>
            <a:off x="225425" y="956310"/>
            <a:ext cx="866648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buClrTx/>
              <a:buSzTx/>
              <a:buFontTx/>
            </a:pPr>
            <a:r>
              <a:rPr lang="zh-CN" altLang="en-US" b="1" dirty="0">
                <a:solidFill>
                  <a:schemeClr val="tx1"/>
                </a:solidFill>
                <a:ea typeface="微软雅黑" panose="020B0503020204020204" pitchFamily="34" charset="-122"/>
                <a:cs typeface="微软雅黑" panose="020B0503020204020204" pitchFamily="34" charset="-122"/>
              </a:rPr>
              <a:t>Address bits determine the QRAM data-access path.</a:t>
            </a:r>
          </a:p>
        </p:txBody>
      </p:sp>
      <p:sp>
        <p:nvSpPr>
          <p:cNvPr id="6" name="矩形: 圆角 38">
            <a:extLst>
              <a:ext uri="{FF2B5EF4-FFF2-40B4-BE49-F238E27FC236}">
                <a16:creationId xmlns:a16="http://schemas.microsoft.com/office/drawing/2014/main" id="{9C9DE83C-A949-550D-0800-D5F476B59579}"/>
              </a:ext>
            </a:extLst>
          </p:cNvPr>
          <p:cNvSpPr/>
          <p:nvPr/>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lang="en-US" altLang="zh-CN" b="1" dirty="0"/>
              <a:t>Step 2</a:t>
            </a:r>
            <a:endParaRPr lang="zh-CN" altLang="en-US" b="1" dirty="0"/>
          </a:p>
        </p:txBody>
      </p:sp>
    </p:spTree>
    <p:extLst>
      <p:ext uri="{BB962C8B-B14F-4D97-AF65-F5344CB8AC3E}">
        <p14:creationId xmlns:p14="http://schemas.microsoft.com/office/powerpoint/2010/main" val="32727102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矩形 61"/>
          <p:cNvSpPr/>
          <p:nvPr/>
        </p:nvSpPr>
        <p:spPr>
          <a:xfrm>
            <a:off x="574675" y="2642870"/>
            <a:ext cx="1334770" cy="1276350"/>
          </a:xfrm>
          <a:prstGeom prst="rect">
            <a:avLst/>
          </a:prstGeom>
          <a:solidFill>
            <a:schemeClr val="accent6">
              <a:lumMod val="20000"/>
              <a:lumOff val="80000"/>
              <a:alpha val="35000"/>
            </a:schemeClr>
          </a:solidFill>
          <a:ln w="9525">
            <a:solidFill>
              <a:schemeClr val="accent6">
                <a:lumMod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lnSpc>
                <a:spcPct val="100000"/>
              </a:lnSpc>
            </a:pPr>
            <a:endParaRPr lang="zh-CN" altLang="en-US"/>
          </a:p>
        </p:txBody>
      </p:sp>
      <p:sp>
        <p:nvSpPr>
          <p:cNvPr id="38" name="矩形: 圆角 37"/>
          <p:cNvSpPr/>
          <p:nvPr/>
        </p:nvSpPr>
        <p:spPr>
          <a:xfrm>
            <a:off x="225425" y="939057"/>
            <a:ext cx="866648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b="1" dirty="0">
                <a:solidFill>
                  <a:schemeClr val="tx1"/>
                </a:solidFill>
                <a:sym typeface="+mn-ea"/>
              </a:rPr>
              <a:t>                    Use data-routing qubits to load data without changing the address state.</a:t>
            </a:r>
          </a:p>
        </p:txBody>
      </p:sp>
      <p:pic>
        <p:nvPicPr>
          <p:cNvPr id="30" name="图片 29" descr="图片1"/>
          <p:cNvPicPr>
            <a:picLocks noChangeAspect="1"/>
          </p:cNvPicPr>
          <p:nvPr/>
        </p:nvPicPr>
        <p:blipFill>
          <a:blip r:embed="rId3"/>
          <a:stretch>
            <a:fillRect/>
          </a:stretch>
        </p:blipFill>
        <p:spPr>
          <a:xfrm>
            <a:off x="732790" y="1860550"/>
            <a:ext cx="2939415" cy="567690"/>
          </a:xfrm>
          <a:prstGeom prst="rect">
            <a:avLst/>
          </a:prstGeom>
        </p:spPr>
      </p:pic>
      <p:sp>
        <p:nvSpPr>
          <p:cNvPr id="2" name="文本框 1"/>
          <p:cNvSpPr txBox="1"/>
          <p:nvPr/>
        </p:nvSpPr>
        <p:spPr>
          <a:xfrm>
            <a:off x="479496" y="4056380"/>
            <a:ext cx="8520729" cy="368300"/>
          </a:xfrm>
          <a:prstGeom prst="rect">
            <a:avLst/>
          </a:prstGeom>
          <a:noFill/>
        </p:spPr>
        <p:txBody>
          <a:bodyPr wrap="square" rtlCol="0"/>
          <a:lstStyle/>
          <a:p>
            <a:pPr>
              <a:lnSpc>
                <a:spcPct val="100000"/>
              </a:lnSpc>
            </a:pPr>
            <a:r>
              <a:rPr lang="zh-CN" altLang="en-US" b="1" dirty="0"/>
              <a:t>Pair data-routing qubits with address-routing qubits to route data onto the data bus.</a:t>
            </a:r>
          </a:p>
        </p:txBody>
      </p:sp>
      <p:sp>
        <p:nvSpPr>
          <p:cNvPr id="3" name="文本框 2"/>
          <p:cNvSpPr txBox="1"/>
          <p:nvPr/>
        </p:nvSpPr>
        <p:spPr>
          <a:xfrm>
            <a:off x="467360" y="1491615"/>
            <a:ext cx="8830310" cy="368300"/>
          </a:xfrm>
          <a:prstGeom prst="rect">
            <a:avLst/>
          </a:prstGeom>
          <a:noFill/>
        </p:spPr>
        <p:txBody>
          <a:bodyPr wrap="square" rtlCol="0"/>
          <a:lstStyle/>
          <a:p>
            <a:pPr>
              <a:lnSpc>
                <a:spcPct val="100000"/>
              </a:lnSpc>
            </a:pPr>
            <a:r>
              <a:rPr lang="zh-CN" altLang="en-US" dirty="0"/>
              <a:t>Most algorithms require the address state to remain unchanged during readout.</a:t>
            </a:r>
          </a:p>
        </p:txBody>
      </p:sp>
      <p:pic>
        <p:nvPicPr>
          <p:cNvPr id="54" name="图片 53"/>
          <p:cNvPicPr>
            <a:picLocks noChangeAspect="1"/>
          </p:cNvPicPr>
          <p:nvPr/>
        </p:nvPicPr>
        <p:blipFill>
          <a:blip r:embed="rId4"/>
          <a:srcRect l="2120" t="13986" r="2470" b="11985"/>
          <a:stretch>
            <a:fillRect/>
          </a:stretch>
        </p:blipFill>
        <p:spPr>
          <a:xfrm>
            <a:off x="5090795" y="2427605"/>
            <a:ext cx="2632710" cy="1572895"/>
          </a:xfrm>
          <a:prstGeom prst="rect">
            <a:avLst/>
          </a:prstGeom>
        </p:spPr>
      </p:pic>
      <p:pic>
        <p:nvPicPr>
          <p:cNvPr id="5" name="图片 4"/>
          <p:cNvPicPr>
            <a:picLocks noChangeAspect="1"/>
          </p:cNvPicPr>
          <p:nvPr/>
        </p:nvPicPr>
        <p:blipFill>
          <a:blip r:embed="rId4"/>
          <a:srcRect l="2120" t="88015" r="48104"/>
          <a:stretch>
            <a:fillRect/>
          </a:stretch>
        </p:blipFill>
        <p:spPr>
          <a:xfrm>
            <a:off x="6737350" y="2200910"/>
            <a:ext cx="1040130" cy="193040"/>
          </a:xfrm>
          <a:prstGeom prst="rect">
            <a:avLst/>
          </a:prstGeom>
        </p:spPr>
      </p:pic>
      <p:pic>
        <p:nvPicPr>
          <p:cNvPr id="6" name="图片 5"/>
          <p:cNvPicPr>
            <a:picLocks noChangeAspect="1"/>
          </p:cNvPicPr>
          <p:nvPr/>
        </p:nvPicPr>
        <p:blipFill>
          <a:blip r:embed="rId5"/>
          <a:stretch>
            <a:fillRect/>
          </a:stretch>
        </p:blipFill>
        <p:spPr>
          <a:xfrm>
            <a:off x="571500" y="2620010"/>
            <a:ext cx="1337945" cy="1292225"/>
          </a:xfrm>
          <a:prstGeom prst="rect">
            <a:avLst/>
          </a:prstGeom>
        </p:spPr>
      </p:pic>
      <p:pic>
        <p:nvPicPr>
          <p:cNvPr id="7" name="图片 6"/>
          <p:cNvPicPr>
            <a:picLocks noChangeAspect="1"/>
          </p:cNvPicPr>
          <p:nvPr/>
        </p:nvPicPr>
        <p:blipFill>
          <a:blip r:embed="rId4"/>
          <a:srcRect l="51896" t="88015" r="2470"/>
          <a:stretch>
            <a:fillRect/>
          </a:stretch>
        </p:blipFill>
        <p:spPr>
          <a:xfrm>
            <a:off x="6671945" y="2427605"/>
            <a:ext cx="953135" cy="193040"/>
          </a:xfrm>
          <a:prstGeom prst="rect">
            <a:avLst/>
          </a:prstGeom>
        </p:spPr>
      </p:pic>
      <p:sp>
        <p:nvSpPr>
          <p:cNvPr id="8" name="矩形 7"/>
          <p:cNvSpPr/>
          <p:nvPr/>
        </p:nvSpPr>
        <p:spPr>
          <a:xfrm>
            <a:off x="6938644" y="2394585"/>
            <a:ext cx="1504949" cy="321311"/>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2500"/>
          </a:bodyPr>
          <a:lstStyle/>
          <a:p>
            <a:pPr algn="l">
              <a:lnSpc>
                <a:spcPct val="100000"/>
              </a:lnSpc>
            </a:pPr>
            <a:r>
              <a:rPr lang="zh-CN" altLang="en-US" sz="1400" b="1" dirty="0">
                <a:solidFill>
                  <a:schemeClr val="tx1"/>
                </a:solidFill>
                <a:latin typeface="Times New Roman" panose="02020603050405020304" pitchFamily="18" charset="0"/>
                <a:cs typeface="Times New Roman" panose="02020603050405020304" pitchFamily="18" charset="0"/>
              </a:rPr>
              <a:t>Data-routing node</a:t>
            </a:r>
          </a:p>
        </p:txBody>
      </p:sp>
      <p:sp>
        <p:nvSpPr>
          <p:cNvPr id="9" name="矩形 8"/>
          <p:cNvSpPr/>
          <p:nvPr/>
        </p:nvSpPr>
        <p:spPr>
          <a:xfrm>
            <a:off x="6938643" y="2179955"/>
            <a:ext cx="1953261" cy="24765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l">
              <a:lnSpc>
                <a:spcPct val="100000"/>
              </a:lnSpc>
            </a:pPr>
            <a:r>
              <a:rPr lang="zh-CN" altLang="en-US" sz="1400" b="1" dirty="0">
                <a:solidFill>
                  <a:schemeClr val="tx1"/>
                </a:solidFill>
                <a:latin typeface="Times New Roman" panose="02020603050405020304" pitchFamily="18" charset="0"/>
                <a:cs typeface="Times New Roman" panose="02020603050405020304" pitchFamily="18" charset="0"/>
              </a:rPr>
              <a:t>Address-routing node</a:t>
            </a:r>
          </a:p>
        </p:txBody>
      </p:sp>
      <p:sp>
        <p:nvSpPr>
          <p:cNvPr id="10" name="文本框 9"/>
          <p:cNvSpPr txBox="1"/>
          <p:nvPr/>
        </p:nvSpPr>
        <p:spPr>
          <a:xfrm>
            <a:off x="2061845" y="2658745"/>
            <a:ext cx="3162300" cy="337185"/>
          </a:xfrm>
          <a:prstGeom prst="rect">
            <a:avLst/>
          </a:prstGeom>
          <a:noFill/>
        </p:spPr>
        <p:txBody>
          <a:bodyPr wrap="square" rtlCol="0">
            <a:noAutofit/>
          </a:bodyPr>
          <a:lstStyle/>
          <a:p>
            <a:pPr>
              <a:lnSpc>
                <a:spcPct val="100000"/>
              </a:lnSpc>
            </a:pPr>
            <a:r>
              <a:rPr lang="zh-CN" altLang="en-US" sz="1600" b="1" dirty="0"/>
              <a:t>Address-routing nodes </a:t>
            </a:r>
            <a:r>
              <a:rPr lang="zh-CN" altLang="en-US" sz="1600" b="1" dirty="0">
                <a:solidFill>
                  <a:srgbClr val="C00000"/>
                </a:solidFill>
              </a:rPr>
              <a:t>cannot load data directly.</a:t>
            </a:r>
          </a:p>
        </p:txBody>
      </p:sp>
      <p:cxnSp>
        <p:nvCxnSpPr>
          <p:cNvPr id="13" name="直接箭头连接符 12"/>
          <p:cNvCxnSpPr/>
          <p:nvPr/>
        </p:nvCxnSpPr>
        <p:spPr>
          <a:xfrm>
            <a:off x="2259965" y="3320415"/>
            <a:ext cx="2622550" cy="0"/>
          </a:xfrm>
          <a:prstGeom prst="straightConnector1">
            <a:avLst/>
          </a:prstGeom>
          <a:ln w="12700">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2117725" y="3336925"/>
            <a:ext cx="2764790" cy="275590"/>
          </a:xfrm>
          <a:prstGeom prst="rect">
            <a:avLst/>
          </a:prstGeom>
          <a:noFill/>
        </p:spPr>
        <p:txBody>
          <a:bodyPr wrap="square" rtlCol="0">
            <a:noAutofit/>
          </a:bodyPr>
          <a:lstStyle/>
          <a:p>
            <a:pPr algn="dist">
              <a:lnSpc>
                <a:spcPct val="100000"/>
              </a:lnSpc>
            </a:pPr>
            <a:r>
              <a:rPr lang="zh-CN" altLang="en-US" sz="1600" dirty="0"/>
              <a:t>Introduce data-routing qubit</a:t>
            </a:r>
          </a:p>
        </p:txBody>
      </p:sp>
      <p:pic>
        <p:nvPicPr>
          <p:cNvPr id="25" name="图片 24"/>
          <p:cNvPicPr>
            <a:picLocks noChangeAspect="1"/>
          </p:cNvPicPr>
          <p:nvPr/>
        </p:nvPicPr>
        <p:blipFill>
          <a:blip r:embed="rId6"/>
          <a:stretch>
            <a:fillRect/>
          </a:stretch>
        </p:blipFill>
        <p:spPr>
          <a:xfrm>
            <a:off x="3099435" y="3687654"/>
            <a:ext cx="801370" cy="283210"/>
          </a:xfrm>
          <a:prstGeom prst="rect">
            <a:avLst/>
          </a:prstGeom>
        </p:spPr>
      </p:pic>
      <p:sp>
        <p:nvSpPr>
          <p:cNvPr id="11" name="矩形: 圆角 38"/>
          <p:cNvSpPr/>
          <p:nvPr/>
        </p:nvSpPr>
        <p:spPr>
          <a:xfrm>
            <a:off x="225552" y="939373"/>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lang="en-US" altLang="zh-CN" b="1" dirty="0"/>
              <a:t>Step 3</a:t>
            </a:r>
            <a:endParaRPr lang="zh-CN" altLang="en-US" b="1" dirty="0"/>
          </a:p>
        </p:txBody>
      </p:sp>
      <p:sp>
        <p:nvSpPr>
          <p:cNvPr id="12" name="Text 0">
            <a:extLst>
              <a:ext uri="{FF2B5EF4-FFF2-40B4-BE49-F238E27FC236}">
                <a16:creationId xmlns:a16="http://schemas.microsoft.com/office/drawing/2014/main" id="{C3BB82CC-68DA-E402-AF72-612A1AA66DCD}"/>
              </a:ext>
            </a:extLst>
          </p:cNvPr>
          <p:cNvSpPr/>
          <p:nvPr/>
        </p:nvSpPr>
        <p:spPr>
          <a:xfrm>
            <a:off x="209033" y="232346"/>
            <a:ext cx="8859402" cy="481927"/>
          </a:xfrm>
          <a:prstGeom prst="rect">
            <a:avLst/>
          </a:prstGeom>
          <a:noFill/>
        </p:spPr>
        <p:txBody>
          <a:bodyPr wrap="square" lIns="95250" tIns="95250" rIns="95250" bIns="95250" rtlCol="0" anchor="t"/>
          <a:lstStyle/>
          <a:p>
            <a:pPr>
              <a:spcBef>
                <a:spcPts val="375"/>
              </a:spcBef>
            </a:pPr>
            <a:r>
              <a:rPr lang="zh-CN" altLang="en-US" b="1" dirty="0">
                <a:solidFill>
                  <a:schemeClr val="bg1"/>
                </a:solidFill>
              </a:rPr>
              <a:t>Routing Scheme</a:t>
            </a:r>
            <a:r>
              <a:rPr lang="en-US" altLang="zh-CN" b="1" dirty="0">
                <a:solidFill>
                  <a:schemeClr val="bg1"/>
                </a:solidFill>
              </a:rPr>
              <a:t> </a:t>
            </a:r>
            <a:r>
              <a:rPr lang="zh-CN" altLang="en-US" b="1" dirty="0">
                <a:solidFill>
                  <a:schemeClr val="bg1"/>
                </a:solidFill>
              </a:rPr>
              <a:t>of QRAM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rcRect t="1818" b="27222"/>
          <a:stretch>
            <a:fillRect/>
          </a:stretch>
        </p:blipFill>
        <p:spPr>
          <a:xfrm>
            <a:off x="2505710" y="2185670"/>
            <a:ext cx="1678940" cy="1441450"/>
          </a:xfrm>
          <a:prstGeom prst="rect">
            <a:avLst/>
          </a:prstGeom>
        </p:spPr>
      </p:pic>
      <p:pic>
        <p:nvPicPr>
          <p:cNvPr id="54" name="图片 53"/>
          <p:cNvPicPr>
            <a:picLocks noChangeAspect="1"/>
          </p:cNvPicPr>
          <p:nvPr/>
        </p:nvPicPr>
        <p:blipFill>
          <a:blip r:embed="rId4"/>
          <a:srcRect l="2120" t="13986" r="2470" b="11985"/>
          <a:stretch>
            <a:fillRect/>
          </a:stretch>
        </p:blipFill>
        <p:spPr>
          <a:xfrm>
            <a:off x="256540" y="2249170"/>
            <a:ext cx="1991360" cy="1346835"/>
          </a:xfrm>
          <a:prstGeom prst="rect">
            <a:avLst/>
          </a:prstGeom>
        </p:spPr>
      </p:pic>
      <p:sp>
        <p:nvSpPr>
          <p:cNvPr id="9" name="文本框 8"/>
          <p:cNvSpPr txBox="1"/>
          <p:nvPr/>
        </p:nvSpPr>
        <p:spPr>
          <a:xfrm>
            <a:off x="1716393" y="3665678"/>
            <a:ext cx="3018814" cy="310869"/>
          </a:xfrm>
          <a:prstGeom prst="rect">
            <a:avLst/>
          </a:prstGeom>
          <a:noFill/>
        </p:spPr>
        <p:txBody>
          <a:bodyPr wrap="square" rtlCol="0"/>
          <a:lstStyle/>
          <a:p>
            <a:pPr>
              <a:lnSpc>
                <a:spcPct val="100000"/>
              </a:lnSpc>
            </a:pPr>
            <a:r>
              <a:rPr lang="zh-CN" altLang="en-US" sz="1600" dirty="0">
                <a:ea typeface="微软雅黑" panose="020B0503020204020204" pitchFamily="34" charset="-122"/>
                <a:cs typeface="微软雅黑" panose="020B0503020204020204" pitchFamily="34" charset="-122"/>
              </a:rPr>
              <a:t>Data pre-written into QRAM</a:t>
            </a:r>
          </a:p>
        </p:txBody>
      </p:sp>
      <p:sp>
        <p:nvSpPr>
          <p:cNvPr id="37" name="矩形 36"/>
          <p:cNvSpPr/>
          <p:nvPr/>
        </p:nvSpPr>
        <p:spPr>
          <a:xfrm>
            <a:off x="376555" y="1698625"/>
            <a:ext cx="3657600" cy="36449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sz="1400" b="1" dirty="0"/>
              <a:t>Data Readout</a:t>
            </a:r>
          </a:p>
        </p:txBody>
      </p:sp>
      <p:cxnSp>
        <p:nvCxnSpPr>
          <p:cNvPr id="10" name="直接箭头连接符 9"/>
          <p:cNvCxnSpPr/>
          <p:nvPr/>
        </p:nvCxnSpPr>
        <p:spPr>
          <a:xfrm>
            <a:off x="3225800" y="3542665"/>
            <a:ext cx="0" cy="135255"/>
          </a:xfrm>
          <a:prstGeom prst="straightConnector1">
            <a:avLst/>
          </a:prstGeom>
          <a:ln w="12700">
            <a:solidFill>
              <a:srgbClr val="C00000"/>
            </a:solidFill>
            <a:tailEnd type="arrow"/>
          </a:ln>
        </p:spPr>
        <p:style>
          <a:lnRef idx="2">
            <a:schemeClr val="accent1"/>
          </a:lnRef>
          <a:fillRef idx="0">
            <a:srgbClr val="FFFFFF"/>
          </a:fillRef>
          <a:effectRef idx="0">
            <a:srgbClr val="FFFFFF"/>
          </a:effectRef>
          <a:fontRef idx="minor">
            <a:schemeClr val="tx1"/>
          </a:fontRef>
        </p:style>
      </p:cxnSp>
      <p:cxnSp>
        <p:nvCxnSpPr>
          <p:cNvPr id="11" name="直接箭头连接符 10"/>
          <p:cNvCxnSpPr/>
          <p:nvPr/>
        </p:nvCxnSpPr>
        <p:spPr>
          <a:xfrm>
            <a:off x="3878580" y="3559175"/>
            <a:ext cx="0" cy="135255"/>
          </a:xfrm>
          <a:prstGeom prst="straightConnector1">
            <a:avLst/>
          </a:prstGeom>
          <a:ln w="12700">
            <a:solidFill>
              <a:srgbClr val="C00000"/>
            </a:solidFill>
            <a:tailEnd type="arrow"/>
          </a:ln>
        </p:spPr>
        <p:style>
          <a:lnRef idx="2">
            <a:schemeClr val="accent1"/>
          </a:lnRef>
          <a:fillRef idx="0">
            <a:srgbClr val="FFFFFF"/>
          </a:fillRef>
          <a:effectRef idx="0">
            <a:srgbClr val="FFFFFF"/>
          </a:effectRef>
          <a:fontRef idx="minor">
            <a:schemeClr val="tx1"/>
          </a:fontRef>
        </p:style>
      </p:cxnSp>
      <p:sp>
        <p:nvSpPr>
          <p:cNvPr id="12" name="文本框 11"/>
          <p:cNvSpPr txBox="1"/>
          <p:nvPr/>
        </p:nvSpPr>
        <p:spPr>
          <a:xfrm>
            <a:off x="144145" y="3983355"/>
            <a:ext cx="4556125" cy="583565"/>
          </a:xfrm>
          <a:prstGeom prst="rect">
            <a:avLst/>
          </a:prstGeom>
          <a:noFill/>
        </p:spPr>
        <p:txBody>
          <a:bodyPr wrap="square" rtlCol="0">
            <a:noAutofit/>
          </a:bodyPr>
          <a:lstStyle/>
          <a:p>
            <a:pPr>
              <a:lnSpc>
                <a:spcPct val="100000"/>
              </a:lnSpc>
            </a:pPr>
            <a:r>
              <a:rPr lang="zh-CN" altLang="en-US" sz="1600" dirty="0">
                <a:ea typeface="微软雅黑" panose="020B0503020204020204" pitchFamily="34" charset="-122"/>
                <a:cs typeface="微软雅黑" panose="020B0503020204020204" pitchFamily="34" charset="-122"/>
              </a:rPr>
              <a:t>State preparation and CZ gates preload QRAM data onto |+&gt; data-routing qubits.</a:t>
            </a:r>
          </a:p>
        </p:txBody>
      </p:sp>
      <p:pic>
        <p:nvPicPr>
          <p:cNvPr id="13" name="图片 12"/>
          <p:cNvPicPr>
            <a:picLocks noChangeAspect="1"/>
          </p:cNvPicPr>
          <p:nvPr/>
        </p:nvPicPr>
        <p:blipFill>
          <a:blip r:embed="rId4"/>
          <a:srcRect l="2120" t="13986" r="2470" b="11985"/>
          <a:stretch>
            <a:fillRect/>
          </a:stretch>
        </p:blipFill>
        <p:spPr>
          <a:xfrm>
            <a:off x="5509260" y="2185670"/>
            <a:ext cx="2632710" cy="1572895"/>
          </a:xfrm>
          <a:prstGeom prst="rect">
            <a:avLst/>
          </a:prstGeom>
        </p:spPr>
      </p:pic>
      <p:cxnSp>
        <p:nvCxnSpPr>
          <p:cNvPr id="15" name="直接箭头连接符 14"/>
          <p:cNvCxnSpPr/>
          <p:nvPr/>
        </p:nvCxnSpPr>
        <p:spPr>
          <a:xfrm flipV="1">
            <a:off x="5843905" y="3304540"/>
            <a:ext cx="212725" cy="151130"/>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16" name="直接箭头连接符 15"/>
          <p:cNvCxnSpPr/>
          <p:nvPr/>
        </p:nvCxnSpPr>
        <p:spPr>
          <a:xfrm flipV="1">
            <a:off x="7139305" y="3304540"/>
            <a:ext cx="212725" cy="151130"/>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17" name="直接箭头连接符 16"/>
          <p:cNvCxnSpPr/>
          <p:nvPr/>
        </p:nvCxnSpPr>
        <p:spPr>
          <a:xfrm flipH="1" flipV="1">
            <a:off x="6372225" y="3304540"/>
            <a:ext cx="212725" cy="151130"/>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18" name="直接箭头连接符 17"/>
          <p:cNvCxnSpPr/>
          <p:nvPr/>
        </p:nvCxnSpPr>
        <p:spPr>
          <a:xfrm flipH="1" flipV="1">
            <a:off x="7672705" y="3304540"/>
            <a:ext cx="212725" cy="151130"/>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19" name="直接箭头连接符 18"/>
          <p:cNvCxnSpPr/>
          <p:nvPr/>
        </p:nvCxnSpPr>
        <p:spPr>
          <a:xfrm flipV="1">
            <a:off x="6266180" y="2764155"/>
            <a:ext cx="400050" cy="319405"/>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20" name="直接箭头连接符 19"/>
          <p:cNvCxnSpPr/>
          <p:nvPr/>
        </p:nvCxnSpPr>
        <p:spPr>
          <a:xfrm flipH="1" flipV="1">
            <a:off x="7052310" y="2830830"/>
            <a:ext cx="342900" cy="252730"/>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21" name="直接箭头连接符 20"/>
          <p:cNvCxnSpPr/>
          <p:nvPr/>
        </p:nvCxnSpPr>
        <p:spPr>
          <a:xfrm>
            <a:off x="7090410" y="2664460"/>
            <a:ext cx="542925" cy="0"/>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22" name="矩形 21"/>
          <p:cNvSpPr/>
          <p:nvPr/>
        </p:nvSpPr>
        <p:spPr>
          <a:xfrm>
            <a:off x="5126355" y="1698625"/>
            <a:ext cx="3657600" cy="36449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sz="1400" b="1" dirty="0"/>
              <a:t>Data Retrieval</a:t>
            </a:r>
          </a:p>
        </p:txBody>
      </p:sp>
      <p:sp>
        <p:nvSpPr>
          <p:cNvPr id="23" name="文本框 22"/>
          <p:cNvSpPr txBox="1"/>
          <p:nvPr/>
        </p:nvSpPr>
        <p:spPr>
          <a:xfrm>
            <a:off x="4945380" y="3983355"/>
            <a:ext cx="4073525" cy="583565"/>
          </a:xfrm>
          <a:prstGeom prst="rect">
            <a:avLst/>
          </a:prstGeom>
          <a:noFill/>
        </p:spPr>
        <p:txBody>
          <a:bodyPr wrap="square" rtlCol="0">
            <a:noAutofit/>
          </a:bodyPr>
          <a:lstStyle/>
          <a:p>
            <a:pPr>
              <a:lnSpc>
                <a:spcPct val="100000"/>
              </a:lnSpc>
            </a:pPr>
            <a:r>
              <a:rPr lang="zh-CN" sz="1600" dirty="0">
                <a:ea typeface="微软雅黑" panose="020B0503020204020204" pitchFamily="34" charset="-122"/>
                <a:cs typeface="微软雅黑" panose="020B0503020204020204" pitchFamily="34" charset="-122"/>
              </a:rPr>
              <a:t>Inverse gates return the accessed data to the data bus as a quantum state.</a:t>
            </a:r>
            <a:endParaRPr lang="zh-CN" sz="1600" dirty="0">
              <a:solidFill>
                <a:schemeClr val="tx1"/>
              </a:solidFill>
              <a:ea typeface="微软雅黑" panose="020B0503020204020204" pitchFamily="34" charset="-122"/>
              <a:cs typeface="微软雅黑" panose="020B0503020204020204" pitchFamily="34" charset="-122"/>
            </a:endParaRPr>
          </a:p>
        </p:txBody>
      </p:sp>
      <p:sp>
        <p:nvSpPr>
          <p:cNvPr id="3" name="Text 0">
            <a:extLst>
              <a:ext uri="{FF2B5EF4-FFF2-40B4-BE49-F238E27FC236}">
                <a16:creationId xmlns:a16="http://schemas.microsoft.com/office/drawing/2014/main" id="{492BF3B9-48E7-5EBE-BB57-FF9EA19F6B90}"/>
              </a:ext>
            </a:extLst>
          </p:cNvPr>
          <p:cNvSpPr/>
          <p:nvPr/>
        </p:nvSpPr>
        <p:spPr>
          <a:xfrm>
            <a:off x="209033" y="232346"/>
            <a:ext cx="8859402" cy="481927"/>
          </a:xfrm>
          <a:prstGeom prst="rect">
            <a:avLst/>
          </a:prstGeom>
          <a:noFill/>
        </p:spPr>
        <p:txBody>
          <a:bodyPr wrap="square" lIns="95250" tIns="95250" rIns="95250" bIns="95250" rtlCol="0" anchor="t"/>
          <a:lstStyle/>
          <a:p>
            <a:pPr>
              <a:spcBef>
                <a:spcPts val="375"/>
              </a:spcBef>
            </a:pPr>
            <a:r>
              <a:rPr lang="zh-CN" altLang="en-US" b="1" dirty="0">
                <a:solidFill>
                  <a:schemeClr val="bg1"/>
                </a:solidFill>
              </a:rPr>
              <a:t>Routing Scheme</a:t>
            </a:r>
            <a:r>
              <a:rPr lang="en-US" altLang="zh-CN" b="1" dirty="0">
                <a:solidFill>
                  <a:schemeClr val="bg1"/>
                </a:solidFill>
              </a:rPr>
              <a:t> </a:t>
            </a:r>
            <a:r>
              <a:rPr lang="zh-CN" altLang="en-US" b="1" dirty="0">
                <a:solidFill>
                  <a:schemeClr val="bg1"/>
                </a:solidFill>
              </a:rPr>
              <a:t>of QRAM</a:t>
            </a:r>
          </a:p>
        </p:txBody>
      </p:sp>
      <p:sp>
        <p:nvSpPr>
          <p:cNvPr id="5" name="矩形: 圆角 37">
            <a:extLst>
              <a:ext uri="{FF2B5EF4-FFF2-40B4-BE49-F238E27FC236}">
                <a16:creationId xmlns:a16="http://schemas.microsoft.com/office/drawing/2014/main" id="{430174E9-9DDE-D883-6C72-CCA0861B627A}"/>
              </a:ext>
            </a:extLst>
          </p:cNvPr>
          <p:cNvSpPr/>
          <p:nvPr/>
        </p:nvSpPr>
        <p:spPr>
          <a:xfrm>
            <a:off x="225425" y="944599"/>
            <a:ext cx="866648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b="1" dirty="0">
                <a:solidFill>
                  <a:schemeClr val="tx1"/>
                </a:solidFill>
                <a:sym typeface="+mn-ea"/>
              </a:rPr>
              <a:t>                    Use data-routing qubits to load data without changing the address state.</a:t>
            </a:r>
          </a:p>
        </p:txBody>
      </p:sp>
      <p:sp>
        <p:nvSpPr>
          <p:cNvPr id="6" name="矩形: 圆角 38">
            <a:extLst>
              <a:ext uri="{FF2B5EF4-FFF2-40B4-BE49-F238E27FC236}">
                <a16:creationId xmlns:a16="http://schemas.microsoft.com/office/drawing/2014/main" id="{F2F36D0B-24A6-9A6F-4E52-D838F9F75197}"/>
              </a:ext>
            </a:extLst>
          </p:cNvPr>
          <p:cNvSpPr/>
          <p:nvPr/>
        </p:nvSpPr>
        <p:spPr>
          <a:xfrm>
            <a:off x="225552" y="944915"/>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lang="en-US" altLang="zh-CN" b="1" dirty="0"/>
              <a:t>Step 3</a:t>
            </a:r>
            <a:endParaRPr lang="zh-CN" altLang="en-US"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285750" y="3749040"/>
            <a:ext cx="8606155" cy="1270"/>
          </a:xfrm>
          <a:prstGeom prst="line">
            <a:avLst/>
          </a:prstGeom>
          <a:ln w="19050">
            <a:solidFill>
              <a:schemeClr val="tx1">
                <a:lumMod val="50000"/>
                <a:lumOff val="50000"/>
              </a:schemeClr>
            </a:solidFill>
            <a:prstDash val="dash"/>
          </a:ln>
        </p:spPr>
        <p:style>
          <a:lnRef idx="2">
            <a:schemeClr val="accent1"/>
          </a:lnRef>
          <a:fillRef idx="0">
            <a:srgbClr val="FFFFFF"/>
          </a:fillRef>
          <a:effectRef idx="0">
            <a:srgbClr val="FFFFFF"/>
          </a:effectRef>
          <a:fontRef idx="minor">
            <a:schemeClr val="tx1"/>
          </a:fontRef>
        </p:style>
      </p:cxnSp>
      <p:pic>
        <p:nvPicPr>
          <p:cNvPr id="3" name="图片 2"/>
          <p:cNvPicPr>
            <a:picLocks noChangeAspect="1"/>
          </p:cNvPicPr>
          <p:nvPr/>
        </p:nvPicPr>
        <p:blipFill>
          <a:blip r:embed="rId3"/>
          <a:srcRect l="4421" t="3257" r="7341" b="5242"/>
          <a:stretch>
            <a:fillRect/>
          </a:stretch>
        </p:blipFill>
        <p:spPr>
          <a:xfrm>
            <a:off x="650240" y="3750945"/>
            <a:ext cx="3589020" cy="1045845"/>
          </a:xfrm>
          <a:prstGeom prst="rect">
            <a:avLst/>
          </a:prstGeom>
        </p:spPr>
      </p:pic>
      <p:sp>
        <p:nvSpPr>
          <p:cNvPr id="4" name="Text 0"/>
          <p:cNvSpPr/>
          <p:nvPr/>
        </p:nvSpPr>
        <p:spPr>
          <a:xfrm>
            <a:off x="284598" y="232346"/>
            <a:ext cx="8859402" cy="481927"/>
          </a:xfrm>
          <a:prstGeom prst="rect">
            <a:avLst/>
          </a:prstGeom>
          <a:noFill/>
        </p:spPr>
        <p:txBody>
          <a:bodyPr wrap="square" lIns="95250" tIns="95250" rIns="95250" bIns="95250" rtlCol="0" anchor="t"/>
          <a:lstStyle/>
          <a:p>
            <a:pPr marL="0" indent="0">
              <a:lnSpc>
                <a:spcPct val="100000"/>
              </a:lnSpc>
              <a:spcBef>
                <a:spcPts val="375"/>
              </a:spcBef>
              <a:buNone/>
            </a:pPr>
            <a:r>
              <a:rPr lang="zh-CN" altLang="en-US" b="1" dirty="0">
                <a:solidFill>
                  <a:schemeClr val="bg1"/>
                </a:solidFill>
              </a:rPr>
              <a:t>Real-Device Implementation of QRAM</a:t>
            </a:r>
          </a:p>
        </p:txBody>
      </p:sp>
      <p:pic>
        <p:nvPicPr>
          <p:cNvPr id="5" name="图片 4"/>
          <p:cNvPicPr>
            <a:picLocks noChangeAspect="1"/>
          </p:cNvPicPr>
          <p:nvPr/>
        </p:nvPicPr>
        <p:blipFill>
          <a:blip r:embed="rId4"/>
          <a:stretch>
            <a:fillRect/>
          </a:stretch>
        </p:blipFill>
        <p:spPr>
          <a:xfrm>
            <a:off x="650240" y="1397635"/>
            <a:ext cx="7822565" cy="2307590"/>
          </a:xfrm>
          <a:prstGeom prst="rect">
            <a:avLst/>
          </a:prstGeom>
        </p:spPr>
      </p:pic>
      <p:pic>
        <p:nvPicPr>
          <p:cNvPr id="2" name="图片 1"/>
          <p:cNvPicPr>
            <a:picLocks noChangeAspect="1"/>
          </p:cNvPicPr>
          <p:nvPr/>
        </p:nvPicPr>
        <p:blipFill>
          <a:blip r:embed="rId5"/>
          <a:stretch>
            <a:fillRect/>
          </a:stretch>
        </p:blipFill>
        <p:spPr>
          <a:xfrm>
            <a:off x="5153660" y="4181475"/>
            <a:ext cx="3201035" cy="590550"/>
          </a:xfrm>
          <a:prstGeom prst="rect">
            <a:avLst/>
          </a:prstGeom>
        </p:spPr>
      </p:pic>
      <p:sp>
        <p:nvSpPr>
          <p:cNvPr id="8" name="上箭头 7"/>
          <p:cNvSpPr/>
          <p:nvPr/>
        </p:nvSpPr>
        <p:spPr>
          <a:xfrm>
            <a:off x="2230120" y="3658870"/>
            <a:ext cx="289560" cy="297180"/>
          </a:xfrm>
          <a:prstGeom prst="upArrow">
            <a:avLst/>
          </a:prstGeom>
          <a:solidFill>
            <a:srgbClr val="C00000"/>
          </a:solidFill>
          <a:ln>
            <a:solidFill>
              <a:schemeClr val="tx1">
                <a:lumMod val="95000"/>
                <a:lumOff val="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57500" lnSpcReduction="20000"/>
          </a:bodyPr>
          <a:lstStyle/>
          <a:p>
            <a:pPr algn="ctr">
              <a:lnSpc>
                <a:spcPct val="100000"/>
              </a:lnSpc>
            </a:pPr>
            <a:endParaRPr lang="zh-CN" altLang="en-US"/>
          </a:p>
        </p:txBody>
      </p:sp>
      <p:cxnSp>
        <p:nvCxnSpPr>
          <p:cNvPr id="25" name="直接连接符 24"/>
          <p:cNvCxnSpPr/>
          <p:nvPr/>
        </p:nvCxnSpPr>
        <p:spPr>
          <a:xfrm flipV="1">
            <a:off x="4652010" y="3794125"/>
            <a:ext cx="0" cy="1278255"/>
          </a:xfrm>
          <a:prstGeom prst="line">
            <a:avLst/>
          </a:prstGeom>
          <a:ln w="19050">
            <a:solidFill>
              <a:schemeClr val="tx1">
                <a:lumMod val="50000"/>
                <a:lumOff val="50000"/>
              </a:schemeClr>
            </a:solidFill>
            <a:prstDash val="dash"/>
          </a:ln>
        </p:spPr>
        <p:style>
          <a:lnRef idx="2">
            <a:schemeClr val="accent1"/>
          </a:lnRef>
          <a:fillRef idx="0">
            <a:srgbClr val="FFFFFF"/>
          </a:fillRef>
          <a:effectRef idx="0">
            <a:srgbClr val="FFFFFF"/>
          </a:effectRef>
          <a:fontRef idx="minor">
            <a:schemeClr val="tx1"/>
          </a:fontRef>
        </p:style>
      </p:cxnSp>
      <p:sp>
        <p:nvSpPr>
          <p:cNvPr id="26" name="文本框 25"/>
          <p:cNvSpPr txBox="1"/>
          <p:nvPr/>
        </p:nvSpPr>
        <p:spPr>
          <a:xfrm>
            <a:off x="4888231" y="3844290"/>
            <a:ext cx="4227408" cy="337185"/>
          </a:xfrm>
          <a:prstGeom prst="rect">
            <a:avLst/>
          </a:prstGeom>
          <a:noFill/>
        </p:spPr>
        <p:txBody>
          <a:bodyPr wrap="square" rtlCol="0">
            <a:normAutofit/>
          </a:bodyPr>
          <a:lstStyle/>
          <a:p>
            <a:pPr>
              <a:lnSpc>
                <a:spcPct val="100000"/>
              </a:lnSpc>
            </a:pPr>
            <a:r>
              <a:rPr lang="zh-CN" altLang="en-US" sz="1600" b="1" dirty="0">
                <a:cs typeface="+mn-ea"/>
                <a:sym typeface="+mn-lt"/>
              </a:rPr>
              <a:t>Complete quantum data read/write in O(log N)</a:t>
            </a:r>
          </a:p>
        </p:txBody>
      </p:sp>
      <p:sp>
        <p:nvSpPr>
          <p:cNvPr id="27" name="上箭头 26"/>
          <p:cNvSpPr/>
          <p:nvPr/>
        </p:nvSpPr>
        <p:spPr>
          <a:xfrm rot="10800000">
            <a:off x="7457440" y="3547110"/>
            <a:ext cx="289560" cy="297180"/>
          </a:xfrm>
          <a:prstGeom prst="upArrow">
            <a:avLst/>
          </a:prstGeom>
          <a:solidFill>
            <a:srgbClr val="C00000"/>
          </a:solidFill>
          <a:ln>
            <a:solidFill>
              <a:schemeClr val="tx1">
                <a:lumMod val="95000"/>
                <a:lumOff val="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57500" lnSpcReduction="20000"/>
          </a:bodyPr>
          <a:lstStyle/>
          <a:p>
            <a:pPr algn="ctr">
              <a:lnSpc>
                <a:spcPct val="100000"/>
              </a:lnSpc>
            </a:pPr>
            <a:endParaRPr lang="zh-CN" altLang="en-US"/>
          </a:p>
        </p:txBody>
      </p:sp>
      <p:sp>
        <p:nvSpPr>
          <p:cNvPr id="7" name="矩形 6"/>
          <p:cNvSpPr/>
          <p:nvPr/>
        </p:nvSpPr>
        <p:spPr>
          <a:xfrm>
            <a:off x="780415" y="3773170"/>
            <a:ext cx="711200" cy="14478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文本框 8"/>
          <p:cNvSpPr txBox="1"/>
          <p:nvPr/>
        </p:nvSpPr>
        <p:spPr>
          <a:xfrm>
            <a:off x="28361" y="3910032"/>
            <a:ext cx="876729" cy="523220"/>
          </a:xfrm>
          <a:prstGeom prst="rect">
            <a:avLst/>
          </a:prstGeom>
          <a:noFill/>
        </p:spPr>
        <p:txBody>
          <a:bodyPr wrap="square" rtlCol="0">
            <a:spAutoFit/>
          </a:bodyPr>
          <a:lstStyle/>
          <a:p>
            <a:r>
              <a:rPr lang="en-US" altLang="zh-CN" sz="1400" dirty="0"/>
              <a:t>Query address</a:t>
            </a:r>
          </a:p>
        </p:txBody>
      </p:sp>
      <p:sp>
        <p:nvSpPr>
          <p:cNvPr id="10" name="矩形 9"/>
          <p:cNvSpPr/>
          <p:nvPr/>
        </p:nvSpPr>
        <p:spPr>
          <a:xfrm>
            <a:off x="723265" y="4598670"/>
            <a:ext cx="835025" cy="144780"/>
          </a:xfrm>
          <a:prstGeom prst="rect">
            <a:avLst/>
          </a:prstGeom>
          <a:solidFill>
            <a:srgbClr val="F8F8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文本框 12"/>
          <p:cNvSpPr txBox="1"/>
          <p:nvPr/>
        </p:nvSpPr>
        <p:spPr>
          <a:xfrm>
            <a:off x="84144" y="4546181"/>
            <a:ext cx="1410322" cy="264688"/>
          </a:xfrm>
          <a:prstGeom prst="rect">
            <a:avLst/>
          </a:prstGeom>
          <a:noFill/>
        </p:spPr>
        <p:txBody>
          <a:bodyPr wrap="square" rtlCol="0">
            <a:spAutoFit/>
          </a:bodyPr>
          <a:lstStyle/>
          <a:p>
            <a:pPr indent="0" algn="ctr" fontAlgn="auto">
              <a:lnSpc>
                <a:spcPct val="80000"/>
              </a:lnSpc>
            </a:pPr>
            <a:r>
              <a:rPr lang="en-US" altLang="zh-CN" sz="1400" dirty="0"/>
              <a:t>Empty</a:t>
            </a:r>
            <a:r>
              <a:rPr lang="zh-CN" altLang="en-US" sz="1400" dirty="0"/>
              <a:t> </a:t>
            </a:r>
            <a:r>
              <a:rPr lang="en-US" altLang="zh-CN" sz="1400" dirty="0"/>
              <a:t>data qubit</a:t>
            </a:r>
          </a:p>
        </p:txBody>
      </p:sp>
      <p:sp>
        <p:nvSpPr>
          <p:cNvPr id="19" name="矩形 18"/>
          <p:cNvSpPr/>
          <p:nvPr/>
        </p:nvSpPr>
        <p:spPr>
          <a:xfrm>
            <a:off x="3147060" y="3794125"/>
            <a:ext cx="1087755" cy="14478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6" name="文本框 15"/>
          <p:cNvSpPr txBox="1"/>
          <p:nvPr/>
        </p:nvSpPr>
        <p:spPr>
          <a:xfrm>
            <a:off x="3268503" y="3695700"/>
            <a:ext cx="1383982" cy="523220"/>
          </a:xfrm>
          <a:prstGeom prst="rect">
            <a:avLst/>
          </a:prstGeom>
          <a:noFill/>
        </p:spPr>
        <p:txBody>
          <a:bodyPr wrap="square" rtlCol="0">
            <a:spAutoFit/>
          </a:bodyPr>
          <a:lstStyle/>
          <a:p>
            <a:r>
              <a:rPr lang="en-US" altLang="zh-CN" sz="1400" dirty="0"/>
              <a:t>Data read from QRAM</a:t>
            </a:r>
          </a:p>
        </p:txBody>
      </p:sp>
      <p:sp>
        <p:nvSpPr>
          <p:cNvPr id="30" name="矩形 29"/>
          <p:cNvSpPr/>
          <p:nvPr/>
        </p:nvSpPr>
        <p:spPr>
          <a:xfrm>
            <a:off x="3280410" y="4598670"/>
            <a:ext cx="901700" cy="144780"/>
          </a:xfrm>
          <a:prstGeom prst="rect">
            <a:avLst/>
          </a:prstGeom>
          <a:solidFill>
            <a:srgbClr val="F8F8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文本框 14"/>
          <p:cNvSpPr txBox="1"/>
          <p:nvPr/>
        </p:nvSpPr>
        <p:spPr>
          <a:xfrm>
            <a:off x="3363909" y="4524636"/>
            <a:ext cx="1441447" cy="307777"/>
          </a:xfrm>
          <a:prstGeom prst="rect">
            <a:avLst/>
          </a:prstGeom>
          <a:noFill/>
        </p:spPr>
        <p:txBody>
          <a:bodyPr wrap="square" rtlCol="0">
            <a:spAutoFit/>
          </a:bodyPr>
          <a:lstStyle/>
          <a:p>
            <a:r>
              <a:rPr lang="en-US" altLang="zh-CN" sz="1400" dirty="0"/>
              <a:t>Pre-stored data</a:t>
            </a:r>
          </a:p>
        </p:txBody>
      </p:sp>
      <p:sp>
        <p:nvSpPr>
          <p:cNvPr id="6" name="矩形: 圆角 37">
            <a:extLst>
              <a:ext uri="{FF2B5EF4-FFF2-40B4-BE49-F238E27FC236}">
                <a16:creationId xmlns:a16="http://schemas.microsoft.com/office/drawing/2014/main" id="{273DD52E-9459-0606-4068-B2D00C83FD04}"/>
              </a:ext>
            </a:extLst>
          </p:cNvPr>
          <p:cNvSpPr/>
          <p:nvPr/>
        </p:nvSpPr>
        <p:spPr>
          <a:xfrm>
            <a:off x="225425" y="864760"/>
            <a:ext cx="8666480" cy="398318"/>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b="1" dirty="0">
                <a:solidFill>
                  <a:schemeClr val="tx1"/>
                </a:solidFill>
                <a:sym typeface="+mn-ea"/>
              </a:rPr>
              <a:t>                    Complete</a:t>
            </a:r>
            <a:r>
              <a:rPr lang="zh-CN" altLang="en-US" b="1" dirty="0">
                <a:solidFill>
                  <a:schemeClr val="tx1"/>
                </a:solidFill>
                <a:sym typeface="+mn-ea"/>
              </a:rPr>
              <a:t> </a:t>
            </a:r>
            <a:r>
              <a:rPr lang="en-US" altLang="zh-CN" b="1" dirty="0">
                <a:solidFill>
                  <a:schemeClr val="tx1"/>
                </a:solidFill>
                <a:sym typeface="+mn-ea"/>
              </a:rPr>
              <a:t>circuit</a:t>
            </a:r>
            <a:r>
              <a:rPr lang="zh-CN" altLang="en-US" b="1" dirty="0">
                <a:solidFill>
                  <a:schemeClr val="tx1"/>
                </a:solidFill>
                <a:sym typeface="+mn-ea"/>
              </a:rPr>
              <a:t> </a:t>
            </a:r>
            <a:r>
              <a:rPr lang="en-US" altLang="zh-CN" b="1" dirty="0">
                <a:solidFill>
                  <a:schemeClr val="tx1"/>
                </a:solidFill>
                <a:sym typeface="+mn-ea"/>
              </a:rPr>
              <a:t>implementation</a:t>
            </a:r>
            <a:r>
              <a:rPr lang="zh-CN" altLang="en-US" b="1" dirty="0">
                <a:solidFill>
                  <a:schemeClr val="tx1"/>
                </a:solidFill>
                <a:sym typeface="+mn-ea"/>
              </a:rPr>
              <a:t> </a:t>
            </a:r>
            <a:r>
              <a:rPr lang="en-US" altLang="zh-CN" b="1" dirty="0">
                <a:solidFill>
                  <a:schemeClr val="tx1"/>
                </a:solidFill>
                <a:sym typeface="+mn-ea"/>
              </a:rPr>
              <a:t>of</a:t>
            </a:r>
            <a:r>
              <a:rPr lang="zh-CN" altLang="en-US" b="1" dirty="0">
                <a:solidFill>
                  <a:schemeClr val="tx1"/>
                </a:solidFill>
                <a:sym typeface="+mn-ea"/>
              </a:rPr>
              <a:t> </a:t>
            </a:r>
            <a:r>
              <a:rPr lang="en-US" altLang="zh-CN" b="1" dirty="0">
                <a:solidFill>
                  <a:schemeClr val="tx1"/>
                </a:solidFill>
                <a:sym typeface="+mn-ea"/>
              </a:rPr>
              <a:t>QRAM</a:t>
            </a:r>
            <a:r>
              <a:rPr lang="zh-CN" altLang="en-US" b="1" dirty="0">
                <a:solidFill>
                  <a:schemeClr val="tx1"/>
                </a:solidFill>
                <a:sym typeface="+mn-ea"/>
              </a:rPr>
              <a:t> </a:t>
            </a:r>
            <a:endParaRPr lang="en-US" altLang="zh-CN" b="1" dirty="0">
              <a:solidFill>
                <a:schemeClr val="tx1"/>
              </a:solidFill>
              <a:sym typeface="+mn-ea"/>
            </a:endParaRPr>
          </a:p>
        </p:txBody>
      </p:sp>
      <p:sp>
        <p:nvSpPr>
          <p:cNvPr id="11" name="矩形: 圆角 38">
            <a:extLst>
              <a:ext uri="{FF2B5EF4-FFF2-40B4-BE49-F238E27FC236}">
                <a16:creationId xmlns:a16="http://schemas.microsoft.com/office/drawing/2014/main" id="{723F59EB-681F-00D6-4364-018D46143373}"/>
              </a:ext>
            </a:extLst>
          </p:cNvPr>
          <p:cNvSpPr/>
          <p:nvPr/>
        </p:nvSpPr>
        <p:spPr>
          <a:xfrm>
            <a:off x="225552" y="865074"/>
            <a:ext cx="1237488" cy="398286"/>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lang="en-US" altLang="zh-CN" b="1" dirty="0"/>
              <a:t>Output</a:t>
            </a:r>
            <a:endParaRPr lang="zh-CN" altLang="en-US"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1480" y="281940"/>
            <a:ext cx="3048000" cy="369332"/>
          </a:xfrm>
          <a:prstGeom prst="rect">
            <a:avLst/>
          </a:prstGeom>
          <a:noFill/>
        </p:spPr>
        <p:txBody>
          <a:bodyPr wrap="square" rtlCol="0">
            <a:spAutoFit/>
          </a:bodyPr>
          <a:lstStyle/>
          <a:p>
            <a:r>
              <a:rPr lang="en-US" b="1" dirty="0" err="1">
                <a:solidFill>
                  <a:schemeClr val="bg1"/>
                </a:solidFill>
                <a:sym typeface="+mn-ea"/>
              </a:rPr>
              <a:t>Outline of Presentation</a:t>
            </a:r>
          </a:p>
        </p:txBody>
      </p:sp>
      <p:sp>
        <p:nvSpPr>
          <p:cNvPr id="28" name="文本框 27"/>
          <p:cNvSpPr txBox="1"/>
          <p:nvPr/>
        </p:nvSpPr>
        <p:spPr>
          <a:xfrm>
            <a:off x="401287" y="898333"/>
            <a:ext cx="7791450" cy="2120004"/>
          </a:xfrm>
          <a:prstGeom prst="rect">
            <a:avLst/>
          </a:prstGeom>
          <a:noFill/>
        </p:spPr>
        <p:txBody>
          <a:bodyPr wrap="square" rtlCol="0">
            <a:spAutoFit/>
          </a:bodyPr>
          <a:lstStyle/>
          <a:p>
            <a:pPr marL="342900" indent="-285750" fontAlgn="auto">
              <a:lnSpc>
                <a:spcPct val="150000"/>
              </a:lnSpc>
              <a:buFont typeface="Arial" panose="020B0604020202020204" pitchFamily="34" charset="0"/>
              <a:buChar char="•"/>
            </a:pPr>
            <a:r>
              <a:rPr kumimoji="1" lang="en-US" dirty="0">
                <a:solidFill>
                  <a:schemeClr val="bg1">
                    <a:lumMod val="75000"/>
                  </a:schemeClr>
                </a:solidFill>
                <a:ea typeface="华文楷体" panose="02010600040101010101" pitchFamily="2" charset="-122"/>
                <a:cs typeface="Arial" panose="020B0604020202020204" pitchFamily="34" charset="0"/>
              </a:rPr>
              <a:t>Background and challenges</a:t>
            </a: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Overview of QRAM</a:t>
            </a:r>
          </a:p>
          <a:p>
            <a:pPr marL="342900" indent="-285750" fontAlgn="auto">
              <a:lnSpc>
                <a:spcPct val="150000"/>
              </a:lnSpc>
              <a:buFont typeface="Arial" panose="020B0604020202020204" pitchFamily="34" charset="0"/>
              <a:buChar char="•"/>
            </a:pPr>
            <a:r>
              <a:rPr kumimoji="1" lang="en-US" altLang="zh-CN" b="1" dirty="0">
                <a:ea typeface="华文楷体" panose="02010600040101010101" pitchFamily="2" charset="-122"/>
                <a:cs typeface="Arial" panose="020B0604020202020204" pitchFamily="34" charset="0"/>
              </a:rPr>
              <a:t>QRAM optimization</a:t>
            </a: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Experiment</a:t>
            </a:r>
            <a:endParaRPr kumimoji="1" lang="en-US" altLang="zh-CN" b="1" dirty="0">
              <a:solidFill>
                <a:schemeClr val="bg1">
                  <a:lumMod val="75000"/>
                </a:schemeClr>
              </a:solidFill>
              <a:ea typeface="华文楷体" panose="02010600040101010101" pitchFamily="2" charset="-122"/>
              <a:cs typeface="Arial" panose="020B0604020202020204" pitchFamily="34" charset="0"/>
            </a:endParaRP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API</a:t>
            </a:r>
            <a:r>
              <a:rPr kumimoji="1" lang="zh-CN" altLang="en-US" dirty="0">
                <a:solidFill>
                  <a:schemeClr val="bg1">
                    <a:lumMod val="75000"/>
                  </a:schemeClr>
                </a:solidFill>
                <a:ea typeface="华文楷体" panose="02010600040101010101" pitchFamily="2" charset="-122"/>
                <a:cs typeface="Arial" panose="020B0604020202020204" pitchFamily="34" charset="0"/>
              </a:rPr>
              <a:t> </a:t>
            </a:r>
            <a:r>
              <a:rPr kumimoji="1" lang="en-US" altLang="zh-CN" dirty="0">
                <a:solidFill>
                  <a:schemeClr val="bg1">
                    <a:lumMod val="75000"/>
                  </a:schemeClr>
                </a:solidFill>
                <a:ea typeface="华文楷体" panose="02010600040101010101" pitchFamily="2" charset="-122"/>
                <a:cs typeface="Arial" panose="020B0604020202020204" pitchFamily="34" charset="0"/>
              </a:rPr>
              <a:t>of</a:t>
            </a:r>
            <a:r>
              <a:rPr kumimoji="1" lang="zh-CN" altLang="en-US" dirty="0">
                <a:solidFill>
                  <a:schemeClr val="bg1">
                    <a:lumMod val="75000"/>
                  </a:schemeClr>
                </a:solidFill>
                <a:ea typeface="华文楷体" panose="02010600040101010101" pitchFamily="2" charset="-122"/>
                <a:cs typeface="Arial" panose="020B0604020202020204" pitchFamily="34" charset="0"/>
              </a:rPr>
              <a:t> </a:t>
            </a:r>
            <a:r>
              <a:rPr kumimoji="1" lang="en-US" altLang="zh-CN" dirty="0">
                <a:solidFill>
                  <a:schemeClr val="bg1">
                    <a:lumMod val="75000"/>
                  </a:schemeClr>
                </a:solidFill>
                <a:ea typeface="华文楷体" panose="02010600040101010101" pitchFamily="2" charset="-122"/>
                <a:cs typeface="Arial" panose="020B0604020202020204" pitchFamily="34" charset="0"/>
              </a:rPr>
              <a:t>QRAM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p:cNvGrpSpPr/>
          <p:nvPr/>
        </p:nvGrpSpPr>
        <p:grpSpPr>
          <a:xfrm>
            <a:off x="2490276" y="2540828"/>
            <a:ext cx="1611241" cy="1720515"/>
            <a:chOff x="2444399" y="2576243"/>
            <a:chExt cx="1611241" cy="1720515"/>
          </a:xfrm>
        </p:grpSpPr>
        <p:pic>
          <p:nvPicPr>
            <p:cNvPr id="68" name="Picture 4"/>
            <p:cNvPicPr>
              <a:picLocks noChangeAspect="1"/>
            </p:cNvPicPr>
            <p:nvPr/>
          </p:nvPicPr>
          <p:blipFill rotWithShape="1">
            <a:blip r:embed="rId3"/>
            <a:srcRect l="53366"/>
            <a:stretch>
              <a:fillRect/>
            </a:stretch>
          </p:blipFill>
          <p:spPr>
            <a:xfrm>
              <a:off x="2444399" y="2576243"/>
              <a:ext cx="1611241" cy="1720515"/>
            </a:xfrm>
            <a:prstGeom prst="rect">
              <a:avLst/>
            </a:prstGeom>
          </p:spPr>
        </p:pic>
        <p:cxnSp>
          <p:nvCxnSpPr>
            <p:cNvPr id="69" name="直接连接符 68"/>
            <p:cNvCxnSpPr/>
            <p:nvPr/>
          </p:nvCxnSpPr>
          <p:spPr>
            <a:xfrm flipH="1">
              <a:off x="2876392" y="3457575"/>
              <a:ext cx="341153"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2879850" y="3794797"/>
              <a:ext cx="174147"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pic>
        <p:nvPicPr>
          <p:cNvPr id="64" name="Picture 4"/>
          <p:cNvPicPr>
            <a:picLocks noChangeAspect="1"/>
          </p:cNvPicPr>
          <p:nvPr/>
        </p:nvPicPr>
        <p:blipFill rotWithShape="1">
          <a:blip r:embed="rId3"/>
          <a:srcRect l="53366"/>
          <a:stretch>
            <a:fillRect/>
          </a:stretch>
        </p:blipFill>
        <p:spPr>
          <a:xfrm>
            <a:off x="412750" y="2517140"/>
            <a:ext cx="1590675" cy="1698625"/>
          </a:xfrm>
          <a:prstGeom prst="rect">
            <a:avLst/>
          </a:prstGeom>
        </p:spPr>
      </p:pic>
      <p:sp>
        <p:nvSpPr>
          <p:cNvPr id="2" name="标题 1"/>
          <p:cNvSpPr>
            <a:spLocks noGrp="1"/>
          </p:cNvSpPr>
          <p:nvPr>
            <p:ph type="title"/>
          </p:nvPr>
        </p:nvSpPr>
        <p:spPr/>
        <p:txBody>
          <a:bodyPr/>
          <a:lstStyle/>
          <a:p>
            <a:pPr>
              <a:lnSpc>
                <a:spcPct val="100000"/>
              </a:lnSpc>
            </a:pPr>
            <a:r>
              <a:rPr lang="zh-CN" altLang="en-US" sz="1800" dirty="0">
                <a:latin typeface="Times New Roman" panose="02020603050405020304" pitchFamily="18" charset="0"/>
                <a:cs typeface="Times New Roman" panose="02020603050405020304" pitchFamily="18" charset="0"/>
              </a:rPr>
              <a:t>Teleportation-Based Routing Implementation</a:t>
            </a:r>
          </a:p>
        </p:txBody>
      </p:sp>
      <p:sp>
        <p:nvSpPr>
          <p:cNvPr id="6" name="矩形: 圆角 37"/>
          <p:cNvSpPr/>
          <p:nvPr/>
        </p:nvSpPr>
        <p:spPr>
          <a:xfrm>
            <a:off x="225425" y="956310"/>
            <a:ext cx="866648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00000"/>
              </a:lnSpc>
              <a:buClrTx/>
              <a:buSzTx/>
              <a:buFontTx/>
            </a:pPr>
            <a:r>
              <a:rPr lang="zh-CN" altLang="en-US" b="1" dirty="0">
                <a:solidFill>
                  <a:schemeClr val="tx1"/>
                </a:solidFill>
                <a:ea typeface="微软雅黑" panose="020B0503020204020204" pitchFamily="34" charset="-122"/>
                <a:cs typeface="Times New Roman" panose="02020603050405020304" pitchFamily="18" charset="0"/>
              </a:rPr>
              <a:t>                    </a:t>
            </a:r>
            <a:r>
              <a:rPr lang="zh-CN" b="1" dirty="0">
                <a:solidFill>
                  <a:schemeClr val="tx1"/>
                </a:solidFill>
                <a:ea typeface="微软雅黑" panose="020B0503020204020204" pitchFamily="34" charset="-122"/>
                <a:cs typeface="Times New Roman" panose="02020603050405020304" pitchFamily="18" charset="0"/>
              </a:rPr>
              <a:t>Overcome exponential circuit-depth growth through teleportation</a:t>
            </a:r>
          </a:p>
        </p:txBody>
      </p:sp>
      <p:sp>
        <p:nvSpPr>
          <p:cNvPr id="7" name="矩形: 圆角 38"/>
          <p:cNvSpPr/>
          <p:nvPr/>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sz="1600" b="1" dirty="0">
                <a:latin typeface="Times New Roman" panose="02020603050405020304" pitchFamily="18" charset="0"/>
                <a:cs typeface="Times New Roman" panose="02020603050405020304" pitchFamily="18" charset="0"/>
              </a:rPr>
              <a:t>Optimize</a:t>
            </a:r>
            <a:r>
              <a:rPr lang="zh-CN" altLang="en-US" sz="1600" b="1" dirty="0">
                <a:latin typeface="Times New Roman" panose="02020603050405020304" pitchFamily="18" charset="0"/>
                <a:cs typeface="Times New Roman" panose="02020603050405020304" pitchFamily="18" charset="0"/>
              </a:rPr>
              <a:t> </a:t>
            </a:r>
            <a:r>
              <a:rPr lang="en-US" altLang="zh-CN" sz="1600" b="1" dirty="0">
                <a:latin typeface="Times New Roman" panose="02020603050405020304" pitchFamily="18" charset="0"/>
                <a:cs typeface="Times New Roman" panose="02020603050405020304" pitchFamily="18" charset="0"/>
              </a:rPr>
              <a:t>1</a:t>
            </a:r>
            <a:endParaRPr lang="zh-CN" altLang="en-US" sz="1600" b="1" dirty="0">
              <a:latin typeface="Times New Roman" panose="02020603050405020304" pitchFamily="18" charset="0"/>
              <a:cs typeface="Times New Roman" panose="02020603050405020304" pitchFamily="18" charset="0"/>
            </a:endParaRPr>
          </a:p>
        </p:txBody>
      </p:sp>
      <p:pic>
        <p:nvPicPr>
          <p:cNvPr id="1026" name="Picture 2" descr="Quantum routing with teleportation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4186" y="3305578"/>
            <a:ext cx="2110663" cy="1282521"/>
          </a:xfrm>
          <a:prstGeom prst="rect">
            <a:avLst/>
          </a:prstGeom>
          <a:noFill/>
          <a:extLst>
            <a:ext uri="{909E8E84-426E-40DD-AFC4-6F175D3DCCD1}">
              <a14:hiddenFill xmlns:a14="http://schemas.microsoft.com/office/drawing/2010/main">
                <a:solidFill>
                  <a:srgbClr val="FFFFFF"/>
                </a:solidFill>
              </a14:hiddenFill>
            </a:ext>
          </a:extLst>
        </p:spPr>
      </p:pic>
      <p:sp>
        <p:nvSpPr>
          <p:cNvPr id="23" name="AutoShape 4" descr="Quantum routing with teleportation – QuBytes"/>
          <p:cNvSpPr>
            <a:spLocks noChangeAspect="1" noChangeArrowheads="1"/>
          </p:cNvSpPr>
          <p:nvPr/>
        </p:nvSpPr>
        <p:spPr bwMode="auto">
          <a:xfrm>
            <a:off x="8759110" y="2442977"/>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normAutofit fontScale="87500" lnSpcReduction="20000"/>
          </a:bodyPr>
          <a:lstStyle/>
          <a:p>
            <a:pPr>
              <a:lnSpc>
                <a:spcPct val="100000"/>
              </a:lnSpc>
            </a:pPr>
            <a:endParaRPr lang="zh-CN" altLang="en-US">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5"/>
          <a:stretch>
            <a:fillRect/>
          </a:stretch>
        </p:blipFill>
        <p:spPr>
          <a:xfrm>
            <a:off x="4724400" y="1482209"/>
            <a:ext cx="3901801" cy="1543282"/>
          </a:xfrm>
          <a:prstGeom prst="rect">
            <a:avLst/>
          </a:prstGeom>
        </p:spPr>
      </p:pic>
      <p:sp>
        <p:nvSpPr>
          <p:cNvPr id="26" name="Rounded Rectangle 14"/>
          <p:cNvSpPr/>
          <p:nvPr/>
        </p:nvSpPr>
        <p:spPr>
          <a:xfrm>
            <a:off x="4572000" y="1451243"/>
            <a:ext cx="4281144" cy="1574248"/>
          </a:xfrm>
          <a:prstGeom prst="roundRect">
            <a:avLst>
              <a:gd name="adj" fmla="val 5158"/>
            </a:avLst>
          </a:prstGeom>
          <a:solidFill>
            <a:schemeClr val="accent2">
              <a:alpha val="8000"/>
            </a:schemeClr>
          </a:solidFill>
          <a:ln w="1270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normAutofit fontScale="95000"/>
          </a:bodyPr>
          <a:lstStyle/>
          <a:p>
            <a:pPr algn="ctr">
              <a:lnSpc>
                <a:spcPct val="100000"/>
              </a:lnSpc>
            </a:pPr>
            <a:endParaRPr sz="1350">
              <a:latin typeface="Times New Roman" panose="02020603050405020304" pitchFamily="18" charset="0"/>
              <a:cs typeface="Times New Roman" panose="02020603050405020304" pitchFamily="18" charset="0"/>
            </a:endParaRPr>
          </a:p>
        </p:txBody>
      </p:sp>
      <p:sp>
        <p:nvSpPr>
          <p:cNvPr id="8" name="Rounded Rectangle 24"/>
          <p:cNvSpPr/>
          <p:nvPr/>
        </p:nvSpPr>
        <p:spPr>
          <a:xfrm>
            <a:off x="4591786" y="3189321"/>
            <a:ext cx="4261358" cy="1514474"/>
          </a:xfrm>
          <a:prstGeom prst="roundRect">
            <a:avLst>
              <a:gd name="adj" fmla="val 7547"/>
            </a:avLst>
          </a:prstGeom>
          <a:solidFill>
            <a:srgbClr val="15857A">
              <a:alpha val="4000"/>
            </a:srgbClr>
          </a:solidFill>
          <a:ln w="16510">
            <a:solidFill>
              <a:srgbClr val="15857A"/>
            </a:solidFill>
          </a:ln>
        </p:spPr>
        <p:style>
          <a:lnRef idx="1">
            <a:schemeClr val="accent1"/>
          </a:lnRef>
          <a:fillRef idx="3">
            <a:schemeClr val="accent1"/>
          </a:fillRef>
          <a:effectRef idx="2">
            <a:schemeClr val="accent1"/>
          </a:effectRef>
          <a:fontRef idx="minor">
            <a:schemeClr val="lt1"/>
          </a:fontRef>
        </p:style>
        <p:txBody>
          <a:bodyPr rtlCol="0" anchor="ctr">
            <a:normAutofit fontScale="95000"/>
          </a:bodyPr>
          <a:lstStyle/>
          <a:p>
            <a:pPr algn="ctr">
              <a:lnSpc>
                <a:spcPct val="100000"/>
              </a:lnSpc>
            </a:pPr>
            <a:endParaRPr sz="1350">
              <a:latin typeface="Times New Roman" panose="02020603050405020304" pitchFamily="18" charset="0"/>
              <a:cs typeface="Times New Roman" panose="02020603050405020304" pitchFamily="18" charset="0"/>
            </a:endParaRPr>
          </a:p>
        </p:txBody>
      </p:sp>
      <p:sp>
        <p:nvSpPr>
          <p:cNvPr id="27" name="TextBox 26"/>
          <p:cNvSpPr txBox="1"/>
          <p:nvPr/>
        </p:nvSpPr>
        <p:spPr>
          <a:xfrm>
            <a:off x="4673551" y="2581854"/>
            <a:ext cx="2404594" cy="360099"/>
          </a:xfrm>
          <a:prstGeom prst="rect">
            <a:avLst/>
          </a:prstGeom>
          <a:solidFill>
            <a:srgbClr val="EBF7FC"/>
          </a:solidFill>
        </p:spPr>
        <p:txBody>
          <a:bodyPr wrap="none" lIns="54864" tIns="41148" rIns="54864" bIns="41148" anchor="ctr"/>
          <a:lstStyle/>
          <a:p>
            <a:pPr algn="ctr">
              <a:lnSpc>
                <a:spcPct val="100000"/>
              </a:lnSpc>
              <a:spcAft>
                <a:spcPts val="390"/>
              </a:spcAft>
            </a:pPr>
            <a:r>
              <a:rPr lang="zh-CN" altLang="en-US" sz="1600" b="1" dirty="0">
                <a:solidFill>
                  <a:srgbClr val="2C3E50"/>
                </a:solidFill>
                <a:latin typeface="Times New Roman" panose="02020603050405020304" pitchFamily="18" charset="0"/>
                <a:cs typeface="Times New Roman" panose="02020603050405020304" pitchFamily="18" charset="0"/>
              </a:rPr>
              <a:t>Traditional SWAP routing</a:t>
            </a:r>
          </a:p>
        </p:txBody>
      </p:sp>
      <p:cxnSp>
        <p:nvCxnSpPr>
          <p:cNvPr id="28" name="直接箭头连接符 27"/>
          <p:cNvCxnSpPr/>
          <p:nvPr/>
        </p:nvCxnSpPr>
        <p:spPr>
          <a:xfrm>
            <a:off x="5799517" y="1529339"/>
            <a:ext cx="2557257" cy="8886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6"/>
          <p:cNvSpPr txBox="1"/>
          <p:nvPr/>
        </p:nvSpPr>
        <p:spPr>
          <a:xfrm rot="1230132">
            <a:off x="6762131" y="1799282"/>
            <a:ext cx="2003015" cy="360099"/>
          </a:xfrm>
          <a:prstGeom prst="rect">
            <a:avLst/>
          </a:prstGeom>
          <a:solidFill>
            <a:srgbClr val="EBF7FC"/>
          </a:solidFill>
        </p:spPr>
        <p:txBody>
          <a:bodyPr wrap="square" lIns="54864" tIns="41148" rIns="54864" bIns="41148" anchor="ctr"/>
          <a:lstStyle/>
          <a:p>
            <a:pPr algn="ctr">
              <a:lnSpc>
                <a:spcPct val="100000"/>
              </a:lnSpc>
              <a:spcAft>
                <a:spcPts val="390"/>
              </a:spcAft>
            </a:pPr>
            <a:r>
              <a:rPr lang="zh-CN" altLang="en-US" sz="1600" b="1" dirty="0">
                <a:solidFill>
                  <a:srgbClr val="2C3E50"/>
                </a:solidFill>
                <a:latin typeface="Times New Roman" panose="02020603050405020304" pitchFamily="18" charset="0"/>
                <a:cs typeface="Times New Roman" panose="02020603050405020304" pitchFamily="18" charset="0"/>
              </a:rPr>
              <a:t>Linear depth growth</a:t>
            </a:r>
          </a:p>
        </p:txBody>
      </p:sp>
      <p:sp>
        <p:nvSpPr>
          <p:cNvPr id="31" name="TextBox 26"/>
          <p:cNvSpPr txBox="1"/>
          <p:nvPr/>
        </p:nvSpPr>
        <p:spPr>
          <a:xfrm>
            <a:off x="6713316" y="3401086"/>
            <a:ext cx="2045794" cy="360099"/>
          </a:xfrm>
          <a:prstGeom prst="rect">
            <a:avLst/>
          </a:prstGeom>
          <a:solidFill>
            <a:srgbClr val="F6FAFA"/>
          </a:solidFill>
        </p:spPr>
        <p:txBody>
          <a:bodyPr wrap="none" lIns="54864" tIns="41148" rIns="54864" bIns="41148" anchor="ctr"/>
          <a:lstStyle/>
          <a:p>
            <a:pPr algn="ctr">
              <a:lnSpc>
                <a:spcPct val="100000"/>
              </a:lnSpc>
              <a:spcAft>
                <a:spcPts val="390"/>
              </a:spcAft>
            </a:pPr>
            <a:r>
              <a:rPr lang="zh-CN" altLang="en-US" sz="1600" b="1" dirty="0">
                <a:solidFill>
                  <a:srgbClr val="2C3E50"/>
                </a:solidFill>
                <a:latin typeface="Times New Roman" panose="02020603050405020304" pitchFamily="18" charset="0"/>
                <a:cs typeface="Times New Roman" panose="02020603050405020304" pitchFamily="18" charset="0"/>
              </a:rPr>
              <a:t>Teleportation routing</a:t>
            </a:r>
          </a:p>
        </p:txBody>
      </p:sp>
      <p:sp>
        <p:nvSpPr>
          <p:cNvPr id="32" name="TextBox 26"/>
          <p:cNvSpPr txBox="1"/>
          <p:nvPr/>
        </p:nvSpPr>
        <p:spPr>
          <a:xfrm>
            <a:off x="7147541" y="3964519"/>
            <a:ext cx="1264962" cy="360099"/>
          </a:xfrm>
          <a:prstGeom prst="rect">
            <a:avLst/>
          </a:prstGeom>
          <a:solidFill>
            <a:srgbClr val="F6FAFA"/>
          </a:solidFill>
        </p:spPr>
        <p:txBody>
          <a:bodyPr wrap="none" lIns="54864" tIns="41148" rIns="54864" bIns="41148" anchor="ctr"/>
          <a:lstStyle/>
          <a:p>
            <a:pPr algn="ctr">
              <a:lnSpc>
                <a:spcPct val="100000"/>
              </a:lnSpc>
              <a:spcAft>
                <a:spcPts val="390"/>
              </a:spcAft>
            </a:pPr>
            <a:r>
              <a:rPr lang="zh-CN" altLang="en-US" sz="1600" b="1" dirty="0">
                <a:solidFill>
                  <a:schemeClr val="accent1"/>
                </a:solidFill>
                <a:latin typeface="Times New Roman" panose="02020603050405020304" pitchFamily="18" charset="0"/>
                <a:cs typeface="Times New Roman" panose="02020603050405020304" pitchFamily="18" charset="0"/>
              </a:rPr>
              <a:t>Constant depth</a:t>
            </a:r>
          </a:p>
        </p:txBody>
      </p:sp>
      <p:sp>
        <p:nvSpPr>
          <p:cNvPr id="34" name="箭头: 右 33"/>
          <p:cNvSpPr/>
          <p:nvPr/>
        </p:nvSpPr>
        <p:spPr>
          <a:xfrm>
            <a:off x="2082353" y="2182358"/>
            <a:ext cx="188302" cy="295475"/>
          </a:xfrm>
          <a:prstGeom prst="rightArrow">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grpSp>
        <p:nvGrpSpPr>
          <p:cNvPr id="35" name="组合 34"/>
          <p:cNvGrpSpPr/>
          <p:nvPr/>
        </p:nvGrpSpPr>
        <p:grpSpPr>
          <a:xfrm>
            <a:off x="646766" y="1999233"/>
            <a:ext cx="1016149" cy="651969"/>
            <a:chOff x="2730885" y="2041687"/>
            <a:chExt cx="1016149" cy="651969"/>
          </a:xfrm>
        </p:grpSpPr>
        <p:sp>
          <p:nvSpPr>
            <p:cNvPr id="51" name="椭圆 50"/>
            <p:cNvSpPr/>
            <p:nvPr/>
          </p:nvSpPr>
          <p:spPr>
            <a:xfrm>
              <a:off x="3160897" y="2041687"/>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sp>
          <p:nvSpPr>
            <p:cNvPr id="52" name="椭圆 51"/>
            <p:cNvSpPr/>
            <p:nvPr/>
          </p:nvSpPr>
          <p:spPr>
            <a:xfrm>
              <a:off x="2879550" y="2230681"/>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dirty="0">
                <a:latin typeface="Times New Roman" panose="02020603050405020304" pitchFamily="18" charset="0"/>
                <a:cs typeface="Times New Roman" panose="02020603050405020304" pitchFamily="18" charset="0"/>
              </a:endParaRPr>
            </a:p>
          </p:txBody>
        </p:sp>
        <p:sp>
          <p:nvSpPr>
            <p:cNvPr id="53" name="椭圆 52"/>
            <p:cNvSpPr/>
            <p:nvPr/>
          </p:nvSpPr>
          <p:spPr>
            <a:xfrm>
              <a:off x="3425033" y="2245430"/>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sp>
          <p:nvSpPr>
            <p:cNvPr id="54" name="椭圆 53"/>
            <p:cNvSpPr/>
            <p:nvPr/>
          </p:nvSpPr>
          <p:spPr>
            <a:xfrm>
              <a:off x="2730885" y="2505352"/>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sp>
          <p:nvSpPr>
            <p:cNvPr id="55" name="椭圆 54"/>
            <p:cNvSpPr/>
            <p:nvPr/>
          </p:nvSpPr>
          <p:spPr>
            <a:xfrm>
              <a:off x="3007502" y="2505352"/>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sp>
          <p:nvSpPr>
            <p:cNvPr id="56" name="椭圆 55"/>
            <p:cNvSpPr/>
            <p:nvPr/>
          </p:nvSpPr>
          <p:spPr>
            <a:xfrm>
              <a:off x="3284119" y="2505352"/>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sp>
          <p:nvSpPr>
            <p:cNvPr id="57" name="椭圆 56"/>
            <p:cNvSpPr/>
            <p:nvPr/>
          </p:nvSpPr>
          <p:spPr>
            <a:xfrm>
              <a:off x="3560736" y="2505352"/>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cxnSp>
          <p:nvCxnSpPr>
            <p:cNvPr id="58" name="直接连接符 57"/>
            <p:cNvCxnSpPr>
              <a:stCxn id="51" idx="3"/>
              <a:endCxn id="52" idx="7"/>
            </p:cNvCxnSpPr>
            <p:nvPr/>
          </p:nvCxnSpPr>
          <p:spPr>
            <a:xfrm flipH="1">
              <a:off x="3038565" y="2202415"/>
              <a:ext cx="149615" cy="5584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a:stCxn id="51" idx="5"/>
              <a:endCxn id="53" idx="1"/>
            </p:cNvCxnSpPr>
            <p:nvPr/>
          </p:nvCxnSpPr>
          <p:spPr>
            <a:xfrm>
              <a:off x="3319912" y="2202415"/>
              <a:ext cx="132404" cy="705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a:stCxn id="52" idx="4"/>
              <a:endCxn id="54" idx="0"/>
            </p:cNvCxnSpPr>
            <p:nvPr/>
          </p:nvCxnSpPr>
          <p:spPr>
            <a:xfrm flipH="1">
              <a:off x="2824034" y="2418985"/>
              <a:ext cx="148665" cy="863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a:stCxn id="52" idx="4"/>
              <a:endCxn id="55" idx="0"/>
            </p:cNvCxnSpPr>
            <p:nvPr/>
          </p:nvCxnSpPr>
          <p:spPr>
            <a:xfrm>
              <a:off x="2972699" y="2418985"/>
              <a:ext cx="127952" cy="863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a:stCxn id="53" idx="4"/>
              <a:endCxn id="57" idx="0"/>
            </p:cNvCxnSpPr>
            <p:nvPr/>
          </p:nvCxnSpPr>
          <p:spPr>
            <a:xfrm>
              <a:off x="3518182" y="2433734"/>
              <a:ext cx="135703" cy="716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a:stCxn id="53" idx="4"/>
              <a:endCxn id="56" idx="0"/>
            </p:cNvCxnSpPr>
            <p:nvPr/>
          </p:nvCxnSpPr>
          <p:spPr>
            <a:xfrm flipH="1">
              <a:off x="3377268" y="2433734"/>
              <a:ext cx="140914" cy="716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6" name="组合 35"/>
          <p:cNvGrpSpPr/>
          <p:nvPr/>
        </p:nvGrpSpPr>
        <p:grpSpPr>
          <a:xfrm>
            <a:off x="2690094" y="2115931"/>
            <a:ext cx="998560" cy="451327"/>
            <a:chOff x="2862823" y="4522400"/>
            <a:chExt cx="998560" cy="451327"/>
          </a:xfrm>
        </p:grpSpPr>
        <p:cxnSp>
          <p:nvCxnSpPr>
            <p:cNvPr id="37" name="直接连接符 36"/>
            <p:cNvCxnSpPr>
              <a:stCxn id="38" idx="6"/>
              <a:endCxn id="39" idx="2"/>
            </p:cNvCxnSpPr>
            <p:nvPr/>
          </p:nvCxnSpPr>
          <p:spPr>
            <a:xfrm>
              <a:off x="3049121" y="4616552"/>
              <a:ext cx="625964"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38" name="椭圆 37"/>
            <p:cNvSpPr/>
            <p:nvPr/>
          </p:nvSpPr>
          <p:spPr>
            <a:xfrm>
              <a:off x="2862823" y="4522400"/>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sp>
          <p:nvSpPr>
            <p:cNvPr id="39" name="椭圆 38"/>
            <p:cNvSpPr/>
            <p:nvPr/>
          </p:nvSpPr>
          <p:spPr>
            <a:xfrm>
              <a:off x="3675085" y="4522400"/>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sp>
          <p:nvSpPr>
            <p:cNvPr id="40" name="椭圆 39"/>
            <p:cNvSpPr/>
            <p:nvPr/>
          </p:nvSpPr>
          <p:spPr>
            <a:xfrm>
              <a:off x="2862823" y="4785423"/>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sp>
          <p:nvSpPr>
            <p:cNvPr id="41" name="椭圆 40"/>
            <p:cNvSpPr/>
            <p:nvPr/>
          </p:nvSpPr>
          <p:spPr>
            <a:xfrm>
              <a:off x="3675085" y="4785423"/>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cxnSp>
          <p:nvCxnSpPr>
            <p:cNvPr id="42" name="直接连接符 41"/>
            <p:cNvCxnSpPr>
              <a:stCxn id="40" idx="6"/>
              <a:endCxn id="41" idx="2"/>
            </p:cNvCxnSpPr>
            <p:nvPr/>
          </p:nvCxnSpPr>
          <p:spPr>
            <a:xfrm>
              <a:off x="3049121" y="4879575"/>
              <a:ext cx="625964"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43" name="椭圆 42"/>
            <p:cNvSpPr/>
            <p:nvPr/>
          </p:nvSpPr>
          <p:spPr>
            <a:xfrm>
              <a:off x="3133577" y="4522400"/>
              <a:ext cx="186298" cy="188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sp>
          <p:nvSpPr>
            <p:cNvPr id="44" name="椭圆 43"/>
            <p:cNvSpPr/>
            <p:nvPr/>
          </p:nvSpPr>
          <p:spPr>
            <a:xfrm>
              <a:off x="3404331" y="4522400"/>
              <a:ext cx="186298" cy="188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dirty="0">
                <a:latin typeface="Times New Roman" panose="02020603050405020304" pitchFamily="18" charset="0"/>
                <a:cs typeface="Times New Roman" panose="02020603050405020304" pitchFamily="18" charset="0"/>
              </a:endParaRPr>
            </a:p>
          </p:txBody>
        </p:sp>
        <p:sp>
          <p:nvSpPr>
            <p:cNvPr id="45" name="椭圆 44"/>
            <p:cNvSpPr/>
            <p:nvPr/>
          </p:nvSpPr>
          <p:spPr>
            <a:xfrm>
              <a:off x="3133577" y="4785423"/>
              <a:ext cx="186298" cy="188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sp>
          <p:nvSpPr>
            <p:cNvPr id="46" name="椭圆 45"/>
            <p:cNvSpPr/>
            <p:nvPr/>
          </p:nvSpPr>
          <p:spPr>
            <a:xfrm>
              <a:off x="3404331" y="4785423"/>
              <a:ext cx="186298" cy="188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cxnSp>
          <p:nvCxnSpPr>
            <p:cNvPr id="47" name="直接连接符 46"/>
            <p:cNvCxnSpPr>
              <a:stCxn id="41" idx="0"/>
              <a:endCxn id="39" idx="4"/>
            </p:cNvCxnSpPr>
            <p:nvPr/>
          </p:nvCxnSpPr>
          <p:spPr>
            <a:xfrm flipV="1">
              <a:off x="3768234" y="4710704"/>
              <a:ext cx="0" cy="7471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8" name="直接连接符 47"/>
            <p:cNvCxnSpPr>
              <a:stCxn id="46" idx="0"/>
              <a:endCxn id="44" idx="4"/>
            </p:cNvCxnSpPr>
            <p:nvPr/>
          </p:nvCxnSpPr>
          <p:spPr>
            <a:xfrm flipV="1">
              <a:off x="3497480" y="4710704"/>
              <a:ext cx="0" cy="7471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9" name="直接连接符 48"/>
            <p:cNvCxnSpPr/>
            <p:nvPr/>
          </p:nvCxnSpPr>
          <p:spPr>
            <a:xfrm flipV="1">
              <a:off x="3226726" y="4710704"/>
              <a:ext cx="0" cy="7471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50" name="直接连接符 49"/>
            <p:cNvCxnSpPr/>
            <p:nvPr/>
          </p:nvCxnSpPr>
          <p:spPr>
            <a:xfrm flipV="1">
              <a:off x="2955972" y="4710704"/>
              <a:ext cx="0" cy="7471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grpSp>
      <p:sp>
        <p:nvSpPr>
          <p:cNvPr id="67" name="矩形 66"/>
          <p:cNvSpPr/>
          <p:nvPr/>
        </p:nvSpPr>
        <p:spPr>
          <a:xfrm>
            <a:off x="312119" y="1466576"/>
            <a:ext cx="3953097" cy="48478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b="1" dirty="0">
                <a:latin typeface="Times New Roman" panose="02020603050405020304" pitchFamily="18" charset="0"/>
                <a:cs typeface="Times New Roman" panose="02020603050405020304" pitchFamily="18" charset="0"/>
                <a:sym typeface="+mn-lt"/>
              </a:rPr>
              <a:t>Routing path length grows exponentially with the number of layers.</a:t>
            </a:r>
            <a:endParaRPr lang="zh-CN" altLang="en-US" sz="1600" b="1" dirty="0">
              <a:latin typeface="Times New Roman" panose="02020603050405020304" pitchFamily="18" charset="0"/>
              <a:cs typeface="Times New Roman" panose="02020603050405020304" pitchFamily="18" charset="0"/>
            </a:endParaRPr>
          </a:p>
        </p:txBody>
      </p:sp>
      <p:sp>
        <p:nvSpPr>
          <p:cNvPr id="9" name="文本框 8"/>
          <p:cNvSpPr txBox="1"/>
          <p:nvPr/>
        </p:nvSpPr>
        <p:spPr>
          <a:xfrm>
            <a:off x="2270760" y="5589270"/>
            <a:ext cx="1994535" cy="323850"/>
          </a:xfrm>
          <a:prstGeom prst="rect">
            <a:avLst/>
          </a:prstGeom>
          <a:noFill/>
        </p:spPr>
        <p:txBody>
          <a:bodyPr wrap="square" rtlCol="0"/>
          <a:lstStyle/>
          <a:p>
            <a:pPr indent="0" algn="ctr" fontAlgn="auto">
              <a:lnSpc>
                <a:spcPct val="100000"/>
              </a:lnSpc>
            </a:pPr>
            <a:endParaRPr lang="zh-CN" altLang="en-US" sz="1200" b="1" dirty="0">
              <a:solidFill>
                <a:srgbClr val="C00000"/>
              </a:solidFill>
              <a:latin typeface="Times New Roman" panose="02020603050405020304" pitchFamily="18" charset="0"/>
              <a:cs typeface="Times New Roman" panose="02020603050405020304" pitchFamily="18" charset="0"/>
            </a:endParaRPr>
          </a:p>
        </p:txBody>
      </p:sp>
      <p:sp>
        <p:nvSpPr>
          <p:cNvPr id="10" name="文本框 9"/>
          <p:cNvSpPr txBox="1"/>
          <p:nvPr/>
        </p:nvSpPr>
        <p:spPr>
          <a:xfrm>
            <a:off x="2082165" y="4261485"/>
            <a:ext cx="2293620" cy="584775"/>
          </a:xfrm>
          <a:prstGeom prst="rect">
            <a:avLst/>
          </a:prstGeom>
          <a:noFill/>
        </p:spPr>
        <p:txBody>
          <a:bodyPr wrap="square" rtlCol="0">
            <a:spAutoFit/>
          </a:bodyPr>
          <a:lstStyle/>
          <a:p>
            <a:pPr algn="ctr"/>
            <a:r>
              <a:rPr lang="zh-CN" altLang="en-US" sz="1600" dirty="0">
                <a:latin typeface="Times New Roman" panose="02020603050405020304" pitchFamily="18" charset="0"/>
                <a:cs typeface="Times New Roman" panose="02020603050405020304" pitchFamily="18" charset="0"/>
                <a:sym typeface="+mn-ea"/>
              </a:rPr>
              <a:t>Key issue: </a:t>
            </a:r>
            <a:r>
              <a:rPr lang="zh-CN" altLang="en-US" sz="1600" dirty="0">
                <a:solidFill>
                  <a:srgbClr val="C00000"/>
                </a:solidFill>
                <a:latin typeface="Times New Roman" panose="02020603050405020304" pitchFamily="18" charset="0"/>
                <a:cs typeface="Times New Roman" panose="02020603050405020304" pitchFamily="18" charset="0"/>
                <a:sym typeface="+mn-ea"/>
              </a:rPr>
              <a:t>exponential routing length</a:t>
            </a:r>
          </a:p>
        </p:txBody>
      </p:sp>
      <p:sp>
        <p:nvSpPr>
          <p:cNvPr id="12" name="文本框 11"/>
          <p:cNvSpPr txBox="1"/>
          <p:nvPr/>
        </p:nvSpPr>
        <p:spPr>
          <a:xfrm>
            <a:off x="140970" y="4079875"/>
            <a:ext cx="2129790" cy="830997"/>
          </a:xfrm>
          <a:prstGeom prst="rect">
            <a:avLst/>
          </a:prstGeom>
          <a:noFill/>
        </p:spPr>
        <p:txBody>
          <a:bodyPr wrap="square" rtlCol="0">
            <a:spAutoFit/>
          </a:bodyPr>
          <a:lstStyle/>
          <a:p>
            <a:pPr algn="ctr"/>
            <a:r>
              <a:rPr lang="en-US" altLang="zh-CN" sz="1600">
                <a:latin typeface="Times New Roman" panose="02020603050405020304" pitchFamily="18" charset="0"/>
                <a:cs typeface="Times New Roman" panose="02020603050405020304" pitchFamily="18" charset="0"/>
                <a:sym typeface="+mn-ea"/>
              </a:rPr>
              <a:t>Optimal topology mapping: self-similar architecture mapping</a:t>
            </a:r>
          </a:p>
        </p:txBody>
      </p:sp>
      <p:sp>
        <p:nvSpPr>
          <p:cNvPr id="77" name="Rounded Rectangle 14"/>
          <p:cNvSpPr/>
          <p:nvPr/>
        </p:nvSpPr>
        <p:spPr>
          <a:xfrm>
            <a:off x="312420" y="1974186"/>
            <a:ext cx="3952875" cy="2872105"/>
          </a:xfrm>
          <a:prstGeom prst="roundRect">
            <a:avLst>
              <a:gd name="adj" fmla="val 2965"/>
            </a:avLst>
          </a:prstGeom>
          <a:solidFill>
            <a:schemeClr val="accent2">
              <a:alpha val="8000"/>
            </a:schemeClr>
          </a:solidFill>
          <a:ln w="1270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lnSpc>
                <a:spcPct val="100000"/>
              </a:lnSpc>
            </a:pPr>
            <a:endParaRPr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nSpc>
                <a:spcPct val="100000"/>
              </a:lnSpc>
            </a:pPr>
            <a:r>
              <a:rPr lang="zh-CN" altLang="en-US" dirty="0">
                <a:latin typeface="+mn-lt"/>
              </a:rPr>
              <a:t>Teleportation-Based Routing Implementation</a:t>
            </a:r>
          </a:p>
        </p:txBody>
      </p:sp>
      <p:sp>
        <p:nvSpPr>
          <p:cNvPr id="6" name="矩形: 圆角 37"/>
          <p:cNvSpPr/>
          <p:nvPr/>
        </p:nvSpPr>
        <p:spPr>
          <a:xfrm>
            <a:off x="225425" y="956310"/>
            <a:ext cx="866648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00000"/>
              </a:lnSpc>
              <a:buClrTx/>
              <a:buSzTx/>
              <a:buFontTx/>
            </a:pPr>
            <a:r>
              <a:rPr lang="zh-CN" b="1" dirty="0">
                <a:solidFill>
                  <a:schemeClr val="tx1"/>
                </a:solidFill>
                <a:ea typeface="微软雅黑" panose="020B0503020204020204" pitchFamily="34" charset="-122"/>
                <a:cs typeface="微软雅黑" panose="020B0503020204020204" pitchFamily="34" charset="-122"/>
              </a:rPr>
              <a:t>Teleportation fidelity reaches 0.99</a:t>
            </a:r>
          </a:p>
        </p:txBody>
      </p:sp>
      <p:sp>
        <p:nvSpPr>
          <p:cNvPr id="7" name="矩形: 圆角 38"/>
          <p:cNvSpPr/>
          <p:nvPr/>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b="1" dirty="0"/>
              <a:t>Results</a:t>
            </a:r>
            <a:endParaRPr lang="zh-CN" altLang="en-US" b="1" dirty="0"/>
          </a:p>
        </p:txBody>
      </p:sp>
      <p:pic>
        <p:nvPicPr>
          <p:cNvPr id="24" name="图片 23"/>
          <p:cNvPicPr>
            <a:picLocks noChangeAspect="1"/>
          </p:cNvPicPr>
          <p:nvPr/>
        </p:nvPicPr>
        <p:blipFill>
          <a:blip r:embed="rId3"/>
          <a:stretch>
            <a:fillRect/>
          </a:stretch>
        </p:blipFill>
        <p:spPr>
          <a:xfrm>
            <a:off x="3396089" y="1944843"/>
            <a:ext cx="2877101" cy="2641783"/>
          </a:xfrm>
          <a:prstGeom prst="rect">
            <a:avLst/>
          </a:prstGeom>
        </p:spPr>
      </p:pic>
      <p:sp>
        <p:nvSpPr>
          <p:cNvPr id="25" name="矩形 24"/>
          <p:cNvSpPr/>
          <p:nvPr/>
        </p:nvSpPr>
        <p:spPr>
          <a:xfrm>
            <a:off x="2058082" y="1476651"/>
            <a:ext cx="597408" cy="30823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7500" lnSpcReduction="20000"/>
          </a:bodyPr>
          <a:lstStyle/>
          <a:p>
            <a:pPr algn="ctr">
              <a:lnSpc>
                <a:spcPct val="100000"/>
              </a:lnSpc>
            </a:pPr>
            <a:endParaRPr lang="zh-CN" altLang="en-US"/>
          </a:p>
        </p:txBody>
      </p:sp>
      <p:grpSp>
        <p:nvGrpSpPr>
          <p:cNvPr id="1028" name="组合 1027"/>
          <p:cNvGrpSpPr/>
          <p:nvPr/>
        </p:nvGrpSpPr>
        <p:grpSpPr>
          <a:xfrm>
            <a:off x="6343800" y="2017910"/>
            <a:ext cx="2373907" cy="2454140"/>
            <a:chOff x="4311021" y="1627122"/>
            <a:chExt cx="2583799" cy="2792449"/>
          </a:xfrm>
        </p:grpSpPr>
        <p:pic>
          <p:nvPicPr>
            <p:cNvPr id="1025" name="图片 1024"/>
            <p:cNvPicPr>
              <a:picLocks noChangeAspect="1"/>
            </p:cNvPicPr>
            <p:nvPr/>
          </p:nvPicPr>
          <p:blipFill>
            <a:blip r:embed="rId4"/>
            <a:stretch>
              <a:fillRect/>
            </a:stretch>
          </p:blipFill>
          <p:spPr>
            <a:xfrm>
              <a:off x="4354107" y="1627122"/>
              <a:ext cx="2540713" cy="2792449"/>
            </a:xfrm>
            <a:prstGeom prst="rect">
              <a:avLst/>
            </a:prstGeom>
          </p:spPr>
        </p:pic>
        <p:sp>
          <p:nvSpPr>
            <p:cNvPr id="1027" name="文本框 1026"/>
            <p:cNvSpPr txBox="1"/>
            <p:nvPr/>
          </p:nvSpPr>
          <p:spPr>
            <a:xfrm>
              <a:off x="4311021" y="1670597"/>
              <a:ext cx="1167871" cy="390396"/>
            </a:xfrm>
            <a:prstGeom prst="rect">
              <a:avLst/>
            </a:prstGeom>
            <a:solidFill>
              <a:schemeClr val="bg1"/>
            </a:solidFill>
          </p:spPr>
          <p:txBody>
            <a:bodyPr wrap="square" rtlCol="0">
              <a:noAutofit/>
            </a:bodyPr>
            <a:lstStyle/>
            <a:p>
              <a:pPr>
                <a:lnSpc>
                  <a:spcPct val="100000"/>
                </a:lnSpc>
              </a:pPr>
              <a:r>
                <a:rPr lang="zh-CN" altLang="en-US" sz="2000" dirty="0"/>
                <a:t> State</a:t>
              </a:r>
            </a:p>
          </p:txBody>
        </p:sp>
        <p:sp>
          <p:nvSpPr>
            <p:cNvPr id="3" name="文本框 2">
              <a:extLst>
                <a:ext uri="{FF2B5EF4-FFF2-40B4-BE49-F238E27FC236}">
                  <a16:creationId xmlns:a16="http://schemas.microsoft.com/office/drawing/2014/main" id="{0995E340-4AE7-7BA4-4F46-E1F50FB3D3EB}"/>
                </a:ext>
              </a:extLst>
            </p:cNvPr>
            <p:cNvSpPr txBox="1"/>
            <p:nvPr/>
          </p:nvSpPr>
          <p:spPr>
            <a:xfrm>
              <a:off x="5378068" y="1648499"/>
              <a:ext cx="1486939" cy="390396"/>
            </a:xfrm>
            <a:prstGeom prst="rect">
              <a:avLst/>
            </a:prstGeom>
            <a:solidFill>
              <a:schemeClr val="bg1"/>
            </a:solidFill>
          </p:spPr>
          <p:txBody>
            <a:bodyPr wrap="square" rtlCol="0">
              <a:noAutofit/>
            </a:bodyPr>
            <a:lstStyle/>
            <a:p>
              <a:pPr>
                <a:lnSpc>
                  <a:spcPct val="100000"/>
                </a:lnSpc>
              </a:pPr>
              <a:r>
                <a:rPr lang="en-US" altLang="zh-CN" sz="2000" dirty="0"/>
                <a:t>Fidelity</a:t>
              </a:r>
              <a:endParaRPr lang="zh-CN" altLang="en-US" sz="2000" dirty="0"/>
            </a:p>
          </p:txBody>
        </p:sp>
      </p:grpSp>
      <p:sp>
        <p:nvSpPr>
          <p:cNvPr id="74" name="矩形 73"/>
          <p:cNvSpPr/>
          <p:nvPr/>
        </p:nvSpPr>
        <p:spPr>
          <a:xfrm>
            <a:off x="3361012" y="1473688"/>
            <a:ext cx="5413623" cy="4407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r>
              <a:rPr lang="zh-CN" altLang="en-US" sz="1800" b="1" dirty="0"/>
              <a:t>Experiments on different quantum basis states</a:t>
            </a:r>
          </a:p>
        </p:txBody>
      </p:sp>
      <p:sp>
        <p:nvSpPr>
          <p:cNvPr id="75" name="矩形 74"/>
          <p:cNvSpPr/>
          <p:nvPr/>
        </p:nvSpPr>
        <p:spPr>
          <a:xfrm>
            <a:off x="225426" y="1476651"/>
            <a:ext cx="2874456" cy="4407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r>
              <a:rPr lang="zh-CN" altLang="en-US" sz="1800" b="1" dirty="0"/>
              <a:t>Depth remains linear</a:t>
            </a:r>
          </a:p>
        </p:txBody>
      </p:sp>
      <p:pic>
        <p:nvPicPr>
          <p:cNvPr id="316" name="图形 315"/>
          <p:cNvPicPr>
            <a:picLocks noChangeAspect="1"/>
          </p:cNvPicPr>
          <p:nvPr/>
        </p:nvPicPr>
        <p:blipFill rotWithShape="1">
          <a:blip r:embed="rId5">
            <a:extLst>
              <a:ext uri="{96DAC541-7B7A-43D3-8B79-37D633B846F1}">
                <asvg:svgBlip xmlns:asvg="http://schemas.microsoft.com/office/drawing/2016/SVG/main" r:embed="rId6"/>
              </a:ext>
            </a:extLst>
          </a:blip>
          <a:srcRect l="18498" b="17940"/>
          <a:stretch>
            <a:fillRect/>
          </a:stretch>
        </p:blipFill>
        <p:spPr>
          <a:xfrm>
            <a:off x="776252" y="2065645"/>
            <a:ext cx="2449902" cy="2028200"/>
          </a:xfrm>
          <a:prstGeom prst="rect">
            <a:avLst/>
          </a:prstGeom>
        </p:spPr>
      </p:pic>
      <mc:AlternateContent xmlns:mc="http://schemas.openxmlformats.org/markup-compatibility/2006" xmlns:a14="http://schemas.microsoft.com/office/drawing/2010/main">
        <mc:Choice Requires="a14">
          <p:sp>
            <p:nvSpPr>
              <p:cNvPr id="317" name="文本框 316"/>
              <p:cNvSpPr txBox="1"/>
              <p:nvPr/>
            </p:nvSpPr>
            <p:spPr>
              <a:xfrm rot="16200000">
                <a:off x="-512629" y="2750328"/>
                <a:ext cx="1840667" cy="338554"/>
              </a:xfrm>
              <a:prstGeom prst="rect">
                <a:avLst/>
              </a:prstGeom>
              <a:noFill/>
            </p:spPr>
            <p:txBody>
              <a:bodyPr wrap="square" rtlCol="0">
                <a:noAutofit/>
              </a:bodyPr>
              <a:lstStyle/>
              <a:p>
                <a:pPr>
                  <a:lnSpc>
                    <a:spcPct val="100000"/>
                  </a:lnSpc>
                </a:pPr>
                <a:r>
                  <a:rPr lang="zh-CN" altLang="en-US" dirty="0"/>
                  <a:t>Depth</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10</m:t>
                        </m:r>
                      </m:e>
                      <m:sup>
                        <m:r>
                          <a:rPr lang="en-US" altLang="zh-CN" b="0" i="1" smtClean="0">
                            <a:latin typeface="Cambria Math" panose="02040503050406030204" pitchFamily="18" charset="0"/>
                            <a:ea typeface="Cambria Math" panose="02040503050406030204" pitchFamily="18" charset="0"/>
                          </a:rPr>
                          <m:t>3</m:t>
                        </m:r>
                      </m:sup>
                    </m:sSup>
                  </m:oMath>
                </a14:m>
                <a:endParaRPr lang="zh-CN" altLang="en-US" dirty="0"/>
              </a:p>
            </p:txBody>
          </p:sp>
        </mc:Choice>
        <mc:Fallback xmlns="">
          <p:sp>
            <p:nvSpPr>
              <p:cNvPr id="317" name="文本框 316"/>
              <p:cNvSpPr txBox="1">
                <a:spLocks noRot="1" noChangeAspect="1" noMove="1" noResize="1" noEditPoints="1" noAdjustHandles="1" noChangeArrowheads="1" noChangeShapeType="1" noTextEdit="1"/>
              </p:cNvSpPr>
              <p:nvPr/>
            </p:nvSpPr>
            <p:spPr>
              <a:xfrm rot="16200000">
                <a:off x="-512629" y="2750328"/>
                <a:ext cx="1840667" cy="338554"/>
              </a:xfrm>
              <a:prstGeom prst="rect">
                <a:avLst/>
              </a:prstGeom>
              <a:blipFill>
                <a:blip r:embed="rId7"/>
                <a:stretch>
                  <a:fillRect l="-3571" r="-35714" b="-2740"/>
                </a:stretch>
              </a:blipFill>
            </p:spPr>
            <p:txBody>
              <a:bodyPr/>
              <a:lstStyle/>
              <a:p>
                <a:r>
                  <a:rPr lang="zh-CN" altLang="en-US">
                    <a:noFill/>
                  </a:rPr>
                  <a:t> </a:t>
                </a:r>
              </a:p>
            </p:txBody>
          </p:sp>
        </mc:Fallback>
      </mc:AlternateContent>
      <p:grpSp>
        <p:nvGrpSpPr>
          <p:cNvPr id="1245" name="组合 1244"/>
          <p:cNvGrpSpPr/>
          <p:nvPr/>
        </p:nvGrpSpPr>
        <p:grpSpPr>
          <a:xfrm>
            <a:off x="803162" y="4001898"/>
            <a:ext cx="2306083" cy="586950"/>
            <a:chOff x="10293904" y="3888007"/>
            <a:chExt cx="2306083" cy="586950"/>
          </a:xfrm>
        </p:grpSpPr>
        <p:sp>
          <p:nvSpPr>
            <p:cNvPr id="321" name="文本框 320"/>
            <p:cNvSpPr txBox="1"/>
            <p:nvPr/>
          </p:nvSpPr>
          <p:spPr>
            <a:xfrm>
              <a:off x="10293904" y="3888007"/>
              <a:ext cx="198120" cy="307777"/>
            </a:xfrm>
            <a:prstGeom prst="rect">
              <a:avLst/>
            </a:prstGeom>
            <a:noFill/>
          </p:spPr>
          <p:txBody>
            <a:bodyPr wrap="square" rtlCol="0">
              <a:normAutofit fontScale="95000"/>
            </a:bodyPr>
            <a:lstStyle/>
            <a:p>
              <a:pPr>
                <a:lnSpc>
                  <a:spcPct val="100000"/>
                </a:lnSpc>
              </a:pPr>
              <a:r>
                <a:rPr lang="en-US" altLang="zh-CN" sz="1400" dirty="0"/>
                <a:t>1</a:t>
              </a:r>
              <a:endParaRPr lang="zh-CN" altLang="en-US" sz="1400" dirty="0"/>
            </a:p>
          </p:txBody>
        </p:sp>
        <p:sp>
          <p:nvSpPr>
            <p:cNvPr id="322" name="文本框 321"/>
            <p:cNvSpPr txBox="1"/>
            <p:nvPr/>
          </p:nvSpPr>
          <p:spPr>
            <a:xfrm>
              <a:off x="10921564" y="3906194"/>
              <a:ext cx="198120" cy="307777"/>
            </a:xfrm>
            <a:prstGeom prst="rect">
              <a:avLst/>
            </a:prstGeom>
            <a:noFill/>
          </p:spPr>
          <p:txBody>
            <a:bodyPr wrap="square" rtlCol="0">
              <a:normAutofit fontScale="95000"/>
            </a:bodyPr>
            <a:lstStyle/>
            <a:p>
              <a:pPr>
                <a:lnSpc>
                  <a:spcPct val="100000"/>
                </a:lnSpc>
              </a:pPr>
              <a:r>
                <a:rPr lang="en-US" altLang="zh-CN" sz="1400" dirty="0"/>
                <a:t>4</a:t>
              </a:r>
              <a:endParaRPr lang="zh-CN" altLang="en-US" sz="1400" dirty="0"/>
            </a:p>
          </p:txBody>
        </p:sp>
        <p:sp>
          <p:nvSpPr>
            <p:cNvPr id="323" name="文本框 322"/>
            <p:cNvSpPr txBox="1"/>
            <p:nvPr/>
          </p:nvSpPr>
          <p:spPr>
            <a:xfrm>
              <a:off x="11556352" y="3899050"/>
              <a:ext cx="198120" cy="307777"/>
            </a:xfrm>
            <a:prstGeom prst="rect">
              <a:avLst/>
            </a:prstGeom>
            <a:noFill/>
          </p:spPr>
          <p:txBody>
            <a:bodyPr wrap="square" rtlCol="0">
              <a:normAutofit fontScale="95000"/>
            </a:bodyPr>
            <a:lstStyle/>
            <a:p>
              <a:pPr>
                <a:lnSpc>
                  <a:spcPct val="100000"/>
                </a:lnSpc>
              </a:pPr>
              <a:r>
                <a:rPr lang="en-US" altLang="zh-CN" sz="1400" dirty="0"/>
                <a:t>7</a:t>
              </a:r>
              <a:endParaRPr lang="zh-CN" altLang="en-US" sz="1400" dirty="0"/>
            </a:p>
          </p:txBody>
        </p:sp>
        <p:sp>
          <p:nvSpPr>
            <p:cNvPr id="324" name="文本框 323"/>
            <p:cNvSpPr txBox="1"/>
            <p:nvPr/>
          </p:nvSpPr>
          <p:spPr>
            <a:xfrm>
              <a:off x="12101724" y="3901331"/>
              <a:ext cx="498263" cy="307777"/>
            </a:xfrm>
            <a:prstGeom prst="rect">
              <a:avLst/>
            </a:prstGeom>
            <a:noFill/>
          </p:spPr>
          <p:txBody>
            <a:bodyPr wrap="square" rtlCol="0">
              <a:normAutofit fontScale="95000"/>
            </a:bodyPr>
            <a:lstStyle/>
            <a:p>
              <a:pPr>
                <a:lnSpc>
                  <a:spcPct val="100000"/>
                </a:lnSpc>
              </a:pPr>
              <a:r>
                <a:rPr lang="en-US" altLang="zh-CN" sz="1400" dirty="0"/>
                <a:t>10</a:t>
              </a:r>
              <a:endParaRPr lang="zh-CN" altLang="en-US" sz="1400" dirty="0"/>
            </a:p>
          </p:txBody>
        </p:sp>
        <p:sp>
          <p:nvSpPr>
            <p:cNvPr id="325" name="文本框 324"/>
            <p:cNvSpPr txBox="1"/>
            <p:nvPr/>
          </p:nvSpPr>
          <p:spPr>
            <a:xfrm>
              <a:off x="10812481" y="4136403"/>
              <a:ext cx="1516600" cy="338554"/>
            </a:xfrm>
            <a:prstGeom prst="rect">
              <a:avLst/>
            </a:prstGeom>
            <a:noFill/>
          </p:spPr>
          <p:txBody>
            <a:bodyPr wrap="square" rtlCol="0">
              <a:normAutofit fontScale="95000"/>
            </a:bodyPr>
            <a:lstStyle/>
            <a:p>
              <a:pPr>
                <a:lnSpc>
                  <a:spcPct val="100000"/>
                </a:lnSpc>
              </a:pPr>
              <a:r>
                <a:rPr lang="en-US" altLang="zh-CN" sz="1600" dirty="0"/>
                <a:t>QRAM Layers</a:t>
              </a:r>
              <a:endParaRPr lang="zh-CN" altLang="en-US" sz="1600" dirty="0"/>
            </a:p>
          </p:txBody>
        </p:sp>
      </p:grpSp>
      <p:sp>
        <p:nvSpPr>
          <p:cNvPr id="1244" name="文本框 1243"/>
          <p:cNvSpPr txBox="1"/>
          <p:nvPr/>
        </p:nvSpPr>
        <p:spPr>
          <a:xfrm>
            <a:off x="497362" y="2056118"/>
            <a:ext cx="448446" cy="307777"/>
          </a:xfrm>
          <a:prstGeom prst="rect">
            <a:avLst/>
          </a:prstGeom>
          <a:noFill/>
        </p:spPr>
        <p:txBody>
          <a:bodyPr wrap="square" rtlCol="0">
            <a:normAutofit fontScale="95000"/>
          </a:bodyPr>
          <a:lstStyle/>
          <a:p>
            <a:pPr>
              <a:lnSpc>
                <a:spcPct val="100000"/>
              </a:lnSpc>
            </a:pPr>
            <a:r>
              <a:rPr lang="en-US" altLang="zh-CN" sz="1400" dirty="0"/>
              <a:t>20</a:t>
            </a:r>
            <a:endParaRPr lang="zh-CN" altLang="en-US" sz="1400" dirty="0"/>
          </a:p>
        </p:txBody>
      </p:sp>
      <p:sp>
        <p:nvSpPr>
          <p:cNvPr id="327" name="文本框 326"/>
          <p:cNvSpPr txBox="1"/>
          <p:nvPr/>
        </p:nvSpPr>
        <p:spPr>
          <a:xfrm>
            <a:off x="493203" y="2491069"/>
            <a:ext cx="448446" cy="307777"/>
          </a:xfrm>
          <a:prstGeom prst="rect">
            <a:avLst/>
          </a:prstGeom>
          <a:noFill/>
        </p:spPr>
        <p:txBody>
          <a:bodyPr wrap="square" rtlCol="0">
            <a:normAutofit fontScale="95000"/>
          </a:bodyPr>
          <a:lstStyle/>
          <a:p>
            <a:pPr>
              <a:lnSpc>
                <a:spcPct val="100000"/>
              </a:lnSpc>
            </a:pPr>
            <a:r>
              <a:rPr lang="en-US" altLang="zh-CN" sz="1400" dirty="0"/>
              <a:t>15</a:t>
            </a:r>
            <a:endParaRPr lang="zh-CN" altLang="en-US" sz="1400" dirty="0"/>
          </a:p>
        </p:txBody>
      </p:sp>
      <p:sp>
        <p:nvSpPr>
          <p:cNvPr id="328" name="文本框 327"/>
          <p:cNvSpPr txBox="1"/>
          <p:nvPr/>
        </p:nvSpPr>
        <p:spPr>
          <a:xfrm>
            <a:off x="493203" y="2935252"/>
            <a:ext cx="448446" cy="307777"/>
          </a:xfrm>
          <a:prstGeom prst="rect">
            <a:avLst/>
          </a:prstGeom>
          <a:noFill/>
        </p:spPr>
        <p:txBody>
          <a:bodyPr wrap="square" rtlCol="0">
            <a:normAutofit fontScale="95000"/>
          </a:bodyPr>
          <a:lstStyle/>
          <a:p>
            <a:pPr>
              <a:lnSpc>
                <a:spcPct val="100000"/>
              </a:lnSpc>
            </a:pPr>
            <a:r>
              <a:rPr lang="en-US" altLang="zh-CN" sz="1400" dirty="0"/>
              <a:t>10</a:t>
            </a:r>
            <a:endParaRPr lang="zh-CN" altLang="en-US" sz="1400" dirty="0"/>
          </a:p>
        </p:txBody>
      </p:sp>
      <p:sp>
        <p:nvSpPr>
          <p:cNvPr id="329" name="文本框 328"/>
          <p:cNvSpPr txBox="1"/>
          <p:nvPr/>
        </p:nvSpPr>
        <p:spPr>
          <a:xfrm>
            <a:off x="603093" y="3379435"/>
            <a:ext cx="338555" cy="307777"/>
          </a:xfrm>
          <a:prstGeom prst="rect">
            <a:avLst/>
          </a:prstGeom>
          <a:noFill/>
        </p:spPr>
        <p:txBody>
          <a:bodyPr wrap="square" rtlCol="0">
            <a:normAutofit fontScale="95000"/>
          </a:bodyPr>
          <a:lstStyle/>
          <a:p>
            <a:pPr>
              <a:lnSpc>
                <a:spcPct val="100000"/>
              </a:lnSpc>
            </a:pPr>
            <a:r>
              <a:rPr lang="en-US" altLang="zh-CN" sz="1400" dirty="0"/>
              <a:t>5</a:t>
            </a:r>
            <a:endParaRPr lang="zh-CN" altLang="en-US" sz="1400" dirty="0"/>
          </a:p>
        </p:txBody>
      </p:sp>
      <p:sp>
        <p:nvSpPr>
          <p:cNvPr id="1246" name="矩形 1245"/>
          <p:cNvSpPr/>
          <p:nvPr/>
        </p:nvSpPr>
        <p:spPr>
          <a:xfrm>
            <a:off x="886142" y="2208247"/>
            <a:ext cx="1450658" cy="9865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endParaRPr lang="zh-CN" altLang="en-US"/>
          </a:p>
        </p:txBody>
      </p:sp>
      <p:sp>
        <p:nvSpPr>
          <p:cNvPr id="1247" name="文本框 1246"/>
          <p:cNvSpPr txBox="1"/>
          <p:nvPr/>
        </p:nvSpPr>
        <p:spPr>
          <a:xfrm>
            <a:off x="1543128" y="2152515"/>
            <a:ext cx="1518920" cy="646331"/>
          </a:xfrm>
          <a:prstGeom prst="rect">
            <a:avLst/>
          </a:prstGeom>
          <a:noFill/>
        </p:spPr>
        <p:txBody>
          <a:bodyPr wrap="square" rtlCol="0"/>
          <a:lstStyle/>
          <a:p>
            <a:pPr>
              <a:lnSpc>
                <a:spcPct val="100000"/>
              </a:lnSpc>
            </a:pPr>
            <a:r>
              <a:rPr lang="zh-CN" altLang="en-US" dirty="0"/>
              <a:t>SWAP-based routing architecture</a:t>
            </a:r>
          </a:p>
        </p:txBody>
      </p:sp>
      <p:sp>
        <p:nvSpPr>
          <p:cNvPr id="333" name="文本框 332"/>
          <p:cNvSpPr txBox="1"/>
          <p:nvPr/>
        </p:nvSpPr>
        <p:spPr>
          <a:xfrm>
            <a:off x="878094" y="3173332"/>
            <a:ext cx="2170708" cy="369570"/>
          </a:xfrm>
          <a:prstGeom prst="rect">
            <a:avLst/>
          </a:prstGeom>
          <a:solidFill>
            <a:schemeClr val="bg1">
              <a:alpha val="85000"/>
            </a:schemeClr>
          </a:solidFill>
        </p:spPr>
        <p:txBody>
          <a:bodyPr wrap="square" rtlCol="0"/>
          <a:lstStyle/>
          <a:p>
            <a:pPr>
              <a:lnSpc>
                <a:spcPct val="100000"/>
              </a:lnSpc>
            </a:pPr>
            <a:r>
              <a:rPr lang="zh-CN" altLang="en-US" dirty="0"/>
              <a:t>Teleportation-based architecture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5794943" y="1520920"/>
            <a:ext cx="2535581" cy="1578869"/>
          </a:xfrm>
          <a:prstGeom prst="rect">
            <a:avLst/>
          </a:prstGeom>
        </p:spPr>
      </p:pic>
      <p:pic>
        <p:nvPicPr>
          <p:cNvPr id="2050" name="Picture 2" descr="Efficient decomposition methods for controlled-R n using a single ancillary  qubit | Scientific Reports"/>
          <p:cNvPicPr>
            <a:picLocks noChangeAspect="1" noChangeArrowheads="1"/>
          </p:cNvPicPr>
          <p:nvPr/>
        </p:nvPicPr>
        <p:blipFill rotWithShape="1">
          <a:blip r:embed="rId4">
            <a:extLst>
              <a:ext uri="{28A0092B-C50C-407E-A947-70E740481C1C}">
                <a14:useLocalDpi xmlns:a14="http://schemas.microsoft.com/office/drawing/2010/main" val="0"/>
              </a:ext>
            </a:extLst>
          </a:blip>
          <a:srcRect l="4414" t="50484" r="4000"/>
          <a:stretch>
            <a:fillRect/>
          </a:stretch>
        </p:blipFill>
        <p:spPr bwMode="auto">
          <a:xfrm>
            <a:off x="3471151" y="3451326"/>
            <a:ext cx="5223375" cy="1148221"/>
          </a:xfrm>
          <a:prstGeom prst="rect">
            <a:avLst/>
          </a:prstGeom>
          <a:noFill/>
          <a:extLst>
            <a:ext uri="{909E8E84-426E-40DD-AFC4-6F175D3DCCD1}">
              <a14:hiddenFill xmlns:a14="http://schemas.microsoft.com/office/drawing/2010/main">
                <a:solidFill>
                  <a:srgbClr val="FFFFFF"/>
                </a:solidFill>
              </a14:hiddenFill>
            </a:ext>
          </a:extLst>
        </p:spPr>
      </p:pic>
      <p:pic>
        <p:nvPicPr>
          <p:cNvPr id="51" name="图片 50"/>
          <p:cNvPicPr>
            <a:picLocks noChangeAspect="1"/>
          </p:cNvPicPr>
          <p:nvPr/>
        </p:nvPicPr>
        <p:blipFill>
          <a:blip r:embed="rId5"/>
          <a:stretch>
            <a:fillRect/>
          </a:stretch>
        </p:blipFill>
        <p:spPr>
          <a:xfrm>
            <a:off x="901868" y="1520920"/>
            <a:ext cx="4697134" cy="1578869"/>
          </a:xfrm>
          <a:prstGeom prst="rect">
            <a:avLst/>
          </a:prstGeom>
        </p:spPr>
      </p:pic>
      <p:sp>
        <p:nvSpPr>
          <p:cNvPr id="46" name="Rounded Rectangle 22"/>
          <p:cNvSpPr/>
          <p:nvPr/>
        </p:nvSpPr>
        <p:spPr>
          <a:xfrm>
            <a:off x="304537" y="3325892"/>
            <a:ext cx="8553492" cy="1420111"/>
          </a:xfrm>
          <a:prstGeom prst="roundRect">
            <a:avLst>
              <a:gd name="adj" fmla="val 13953"/>
            </a:avLst>
          </a:prstGeom>
          <a:solidFill>
            <a:schemeClr val="accent2">
              <a:lumMod val="40000"/>
              <a:lumOff val="60000"/>
              <a:alpha val="5000"/>
            </a:schemeClr>
          </a:solidFill>
          <a:ln>
            <a:noFill/>
          </a:ln>
        </p:spPr>
        <p:style>
          <a:lnRef idx="1">
            <a:schemeClr val="accent1"/>
          </a:lnRef>
          <a:fillRef idx="3">
            <a:schemeClr val="accent1"/>
          </a:fillRef>
          <a:effectRef idx="2">
            <a:schemeClr val="accent1"/>
          </a:effectRef>
          <a:fontRef idx="minor">
            <a:schemeClr val="lt1"/>
          </a:fontRef>
        </p:style>
        <p:txBody>
          <a:bodyPr rtlCol="0" anchor="ctr">
            <a:normAutofit fontScale="95000"/>
          </a:bodyPr>
          <a:lstStyle/>
          <a:p>
            <a:pPr algn="ctr">
              <a:lnSpc>
                <a:spcPct val="100000"/>
              </a:lnSpc>
            </a:pPr>
            <a:endParaRPr/>
          </a:p>
        </p:txBody>
      </p:sp>
      <p:sp>
        <p:nvSpPr>
          <p:cNvPr id="23" name="Rounded Rectangle 22"/>
          <p:cNvSpPr/>
          <p:nvPr/>
        </p:nvSpPr>
        <p:spPr>
          <a:xfrm>
            <a:off x="304537" y="936729"/>
            <a:ext cx="8553493" cy="2232926"/>
          </a:xfrm>
          <a:prstGeom prst="roundRect">
            <a:avLst>
              <a:gd name="adj" fmla="val 13953"/>
            </a:avLst>
          </a:prstGeom>
          <a:solidFill>
            <a:schemeClr val="accent2">
              <a:lumMod val="40000"/>
              <a:lumOff val="60000"/>
              <a:alpha val="5000"/>
            </a:schemeClr>
          </a:solidFill>
          <a:ln>
            <a:noFill/>
          </a:ln>
        </p:spPr>
        <p:style>
          <a:lnRef idx="1">
            <a:schemeClr val="accent1"/>
          </a:lnRef>
          <a:fillRef idx="3">
            <a:schemeClr val="accent1"/>
          </a:fillRef>
          <a:effectRef idx="2">
            <a:schemeClr val="accent1"/>
          </a:effectRef>
          <a:fontRef idx="minor">
            <a:schemeClr val="lt1"/>
          </a:fontRef>
        </p:style>
        <p:txBody>
          <a:bodyPr rtlCol="0" anchor="ctr">
            <a:normAutofit fontScale="95000"/>
          </a:bodyPr>
          <a:lstStyle/>
          <a:p>
            <a:pPr algn="ctr">
              <a:lnSpc>
                <a:spcPct val="100000"/>
              </a:lnSpc>
            </a:pPr>
            <a:endParaRPr/>
          </a:p>
        </p:txBody>
      </p:sp>
      <p:sp>
        <p:nvSpPr>
          <p:cNvPr id="24" name="Round Same Side Corner Rectangle 23"/>
          <p:cNvSpPr/>
          <p:nvPr/>
        </p:nvSpPr>
        <p:spPr>
          <a:xfrm rot="16200000">
            <a:off x="-717305" y="1958570"/>
            <a:ext cx="2232926" cy="189241"/>
          </a:xfrm>
          <a:prstGeom prst="round2SameRect">
            <a:avLst>
              <a:gd name="adj1" fmla="val 50000"/>
              <a:gd name="adj2" fmla="val 0"/>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normAutofit fontScale="27500" lnSpcReduction="20000"/>
          </a:bodyPr>
          <a:lstStyle/>
          <a:p>
            <a:pPr algn="ctr">
              <a:lnSpc>
                <a:spcPct val="100000"/>
              </a:lnSpc>
            </a:pPr>
            <a:endParaRPr/>
          </a:p>
        </p:txBody>
      </p:sp>
      <p:sp>
        <p:nvSpPr>
          <p:cNvPr id="26" name="TextBox 25"/>
          <p:cNvSpPr txBox="1"/>
          <p:nvPr/>
        </p:nvSpPr>
        <p:spPr>
          <a:xfrm>
            <a:off x="604724" y="901169"/>
            <a:ext cx="4477059" cy="272703"/>
          </a:xfrm>
          <a:prstGeom prst="rect">
            <a:avLst/>
          </a:prstGeom>
          <a:noFill/>
        </p:spPr>
        <p:txBody>
          <a:bodyPr wrap="none" lIns="54864" tIns="41148" rIns="54864" bIns="41148" anchor="ctr"/>
          <a:lstStyle/>
          <a:p>
            <a:pPr>
              <a:lnSpc>
                <a:spcPct val="100000"/>
              </a:lnSpc>
            </a:pPr>
            <a:r>
              <a:rPr lang="en-US" b="1" dirty="0">
                <a:solidFill>
                  <a:srgbClr val="2C3E50"/>
                </a:solidFill>
              </a:rPr>
              <a:t>MIT implementation based on CSWAP (Fredkin) architecture</a:t>
            </a:r>
          </a:p>
        </p:txBody>
      </p:sp>
      <p:sp>
        <p:nvSpPr>
          <p:cNvPr id="45" name="标题 44"/>
          <p:cNvSpPr>
            <a:spLocks noGrp="1"/>
          </p:cNvSpPr>
          <p:nvPr>
            <p:ph type="title"/>
          </p:nvPr>
        </p:nvSpPr>
        <p:spPr/>
        <p:txBody>
          <a:bodyPr>
            <a:noAutofit/>
          </a:bodyPr>
          <a:lstStyle/>
          <a:p>
            <a:pPr>
              <a:lnSpc>
                <a:spcPct val="100000"/>
              </a:lnSpc>
            </a:pPr>
            <a:r>
              <a:rPr lang="zh-CN" altLang="en-US" sz="2000" dirty="0">
                <a:latin typeface="+mn-lt"/>
              </a:rPr>
              <a:t>Routing Depth Optimization</a:t>
            </a:r>
            <a:endParaRPr lang="zh-CN" altLang="en-US" sz="2000" b="1" dirty="0">
              <a:latin typeface="+mn-lt"/>
            </a:endParaRPr>
          </a:p>
        </p:txBody>
      </p:sp>
      <p:sp>
        <p:nvSpPr>
          <p:cNvPr id="47" name="Round Same Side Corner Rectangle 23"/>
          <p:cNvSpPr/>
          <p:nvPr/>
        </p:nvSpPr>
        <p:spPr>
          <a:xfrm rot="16200000">
            <a:off x="-318355" y="3941326"/>
            <a:ext cx="1420111" cy="189241"/>
          </a:xfrm>
          <a:prstGeom prst="round2SameRect">
            <a:avLst>
              <a:gd name="adj1" fmla="val 50000"/>
              <a:gd name="adj2" fmla="val 0"/>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normAutofit fontScale="27500" lnSpcReduction="20000"/>
          </a:bodyPr>
          <a:lstStyle/>
          <a:p>
            <a:pPr algn="ctr">
              <a:lnSpc>
                <a:spcPct val="100000"/>
              </a:lnSpc>
            </a:pPr>
            <a:endParaRPr/>
          </a:p>
        </p:txBody>
      </p:sp>
      <p:sp>
        <p:nvSpPr>
          <p:cNvPr id="4" name="文本框 3"/>
          <p:cNvSpPr txBox="1"/>
          <p:nvPr/>
        </p:nvSpPr>
        <p:spPr>
          <a:xfrm>
            <a:off x="5794943" y="1189798"/>
            <a:ext cx="3176655" cy="369332"/>
          </a:xfrm>
          <a:prstGeom prst="rect">
            <a:avLst/>
          </a:prstGeom>
          <a:noFill/>
        </p:spPr>
        <p:txBody>
          <a:bodyPr wrap="square" rtlCol="0"/>
          <a:lstStyle/>
          <a:p>
            <a:pPr>
              <a:lnSpc>
                <a:spcPct val="100000"/>
              </a:lnSpc>
            </a:pPr>
            <a:r>
              <a:rPr lang="zh-CN" altLang="en-US" sz="1400" dirty="0"/>
              <a:t>Total: 16 CX gates and 14 T gates</a:t>
            </a:r>
          </a:p>
        </p:txBody>
      </p:sp>
      <p:sp>
        <p:nvSpPr>
          <p:cNvPr id="52" name="矩形 51"/>
          <p:cNvSpPr/>
          <p:nvPr/>
        </p:nvSpPr>
        <p:spPr>
          <a:xfrm>
            <a:off x="6817360" y="1590040"/>
            <a:ext cx="505099" cy="1101366"/>
          </a:xfrm>
          <a:prstGeom prst="rect">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normAutofit fontScale="95000"/>
          </a:bodyPr>
          <a:lstStyle/>
          <a:p>
            <a:pPr algn="ctr">
              <a:lnSpc>
                <a:spcPct val="100000"/>
              </a:lnSpc>
            </a:pPr>
            <a:endParaRPr lang="zh-CN" altLang="en-US"/>
          </a:p>
        </p:txBody>
      </p:sp>
      <p:sp>
        <p:nvSpPr>
          <p:cNvPr id="54" name="矩形 53"/>
          <p:cNvSpPr/>
          <p:nvPr/>
        </p:nvSpPr>
        <p:spPr>
          <a:xfrm>
            <a:off x="7518400" y="1590039"/>
            <a:ext cx="462280" cy="1509749"/>
          </a:xfrm>
          <a:prstGeom prst="rect">
            <a:avLst/>
          </a:prstGeom>
          <a:noFill/>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normAutofit fontScale="95000"/>
          </a:bodyPr>
          <a:lstStyle/>
          <a:p>
            <a:pPr algn="ctr">
              <a:lnSpc>
                <a:spcPct val="100000"/>
              </a:lnSpc>
            </a:pPr>
            <a:endParaRPr lang="zh-CN" altLang="en-US"/>
          </a:p>
        </p:txBody>
      </p:sp>
      <p:sp>
        <p:nvSpPr>
          <p:cNvPr id="55" name="矩形 54"/>
          <p:cNvSpPr/>
          <p:nvPr/>
        </p:nvSpPr>
        <p:spPr>
          <a:xfrm>
            <a:off x="3297013" y="1579447"/>
            <a:ext cx="945719" cy="1520341"/>
          </a:xfrm>
          <a:prstGeom prst="rect">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normAutofit fontScale="95000"/>
          </a:bodyPr>
          <a:lstStyle/>
          <a:p>
            <a:pPr algn="ctr">
              <a:lnSpc>
                <a:spcPct val="100000"/>
              </a:lnSpc>
            </a:pPr>
            <a:endParaRPr lang="zh-CN" altLang="en-US"/>
          </a:p>
        </p:txBody>
      </p:sp>
      <p:sp>
        <p:nvSpPr>
          <p:cNvPr id="56" name="矩形 55"/>
          <p:cNvSpPr/>
          <p:nvPr/>
        </p:nvSpPr>
        <p:spPr>
          <a:xfrm>
            <a:off x="4438673" y="1569287"/>
            <a:ext cx="1006426" cy="1520341"/>
          </a:xfrm>
          <a:prstGeom prst="rect">
            <a:avLst/>
          </a:prstGeom>
          <a:noFill/>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normAutofit fontScale="95000"/>
          </a:bodyPr>
          <a:lstStyle/>
          <a:p>
            <a:pPr algn="ctr">
              <a:lnSpc>
                <a:spcPct val="100000"/>
              </a:lnSpc>
            </a:pPr>
            <a:endParaRPr lang="zh-CN" altLang="en-US"/>
          </a:p>
        </p:txBody>
      </p:sp>
      <p:sp>
        <p:nvSpPr>
          <p:cNvPr id="5" name="文本框 4"/>
          <p:cNvSpPr txBox="1"/>
          <p:nvPr/>
        </p:nvSpPr>
        <p:spPr>
          <a:xfrm>
            <a:off x="604724" y="3683980"/>
            <a:ext cx="2921635" cy="923330"/>
          </a:xfrm>
          <a:prstGeom prst="rect">
            <a:avLst/>
          </a:prstGeom>
          <a:noFill/>
        </p:spPr>
        <p:txBody>
          <a:bodyPr wrap="square" rtlCol="0">
            <a:spAutoFit/>
          </a:bodyPr>
          <a:lstStyle/>
          <a:p>
            <a:r>
              <a:rPr lang="en-US" altLang="zh-CN" b="1" dirty="0">
                <a:solidFill>
                  <a:schemeClr val="accent1"/>
                </a:solidFill>
                <a:latin typeface="Times New Roman" panose="02020603050405020304" pitchFamily="18" charset="0"/>
                <a:cs typeface="Times New Roman" panose="02020603050405020304" pitchFamily="18" charset="0"/>
                <a:sym typeface="+mn-ea"/>
              </a:rPr>
              <a:t>Fredkin gate decomposition requires 8 CNOT gates</a:t>
            </a:r>
            <a:endParaRPr lang="zh-CN" altLang="en-US" dirty="0">
              <a:solidFill>
                <a:schemeClr val="accent1"/>
              </a:solidFill>
              <a:latin typeface="Times New Roman" panose="02020603050405020304" pitchFamily="18" charset="0"/>
              <a:cs typeface="Times New Roman" panose="02020603050405020304" pitchFamily="18" charset="0"/>
            </a:endParaRPr>
          </a:p>
          <a:p>
            <a:endParaRPr lang="zh-CN" altLang="en-US"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22"/>
          <p:cNvSpPr/>
          <p:nvPr/>
        </p:nvSpPr>
        <p:spPr>
          <a:xfrm>
            <a:off x="245669" y="1425588"/>
            <a:ext cx="8646235" cy="3292405"/>
          </a:xfrm>
          <a:prstGeom prst="roundRect">
            <a:avLst>
              <a:gd name="adj" fmla="val 3924"/>
            </a:avLst>
          </a:prstGeom>
          <a:solidFill>
            <a:schemeClr val="accent2">
              <a:lumMod val="40000"/>
              <a:lumOff val="60000"/>
              <a:alpha val="5000"/>
            </a:schemeClr>
          </a:solidFill>
          <a:ln>
            <a:noFill/>
          </a:ln>
        </p:spPr>
        <p:style>
          <a:lnRef idx="1">
            <a:schemeClr val="accent1"/>
          </a:lnRef>
          <a:fillRef idx="3">
            <a:schemeClr val="accent1"/>
          </a:fillRef>
          <a:effectRef idx="2">
            <a:schemeClr val="accent1"/>
          </a:effectRef>
          <a:fontRef idx="minor">
            <a:schemeClr val="lt1"/>
          </a:fontRef>
        </p:style>
        <p:txBody>
          <a:bodyPr rtlCol="0" anchor="ctr">
            <a:normAutofit fontScale="95000"/>
          </a:bodyPr>
          <a:lstStyle/>
          <a:p>
            <a:pPr algn="ctr">
              <a:lnSpc>
                <a:spcPct val="100000"/>
              </a:lnSpc>
            </a:pPr>
            <a:endParaRPr dirty="0"/>
          </a:p>
        </p:txBody>
      </p:sp>
      <p:sp>
        <p:nvSpPr>
          <p:cNvPr id="24" name="Round Same Side Corner Rectangle 23"/>
          <p:cNvSpPr/>
          <p:nvPr/>
        </p:nvSpPr>
        <p:spPr>
          <a:xfrm rot="16200000">
            <a:off x="-1305912" y="2977172"/>
            <a:ext cx="3292410" cy="189241"/>
          </a:xfrm>
          <a:prstGeom prst="round2SameRect">
            <a:avLst>
              <a:gd name="adj1" fmla="val 50000"/>
              <a:gd name="adj2" fmla="val 0"/>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normAutofit fontScale="27500" lnSpcReduction="20000"/>
          </a:bodyPr>
          <a:lstStyle/>
          <a:p>
            <a:pPr algn="ctr">
              <a:lnSpc>
                <a:spcPct val="100000"/>
              </a:lnSpc>
            </a:pPr>
            <a:endParaRPr/>
          </a:p>
        </p:txBody>
      </p:sp>
      <p:sp>
        <p:nvSpPr>
          <p:cNvPr id="26" name="TextBox 25"/>
          <p:cNvSpPr txBox="1"/>
          <p:nvPr/>
        </p:nvSpPr>
        <p:spPr>
          <a:xfrm>
            <a:off x="3063525" y="1397064"/>
            <a:ext cx="5129741" cy="360099"/>
          </a:xfrm>
          <a:prstGeom prst="rect">
            <a:avLst/>
          </a:prstGeom>
          <a:noFill/>
        </p:spPr>
        <p:txBody>
          <a:bodyPr wrap="square" lIns="54864" tIns="41148" rIns="54864" bIns="41148" anchor="ctr">
            <a:noAutofit/>
          </a:bodyPr>
          <a:lstStyle/>
          <a:p>
            <a:pPr>
              <a:lnSpc>
                <a:spcPct val="100000"/>
              </a:lnSpc>
            </a:pPr>
            <a:r>
              <a:rPr lang="zh-CN" altLang="en-US" sz="1600" b="1" dirty="0">
                <a:solidFill>
                  <a:schemeClr val="accent2"/>
                </a:solidFill>
              </a:rPr>
              <a:t>We propose a subspace-approximate routing architecture</a:t>
            </a:r>
            <a:endParaRPr sz="1600" b="1" dirty="0">
              <a:solidFill>
                <a:schemeClr val="accent2"/>
              </a:solidFill>
            </a:endParaRPr>
          </a:p>
        </p:txBody>
      </p:sp>
      <p:sp>
        <p:nvSpPr>
          <p:cNvPr id="45" name="标题 44"/>
          <p:cNvSpPr>
            <a:spLocks noGrp="1"/>
          </p:cNvSpPr>
          <p:nvPr>
            <p:ph type="title"/>
          </p:nvPr>
        </p:nvSpPr>
        <p:spPr/>
        <p:txBody>
          <a:bodyPr>
            <a:normAutofit fontScale="90000"/>
          </a:bodyPr>
          <a:lstStyle/>
          <a:p>
            <a:pPr>
              <a:lnSpc>
                <a:spcPct val="100000"/>
              </a:lnSpc>
            </a:pPr>
            <a:r>
              <a:rPr lang="zh-CN" altLang="en-US" dirty="0"/>
              <a:t>Routing Architecture Depth Optimization</a:t>
            </a:r>
            <a:endParaRPr lang="zh-CN" altLang="en-US" b="1" dirty="0"/>
          </a:p>
        </p:txBody>
      </p:sp>
      <p:grpSp>
        <p:nvGrpSpPr>
          <p:cNvPr id="28" name="组合 27"/>
          <p:cNvGrpSpPr/>
          <p:nvPr/>
        </p:nvGrpSpPr>
        <p:grpSpPr>
          <a:xfrm>
            <a:off x="549779" y="3247443"/>
            <a:ext cx="4587120" cy="1470551"/>
            <a:chOff x="48768" y="3181434"/>
            <a:chExt cx="4587120" cy="1470551"/>
          </a:xfrm>
        </p:grpSpPr>
        <p:pic>
          <p:nvPicPr>
            <p:cNvPr id="25" name="图片 24"/>
            <p:cNvPicPr>
              <a:picLocks noChangeAspect="1"/>
            </p:cNvPicPr>
            <p:nvPr/>
          </p:nvPicPr>
          <p:blipFill>
            <a:blip r:embed="rId3"/>
            <a:stretch>
              <a:fillRect/>
            </a:stretch>
          </p:blipFill>
          <p:spPr>
            <a:xfrm>
              <a:off x="666544" y="3181434"/>
              <a:ext cx="3969344" cy="1454899"/>
            </a:xfrm>
            <a:prstGeom prst="rect">
              <a:avLst/>
            </a:prstGeom>
          </p:spPr>
        </p:pic>
        <p:sp>
          <p:nvSpPr>
            <p:cNvPr id="27" name="文本框 26"/>
            <p:cNvSpPr txBox="1"/>
            <p:nvPr/>
          </p:nvSpPr>
          <p:spPr>
            <a:xfrm>
              <a:off x="136501" y="3271455"/>
              <a:ext cx="987552" cy="369332"/>
            </a:xfrm>
            <a:prstGeom prst="rect">
              <a:avLst/>
            </a:prstGeom>
            <a:noFill/>
          </p:spPr>
          <p:txBody>
            <a:bodyPr wrap="square" rtlCol="0">
              <a:normAutofit fontScale="95000"/>
            </a:bodyPr>
            <a:lstStyle/>
            <a:p>
              <a:pPr algn="r">
                <a:lnSpc>
                  <a:spcPct val="100000"/>
                </a:lnSpc>
              </a:pPr>
              <a:r>
                <a:rPr lang="en-US" altLang="zh-CN" dirty="0"/>
                <a:t>router</a:t>
              </a:r>
              <a:endParaRPr lang="zh-CN" altLang="en-US" dirty="0"/>
            </a:p>
          </p:txBody>
        </p:sp>
        <p:sp>
          <p:nvSpPr>
            <p:cNvPr id="40" name="文本框 39"/>
            <p:cNvSpPr txBox="1"/>
            <p:nvPr/>
          </p:nvSpPr>
          <p:spPr>
            <a:xfrm>
              <a:off x="48768" y="3608521"/>
              <a:ext cx="1075285" cy="369332"/>
            </a:xfrm>
            <a:prstGeom prst="rect">
              <a:avLst/>
            </a:prstGeom>
            <a:noFill/>
          </p:spPr>
          <p:txBody>
            <a:bodyPr wrap="square" rtlCol="0">
              <a:normAutofit fontScale="95000"/>
            </a:bodyPr>
            <a:lstStyle/>
            <a:p>
              <a:pPr algn="r">
                <a:lnSpc>
                  <a:spcPct val="100000"/>
                </a:lnSpc>
              </a:pPr>
              <a:r>
                <a:rPr lang="en-US" altLang="zh-CN" dirty="0"/>
                <a:t>incident</a:t>
              </a:r>
              <a:endParaRPr lang="zh-CN" altLang="en-US" dirty="0"/>
            </a:p>
          </p:txBody>
        </p:sp>
        <p:sp>
          <p:nvSpPr>
            <p:cNvPr id="41" name="文本框 40"/>
            <p:cNvSpPr txBox="1"/>
            <p:nvPr/>
          </p:nvSpPr>
          <p:spPr>
            <a:xfrm>
              <a:off x="48768" y="3945587"/>
              <a:ext cx="1075285" cy="369332"/>
            </a:xfrm>
            <a:prstGeom prst="rect">
              <a:avLst/>
            </a:prstGeom>
            <a:noFill/>
          </p:spPr>
          <p:txBody>
            <a:bodyPr wrap="square" rtlCol="0">
              <a:normAutofit fontScale="95000"/>
            </a:bodyPr>
            <a:lstStyle/>
            <a:p>
              <a:pPr algn="r">
                <a:lnSpc>
                  <a:spcPct val="100000"/>
                </a:lnSpc>
              </a:pPr>
              <a:r>
                <a:rPr lang="en-US" altLang="zh-CN" dirty="0"/>
                <a:t>left</a:t>
              </a:r>
              <a:endParaRPr lang="zh-CN" altLang="en-US" dirty="0"/>
            </a:p>
          </p:txBody>
        </p:sp>
        <p:sp>
          <p:nvSpPr>
            <p:cNvPr id="42" name="文本框 41"/>
            <p:cNvSpPr txBox="1"/>
            <p:nvPr/>
          </p:nvSpPr>
          <p:spPr>
            <a:xfrm>
              <a:off x="48768" y="4282653"/>
              <a:ext cx="1075285" cy="369332"/>
            </a:xfrm>
            <a:prstGeom prst="rect">
              <a:avLst/>
            </a:prstGeom>
            <a:noFill/>
          </p:spPr>
          <p:txBody>
            <a:bodyPr wrap="square" rtlCol="0">
              <a:normAutofit fontScale="95000"/>
            </a:bodyPr>
            <a:lstStyle/>
            <a:p>
              <a:pPr algn="r">
                <a:lnSpc>
                  <a:spcPct val="100000"/>
                </a:lnSpc>
              </a:pPr>
              <a:r>
                <a:rPr lang="en-US" altLang="zh-CN" dirty="0"/>
                <a:t>right</a:t>
              </a:r>
            </a:p>
          </p:txBody>
        </p:sp>
      </p:grpSp>
      <p:pic>
        <p:nvPicPr>
          <p:cNvPr id="30" name="图片 29"/>
          <p:cNvPicPr>
            <a:picLocks noChangeAspect="1"/>
          </p:cNvPicPr>
          <p:nvPr/>
        </p:nvPicPr>
        <p:blipFill>
          <a:blip r:embed="rId4"/>
          <a:stretch>
            <a:fillRect/>
          </a:stretch>
        </p:blipFill>
        <p:spPr>
          <a:xfrm>
            <a:off x="5295612" y="3260088"/>
            <a:ext cx="3445325" cy="1445261"/>
          </a:xfrm>
          <a:prstGeom prst="rect">
            <a:avLst/>
          </a:prstGeom>
        </p:spPr>
      </p:pic>
      <p:sp>
        <p:nvSpPr>
          <p:cNvPr id="48" name="矩形: 圆角 47"/>
          <p:cNvSpPr/>
          <p:nvPr/>
        </p:nvSpPr>
        <p:spPr>
          <a:xfrm>
            <a:off x="1322831" y="854884"/>
            <a:ext cx="7569073" cy="530162"/>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solidFill>
                  <a:prstClr val="black"/>
                </a:solidFill>
                <a:effectLst/>
                <a:uLnTx/>
                <a:uFillTx/>
                <a:ea typeface="微软雅黑" panose="020B0503020204020204" pitchFamily="34" charset="-122"/>
                <a:cs typeface="微软雅黑" panose="020B0503020204020204" pitchFamily="34" charset="-122"/>
                <a:sym typeface="+mn-ea"/>
              </a:rPr>
              <a:t>Similar to program synthesis: find the optimal code (quantum circuit) while satisfying input-output requirements.</a:t>
            </a:r>
          </a:p>
        </p:txBody>
      </p:sp>
      <p:sp>
        <p:nvSpPr>
          <p:cNvPr id="49" name="矩形: 圆角 48"/>
          <p:cNvSpPr/>
          <p:nvPr/>
        </p:nvSpPr>
        <p:spPr>
          <a:xfrm>
            <a:off x="225552" y="855203"/>
            <a:ext cx="1237488" cy="530120"/>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solidFill>
                  <a:prstClr val="white"/>
                </a:solidFill>
                <a:effectLst/>
                <a:uLnTx/>
                <a:uFillTx/>
                <a:ea typeface="微软雅黑" panose="020B0503020204020204" pitchFamily="34" charset="-122"/>
                <a:cs typeface="+mn-cs"/>
              </a:rPr>
              <a:t>Core Idea</a:t>
            </a:r>
          </a:p>
        </p:txBody>
      </p:sp>
      <p:grpSp>
        <p:nvGrpSpPr>
          <p:cNvPr id="2" name="组合 1"/>
          <p:cNvGrpSpPr/>
          <p:nvPr/>
        </p:nvGrpSpPr>
        <p:grpSpPr>
          <a:xfrm>
            <a:off x="699631" y="1643898"/>
            <a:ext cx="7873666" cy="1563098"/>
            <a:chOff x="867271" y="1787100"/>
            <a:chExt cx="7873666" cy="1563098"/>
          </a:xfrm>
        </p:grpSpPr>
        <p:sp>
          <p:nvSpPr>
            <p:cNvPr id="4" name="文本框 3"/>
            <p:cNvSpPr txBox="1"/>
            <p:nvPr/>
          </p:nvSpPr>
          <p:spPr>
            <a:xfrm>
              <a:off x="6912354" y="1787100"/>
              <a:ext cx="1828583" cy="369332"/>
            </a:xfrm>
            <a:prstGeom prst="rect">
              <a:avLst/>
            </a:prstGeom>
            <a:noFill/>
          </p:spPr>
          <p:txBody>
            <a:bodyPr wrap="square" rtlCol="0">
              <a:normAutofit fontScale="95000"/>
            </a:bodyPr>
            <a:lstStyle/>
            <a:p>
              <a:pPr>
                <a:lnSpc>
                  <a:spcPct val="100000"/>
                </a:lnSpc>
              </a:pPr>
              <a:r>
                <a:rPr lang="zh-CN" altLang="en-US" dirty="0">
                  <a:solidFill>
                    <a:srgbClr val="FF0000"/>
                  </a:solidFill>
                </a:rPr>
                <a:t>Total: 10 CX gates</a:t>
              </a:r>
            </a:p>
          </p:txBody>
        </p:sp>
        <p:sp>
          <p:nvSpPr>
            <p:cNvPr id="31" name="矩形: 圆角 30"/>
            <p:cNvSpPr/>
            <p:nvPr/>
          </p:nvSpPr>
          <p:spPr>
            <a:xfrm>
              <a:off x="867271" y="2385391"/>
              <a:ext cx="2011283" cy="362524"/>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en-US" altLang="zh-CN" sz="1600" dirty="0"/>
                <a:t>QRAM routing</a:t>
              </a:r>
              <a:endParaRPr lang="zh-CN" altLang="en-US" sz="1600" dirty="0"/>
            </a:p>
          </p:txBody>
        </p:sp>
        <p:sp>
          <p:nvSpPr>
            <p:cNvPr id="2048" name="箭头: 下 2047"/>
            <p:cNvSpPr/>
            <p:nvPr/>
          </p:nvSpPr>
          <p:spPr>
            <a:xfrm>
              <a:off x="1671874" y="2200165"/>
              <a:ext cx="402077" cy="188516"/>
            </a:xfrm>
            <a:prstGeom prst="downArrow">
              <a:avLst/>
            </a:prstGeom>
            <a:ln w="12700"/>
          </p:spPr>
          <p:style>
            <a:lnRef idx="2">
              <a:schemeClr val="accent1"/>
            </a:lnRef>
            <a:fillRef idx="1">
              <a:schemeClr val="lt1"/>
            </a:fillRef>
            <a:effectRef idx="0">
              <a:schemeClr val="accent1"/>
            </a:effectRef>
            <a:fontRef idx="minor">
              <a:schemeClr val="dk1"/>
            </a:fontRef>
          </p:style>
          <p:txBody>
            <a:bodyPr rtlCol="0" anchor="ctr">
              <a:normAutofit fontScale="25000" lnSpcReduction="20000"/>
            </a:bodyPr>
            <a:lstStyle/>
            <a:p>
              <a:pPr algn="ctr">
                <a:lnSpc>
                  <a:spcPct val="100000"/>
                </a:lnSpc>
              </a:pPr>
              <a:endParaRPr lang="zh-CN" altLang="en-US"/>
            </a:p>
          </p:txBody>
        </p:sp>
        <p:sp>
          <p:nvSpPr>
            <p:cNvPr id="53" name="矩形: 圆角 52"/>
            <p:cNvSpPr/>
            <p:nvPr/>
          </p:nvSpPr>
          <p:spPr>
            <a:xfrm>
              <a:off x="867271" y="1810312"/>
              <a:ext cx="2011283" cy="362524"/>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dirty="0"/>
                <a:t>Input quantum state</a:t>
              </a:r>
            </a:p>
          </p:txBody>
        </p:sp>
        <p:sp>
          <p:nvSpPr>
            <p:cNvPr id="57" name="矩形: 圆角 56"/>
            <p:cNvSpPr/>
            <p:nvPr/>
          </p:nvSpPr>
          <p:spPr>
            <a:xfrm>
              <a:off x="867271" y="2987674"/>
              <a:ext cx="2011283" cy="362524"/>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dirty="0"/>
                <a:t>Output quantum state</a:t>
              </a:r>
            </a:p>
          </p:txBody>
        </p:sp>
        <p:sp>
          <p:nvSpPr>
            <p:cNvPr id="58" name="箭头: 下 57"/>
            <p:cNvSpPr/>
            <p:nvPr/>
          </p:nvSpPr>
          <p:spPr>
            <a:xfrm>
              <a:off x="1671874" y="2780157"/>
              <a:ext cx="402077" cy="188516"/>
            </a:xfrm>
            <a:prstGeom prst="downArrow">
              <a:avLst/>
            </a:prstGeom>
            <a:ln w="12700"/>
          </p:spPr>
          <p:style>
            <a:lnRef idx="2">
              <a:schemeClr val="accent1"/>
            </a:lnRef>
            <a:fillRef idx="1">
              <a:schemeClr val="lt1"/>
            </a:fillRef>
            <a:effectRef idx="0">
              <a:schemeClr val="accent1"/>
            </a:effectRef>
            <a:fontRef idx="minor">
              <a:schemeClr val="dk1"/>
            </a:fontRef>
          </p:style>
          <p:txBody>
            <a:bodyPr rtlCol="0" anchor="ctr">
              <a:normAutofit fontScale="25000" lnSpcReduction="20000"/>
            </a:bodyPr>
            <a:lstStyle/>
            <a:p>
              <a:pPr algn="ctr">
                <a:lnSpc>
                  <a:spcPct val="100000"/>
                </a:lnSpc>
              </a:pPr>
              <a:endParaRPr lang="zh-CN" altLang="en-US"/>
            </a:p>
          </p:txBody>
        </p:sp>
        <p:sp>
          <p:nvSpPr>
            <p:cNvPr id="2049" name="右大括号 2048"/>
            <p:cNvSpPr/>
            <p:nvPr/>
          </p:nvSpPr>
          <p:spPr>
            <a:xfrm>
              <a:off x="2937625" y="1955983"/>
              <a:ext cx="373288" cy="1163353"/>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normAutofit fontScale="95000"/>
            </a:bodyPr>
            <a:lstStyle/>
            <a:p>
              <a:pPr algn="ctr">
                <a:lnSpc>
                  <a:spcPct val="100000"/>
                </a:lnSpc>
              </a:pPr>
              <a:endParaRPr lang="zh-CN" altLang="en-US" dirty="0"/>
            </a:p>
          </p:txBody>
        </p:sp>
        <p:sp>
          <p:nvSpPr>
            <p:cNvPr id="2051" name="矩形 2050"/>
            <p:cNvSpPr/>
            <p:nvPr/>
          </p:nvSpPr>
          <p:spPr>
            <a:xfrm>
              <a:off x="3289246" y="2044854"/>
              <a:ext cx="1540861" cy="979916"/>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dirty="0"/>
                <a:t>Constraint equations for the unitary matrix</a:t>
              </a:r>
            </a:p>
          </p:txBody>
        </p:sp>
        <p:sp>
          <p:nvSpPr>
            <p:cNvPr id="59" name="矩形 58"/>
            <p:cNvSpPr/>
            <p:nvPr/>
          </p:nvSpPr>
          <p:spPr>
            <a:xfrm>
              <a:off x="5143585" y="2044853"/>
              <a:ext cx="1540861" cy="979916"/>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dirty="0"/>
                <a:t>Search for a unitary matrix satisfying the constraints</a:t>
              </a:r>
            </a:p>
          </p:txBody>
        </p:sp>
        <p:cxnSp>
          <p:nvCxnSpPr>
            <p:cNvPr id="2053" name="直接箭头连接符 2052"/>
            <p:cNvCxnSpPr>
              <a:stCxn id="2051" idx="3"/>
              <a:endCxn id="59" idx="1"/>
            </p:cNvCxnSpPr>
            <p:nvPr/>
          </p:nvCxnSpPr>
          <p:spPr>
            <a:xfrm flipV="1">
              <a:off x="4830107" y="2534811"/>
              <a:ext cx="313478" cy="1"/>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矩形 60"/>
            <p:cNvSpPr/>
            <p:nvPr/>
          </p:nvSpPr>
          <p:spPr>
            <a:xfrm>
              <a:off x="7064309" y="2166698"/>
              <a:ext cx="1400783" cy="736225"/>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7500" lnSpcReduction="20000"/>
            </a:bodyPr>
            <a:lstStyle/>
            <a:p>
              <a:pPr algn="ctr">
                <a:lnSpc>
                  <a:spcPct val="100000"/>
                </a:lnSpc>
              </a:pPr>
              <a:r>
                <a:rPr lang="zh-CN" altLang="en-US" dirty="0"/>
                <a:t>Choose the shallowest unitary circuit</a:t>
              </a:r>
            </a:p>
          </p:txBody>
        </p:sp>
        <p:cxnSp>
          <p:nvCxnSpPr>
            <p:cNvPr id="62" name="直接箭头连接符 61"/>
            <p:cNvCxnSpPr>
              <a:stCxn id="59" idx="3"/>
              <a:endCxn id="61" idx="1"/>
            </p:cNvCxnSpPr>
            <p:nvPr/>
          </p:nvCxnSpPr>
          <p:spPr>
            <a:xfrm>
              <a:off x="6684446" y="2534811"/>
              <a:ext cx="379863"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 name="文本框 2"/>
          <p:cNvSpPr txBox="1"/>
          <p:nvPr/>
        </p:nvSpPr>
        <p:spPr>
          <a:xfrm>
            <a:off x="3352992" y="2837569"/>
            <a:ext cx="1737209" cy="369332"/>
          </a:xfrm>
          <a:prstGeom prst="rect">
            <a:avLst/>
          </a:prstGeom>
          <a:noFill/>
        </p:spPr>
        <p:txBody>
          <a:bodyPr wrap="square" rtlCol="0">
            <a:noAutofit/>
          </a:bodyPr>
          <a:lstStyle/>
          <a:p>
            <a:pPr>
              <a:lnSpc>
                <a:spcPct val="100000"/>
              </a:lnSpc>
            </a:pPr>
            <a:r>
              <a:rPr lang="zh-CN" altLang="en-US" sz="1600" dirty="0"/>
              <a:t>Functional Requirements</a:t>
            </a:r>
          </a:p>
        </p:txBody>
      </p:sp>
      <p:sp>
        <p:nvSpPr>
          <p:cNvPr id="29" name="文本框 28"/>
          <p:cNvSpPr txBox="1"/>
          <p:nvPr/>
        </p:nvSpPr>
        <p:spPr>
          <a:xfrm>
            <a:off x="4910372" y="2895512"/>
            <a:ext cx="1737209" cy="369332"/>
          </a:xfrm>
          <a:prstGeom prst="rect">
            <a:avLst/>
          </a:prstGeom>
          <a:noFill/>
        </p:spPr>
        <p:txBody>
          <a:bodyPr wrap="square" rtlCol="0">
            <a:noAutofit/>
          </a:bodyPr>
          <a:lstStyle/>
          <a:p>
            <a:pPr>
              <a:lnSpc>
                <a:spcPct val="100000"/>
              </a:lnSpc>
            </a:pPr>
            <a:r>
              <a:rPr lang="zh-CN" altLang="en-US" sz="1600" dirty="0"/>
              <a:t>Program Synthesis</a:t>
            </a:r>
          </a:p>
        </p:txBody>
      </p:sp>
      <p:sp>
        <p:nvSpPr>
          <p:cNvPr id="32" name="文本框 31"/>
          <p:cNvSpPr txBox="1"/>
          <p:nvPr/>
        </p:nvSpPr>
        <p:spPr>
          <a:xfrm>
            <a:off x="6799512" y="2820033"/>
            <a:ext cx="1718986" cy="369332"/>
          </a:xfrm>
          <a:prstGeom prst="rect">
            <a:avLst/>
          </a:prstGeom>
          <a:noFill/>
        </p:spPr>
        <p:txBody>
          <a:bodyPr wrap="square" rtlCol="0">
            <a:noAutofit/>
          </a:bodyPr>
          <a:lstStyle/>
          <a:p>
            <a:pPr>
              <a:lnSpc>
                <a:spcPct val="100000"/>
              </a:lnSpc>
            </a:pPr>
            <a:r>
              <a:rPr lang="zh-CN" altLang="en-US" sz="1600" dirty="0"/>
              <a:t>Optimal Program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44"/>
          <p:cNvSpPr>
            <a:spLocks noGrp="1"/>
          </p:cNvSpPr>
          <p:nvPr>
            <p:ph type="title"/>
          </p:nvPr>
        </p:nvSpPr>
        <p:spPr/>
        <p:txBody>
          <a:bodyPr>
            <a:normAutofit fontScale="90000"/>
          </a:bodyPr>
          <a:lstStyle/>
          <a:p>
            <a:pPr>
              <a:lnSpc>
                <a:spcPct val="100000"/>
              </a:lnSpc>
            </a:pPr>
            <a:r>
              <a:rPr lang="zh-CN" altLang="en-US" dirty="0">
                <a:latin typeface="+mn-lt"/>
              </a:rPr>
              <a:t>Routing Architecture Depth Optimization</a:t>
            </a:r>
            <a:endParaRPr lang="zh-CN" altLang="en-US" b="1" dirty="0">
              <a:latin typeface="+mn-lt"/>
            </a:endParaRPr>
          </a:p>
        </p:txBody>
      </p:sp>
      <p:sp>
        <p:nvSpPr>
          <p:cNvPr id="48" name="矩形: 圆角 47"/>
          <p:cNvSpPr/>
          <p:nvPr/>
        </p:nvSpPr>
        <p:spPr>
          <a:xfrm>
            <a:off x="1322831" y="956310"/>
            <a:ext cx="7569073"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dirty="0">
                <a:solidFill>
                  <a:prstClr val="black"/>
                </a:solidFill>
                <a:ea typeface="微软雅黑" panose="020B0503020204020204" pitchFamily="34" charset="-122"/>
                <a:cs typeface="微软雅黑" panose="020B0503020204020204" pitchFamily="34" charset="-122"/>
                <a:sym typeface="+mn-ea"/>
              </a:rPr>
              <a:t>Depth reduced, fidelity improved</a:t>
            </a:r>
            <a:endParaRPr kumimoji="0" lang="zh-CN" altLang="en-US" b="1" i="0" u="none" strike="noStrike" kern="1200" cap="none" spc="0" normalizeH="0" baseline="0" noProof="0" dirty="0">
              <a:ln>
                <a:noFill/>
              </a:ln>
              <a:solidFill>
                <a:prstClr val="black"/>
              </a:solidFill>
              <a:effectLst/>
              <a:uLnTx/>
              <a:uFillTx/>
              <a:ea typeface="微软雅黑" panose="020B0503020204020204" pitchFamily="34" charset="-122"/>
              <a:cs typeface="微软雅黑" panose="020B0503020204020204" pitchFamily="34" charset="-122"/>
              <a:sym typeface="+mn-ea"/>
            </a:endParaRPr>
          </a:p>
        </p:txBody>
      </p:sp>
      <p:sp>
        <p:nvSpPr>
          <p:cNvPr id="49" name="矩形: 圆角 48"/>
          <p:cNvSpPr/>
          <p:nvPr/>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dirty="0">
                <a:solidFill>
                  <a:prstClr val="white"/>
                </a:solidFill>
                <a:ea typeface="微软雅黑" panose="020B0503020204020204" pitchFamily="34" charset="-122"/>
              </a:rPr>
              <a:t>R</a:t>
            </a:r>
            <a:r>
              <a:rPr lang="en-US" altLang="zh-CN" b="1" dirty="0" err="1">
                <a:solidFill>
                  <a:prstClr val="white"/>
                </a:solidFill>
                <a:ea typeface="微软雅黑" panose="020B0503020204020204" pitchFamily="34" charset="-122"/>
              </a:rPr>
              <a:t>esults</a:t>
            </a:r>
            <a:endParaRPr kumimoji="0" lang="zh-CN" altLang="en-US" b="1" i="0" u="none" strike="noStrike" kern="1200" cap="none" spc="0" normalizeH="0" baseline="0" noProof="0" dirty="0">
              <a:ln>
                <a:noFill/>
              </a:ln>
              <a:solidFill>
                <a:prstClr val="white"/>
              </a:solidFill>
              <a:effectLst/>
              <a:uLnTx/>
              <a:uFillTx/>
              <a:ea typeface="微软雅黑" panose="020B0503020204020204" pitchFamily="34" charset="-122"/>
              <a:cs typeface="+mn-cs"/>
            </a:endParaRPr>
          </a:p>
        </p:txBody>
      </p:sp>
      <p:pic>
        <p:nvPicPr>
          <p:cNvPr id="2061" name="图片 2060"/>
          <p:cNvPicPr>
            <a:picLocks noChangeAspect="1"/>
          </p:cNvPicPr>
          <p:nvPr/>
        </p:nvPicPr>
        <p:blipFill>
          <a:blip r:embed="rId3"/>
          <a:stretch>
            <a:fillRect/>
          </a:stretch>
        </p:blipFill>
        <p:spPr>
          <a:xfrm>
            <a:off x="282805" y="1551659"/>
            <a:ext cx="3394211" cy="2434405"/>
          </a:xfrm>
          <a:prstGeom prst="rect">
            <a:avLst/>
          </a:prstGeom>
        </p:spPr>
      </p:pic>
      <p:graphicFrame>
        <p:nvGraphicFramePr>
          <p:cNvPr id="2063" name="表格 2063"/>
          <p:cNvGraphicFramePr>
            <a:graphicFrameLocks noGrp="1"/>
          </p:cNvGraphicFramePr>
          <p:nvPr>
            <p:extLst>
              <p:ext uri="{D42A27DB-BD31-4B8C-83A1-F6EECF244321}">
                <p14:modId xmlns:p14="http://schemas.microsoft.com/office/powerpoint/2010/main" val="2989883150"/>
              </p:ext>
            </p:extLst>
          </p:nvPr>
        </p:nvGraphicFramePr>
        <p:xfrm>
          <a:off x="3913632" y="1548043"/>
          <a:ext cx="4990420" cy="2937330"/>
        </p:xfrm>
        <a:graphic>
          <a:graphicData uri="http://schemas.openxmlformats.org/drawingml/2006/table">
            <a:tbl>
              <a:tblPr firstRow="1" bandRow="1">
                <a:tableStyleId>{5C22544A-7EE6-4342-B048-85BDC9FD1C3A}</a:tableStyleId>
              </a:tblPr>
              <a:tblGrid>
                <a:gridCol w="2337539">
                  <a:extLst>
                    <a:ext uri="{9D8B030D-6E8A-4147-A177-3AD203B41FA5}">
                      <a16:colId xmlns:a16="http://schemas.microsoft.com/office/drawing/2014/main" val="20000"/>
                    </a:ext>
                  </a:extLst>
                </a:gridCol>
                <a:gridCol w="1024195">
                  <a:extLst>
                    <a:ext uri="{9D8B030D-6E8A-4147-A177-3AD203B41FA5}">
                      <a16:colId xmlns:a16="http://schemas.microsoft.com/office/drawing/2014/main" val="20001"/>
                    </a:ext>
                  </a:extLst>
                </a:gridCol>
                <a:gridCol w="749187">
                  <a:extLst>
                    <a:ext uri="{9D8B030D-6E8A-4147-A177-3AD203B41FA5}">
                      <a16:colId xmlns:a16="http://schemas.microsoft.com/office/drawing/2014/main" val="20002"/>
                    </a:ext>
                  </a:extLst>
                </a:gridCol>
                <a:gridCol w="879499">
                  <a:extLst>
                    <a:ext uri="{9D8B030D-6E8A-4147-A177-3AD203B41FA5}">
                      <a16:colId xmlns:a16="http://schemas.microsoft.com/office/drawing/2014/main" val="20003"/>
                    </a:ext>
                  </a:extLst>
                </a:gridCol>
              </a:tblGrid>
              <a:tr h="589080">
                <a:tc>
                  <a:txBody>
                    <a:bodyPr/>
                    <a:lstStyle/>
                    <a:p>
                      <a:pPr algn="ctr">
                        <a:lnSpc>
                          <a:spcPct val="100000"/>
                        </a:lnSpc>
                      </a:pPr>
                      <a:r>
                        <a:rPr lang="zh-CN" altLang="en-US" sz="1600" dirty="0"/>
                        <a:t>Topology</a:t>
                      </a:r>
                    </a:p>
                  </a:txBody>
                  <a:tcPr anchor="ctr">
                    <a:lnB w="12700" cap="flat" cmpd="sng" algn="ctr">
                      <a:noFill/>
                      <a:prstDash val="solid"/>
                      <a:round/>
                      <a:headEnd type="none" w="med" len="med"/>
                      <a:tailEnd type="none" w="med" len="med"/>
                    </a:lnB>
                  </a:tcPr>
                </a:tc>
                <a:tc>
                  <a:txBody>
                    <a:bodyPr/>
                    <a:lstStyle/>
                    <a:p>
                      <a:pPr algn="ctr">
                        <a:lnSpc>
                          <a:spcPct val="100000"/>
                        </a:lnSpc>
                      </a:pPr>
                      <a:r>
                        <a:rPr lang="zh-CN" altLang="en-US" sz="1600" dirty="0"/>
                        <a:t>Routing</a:t>
                      </a:r>
                    </a:p>
                  </a:txBody>
                  <a:tcPr anchor="ctr">
                    <a:lnB w="12700" cap="flat" cmpd="sng" algn="ctr">
                      <a:noFill/>
                      <a:prstDash val="solid"/>
                      <a:round/>
                      <a:headEnd type="none" w="med" len="med"/>
                      <a:tailEnd type="none" w="med" len="med"/>
                    </a:lnB>
                  </a:tcPr>
                </a:tc>
                <a:tc>
                  <a:txBody>
                    <a:bodyPr/>
                    <a:lstStyle/>
                    <a:p>
                      <a:pPr algn="ctr">
                        <a:lnSpc>
                          <a:spcPct val="100000"/>
                        </a:lnSpc>
                      </a:pPr>
                      <a:r>
                        <a:rPr lang="zh-CN" altLang="en-US" sz="1600" dirty="0"/>
                        <a:t>Depth</a:t>
                      </a:r>
                    </a:p>
                  </a:txBody>
                  <a:tcPr anchor="ctr">
                    <a:lnB w="12700" cap="flat" cmpd="sng" algn="ctr">
                      <a:noFill/>
                      <a:prstDash val="solid"/>
                      <a:round/>
                      <a:headEnd type="none" w="med" len="med"/>
                      <a:tailEnd type="none" w="med" len="med"/>
                    </a:lnB>
                  </a:tcPr>
                </a:tc>
                <a:tc>
                  <a:txBody>
                    <a:bodyPr/>
                    <a:lstStyle/>
                    <a:p>
                      <a:pPr algn="ctr">
                        <a:lnSpc>
                          <a:spcPct val="100000"/>
                        </a:lnSpc>
                      </a:pPr>
                      <a:r>
                        <a:rPr lang="zh-CN" altLang="en-US" sz="1600" dirty="0"/>
                        <a:t>Fidelity</a:t>
                      </a:r>
                    </a:p>
                  </a:txBody>
                  <a:tcPr anchor="ctr">
                    <a:lnB w="12700" cap="flat" cmpd="sng" algn="ctr">
                      <a:noFill/>
                      <a:prstDash val="solid"/>
                      <a:round/>
                      <a:headEnd type="none" w="med" len="med"/>
                      <a:tailEnd type="none" w="med" len="med"/>
                    </a:lnB>
                  </a:tcPr>
                </a:tc>
                <a:extLst>
                  <a:ext uri="{0D108BD9-81ED-4DB2-BD59-A6C34878D82A}">
                    <a16:rowId xmlns:a16="http://schemas.microsoft.com/office/drawing/2014/main" val="10000"/>
                  </a:ext>
                </a:extLst>
              </a:tr>
              <a:tr h="589080">
                <a:tc rowSpan="2">
                  <a:txBody>
                    <a:bodyPr/>
                    <a:lstStyle/>
                    <a:p>
                      <a:pPr algn="ctr">
                        <a:lnSpc>
                          <a:spcPct val="100000"/>
                        </a:lnSpc>
                      </a:pPr>
                      <a:endParaRPr lang="zh-CN" altLang="en-US" sz="16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r>
                        <a:rPr lang="zh-CN" altLang="en-US" sz="1600" b="1" dirty="0">
                          <a:solidFill>
                            <a:schemeClr val="accent1">
                              <a:lumMod val="75000"/>
                            </a:schemeClr>
                          </a:solidFill>
                        </a:rPr>
                        <a:t>This 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00000"/>
                        </a:lnSpc>
                      </a:pPr>
                      <a:r>
                        <a:rPr lang="en-US" altLang="zh-CN" sz="1600" b="1" dirty="0">
                          <a:solidFill>
                            <a:schemeClr val="accent1">
                              <a:lumMod val="75000"/>
                            </a:schemeClr>
                          </a:solidFill>
                        </a:rPr>
                        <a:t>10</a:t>
                      </a:r>
                      <a:endParaRPr lang="zh-CN" altLang="en-US" sz="1600" b="1" dirty="0">
                        <a:solidFill>
                          <a:schemeClr val="accent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00000"/>
                        </a:lnSpc>
                      </a:pPr>
                      <a:r>
                        <a:rPr lang="en-US" altLang="zh-CN" sz="1600" b="1" dirty="0">
                          <a:solidFill>
                            <a:schemeClr val="accent1">
                              <a:lumMod val="75000"/>
                            </a:schemeClr>
                          </a:solidFill>
                        </a:rPr>
                        <a:t>0.8935</a:t>
                      </a:r>
                      <a:endParaRPr lang="zh-CN" altLang="en-US" sz="1600" b="1" dirty="0">
                        <a:solidFill>
                          <a:schemeClr val="accent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1"/>
                  </a:ext>
                </a:extLst>
              </a:tr>
              <a:tr h="581010">
                <a:tc vMerge="1">
                  <a:txBody>
                    <a:bodyPr/>
                    <a:lstStyle/>
                    <a:p>
                      <a:endParaRPr lang="zh-CN"/>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r>
                        <a:rPr lang="en-US" altLang="zh-CN" sz="1600" dirty="0"/>
                        <a:t>CSWAP</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r>
                        <a:rPr lang="en-US" altLang="zh-CN" sz="1600" dirty="0"/>
                        <a:t>16</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r>
                        <a:rPr lang="en-US" altLang="zh-CN" sz="1600" dirty="0"/>
                        <a:t>0.8529</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589080">
                <a:tc rowSpan="2">
                  <a:txBody>
                    <a:bodyPr/>
                    <a:lstStyle/>
                    <a:p>
                      <a:pPr algn="ctr">
                        <a:lnSpc>
                          <a:spcPct val="100000"/>
                        </a:lnSpc>
                      </a:pPr>
                      <a:endParaRPr lang="zh-CN" altLang="en-US" sz="16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r>
                        <a:rPr lang="zh-CN" altLang="en-US" sz="1600" b="1" dirty="0">
                          <a:solidFill>
                            <a:schemeClr val="accent1">
                              <a:lumMod val="75000"/>
                            </a:schemeClr>
                          </a:solidFill>
                        </a:rPr>
                        <a:t>This 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00000"/>
                        </a:lnSpc>
                      </a:pPr>
                      <a:r>
                        <a:rPr lang="en-US" altLang="zh-CN" sz="1600" b="1" dirty="0">
                          <a:solidFill>
                            <a:schemeClr val="accent1">
                              <a:lumMod val="75000"/>
                            </a:schemeClr>
                          </a:solidFill>
                        </a:rPr>
                        <a:t>12</a:t>
                      </a:r>
                      <a:endParaRPr lang="zh-CN" altLang="en-US" sz="1600" b="1" dirty="0">
                        <a:solidFill>
                          <a:schemeClr val="accent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00000"/>
                        </a:lnSpc>
                      </a:pPr>
                      <a:r>
                        <a:rPr lang="en-US" altLang="zh-CN" sz="1600" b="1" dirty="0">
                          <a:solidFill>
                            <a:schemeClr val="accent1">
                              <a:lumMod val="75000"/>
                            </a:schemeClr>
                          </a:solidFill>
                        </a:rPr>
                        <a:t>0.8848</a:t>
                      </a:r>
                      <a:endParaRPr lang="zh-CN" altLang="en-US" sz="1600" b="1" dirty="0">
                        <a:solidFill>
                          <a:schemeClr val="accent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3"/>
                  </a:ext>
                </a:extLst>
              </a:tr>
              <a:tr h="589080">
                <a:tc vMerge="1">
                  <a:txBody>
                    <a:bodyPr/>
                    <a:lstStyle/>
                    <a:p>
                      <a:endParaRPr lang="zh-CN"/>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r>
                        <a:rPr lang="en-US" altLang="zh-CN" sz="1600" dirty="0"/>
                        <a:t>CSWAP</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r>
                        <a:rPr lang="en-US" altLang="zh-CN" sz="1600" dirty="0"/>
                        <a:t>20</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r>
                        <a:rPr lang="en-US" altLang="zh-CN" sz="1600" dirty="0"/>
                        <a:t>0.8218</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grpSp>
        <p:nvGrpSpPr>
          <p:cNvPr id="2079" name="组合 2078"/>
          <p:cNvGrpSpPr/>
          <p:nvPr/>
        </p:nvGrpSpPr>
        <p:grpSpPr>
          <a:xfrm>
            <a:off x="4138505" y="2252755"/>
            <a:ext cx="1937723" cy="960270"/>
            <a:chOff x="4307083" y="2191795"/>
            <a:chExt cx="1937723" cy="960270"/>
          </a:xfrm>
        </p:grpSpPr>
        <p:sp>
          <p:nvSpPr>
            <p:cNvPr id="2069" name="矩形: 圆角 2068"/>
            <p:cNvSpPr/>
            <p:nvPr/>
          </p:nvSpPr>
          <p:spPr>
            <a:xfrm>
              <a:off x="4821678" y="2191795"/>
              <a:ext cx="970280" cy="284480"/>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0000" lnSpcReduction="20000"/>
            </a:bodyPr>
            <a:lstStyle/>
            <a:p>
              <a:pPr algn="ctr">
                <a:lnSpc>
                  <a:spcPct val="100000"/>
                </a:lnSpc>
              </a:pPr>
              <a:r>
                <a:rPr lang="en-US" altLang="zh-CN" sz="1600" dirty="0">
                  <a:solidFill>
                    <a:schemeClr val="tx1"/>
                  </a:solidFill>
                </a:rPr>
                <a:t>router</a:t>
              </a:r>
              <a:endParaRPr lang="zh-CN" altLang="en-US" sz="1600" dirty="0">
                <a:solidFill>
                  <a:schemeClr val="tx1"/>
                </a:solidFill>
              </a:endParaRPr>
            </a:p>
          </p:txBody>
        </p:sp>
        <p:sp>
          <p:nvSpPr>
            <p:cNvPr id="78" name="矩形: 圆角 77"/>
            <p:cNvSpPr/>
            <p:nvPr/>
          </p:nvSpPr>
          <p:spPr>
            <a:xfrm>
              <a:off x="4922642" y="2643460"/>
              <a:ext cx="768353" cy="508605"/>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7500" lnSpcReduction="20000"/>
            </a:bodyPr>
            <a:lstStyle/>
            <a:p>
              <a:pPr algn="ctr">
                <a:lnSpc>
                  <a:spcPct val="100000"/>
                </a:lnSpc>
              </a:pPr>
              <a:r>
                <a:rPr lang="en-US" altLang="zh-CN" sz="1600" dirty="0">
                  <a:solidFill>
                    <a:schemeClr val="tx1"/>
                  </a:solidFill>
                </a:rPr>
                <a:t>incident</a:t>
              </a:r>
              <a:endParaRPr lang="zh-CN" altLang="en-US" sz="1600" dirty="0">
                <a:solidFill>
                  <a:schemeClr val="tx1"/>
                </a:solidFill>
              </a:endParaRPr>
            </a:p>
          </p:txBody>
        </p:sp>
        <p:sp>
          <p:nvSpPr>
            <p:cNvPr id="79" name="矩形: 圆角 78"/>
            <p:cNvSpPr/>
            <p:nvPr/>
          </p:nvSpPr>
          <p:spPr>
            <a:xfrm>
              <a:off x="4307083" y="2755522"/>
              <a:ext cx="411087" cy="28448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2500" lnSpcReduction="20000"/>
            </a:bodyPr>
            <a:lstStyle/>
            <a:p>
              <a:pPr algn="ctr">
                <a:lnSpc>
                  <a:spcPct val="100000"/>
                </a:lnSpc>
              </a:pPr>
              <a:r>
                <a:rPr lang="en-US" altLang="zh-CN" dirty="0">
                  <a:solidFill>
                    <a:schemeClr val="tx1"/>
                  </a:solidFill>
                </a:rPr>
                <a:t>L</a:t>
              </a:r>
              <a:endParaRPr lang="zh-CN" altLang="en-US" dirty="0">
                <a:solidFill>
                  <a:schemeClr val="tx1"/>
                </a:solidFill>
              </a:endParaRPr>
            </a:p>
          </p:txBody>
        </p:sp>
        <p:sp>
          <p:nvSpPr>
            <p:cNvPr id="80" name="矩形: 圆角 79"/>
            <p:cNvSpPr/>
            <p:nvPr/>
          </p:nvSpPr>
          <p:spPr>
            <a:xfrm>
              <a:off x="5881458" y="2755522"/>
              <a:ext cx="363348" cy="28448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2500" lnSpcReduction="20000"/>
            </a:bodyPr>
            <a:lstStyle/>
            <a:p>
              <a:pPr algn="ctr">
                <a:lnSpc>
                  <a:spcPct val="100000"/>
                </a:lnSpc>
              </a:pPr>
              <a:r>
                <a:rPr lang="en-US" altLang="zh-CN" dirty="0">
                  <a:solidFill>
                    <a:schemeClr val="tx1"/>
                  </a:solidFill>
                </a:rPr>
                <a:t>R</a:t>
              </a:r>
              <a:endParaRPr lang="zh-CN" altLang="en-US" dirty="0">
                <a:solidFill>
                  <a:schemeClr val="tx1"/>
                </a:solidFill>
              </a:endParaRPr>
            </a:p>
          </p:txBody>
        </p:sp>
        <p:cxnSp>
          <p:nvCxnSpPr>
            <p:cNvPr id="2071" name="直接连接符 2070"/>
            <p:cNvCxnSpPr>
              <a:stCxn id="2069" idx="2"/>
              <a:endCxn id="78" idx="0"/>
            </p:cNvCxnSpPr>
            <p:nvPr/>
          </p:nvCxnSpPr>
          <p:spPr>
            <a:xfrm>
              <a:off x="5306818" y="2476275"/>
              <a:ext cx="1" cy="16718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3" name="直接连接符 82"/>
            <p:cNvCxnSpPr>
              <a:stCxn id="79" idx="3"/>
              <a:endCxn id="78" idx="1"/>
            </p:cNvCxnSpPr>
            <p:nvPr/>
          </p:nvCxnSpPr>
          <p:spPr>
            <a:xfrm>
              <a:off x="4718170" y="2897762"/>
              <a:ext cx="204472" cy="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7" name="直接连接符 86"/>
            <p:cNvCxnSpPr>
              <a:stCxn id="80" idx="1"/>
              <a:endCxn id="78" idx="3"/>
            </p:cNvCxnSpPr>
            <p:nvPr/>
          </p:nvCxnSpPr>
          <p:spPr>
            <a:xfrm flipH="1">
              <a:off x="5690995" y="2897762"/>
              <a:ext cx="190463" cy="1"/>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93" name="组合 92"/>
          <p:cNvGrpSpPr/>
          <p:nvPr/>
        </p:nvGrpSpPr>
        <p:grpSpPr>
          <a:xfrm>
            <a:off x="4138505" y="3464706"/>
            <a:ext cx="1937723" cy="916135"/>
            <a:chOff x="4307083" y="2191795"/>
            <a:chExt cx="1937723" cy="916135"/>
          </a:xfrm>
        </p:grpSpPr>
        <p:sp>
          <p:nvSpPr>
            <p:cNvPr id="94" name="矩形: 圆角 93"/>
            <p:cNvSpPr/>
            <p:nvPr/>
          </p:nvSpPr>
          <p:spPr>
            <a:xfrm>
              <a:off x="4773164" y="2191795"/>
              <a:ext cx="1067308" cy="28448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0000" lnSpcReduction="20000"/>
            </a:bodyPr>
            <a:lstStyle/>
            <a:p>
              <a:pPr algn="ctr">
                <a:lnSpc>
                  <a:spcPct val="100000"/>
                </a:lnSpc>
              </a:pPr>
              <a:r>
                <a:rPr lang="en-US" altLang="zh-CN" sz="1600" dirty="0">
                  <a:solidFill>
                    <a:schemeClr val="tx1"/>
                  </a:solidFill>
                </a:rPr>
                <a:t>incident</a:t>
              </a:r>
              <a:endParaRPr lang="zh-CN" altLang="en-US" sz="1600" dirty="0">
                <a:solidFill>
                  <a:schemeClr val="tx1"/>
                </a:solidFill>
              </a:endParaRPr>
            </a:p>
          </p:txBody>
        </p:sp>
        <p:sp>
          <p:nvSpPr>
            <p:cNvPr id="95" name="矩形: 圆角 94"/>
            <p:cNvSpPr/>
            <p:nvPr/>
          </p:nvSpPr>
          <p:spPr>
            <a:xfrm>
              <a:off x="4884224" y="2687594"/>
              <a:ext cx="845188" cy="420336"/>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r>
                <a:rPr lang="en-US" altLang="zh-CN" sz="1600" dirty="0">
                  <a:solidFill>
                    <a:schemeClr val="tx1"/>
                  </a:solidFill>
                </a:rPr>
                <a:t>router</a:t>
              </a:r>
              <a:endParaRPr lang="zh-CN" altLang="en-US" sz="1600" dirty="0">
                <a:solidFill>
                  <a:schemeClr val="tx1"/>
                </a:solidFill>
              </a:endParaRPr>
            </a:p>
          </p:txBody>
        </p:sp>
        <p:sp>
          <p:nvSpPr>
            <p:cNvPr id="96" name="矩形: 圆角 95"/>
            <p:cNvSpPr/>
            <p:nvPr/>
          </p:nvSpPr>
          <p:spPr>
            <a:xfrm>
              <a:off x="4307083" y="2755522"/>
              <a:ext cx="411087" cy="28448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2500" lnSpcReduction="20000"/>
            </a:bodyPr>
            <a:lstStyle/>
            <a:p>
              <a:pPr algn="ctr">
                <a:lnSpc>
                  <a:spcPct val="100000"/>
                </a:lnSpc>
              </a:pPr>
              <a:r>
                <a:rPr lang="en-US" altLang="zh-CN" dirty="0">
                  <a:solidFill>
                    <a:schemeClr val="tx1"/>
                  </a:solidFill>
                </a:rPr>
                <a:t>L</a:t>
              </a:r>
              <a:endParaRPr lang="zh-CN" altLang="en-US" dirty="0">
                <a:solidFill>
                  <a:schemeClr val="tx1"/>
                </a:solidFill>
              </a:endParaRPr>
            </a:p>
          </p:txBody>
        </p:sp>
        <p:sp>
          <p:nvSpPr>
            <p:cNvPr id="97" name="矩形: 圆角 96"/>
            <p:cNvSpPr/>
            <p:nvPr/>
          </p:nvSpPr>
          <p:spPr>
            <a:xfrm>
              <a:off x="5881458" y="2755522"/>
              <a:ext cx="363348" cy="28448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2500" lnSpcReduction="20000"/>
            </a:bodyPr>
            <a:lstStyle/>
            <a:p>
              <a:pPr algn="ctr">
                <a:lnSpc>
                  <a:spcPct val="100000"/>
                </a:lnSpc>
              </a:pPr>
              <a:r>
                <a:rPr lang="en-US" altLang="zh-CN" dirty="0">
                  <a:solidFill>
                    <a:schemeClr val="tx1"/>
                  </a:solidFill>
                </a:rPr>
                <a:t>R</a:t>
              </a:r>
              <a:endParaRPr lang="zh-CN" altLang="en-US" dirty="0">
                <a:solidFill>
                  <a:schemeClr val="tx1"/>
                </a:solidFill>
              </a:endParaRPr>
            </a:p>
          </p:txBody>
        </p:sp>
        <p:cxnSp>
          <p:nvCxnSpPr>
            <p:cNvPr id="98" name="直接连接符 97"/>
            <p:cNvCxnSpPr>
              <a:stCxn id="94" idx="2"/>
              <a:endCxn id="95" idx="0"/>
            </p:cNvCxnSpPr>
            <p:nvPr/>
          </p:nvCxnSpPr>
          <p:spPr>
            <a:xfrm>
              <a:off x="5306818" y="2476275"/>
              <a:ext cx="0" cy="21131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9" name="直接连接符 98"/>
            <p:cNvCxnSpPr>
              <a:stCxn id="96" idx="3"/>
              <a:endCxn id="95" idx="1"/>
            </p:cNvCxnSpPr>
            <p:nvPr/>
          </p:nvCxnSpPr>
          <p:spPr>
            <a:xfrm>
              <a:off x="4718170" y="2897762"/>
              <a:ext cx="16605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0" name="直接连接符 99"/>
            <p:cNvCxnSpPr>
              <a:stCxn id="97" idx="1"/>
              <a:endCxn id="95" idx="3"/>
            </p:cNvCxnSpPr>
            <p:nvPr/>
          </p:nvCxnSpPr>
          <p:spPr>
            <a:xfrm flipH="1">
              <a:off x="5729412" y="2897762"/>
              <a:ext cx="152046" cy="0"/>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101" name="矩形 100"/>
          <p:cNvSpPr/>
          <p:nvPr/>
        </p:nvSpPr>
        <p:spPr>
          <a:xfrm>
            <a:off x="312119" y="4044662"/>
            <a:ext cx="3302809" cy="44071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7500"/>
          </a:bodyPr>
          <a:lstStyle/>
          <a:p>
            <a:pPr algn="ctr">
              <a:lnSpc>
                <a:spcPct val="100000"/>
              </a:lnSpc>
            </a:pPr>
            <a:r>
              <a:rPr lang="zh-CN" altLang="en-US" sz="1800" b="1" dirty="0">
                <a:cs typeface="+mn-ea"/>
                <a:sym typeface="+mn-lt"/>
              </a:rPr>
              <a:t>Depth reduced by more than 30%</a:t>
            </a:r>
            <a:endParaRPr lang="zh-CN" altLang="en-US" sz="1800"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1480" y="281940"/>
            <a:ext cx="3048000" cy="369332"/>
          </a:xfrm>
          <a:prstGeom prst="rect">
            <a:avLst/>
          </a:prstGeom>
          <a:noFill/>
        </p:spPr>
        <p:txBody>
          <a:bodyPr wrap="square" rtlCol="0">
            <a:spAutoFit/>
          </a:bodyPr>
          <a:lstStyle/>
          <a:p>
            <a:r>
              <a:rPr lang="en-US" sz="1600" b="1" dirty="0" err="1">
                <a:solidFill>
                  <a:schemeClr val="bg1"/>
                </a:solidFill>
                <a:sym typeface="+mn-ea"/>
              </a:rPr>
              <a:t>Outline of </a:t>
            </a:r>
            <a:r>
              <a:rPr lang="en-US" b="1" dirty="0" err="1">
                <a:solidFill>
                  <a:schemeClr val="bg1"/>
                </a:solidFill>
                <a:sym typeface="+mn-ea"/>
              </a:rPr>
              <a:t>Presentation</a:t>
            </a:r>
          </a:p>
        </p:txBody>
      </p:sp>
      <p:sp>
        <p:nvSpPr>
          <p:cNvPr id="28" name="文本框 27"/>
          <p:cNvSpPr txBox="1"/>
          <p:nvPr/>
        </p:nvSpPr>
        <p:spPr>
          <a:xfrm>
            <a:off x="401287" y="898333"/>
            <a:ext cx="7791450" cy="2120004"/>
          </a:xfrm>
          <a:prstGeom prst="rect">
            <a:avLst/>
          </a:prstGeom>
          <a:noFill/>
        </p:spPr>
        <p:txBody>
          <a:bodyPr wrap="square" rtlCol="0">
            <a:spAutoFit/>
          </a:bodyPr>
          <a:lstStyle/>
          <a:p>
            <a:pPr marL="342900" indent="-285750" fontAlgn="auto">
              <a:lnSpc>
                <a:spcPct val="150000"/>
              </a:lnSpc>
              <a:buFont typeface="Arial" panose="020B0604020202020204" pitchFamily="34" charset="0"/>
              <a:buChar char="•"/>
            </a:pPr>
            <a:r>
              <a:rPr kumimoji="1" lang="en-US" dirty="0">
                <a:solidFill>
                  <a:schemeClr val="bg1">
                    <a:lumMod val="75000"/>
                  </a:schemeClr>
                </a:solidFill>
                <a:ea typeface="华文楷体" panose="02010600040101010101" pitchFamily="2" charset="-122"/>
                <a:cs typeface="Arial" panose="020B0604020202020204" pitchFamily="34" charset="0"/>
              </a:rPr>
              <a:t>Background and challenges</a:t>
            </a: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Overview of QRAM</a:t>
            </a: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QRAM optimization</a:t>
            </a:r>
          </a:p>
          <a:p>
            <a:pPr marL="342900" indent="-285750" fontAlgn="auto">
              <a:lnSpc>
                <a:spcPct val="150000"/>
              </a:lnSpc>
              <a:buFont typeface="Arial" panose="020B0604020202020204" pitchFamily="34" charset="0"/>
              <a:buChar char="•"/>
            </a:pPr>
            <a:r>
              <a:rPr kumimoji="1" lang="en-US" altLang="zh-CN" b="1" dirty="0">
                <a:ea typeface="华文楷体" panose="02010600040101010101" pitchFamily="2" charset="-122"/>
                <a:cs typeface="Arial" panose="020B0604020202020204" pitchFamily="34" charset="0"/>
              </a:rPr>
              <a:t>Experiment</a:t>
            </a: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API</a:t>
            </a:r>
            <a:r>
              <a:rPr kumimoji="1" lang="zh-CN" altLang="en-US" dirty="0">
                <a:solidFill>
                  <a:schemeClr val="bg1">
                    <a:lumMod val="75000"/>
                  </a:schemeClr>
                </a:solidFill>
                <a:ea typeface="华文楷体" panose="02010600040101010101" pitchFamily="2" charset="-122"/>
                <a:cs typeface="Arial" panose="020B0604020202020204" pitchFamily="34" charset="0"/>
              </a:rPr>
              <a:t> </a:t>
            </a:r>
            <a:r>
              <a:rPr kumimoji="1" lang="en-US" altLang="zh-CN" dirty="0">
                <a:solidFill>
                  <a:schemeClr val="bg1">
                    <a:lumMod val="75000"/>
                  </a:schemeClr>
                </a:solidFill>
                <a:ea typeface="华文楷体" panose="02010600040101010101" pitchFamily="2" charset="-122"/>
                <a:cs typeface="Arial" panose="020B0604020202020204" pitchFamily="34" charset="0"/>
              </a:rPr>
              <a:t>of</a:t>
            </a:r>
            <a:r>
              <a:rPr kumimoji="1" lang="zh-CN" altLang="en-US" dirty="0">
                <a:solidFill>
                  <a:schemeClr val="bg1">
                    <a:lumMod val="75000"/>
                  </a:schemeClr>
                </a:solidFill>
                <a:ea typeface="华文楷体" panose="02010600040101010101" pitchFamily="2" charset="-122"/>
                <a:cs typeface="Arial" panose="020B0604020202020204" pitchFamily="34" charset="0"/>
              </a:rPr>
              <a:t> </a:t>
            </a:r>
            <a:r>
              <a:rPr kumimoji="1" lang="en-US" altLang="zh-CN" dirty="0">
                <a:solidFill>
                  <a:schemeClr val="bg1">
                    <a:lumMod val="75000"/>
                  </a:schemeClr>
                </a:solidFill>
                <a:ea typeface="华文楷体" panose="02010600040101010101" pitchFamily="2" charset="-122"/>
                <a:cs typeface="Arial" panose="020B0604020202020204" pitchFamily="34" charset="0"/>
              </a:rPr>
              <a:t>QRAM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pPr>
              <a:lnSpc>
                <a:spcPct val="100000"/>
              </a:lnSpc>
            </a:pPr>
            <a:r>
              <a:rPr lang="zh-CN" altLang="en-US" sz="2000" dirty="0">
                <a:latin typeface="+mn-lt"/>
              </a:rPr>
              <a:t>Experimental Platform</a:t>
            </a:r>
          </a:p>
        </p:txBody>
      </p:sp>
      <p:pic>
        <p:nvPicPr>
          <p:cNvPr id="3" name="Picture 2" descr="figure 1"/>
          <p:cNvPicPr>
            <a:picLocks noChangeAspect="1" noChangeArrowheads="1"/>
          </p:cNvPicPr>
          <p:nvPr/>
        </p:nvPicPr>
        <p:blipFill rotWithShape="1">
          <a:blip r:embed="rId3">
            <a:extLst>
              <a:ext uri="{28A0092B-C50C-407E-A947-70E740481C1C}">
                <a14:useLocalDpi xmlns:a14="http://schemas.microsoft.com/office/drawing/2010/main" val="0"/>
              </a:ext>
            </a:extLst>
          </a:blip>
          <a:srcRect l="1384" t="4868" r="62027" b="3396"/>
          <a:stretch>
            <a:fillRect/>
          </a:stretch>
        </p:blipFill>
        <p:spPr bwMode="auto">
          <a:xfrm>
            <a:off x="353300" y="1365291"/>
            <a:ext cx="2148381" cy="2013021"/>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圆角 3"/>
          <p:cNvSpPr/>
          <p:nvPr/>
        </p:nvSpPr>
        <p:spPr>
          <a:xfrm>
            <a:off x="2438399" y="4126987"/>
            <a:ext cx="6470579" cy="641496"/>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en-US" altLang="zh-CN" b="1" dirty="0">
                <a:solidFill>
                  <a:schemeClr val="tx1"/>
                </a:solidFill>
                <a:ea typeface="微软雅黑" panose="020B0503020204020204" pitchFamily="34" charset="-122"/>
                <a:cs typeface="微软雅黑" panose="020B0503020204020204" pitchFamily="34" charset="-122"/>
                <a:sym typeface="+mn-ea"/>
              </a:rPr>
              <a:t>   </a:t>
            </a:r>
            <a:r>
              <a:rPr lang="zh-CN" altLang="en-US" b="1" dirty="0">
                <a:solidFill>
                  <a:schemeClr val="tx1"/>
                </a:solidFill>
                <a:ea typeface="微软雅黑" panose="020B0503020204020204" pitchFamily="34" charset="-122"/>
                <a:cs typeface="微软雅黑" panose="020B0503020204020204" pitchFamily="34" charset="-122"/>
                <a:sym typeface="+mn-ea"/>
              </a:rPr>
              <a:t>Single-qubit gates: 99.94%; two-qubit gates: 99.6%, providing strong support for the experiment.</a:t>
            </a:r>
          </a:p>
        </p:txBody>
      </p:sp>
      <p:sp>
        <p:nvSpPr>
          <p:cNvPr id="5" name="矩形: 圆角 4"/>
          <p:cNvSpPr/>
          <p:nvPr/>
        </p:nvSpPr>
        <p:spPr>
          <a:xfrm>
            <a:off x="353300" y="4127311"/>
            <a:ext cx="2148381" cy="641445"/>
          </a:xfrm>
          <a:prstGeom prst="roundRect">
            <a:avLst>
              <a:gd name="adj" fmla="val 1166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r>
              <a:rPr lang="zh-CN" altLang="en-US" b="1" dirty="0"/>
              <a:t>High-</a:t>
            </a:r>
            <a:r>
              <a:rPr lang="en-US" altLang="zh-CN" b="1" dirty="0"/>
              <a:t>fidelity</a:t>
            </a:r>
            <a:r>
              <a:rPr lang="zh-CN" altLang="en-US" b="1" dirty="0"/>
              <a:t> Chip</a:t>
            </a:r>
          </a:p>
        </p:txBody>
      </p:sp>
      <p:pic>
        <p:nvPicPr>
          <p:cNvPr id="8" name="图片 7"/>
          <p:cNvPicPr>
            <a:picLocks noChangeAspect="1"/>
          </p:cNvPicPr>
          <p:nvPr/>
        </p:nvPicPr>
        <p:blipFill>
          <a:blip r:embed="rId4"/>
          <a:stretch>
            <a:fillRect/>
          </a:stretch>
        </p:blipFill>
        <p:spPr>
          <a:xfrm>
            <a:off x="4572000" y="758716"/>
            <a:ext cx="4336978" cy="3339678"/>
          </a:xfrm>
          <a:prstGeom prst="rect">
            <a:avLst/>
          </a:prstGeom>
        </p:spPr>
      </p:pic>
      <p:sp>
        <p:nvSpPr>
          <p:cNvPr id="9" name="矩形 8"/>
          <p:cNvSpPr/>
          <p:nvPr/>
        </p:nvSpPr>
        <p:spPr>
          <a:xfrm>
            <a:off x="353300" y="3431751"/>
            <a:ext cx="2148381" cy="36449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sz="1200" b="1" dirty="0">
                <a:latin typeface="微软雅黑" panose="020B0503020204020204" pitchFamily="34" charset="-122"/>
                <a:ea typeface="微软雅黑" panose="020B0503020204020204" pitchFamily="34" charset="-122"/>
                <a:cs typeface="微软雅黑" panose="020B0503020204020204" pitchFamily="34" charset="-122"/>
              </a:rPr>
              <a:t>127-qubit chip</a:t>
            </a:r>
          </a:p>
        </p:txBody>
      </p:sp>
      <p:sp>
        <p:nvSpPr>
          <p:cNvPr id="10" name="矩形: 圆角 9"/>
          <p:cNvSpPr/>
          <p:nvPr/>
        </p:nvSpPr>
        <p:spPr>
          <a:xfrm rot="3434267">
            <a:off x="1235312" y="2200934"/>
            <a:ext cx="242256" cy="341468"/>
          </a:xfrm>
          <a:prstGeom prst="roundRect">
            <a:avLst/>
          </a:prstGeom>
          <a:solidFill>
            <a:schemeClr val="bg2">
              <a:alpha val="49000"/>
            </a:schemeClr>
          </a:solid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normAutofit fontScale="87500" lnSpcReduction="10000"/>
          </a:bodyPr>
          <a:lstStyle/>
          <a:p>
            <a:pPr algn="ctr">
              <a:lnSpc>
                <a:spcPct val="100000"/>
              </a:lnSpc>
            </a:pPr>
            <a:endParaRPr lang="zh-CN" altLang="en-US"/>
          </a:p>
        </p:txBody>
      </p:sp>
      <p:pic>
        <p:nvPicPr>
          <p:cNvPr id="14" name="图片 13"/>
          <p:cNvPicPr>
            <a:picLocks noChangeAspect="1"/>
          </p:cNvPicPr>
          <p:nvPr/>
        </p:nvPicPr>
        <p:blipFill>
          <a:blip r:embed="rId5"/>
          <a:stretch>
            <a:fillRect/>
          </a:stretch>
        </p:blipFill>
        <p:spPr>
          <a:xfrm>
            <a:off x="2657385" y="1654211"/>
            <a:ext cx="1821805" cy="1470660"/>
          </a:xfrm>
          <a:prstGeom prst="rect">
            <a:avLst/>
          </a:prstGeom>
          <a:ln w="12700">
            <a:solidFill>
              <a:schemeClr val="accent1"/>
            </a:solidFill>
            <a:prstDash val="dash"/>
          </a:ln>
        </p:spPr>
      </p:pic>
      <p:cxnSp>
        <p:nvCxnSpPr>
          <p:cNvPr id="16" name="直接连接符 15"/>
          <p:cNvCxnSpPr/>
          <p:nvPr/>
        </p:nvCxnSpPr>
        <p:spPr>
          <a:xfrm flipV="1">
            <a:off x="1413510" y="1649802"/>
            <a:ext cx="1243875" cy="527614"/>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303020" y="2559957"/>
            <a:ext cx="1354365" cy="569323"/>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2738486" y="3137784"/>
            <a:ext cx="1740703" cy="646331"/>
          </a:xfrm>
          <a:prstGeom prst="rect">
            <a:avLst/>
          </a:prstGeom>
          <a:noFill/>
        </p:spPr>
        <p:txBody>
          <a:bodyPr wrap="square" rtlCol="0">
            <a:noAutofit/>
          </a:bodyPr>
          <a:lstStyle/>
          <a:p>
            <a:pPr>
              <a:lnSpc>
                <a:spcPct val="100000"/>
              </a:lnSpc>
            </a:pPr>
            <a:r>
              <a:rPr lang="zh-CN" altLang="en-US" sz="1600" dirty="0"/>
              <a:t>16 qubits selected for the experiment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1266585" y="885553"/>
            <a:ext cx="7747774" cy="656652"/>
          </a:xfrm>
        </p:spPr>
        <p:txBody>
          <a:bodyPr/>
          <a:lstStyle/>
          <a:p>
            <a:pPr>
              <a:lnSpc>
                <a:spcPct val="100000"/>
              </a:lnSpc>
            </a:pPr>
            <a:r>
              <a:rPr lang="zh-CN" altLang="en-US" dirty="0"/>
              <a:t>Inject errors at different positions and observe how final fidelity changes with error rate</a:t>
            </a:r>
          </a:p>
        </p:txBody>
      </p:sp>
      <p:sp>
        <p:nvSpPr>
          <p:cNvPr id="3" name="标题 2"/>
          <p:cNvSpPr>
            <a:spLocks noGrp="1"/>
          </p:cNvSpPr>
          <p:nvPr>
            <p:ph type="title"/>
          </p:nvPr>
        </p:nvSpPr>
        <p:spPr>
          <a:xfrm>
            <a:off x="280494" y="233682"/>
            <a:ext cx="4951382" cy="431966"/>
          </a:xfrm>
        </p:spPr>
        <p:txBody>
          <a:bodyPr>
            <a:normAutofit/>
          </a:bodyPr>
          <a:lstStyle/>
          <a:p>
            <a:pPr>
              <a:lnSpc>
                <a:spcPct val="100000"/>
              </a:lnSpc>
            </a:pPr>
            <a:r>
              <a:rPr lang="zh-CN" altLang="en-US" sz="1800" dirty="0">
                <a:latin typeface="+mn-lt"/>
              </a:rPr>
              <a:t>Error Propagation Mechanism Study</a:t>
            </a:r>
          </a:p>
        </p:txBody>
      </p:sp>
      <p:sp>
        <p:nvSpPr>
          <p:cNvPr id="4" name="文本占位符 3"/>
          <p:cNvSpPr>
            <a:spLocks noGrp="1"/>
          </p:cNvSpPr>
          <p:nvPr>
            <p:ph type="body" sz="quarter" idx="11"/>
          </p:nvPr>
        </p:nvSpPr>
        <p:spPr>
          <a:xfrm>
            <a:off x="177993" y="966521"/>
            <a:ext cx="1370767" cy="558661"/>
          </a:xfrm>
        </p:spPr>
        <p:txBody>
          <a:bodyPr/>
          <a:lstStyle/>
          <a:p>
            <a:pPr algn="ctr">
              <a:lnSpc>
                <a:spcPct val="100000"/>
              </a:lnSpc>
            </a:pPr>
            <a:r>
              <a:rPr lang="zh-CN" altLang="en-US" dirty="0"/>
              <a:t>Core Idea</a:t>
            </a:r>
          </a:p>
        </p:txBody>
      </p:sp>
      <p:pic>
        <p:nvPicPr>
          <p:cNvPr id="6" name="图片 5"/>
          <p:cNvPicPr>
            <a:picLocks noChangeAspect="1"/>
          </p:cNvPicPr>
          <p:nvPr/>
        </p:nvPicPr>
        <p:blipFill>
          <a:blip r:embed="rId3"/>
          <a:stretch>
            <a:fillRect/>
          </a:stretch>
        </p:blipFill>
        <p:spPr>
          <a:xfrm>
            <a:off x="3726968" y="1425472"/>
            <a:ext cx="5197038" cy="3255096"/>
          </a:xfrm>
          <a:prstGeom prst="rect">
            <a:avLst/>
          </a:prstGeom>
        </p:spPr>
      </p:pic>
      <p:grpSp>
        <p:nvGrpSpPr>
          <p:cNvPr id="34" name="组合 33"/>
          <p:cNvGrpSpPr/>
          <p:nvPr/>
        </p:nvGrpSpPr>
        <p:grpSpPr>
          <a:xfrm>
            <a:off x="132657" y="1430865"/>
            <a:ext cx="3426801" cy="2695002"/>
            <a:chOff x="121616" y="1589240"/>
            <a:chExt cx="3426801" cy="2695002"/>
          </a:xfrm>
        </p:grpSpPr>
        <p:pic>
          <p:nvPicPr>
            <p:cNvPr id="8" name="图片 7"/>
            <p:cNvPicPr>
              <a:picLocks noChangeAspect="1"/>
            </p:cNvPicPr>
            <p:nvPr/>
          </p:nvPicPr>
          <p:blipFill>
            <a:blip r:embed="rId4"/>
            <a:stretch>
              <a:fillRect/>
            </a:stretch>
          </p:blipFill>
          <p:spPr>
            <a:xfrm>
              <a:off x="319088" y="1680677"/>
              <a:ext cx="3197057" cy="2603565"/>
            </a:xfrm>
            <a:prstGeom prst="rect">
              <a:avLst/>
            </a:prstGeom>
          </p:spPr>
        </p:pic>
        <p:cxnSp>
          <p:nvCxnSpPr>
            <p:cNvPr id="12" name="直接连接符 11"/>
            <p:cNvCxnSpPr/>
            <p:nvPr/>
          </p:nvCxnSpPr>
          <p:spPr>
            <a:xfrm flipV="1">
              <a:off x="1255544" y="2703195"/>
              <a:ext cx="622786" cy="502921"/>
            </a:xfrm>
            <a:prstGeom prst="line">
              <a:avLst/>
            </a:prstGeom>
            <a:ln w="34925">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文本框 19"/>
                <p:cNvSpPr txBox="1"/>
                <p:nvPr/>
              </p:nvSpPr>
              <p:spPr>
                <a:xfrm>
                  <a:off x="121616" y="1589240"/>
                  <a:ext cx="487680" cy="369332"/>
                </a:xfrm>
                <a:prstGeom prst="rect">
                  <a:avLst/>
                </a:prstGeom>
                <a:noFill/>
              </p:spPr>
              <p:txBody>
                <a:bodyPr wrap="square">
                  <a:normAutofit fontScale="95000"/>
                </a:bodyPr>
                <a:lstStyle/>
                <a:p>
                  <a:pPr>
                    <a:lnSpc>
                      <a:spcPct val="100000"/>
                    </a:lnSpc>
                  </a:pPr>
                  <a14:m>
                    <m:oMathPara xmlns:m="http://schemas.openxmlformats.org/officeDocument/2006/math">
                      <m:oMathParaPr>
                        <m:jc m:val="centerGroup"/>
                      </m:oMathParaPr>
                      <m:oMath xmlns:m="http://schemas.openxmlformats.org/officeDocument/2006/math">
                        <m:d>
                          <m:dPr>
                            <m:begChr m:val="|"/>
                            <m:endChr m:val="⟩"/>
                            <m:ctrlPr>
                              <a:rPr lang="zh-CN" altLang="en-US" i="1" smtClean="0">
                                <a:latin typeface="Cambria Math" panose="02040503050406030204" pitchFamily="18" charset="0"/>
                              </a:rPr>
                            </m:ctrlPr>
                          </m:dPr>
                          <m:e>
                            <m:r>
                              <a:rPr lang="zh-CN" altLang="en-US">
                                <a:latin typeface="Cambria Math" panose="02040503050406030204" pitchFamily="18" charset="0"/>
                              </a:rPr>
                              <m:t>0</m:t>
                            </m:r>
                          </m:e>
                        </m:d>
                      </m:oMath>
                    </m:oMathPara>
                  </a14:m>
                  <a:endParaRPr lang="zh-CN" altLang="en-US" dirty="0"/>
                </a:p>
              </p:txBody>
            </p:sp>
          </mc:Choice>
          <mc:Fallback xmlns="">
            <p:sp>
              <p:nvSpPr>
                <p:cNvPr id="20" name="文本框 19"/>
                <p:cNvSpPr txBox="1">
                  <a:spLocks noRot="1" noChangeAspect="1" noMove="1" noResize="1" noEditPoints="1" noAdjustHandles="1" noChangeArrowheads="1" noChangeShapeType="1" noTextEdit="1"/>
                </p:cNvSpPr>
                <p:nvPr/>
              </p:nvSpPr>
              <p:spPr>
                <a:xfrm>
                  <a:off x="121616" y="1589240"/>
                  <a:ext cx="487680"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p:cNvSpPr txBox="1"/>
                <p:nvPr/>
              </p:nvSpPr>
              <p:spPr>
                <a:xfrm>
                  <a:off x="457949" y="1591599"/>
                  <a:ext cx="487680" cy="369332"/>
                </a:xfrm>
                <a:prstGeom prst="rect">
                  <a:avLst/>
                </a:prstGeom>
                <a:noFill/>
              </p:spPr>
              <p:txBody>
                <a:bodyPr wrap="square">
                  <a:normAutofit fontScale="95000"/>
                </a:bodyPr>
                <a:lstStyle/>
                <a:p>
                  <a:pPr>
                    <a:lnSpc>
                      <a:spcPct val="100000"/>
                    </a:lnSpc>
                  </a:pPr>
                  <a14:m>
                    <m:oMathPara xmlns:m="http://schemas.openxmlformats.org/officeDocument/2006/math">
                      <m:oMathParaPr>
                        <m:jc m:val="centerGroup"/>
                      </m:oMathParaPr>
                      <m:oMath xmlns:m="http://schemas.openxmlformats.org/officeDocument/2006/math">
                        <m:d>
                          <m:dPr>
                            <m:begChr m:val="|"/>
                            <m:endChr m:val="⟩"/>
                            <m:ctrlPr>
                              <a:rPr lang="zh-CN" altLang="en-US" i="1" smtClean="0">
                                <a:latin typeface="Cambria Math" panose="02040503050406030204" pitchFamily="18" charset="0"/>
                              </a:rPr>
                            </m:ctrlPr>
                          </m:dPr>
                          <m:e>
                            <m:r>
                              <a:rPr lang="zh-CN" altLang="en-US">
                                <a:latin typeface="Cambria Math" panose="02040503050406030204" pitchFamily="18" charset="0"/>
                              </a:rPr>
                              <m:t>0</m:t>
                            </m:r>
                          </m:e>
                        </m:d>
                      </m:oMath>
                    </m:oMathPara>
                  </a14:m>
                  <a:endParaRPr lang="zh-CN" altLang="en-US" dirty="0"/>
                </a:p>
              </p:txBody>
            </p:sp>
          </mc:Choice>
          <mc:Fallback xmlns="">
            <p:sp>
              <p:nvSpPr>
                <p:cNvPr id="21" name="文本框 20"/>
                <p:cNvSpPr txBox="1">
                  <a:spLocks noRot="1" noChangeAspect="1" noMove="1" noResize="1" noEditPoints="1" noAdjustHandles="1" noChangeArrowheads="1" noChangeShapeType="1" noTextEdit="1"/>
                </p:cNvSpPr>
                <p:nvPr/>
              </p:nvSpPr>
              <p:spPr>
                <a:xfrm>
                  <a:off x="457949" y="1591599"/>
                  <a:ext cx="487680" cy="36933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p:cNvSpPr txBox="1"/>
                <p:nvPr/>
              </p:nvSpPr>
              <p:spPr>
                <a:xfrm>
                  <a:off x="767864" y="1595511"/>
                  <a:ext cx="487680" cy="369332"/>
                </a:xfrm>
                <a:prstGeom prst="rect">
                  <a:avLst/>
                </a:prstGeom>
                <a:noFill/>
              </p:spPr>
              <p:txBody>
                <a:bodyPr wrap="square">
                  <a:normAutofit fontScale="95000"/>
                </a:bodyPr>
                <a:lstStyle/>
                <a:p>
                  <a:pPr>
                    <a:lnSpc>
                      <a:spcPct val="100000"/>
                    </a:lnSpc>
                  </a:pPr>
                  <a14:m>
                    <m:oMathPara xmlns:m="http://schemas.openxmlformats.org/officeDocument/2006/math">
                      <m:oMathParaPr>
                        <m:jc m:val="centerGroup"/>
                      </m:oMathParaPr>
                      <m:oMath xmlns:m="http://schemas.openxmlformats.org/officeDocument/2006/math">
                        <m:d>
                          <m:dPr>
                            <m:begChr m:val="|"/>
                            <m:endChr m:val="⟩"/>
                            <m:ctrlPr>
                              <a:rPr lang="zh-CN" altLang="en-US" i="1" smtClean="0">
                                <a:latin typeface="Cambria Math" panose="02040503050406030204" pitchFamily="18" charset="0"/>
                              </a:rPr>
                            </m:ctrlPr>
                          </m:dPr>
                          <m:e>
                            <m:r>
                              <a:rPr lang="en-US" altLang="zh-CN" b="0" i="0" smtClean="0">
                                <a:latin typeface="Cambria Math" panose="02040503050406030204" pitchFamily="18" charset="0"/>
                              </a:rPr>
                              <m:t>+</m:t>
                            </m:r>
                          </m:e>
                        </m:d>
                      </m:oMath>
                    </m:oMathPara>
                  </a14:m>
                  <a:endParaRPr lang="zh-CN" altLang="en-US" dirty="0"/>
                </a:p>
              </p:txBody>
            </p:sp>
          </mc:Choice>
          <mc:Fallback xmlns="">
            <p:sp>
              <p:nvSpPr>
                <p:cNvPr id="22" name="文本框 21"/>
                <p:cNvSpPr txBox="1">
                  <a:spLocks noRot="1" noChangeAspect="1" noMove="1" noResize="1" noEditPoints="1" noAdjustHandles="1" noChangeArrowheads="1" noChangeShapeType="1" noTextEdit="1"/>
                </p:cNvSpPr>
                <p:nvPr/>
              </p:nvSpPr>
              <p:spPr>
                <a:xfrm>
                  <a:off x="767864" y="1595511"/>
                  <a:ext cx="487680" cy="369332"/>
                </a:xfrm>
                <a:prstGeom prst="rect">
                  <a:avLst/>
                </a:prstGeom>
                <a:blipFill>
                  <a:blip r:embed="rId7"/>
                  <a:stretch>
                    <a:fillRect/>
                  </a:stretch>
                </a:blipFill>
              </p:spPr>
              <p:txBody>
                <a:bodyPr/>
                <a:lstStyle/>
                <a:p>
                  <a:r>
                    <a:rPr lang="zh-CN" altLang="en-US">
                      <a:noFill/>
                    </a:rPr>
                    <a:t> </a:t>
                  </a:r>
                </a:p>
              </p:txBody>
            </p:sp>
          </mc:Fallback>
        </mc:AlternateContent>
        <p:cxnSp>
          <p:nvCxnSpPr>
            <p:cNvPr id="24" name="直接连接符 23"/>
            <p:cNvCxnSpPr/>
            <p:nvPr/>
          </p:nvCxnSpPr>
          <p:spPr>
            <a:xfrm flipV="1">
              <a:off x="846454" y="3434080"/>
              <a:ext cx="286386" cy="224157"/>
            </a:xfrm>
            <a:prstGeom prst="line">
              <a:avLst/>
            </a:prstGeom>
            <a:ln w="34925">
              <a:solidFill>
                <a:srgbClr val="C00000"/>
              </a:solidFill>
            </a:ln>
          </p:spPr>
          <p:style>
            <a:lnRef idx="1">
              <a:schemeClr val="accent1"/>
            </a:lnRef>
            <a:fillRef idx="0">
              <a:schemeClr val="accent1"/>
            </a:fillRef>
            <a:effectRef idx="0">
              <a:schemeClr val="accent1"/>
            </a:effectRef>
            <a:fontRef idx="minor">
              <a:schemeClr val="tx1"/>
            </a:fontRef>
          </p:style>
        </p:cxnSp>
        <p:pic>
          <p:nvPicPr>
            <p:cNvPr id="27" name="图形 26"/>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37402" y="3067087"/>
              <a:ext cx="233276" cy="230966"/>
            </a:xfrm>
            <a:prstGeom prst="rect">
              <a:avLst/>
            </a:prstGeom>
          </p:spPr>
        </p:pic>
        <p:pic>
          <p:nvPicPr>
            <p:cNvPr id="29" name="图形 28"/>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429114" y="3073489"/>
              <a:ext cx="233276" cy="230966"/>
            </a:xfrm>
            <a:prstGeom prst="rect">
              <a:avLst/>
            </a:prstGeom>
          </p:spPr>
        </p:pic>
        <p:pic>
          <p:nvPicPr>
            <p:cNvPr id="30" name="图形 29"/>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09189" y="3048723"/>
              <a:ext cx="233276" cy="230966"/>
            </a:xfrm>
            <a:prstGeom prst="rect">
              <a:avLst/>
            </a:prstGeom>
          </p:spPr>
        </p:pic>
        <p:pic>
          <p:nvPicPr>
            <p:cNvPr id="31" name="图形 30"/>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315141" y="3048723"/>
              <a:ext cx="233276" cy="230966"/>
            </a:xfrm>
            <a:prstGeom prst="rect">
              <a:avLst/>
            </a:prstGeom>
          </p:spPr>
        </p:pic>
        <mc:AlternateContent xmlns:mc="http://schemas.openxmlformats.org/markup-compatibility/2006" xmlns:a14="http://schemas.microsoft.com/office/drawing/2010/main">
          <mc:Choice Requires="a14">
            <p:sp>
              <p:nvSpPr>
                <p:cNvPr id="32" name="文本框 31"/>
                <p:cNvSpPr txBox="1"/>
                <p:nvPr/>
              </p:nvSpPr>
              <p:spPr>
                <a:xfrm>
                  <a:off x="2009189" y="1727632"/>
                  <a:ext cx="487680" cy="369332"/>
                </a:xfrm>
                <a:prstGeom prst="rect">
                  <a:avLst/>
                </a:prstGeom>
                <a:noFill/>
              </p:spPr>
              <p:txBody>
                <a:bodyPr wrap="square">
                  <a:normAutofit fontScale="95000"/>
                </a:bodyPr>
                <a:lstStyle/>
                <a:p>
                  <a:pPr>
                    <a:lnSpc>
                      <a:spcPct val="100000"/>
                    </a:lnSpc>
                  </a:pPr>
                  <a14:m>
                    <m:oMathPara xmlns:m="http://schemas.openxmlformats.org/officeDocument/2006/math">
                      <m:oMathParaPr>
                        <m:jc m:val="centerGroup"/>
                      </m:oMathParaPr>
                      <m:oMath xmlns:m="http://schemas.openxmlformats.org/officeDocument/2006/math">
                        <m:d>
                          <m:dPr>
                            <m:begChr m:val="|"/>
                            <m:endChr m:val="⟩"/>
                            <m:ctrlPr>
                              <a:rPr lang="zh-CN" altLang="en-US" i="1" smtClean="0">
                                <a:latin typeface="Cambria Math" panose="02040503050406030204" pitchFamily="18" charset="0"/>
                              </a:rPr>
                            </m:ctrlPr>
                          </m:dPr>
                          <m:e>
                            <m:r>
                              <a:rPr lang="zh-CN" altLang="en-US">
                                <a:latin typeface="Cambria Math" panose="02040503050406030204" pitchFamily="18" charset="0"/>
                              </a:rPr>
                              <m:t>0</m:t>
                            </m:r>
                          </m:e>
                        </m:d>
                      </m:oMath>
                    </m:oMathPara>
                  </a14:m>
                  <a:endParaRPr lang="zh-CN" altLang="en-US" dirty="0"/>
                </a:p>
              </p:txBody>
            </p:sp>
          </mc:Choice>
          <mc:Fallback xmlns="">
            <p:sp>
              <p:nvSpPr>
                <p:cNvPr id="32" name="文本框 31"/>
                <p:cNvSpPr txBox="1">
                  <a:spLocks noRot="1" noChangeAspect="1" noMove="1" noResize="1" noEditPoints="1" noAdjustHandles="1" noChangeArrowheads="1" noChangeShapeType="1" noTextEdit="1"/>
                </p:cNvSpPr>
                <p:nvPr/>
              </p:nvSpPr>
              <p:spPr>
                <a:xfrm>
                  <a:off x="2009189" y="1727632"/>
                  <a:ext cx="487680" cy="369332"/>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p:cNvSpPr txBox="1"/>
                <p:nvPr/>
              </p:nvSpPr>
              <p:spPr>
                <a:xfrm>
                  <a:off x="835819" y="2557234"/>
                  <a:ext cx="487680" cy="369332"/>
                </a:xfrm>
                <a:prstGeom prst="rect">
                  <a:avLst/>
                </a:prstGeom>
                <a:noFill/>
              </p:spPr>
              <p:txBody>
                <a:bodyPr wrap="square">
                  <a:normAutofit fontScale="95000"/>
                </a:bodyPr>
                <a:lstStyle/>
                <a:p>
                  <a:pPr>
                    <a:lnSpc>
                      <a:spcPct val="100000"/>
                    </a:lnSpc>
                  </a:pPr>
                  <a14:m>
                    <m:oMathPara xmlns:m="http://schemas.openxmlformats.org/officeDocument/2006/math">
                      <m:oMathParaPr>
                        <m:jc m:val="centerGroup"/>
                      </m:oMathParaPr>
                      <m:oMath xmlns:m="http://schemas.openxmlformats.org/officeDocument/2006/math">
                        <m:d>
                          <m:dPr>
                            <m:begChr m:val="|"/>
                            <m:endChr m:val="⟩"/>
                            <m:ctrlPr>
                              <a:rPr lang="zh-CN" altLang="en-US" i="1" smtClean="0">
                                <a:latin typeface="Cambria Math" panose="02040503050406030204" pitchFamily="18" charset="0"/>
                              </a:rPr>
                            </m:ctrlPr>
                          </m:dPr>
                          <m:e>
                            <m:r>
                              <a:rPr lang="zh-CN" altLang="en-US">
                                <a:latin typeface="Cambria Math" panose="02040503050406030204" pitchFamily="18" charset="0"/>
                              </a:rPr>
                              <m:t>0</m:t>
                            </m:r>
                          </m:e>
                        </m:d>
                      </m:oMath>
                    </m:oMathPara>
                  </a14:m>
                  <a:endParaRPr lang="zh-CN" altLang="en-US" dirty="0"/>
                </a:p>
              </p:txBody>
            </p:sp>
          </mc:Choice>
          <mc:Fallback xmlns="">
            <p:sp>
              <p:nvSpPr>
                <p:cNvPr id="33" name="文本框 32"/>
                <p:cNvSpPr txBox="1">
                  <a:spLocks noRot="1" noChangeAspect="1" noMove="1" noResize="1" noEditPoints="1" noAdjustHandles="1" noChangeArrowheads="1" noChangeShapeType="1" noTextEdit="1"/>
                </p:cNvSpPr>
                <p:nvPr/>
              </p:nvSpPr>
              <p:spPr>
                <a:xfrm>
                  <a:off x="835819" y="2557234"/>
                  <a:ext cx="487680" cy="369332"/>
                </a:xfrm>
                <a:prstGeom prst="rect">
                  <a:avLst/>
                </a:prstGeom>
                <a:blipFill>
                  <a:blip r:embed="rId17"/>
                  <a:stretch>
                    <a:fillRect/>
                  </a:stretch>
                </a:blipFill>
              </p:spPr>
              <p:txBody>
                <a:bodyPr/>
                <a:lstStyle/>
                <a:p>
                  <a:r>
                    <a:rPr lang="zh-CN" altLang="en-US">
                      <a:noFill/>
                    </a:rPr>
                    <a:t> </a:t>
                  </a:r>
                </a:p>
              </p:txBody>
            </p:sp>
          </mc:Fallback>
        </mc:AlternateContent>
        <p:cxnSp>
          <p:nvCxnSpPr>
            <p:cNvPr id="36" name="直接连接符 35"/>
            <p:cNvCxnSpPr/>
            <p:nvPr/>
          </p:nvCxnSpPr>
          <p:spPr>
            <a:xfrm flipV="1">
              <a:off x="554040" y="3876935"/>
              <a:ext cx="147749" cy="185836"/>
            </a:xfrm>
            <a:prstGeom prst="line">
              <a:avLst/>
            </a:prstGeom>
            <a:ln w="349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flipV="1">
              <a:off x="814912" y="3876508"/>
              <a:ext cx="174965" cy="185835"/>
            </a:xfrm>
            <a:prstGeom prst="line">
              <a:avLst/>
            </a:prstGeom>
            <a:ln w="3492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35" name="矩形 34"/>
          <p:cNvSpPr/>
          <p:nvPr/>
        </p:nvSpPr>
        <p:spPr>
          <a:xfrm>
            <a:off x="324268" y="4185889"/>
            <a:ext cx="3302809" cy="5671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b="1" dirty="0"/>
              <a:t>Inject noise into third-layer routing addresses</a:t>
            </a:r>
          </a:p>
        </p:txBody>
      </p:sp>
      <p:sp>
        <p:nvSpPr>
          <p:cNvPr id="7" name="矩形 6"/>
          <p:cNvSpPr/>
          <p:nvPr/>
        </p:nvSpPr>
        <p:spPr>
          <a:xfrm>
            <a:off x="4686803" y="2503367"/>
            <a:ext cx="2101726" cy="1409093"/>
          </a:xfrm>
          <a:prstGeom prst="rect">
            <a:avLst/>
          </a:prstGeom>
          <a:solidFill>
            <a:schemeClr val="accent2">
              <a:alpha val="7933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b="1" dirty="0">
                <a:solidFill>
                  <a:schemeClr val="bg1"/>
                </a:solidFill>
                <a:sym typeface="+mn-ea"/>
              </a:rPr>
              <a:t>Noise on the queried branch has the largest impact on fidelity.</a:t>
            </a:r>
            <a:endParaRPr lang="zh-CN" altLang="en-US" b="1" dirty="0">
              <a:solidFill>
                <a:schemeClr val="bg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pPr>
              <a:lnSpc>
                <a:spcPct val="100000"/>
              </a:lnSpc>
            </a:pPr>
            <a:r>
              <a:rPr lang="zh-CN" altLang="en-US" dirty="0"/>
              <a:t>Discard wrong routing results on the queried branch</a:t>
            </a:r>
          </a:p>
        </p:txBody>
      </p:sp>
      <p:sp>
        <p:nvSpPr>
          <p:cNvPr id="2" name="标题 1"/>
          <p:cNvSpPr>
            <a:spLocks noGrp="1"/>
          </p:cNvSpPr>
          <p:nvPr>
            <p:ph type="title"/>
          </p:nvPr>
        </p:nvSpPr>
        <p:spPr/>
        <p:txBody>
          <a:bodyPr>
            <a:normAutofit/>
          </a:bodyPr>
          <a:lstStyle/>
          <a:p>
            <a:pPr>
              <a:lnSpc>
                <a:spcPct val="100000"/>
              </a:lnSpc>
            </a:pPr>
            <a:r>
              <a:rPr lang="zh-CN" altLang="en-US" sz="1800" dirty="0">
                <a:latin typeface="+mn-lt"/>
              </a:rPr>
              <a:t>Error Mitigation Method</a:t>
            </a:r>
          </a:p>
        </p:txBody>
      </p:sp>
      <p:sp>
        <p:nvSpPr>
          <p:cNvPr id="4" name="文本占位符 3"/>
          <p:cNvSpPr>
            <a:spLocks noGrp="1"/>
          </p:cNvSpPr>
          <p:nvPr>
            <p:ph type="body" sz="quarter" idx="11"/>
          </p:nvPr>
        </p:nvSpPr>
        <p:spPr>
          <a:xfrm>
            <a:off x="280987" y="993775"/>
            <a:ext cx="1204219" cy="358775"/>
          </a:xfrm>
        </p:spPr>
        <p:txBody>
          <a:bodyPr/>
          <a:lstStyle/>
          <a:p>
            <a:pPr>
              <a:lnSpc>
                <a:spcPct val="100000"/>
              </a:lnSpc>
            </a:pPr>
            <a:r>
              <a:rPr lang="zh-CN" altLang="en-US" dirty="0"/>
              <a:t>Core Idea</a:t>
            </a:r>
          </a:p>
        </p:txBody>
      </p:sp>
      <p:pic>
        <p:nvPicPr>
          <p:cNvPr id="7" name="图片 6"/>
          <p:cNvPicPr>
            <a:picLocks noChangeAspect="1"/>
          </p:cNvPicPr>
          <p:nvPr/>
        </p:nvPicPr>
        <p:blipFill>
          <a:blip r:embed="rId3"/>
          <a:stretch>
            <a:fillRect/>
          </a:stretch>
        </p:blipFill>
        <p:spPr>
          <a:xfrm>
            <a:off x="280494" y="1491438"/>
            <a:ext cx="8369808" cy="2468919"/>
          </a:xfrm>
          <a:prstGeom prst="rect">
            <a:avLst/>
          </a:prstGeom>
        </p:spPr>
      </p:pic>
      <p:sp>
        <p:nvSpPr>
          <p:cNvPr id="8" name="矩形 7"/>
          <p:cNvSpPr/>
          <p:nvPr/>
        </p:nvSpPr>
        <p:spPr>
          <a:xfrm>
            <a:off x="8035834" y="1963698"/>
            <a:ext cx="724196" cy="1466200"/>
          </a:xfrm>
          <a:prstGeom prst="rect">
            <a:avLst/>
          </a:prstGeom>
          <a:solidFill>
            <a:srgbClr val="C00000">
              <a:alpha val="10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endParaRPr lang="zh-CN" altLang="en-US"/>
          </a:p>
        </p:txBody>
      </p:sp>
      <p:sp>
        <p:nvSpPr>
          <p:cNvPr id="9" name="文本框 8"/>
          <p:cNvSpPr txBox="1"/>
          <p:nvPr/>
        </p:nvSpPr>
        <p:spPr>
          <a:xfrm>
            <a:off x="3364865" y="3914775"/>
            <a:ext cx="5207635" cy="229870"/>
          </a:xfrm>
          <a:prstGeom prst="rect">
            <a:avLst/>
          </a:prstGeom>
          <a:noFill/>
        </p:spPr>
        <p:txBody>
          <a:bodyPr wrap="square" rtlCol="0"/>
          <a:lstStyle/>
          <a:p>
            <a:pPr>
              <a:lnSpc>
                <a:spcPct val="100000"/>
              </a:lnSpc>
            </a:pPr>
            <a:r>
              <a:rPr lang="zh-CN" altLang="en-US" sz="1400" dirty="0"/>
              <a:t>Post-select readout results; discard outcomes equal to 1.</a:t>
            </a:r>
          </a:p>
        </p:txBody>
      </p:sp>
      <p:sp>
        <p:nvSpPr>
          <p:cNvPr id="10" name="箭头: 右弧形 9"/>
          <p:cNvSpPr/>
          <p:nvPr/>
        </p:nvSpPr>
        <p:spPr>
          <a:xfrm rot="1077617">
            <a:off x="8359979" y="3486827"/>
            <a:ext cx="493776" cy="788061"/>
          </a:xfrm>
          <a:prstGeom prst="curvedLeftArrow">
            <a:avLst>
              <a:gd name="adj1" fmla="val 25000"/>
              <a:gd name="adj2" fmla="val 46335"/>
              <a:gd name="adj3" fmla="val 32836"/>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endParaRPr lang="zh-CN" altLang="en-US">
              <a:solidFill>
                <a:schemeClr val="tx1"/>
              </a:solidFill>
            </a:endParaRPr>
          </a:p>
        </p:txBody>
      </p:sp>
      <p:sp>
        <p:nvSpPr>
          <p:cNvPr id="11" name="矩形 10"/>
          <p:cNvSpPr/>
          <p:nvPr/>
        </p:nvSpPr>
        <p:spPr>
          <a:xfrm>
            <a:off x="423510" y="4239082"/>
            <a:ext cx="8419650" cy="5776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b="1" dirty="0"/>
              <a:t>The effective post-selection ratio drops linearly with QRAM layers; only the first N layers need post-selection.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p:cNvPicPr>
            <a:picLocks noChangeAspect="1"/>
          </p:cNvPicPr>
          <p:nvPr/>
        </p:nvPicPr>
        <p:blipFill>
          <a:blip r:embed="rId3"/>
          <a:srcRect t="4900"/>
          <a:stretch>
            <a:fillRect/>
          </a:stretch>
        </p:blipFill>
        <p:spPr>
          <a:xfrm>
            <a:off x="4572000" y="1462482"/>
            <a:ext cx="3958594" cy="2758576"/>
          </a:xfrm>
          <a:prstGeom prst="rect">
            <a:avLst/>
          </a:prstGeom>
        </p:spPr>
      </p:pic>
      <p:pic>
        <p:nvPicPr>
          <p:cNvPr id="25" name="图片 24"/>
          <p:cNvPicPr>
            <a:picLocks noChangeAspect="1"/>
          </p:cNvPicPr>
          <p:nvPr/>
        </p:nvPicPr>
        <p:blipFill>
          <a:blip r:embed="rId4"/>
          <a:stretch>
            <a:fillRect/>
          </a:stretch>
        </p:blipFill>
        <p:spPr>
          <a:xfrm>
            <a:off x="822548" y="1589546"/>
            <a:ext cx="3111751" cy="2533597"/>
          </a:xfrm>
          <a:prstGeom prst="rect">
            <a:avLst/>
          </a:prstGeom>
        </p:spPr>
      </p:pic>
      <p:sp>
        <p:nvSpPr>
          <p:cNvPr id="3" name="文本占位符 2"/>
          <p:cNvSpPr>
            <a:spLocks noGrp="1"/>
          </p:cNvSpPr>
          <p:nvPr>
            <p:ph type="body" sz="quarter" idx="10"/>
          </p:nvPr>
        </p:nvSpPr>
        <p:spPr>
          <a:xfrm>
            <a:off x="1967167" y="1010645"/>
            <a:ext cx="6683375" cy="358103"/>
          </a:xfrm>
        </p:spPr>
        <p:txBody>
          <a:bodyPr/>
          <a:lstStyle/>
          <a:p>
            <a:pPr>
              <a:lnSpc>
                <a:spcPct val="100000"/>
              </a:lnSpc>
            </a:pPr>
            <a:r>
              <a:rPr lang="en-US" altLang="zh-CN" dirty="0"/>
              <a:t>Error</a:t>
            </a:r>
            <a:r>
              <a:rPr lang="zh-CN" altLang="en-US" dirty="0"/>
              <a:t> </a:t>
            </a:r>
            <a:r>
              <a:rPr lang="en-US" altLang="zh-CN" dirty="0"/>
              <a:t>mitigation</a:t>
            </a:r>
            <a:r>
              <a:rPr lang="zh-CN" altLang="en-US" dirty="0"/>
              <a:t> </a:t>
            </a:r>
            <a:r>
              <a:rPr lang="en-US" altLang="zh-CN" dirty="0"/>
              <a:t>improves</a:t>
            </a:r>
            <a:r>
              <a:rPr lang="zh-CN" altLang="en-US" dirty="0"/>
              <a:t> </a:t>
            </a:r>
            <a:r>
              <a:rPr lang="en-US" altLang="zh-CN" dirty="0"/>
              <a:t>query</a:t>
            </a:r>
            <a:r>
              <a:rPr lang="zh-CN" altLang="en-US" dirty="0"/>
              <a:t> </a:t>
            </a:r>
            <a:r>
              <a:rPr lang="en-US" altLang="zh-CN" dirty="0"/>
              <a:t>fidelity</a:t>
            </a:r>
            <a:r>
              <a:rPr lang="zh-CN" altLang="en-US" dirty="0"/>
              <a:t> </a:t>
            </a:r>
          </a:p>
        </p:txBody>
      </p:sp>
      <p:sp>
        <p:nvSpPr>
          <p:cNvPr id="2" name="标题 1"/>
          <p:cNvSpPr>
            <a:spLocks noGrp="1"/>
          </p:cNvSpPr>
          <p:nvPr>
            <p:ph type="title"/>
          </p:nvPr>
        </p:nvSpPr>
        <p:spPr/>
        <p:txBody>
          <a:bodyPr>
            <a:normAutofit/>
          </a:bodyPr>
          <a:lstStyle/>
          <a:p>
            <a:pPr>
              <a:lnSpc>
                <a:spcPct val="100000"/>
              </a:lnSpc>
            </a:pPr>
            <a:r>
              <a:rPr lang="zh-CN" altLang="en-US" sz="1800" dirty="0">
                <a:latin typeface="+mn-lt"/>
              </a:rPr>
              <a:t>Error Mitigation Method</a:t>
            </a:r>
          </a:p>
        </p:txBody>
      </p:sp>
      <p:sp>
        <p:nvSpPr>
          <p:cNvPr id="4" name="文本占位符 3"/>
          <p:cNvSpPr>
            <a:spLocks noGrp="1"/>
          </p:cNvSpPr>
          <p:nvPr>
            <p:ph type="body" sz="quarter" idx="11"/>
          </p:nvPr>
        </p:nvSpPr>
        <p:spPr>
          <a:xfrm>
            <a:off x="-26670" y="993775"/>
            <a:ext cx="1747520" cy="358775"/>
          </a:xfrm>
        </p:spPr>
        <p:txBody>
          <a:bodyPr/>
          <a:lstStyle/>
          <a:p>
            <a:pPr algn="ctr">
              <a:lnSpc>
                <a:spcPct val="100000"/>
              </a:lnSpc>
            </a:pPr>
            <a:r>
              <a:rPr lang="en-US" altLang="zh-CN" dirty="0"/>
              <a:t>Results</a:t>
            </a:r>
            <a:endParaRPr lang="zh-CN" altLang="en-US" dirty="0"/>
          </a:p>
        </p:txBody>
      </p:sp>
      <p:sp>
        <p:nvSpPr>
          <p:cNvPr id="21" name="矩形 20"/>
          <p:cNvSpPr/>
          <p:nvPr/>
        </p:nvSpPr>
        <p:spPr>
          <a:xfrm>
            <a:off x="2914253" y="2984116"/>
            <a:ext cx="931655" cy="380022"/>
          </a:xfrm>
          <a:prstGeom prst="rect">
            <a:avLst/>
          </a:prstGeom>
          <a:solidFill>
            <a:srgbClr val="EE8C67">
              <a:alpha val="30000"/>
            </a:srgbClr>
          </a:solidFill>
          <a:ln w="19050">
            <a:solidFill>
              <a:srgbClr val="EE8C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26" name="文本框 25"/>
              <p:cNvSpPr txBox="1"/>
              <p:nvPr/>
            </p:nvSpPr>
            <p:spPr>
              <a:xfrm>
                <a:off x="749527" y="1506053"/>
                <a:ext cx="487680" cy="369332"/>
              </a:xfrm>
              <a:prstGeom prst="rect">
                <a:avLst/>
              </a:prstGeom>
              <a:noFill/>
            </p:spPr>
            <p:txBody>
              <a:bodyPr wrap="square">
                <a:normAutofit fontScale="95000"/>
              </a:bodyPr>
              <a:lstStyle/>
              <a:p>
                <a:pPr>
                  <a:lnSpc>
                    <a:spcPct val="100000"/>
                  </a:lnSpc>
                </a:pPr>
                <a14:m>
                  <m:oMathPara xmlns:m="http://schemas.openxmlformats.org/officeDocument/2006/math">
                    <m:oMathParaPr>
                      <m:jc m:val="centerGroup"/>
                    </m:oMathParaPr>
                    <m:oMath xmlns:m="http://schemas.openxmlformats.org/officeDocument/2006/math">
                      <m:d>
                        <m:dPr>
                          <m:begChr m:val="|"/>
                          <m:endChr m:val="⟩"/>
                          <m:ctrlPr>
                            <a:rPr lang="zh-CN" altLang="en-US" i="1" smtClean="0">
                              <a:latin typeface="Cambria Math" panose="02040503050406030204" pitchFamily="18" charset="0"/>
                            </a:rPr>
                          </m:ctrlPr>
                        </m:dPr>
                        <m:e>
                          <m:r>
                            <a:rPr lang="zh-CN" altLang="en-US">
                              <a:latin typeface="Cambria Math" panose="02040503050406030204" pitchFamily="18" charset="0"/>
                            </a:rPr>
                            <m:t>0</m:t>
                          </m:r>
                        </m:e>
                      </m:d>
                    </m:oMath>
                  </m:oMathPara>
                </a14:m>
                <a:endParaRPr lang="zh-CN" altLang="en-US" dirty="0"/>
              </a:p>
            </p:txBody>
          </p:sp>
        </mc:Choice>
        <mc:Fallback xmlns="">
          <p:sp>
            <p:nvSpPr>
              <p:cNvPr id="26" name="文本框 25"/>
              <p:cNvSpPr txBox="1">
                <a:spLocks noRot="1" noChangeAspect="1" noMove="1" noResize="1" noEditPoints="1" noAdjustHandles="1" noChangeArrowheads="1" noChangeShapeType="1" noTextEdit="1"/>
              </p:cNvSpPr>
              <p:nvPr/>
            </p:nvSpPr>
            <p:spPr>
              <a:xfrm>
                <a:off x="749527" y="1506053"/>
                <a:ext cx="487680"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p:cNvSpPr txBox="1"/>
              <p:nvPr/>
            </p:nvSpPr>
            <p:spPr>
              <a:xfrm>
                <a:off x="1059442" y="1509965"/>
                <a:ext cx="487680" cy="369332"/>
              </a:xfrm>
              <a:prstGeom prst="rect">
                <a:avLst/>
              </a:prstGeom>
              <a:noFill/>
            </p:spPr>
            <p:txBody>
              <a:bodyPr wrap="square">
                <a:normAutofit fontScale="95000"/>
              </a:bodyPr>
              <a:lstStyle/>
              <a:p>
                <a:pPr>
                  <a:lnSpc>
                    <a:spcPct val="100000"/>
                  </a:lnSpc>
                </a:pPr>
                <a14:m>
                  <m:oMathPara xmlns:m="http://schemas.openxmlformats.org/officeDocument/2006/math">
                    <m:oMathParaPr>
                      <m:jc m:val="centerGroup"/>
                    </m:oMathParaPr>
                    <m:oMath xmlns:m="http://schemas.openxmlformats.org/officeDocument/2006/math">
                      <m:d>
                        <m:dPr>
                          <m:begChr m:val="|"/>
                          <m:endChr m:val="⟩"/>
                          <m:ctrlPr>
                            <a:rPr lang="zh-CN" altLang="en-US" i="1" smtClean="0">
                              <a:latin typeface="Cambria Math" panose="02040503050406030204" pitchFamily="18" charset="0"/>
                            </a:rPr>
                          </m:ctrlPr>
                        </m:dPr>
                        <m:e>
                          <m:r>
                            <a:rPr lang="en-US" altLang="zh-CN" b="0" i="0" smtClean="0">
                              <a:latin typeface="Cambria Math" panose="02040503050406030204" pitchFamily="18" charset="0"/>
                            </a:rPr>
                            <m:t>+</m:t>
                          </m:r>
                        </m:e>
                      </m:d>
                    </m:oMath>
                  </m:oMathPara>
                </a14:m>
                <a:endParaRPr lang="zh-CN" altLang="en-US" dirty="0"/>
              </a:p>
            </p:txBody>
          </p:sp>
        </mc:Choice>
        <mc:Fallback xmlns="">
          <p:sp>
            <p:nvSpPr>
              <p:cNvPr id="27" name="文本框 26"/>
              <p:cNvSpPr txBox="1">
                <a:spLocks noRot="1" noChangeAspect="1" noMove="1" noResize="1" noEditPoints="1" noAdjustHandles="1" noChangeArrowheads="1" noChangeShapeType="1" noTextEdit="1"/>
              </p:cNvSpPr>
              <p:nvPr/>
            </p:nvSpPr>
            <p:spPr>
              <a:xfrm>
                <a:off x="1059442" y="1509965"/>
                <a:ext cx="487680" cy="369332"/>
              </a:xfrm>
              <a:prstGeom prst="rect">
                <a:avLst/>
              </a:prstGeom>
              <a:blipFill>
                <a:blip r:embed="rId6"/>
                <a:stretch>
                  <a:fillRect/>
                </a:stretch>
              </a:blipFill>
            </p:spPr>
            <p:txBody>
              <a:bodyPr/>
              <a:lstStyle/>
              <a:p>
                <a:r>
                  <a:rPr lang="zh-CN" altLang="en-US">
                    <a:noFill/>
                  </a:rPr>
                  <a:t> </a:t>
                </a:r>
              </a:p>
            </p:txBody>
          </p:sp>
        </mc:Fallback>
      </mc:AlternateContent>
      <p:cxnSp>
        <p:nvCxnSpPr>
          <p:cNvPr id="33" name="直接连接符 32"/>
          <p:cNvCxnSpPr/>
          <p:nvPr/>
        </p:nvCxnSpPr>
        <p:spPr>
          <a:xfrm flipV="1">
            <a:off x="1684369" y="2642016"/>
            <a:ext cx="565597" cy="41148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881448" y="2960222"/>
            <a:ext cx="931654" cy="427810"/>
          </a:xfrm>
          <a:prstGeom prst="rect">
            <a:avLst/>
          </a:prstGeom>
          <a:solidFill>
            <a:schemeClr val="accent1">
              <a:alpha val="14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endParaRPr lang="zh-CN" altLang="en-US"/>
          </a:p>
        </p:txBody>
      </p:sp>
      <p:sp>
        <p:nvSpPr>
          <p:cNvPr id="36" name="文本框 35"/>
          <p:cNvSpPr txBox="1"/>
          <p:nvPr/>
        </p:nvSpPr>
        <p:spPr>
          <a:xfrm>
            <a:off x="857506" y="2614746"/>
            <a:ext cx="1109661" cy="369332"/>
          </a:xfrm>
          <a:prstGeom prst="rect">
            <a:avLst/>
          </a:prstGeom>
          <a:noFill/>
        </p:spPr>
        <p:txBody>
          <a:bodyPr wrap="square" rtlCol="0">
            <a:normAutofit fontScale="95000"/>
          </a:bodyPr>
          <a:lstStyle/>
          <a:p>
            <a:pPr>
              <a:lnSpc>
                <a:spcPct val="100000"/>
              </a:lnSpc>
            </a:pPr>
            <a:r>
              <a:rPr lang="en-US" altLang="zh-CN" dirty="0"/>
              <a:t>queried</a:t>
            </a:r>
            <a:endParaRPr lang="zh-CN" altLang="en-US" dirty="0"/>
          </a:p>
        </p:txBody>
      </p:sp>
      <p:sp>
        <p:nvSpPr>
          <p:cNvPr id="37" name="文本框 36"/>
          <p:cNvSpPr txBox="1"/>
          <p:nvPr/>
        </p:nvSpPr>
        <p:spPr>
          <a:xfrm>
            <a:off x="2915868" y="2642016"/>
            <a:ext cx="1455295" cy="369332"/>
          </a:xfrm>
          <a:prstGeom prst="rect">
            <a:avLst/>
          </a:prstGeom>
          <a:noFill/>
        </p:spPr>
        <p:txBody>
          <a:bodyPr wrap="square" rtlCol="0">
            <a:normAutofit fontScale="95000"/>
          </a:bodyPr>
          <a:lstStyle/>
          <a:p>
            <a:pPr>
              <a:lnSpc>
                <a:spcPct val="100000"/>
              </a:lnSpc>
            </a:pPr>
            <a:r>
              <a:rPr lang="en-US" altLang="zh-CN" dirty="0"/>
              <a:t>unqueried</a:t>
            </a:r>
            <a:endParaRPr lang="zh-CN" altLang="en-US" dirty="0"/>
          </a:p>
        </p:txBody>
      </p:sp>
      <p:sp>
        <p:nvSpPr>
          <p:cNvPr id="6" name="矩形 5"/>
          <p:cNvSpPr/>
          <p:nvPr/>
        </p:nvSpPr>
        <p:spPr>
          <a:xfrm>
            <a:off x="387761" y="4188851"/>
            <a:ext cx="7966803" cy="6779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b="1" dirty="0"/>
              <a:t>Mitigating errors on the queried branch improves fidelity more significantly.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1584960" y="993775"/>
            <a:ext cx="7160375" cy="358103"/>
          </a:xfrm>
        </p:spPr>
        <p:txBody>
          <a:bodyPr/>
          <a:lstStyle/>
          <a:p>
            <a:pPr>
              <a:lnSpc>
                <a:spcPct val="100000"/>
              </a:lnSpc>
            </a:pPr>
            <a:r>
              <a:rPr lang="zh-CN" altLang="en-US" dirty="0"/>
              <a:t>Error propagation and effective-data-ratio analyses show scalability.</a:t>
            </a:r>
          </a:p>
        </p:txBody>
      </p:sp>
      <p:sp>
        <p:nvSpPr>
          <p:cNvPr id="3" name="标题 2"/>
          <p:cNvSpPr>
            <a:spLocks noGrp="1"/>
          </p:cNvSpPr>
          <p:nvPr>
            <p:ph type="title"/>
          </p:nvPr>
        </p:nvSpPr>
        <p:spPr/>
        <p:txBody>
          <a:bodyPr>
            <a:normAutofit/>
          </a:bodyPr>
          <a:lstStyle/>
          <a:p>
            <a:pPr>
              <a:lnSpc>
                <a:spcPct val="100000"/>
              </a:lnSpc>
            </a:pPr>
            <a:r>
              <a:rPr lang="zh-CN" altLang="en-US" sz="1800" dirty="0">
                <a:latin typeface="+mn-lt"/>
              </a:rPr>
              <a:t>Error Mitigation Method</a:t>
            </a:r>
          </a:p>
        </p:txBody>
      </p:sp>
      <p:sp>
        <p:nvSpPr>
          <p:cNvPr id="4" name="文本占位符 3"/>
          <p:cNvSpPr>
            <a:spLocks noGrp="1"/>
          </p:cNvSpPr>
          <p:nvPr>
            <p:ph type="body" sz="quarter" idx="11"/>
          </p:nvPr>
        </p:nvSpPr>
        <p:spPr>
          <a:xfrm>
            <a:off x="249555" y="993775"/>
            <a:ext cx="1193800" cy="358775"/>
          </a:xfrm>
        </p:spPr>
        <p:txBody>
          <a:bodyPr/>
          <a:lstStyle/>
          <a:p>
            <a:pPr algn="ctr">
              <a:lnSpc>
                <a:spcPct val="100000"/>
              </a:lnSpc>
            </a:pPr>
            <a:r>
              <a:rPr lang="zh-CN" altLang="en-US" dirty="0"/>
              <a:t>Analysis</a:t>
            </a:r>
          </a:p>
        </p:txBody>
      </p:sp>
      <p:pic>
        <p:nvPicPr>
          <p:cNvPr id="8" name="图片 7"/>
          <p:cNvPicPr>
            <a:picLocks noChangeAspect="1"/>
          </p:cNvPicPr>
          <p:nvPr/>
        </p:nvPicPr>
        <p:blipFill>
          <a:blip r:embed="rId3"/>
          <a:stretch>
            <a:fillRect/>
          </a:stretch>
        </p:blipFill>
        <p:spPr>
          <a:xfrm>
            <a:off x="5646419" y="1438931"/>
            <a:ext cx="3201675" cy="3247885"/>
          </a:xfrm>
          <a:prstGeom prst="rect">
            <a:avLst/>
          </a:prstGeom>
        </p:spPr>
      </p:pic>
      <p:pic>
        <p:nvPicPr>
          <p:cNvPr id="12" name="图片 11"/>
          <p:cNvPicPr>
            <a:picLocks noChangeAspect="1"/>
          </p:cNvPicPr>
          <p:nvPr/>
        </p:nvPicPr>
        <p:blipFill>
          <a:blip r:embed="rId4"/>
          <a:stretch>
            <a:fillRect/>
          </a:stretch>
        </p:blipFill>
        <p:spPr>
          <a:xfrm>
            <a:off x="221232" y="1438931"/>
            <a:ext cx="5362704" cy="313043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Rounded Rectangle 14"/>
          <p:cNvSpPr/>
          <p:nvPr/>
        </p:nvSpPr>
        <p:spPr>
          <a:xfrm>
            <a:off x="313662" y="2150654"/>
            <a:ext cx="1948488" cy="2496134"/>
          </a:xfrm>
          <a:prstGeom prst="roundRect">
            <a:avLst>
              <a:gd name="adj" fmla="val 2965"/>
            </a:avLst>
          </a:prstGeom>
          <a:solidFill>
            <a:schemeClr val="accent2">
              <a:alpha val="8000"/>
            </a:schemeClr>
          </a:solidFill>
          <a:ln w="1270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normAutofit fontScale="95000"/>
          </a:bodyPr>
          <a:lstStyle/>
          <a:p>
            <a:pPr algn="ctr">
              <a:lnSpc>
                <a:spcPct val="100000"/>
              </a:lnSpc>
            </a:pPr>
            <a:endParaRPr sz="1350"/>
          </a:p>
        </p:txBody>
      </p:sp>
      <p:cxnSp>
        <p:nvCxnSpPr>
          <p:cNvPr id="33" name="直接连接符 32"/>
          <p:cNvCxnSpPr/>
          <p:nvPr/>
        </p:nvCxnSpPr>
        <p:spPr>
          <a:xfrm>
            <a:off x="416921" y="2432489"/>
            <a:ext cx="16856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416921" y="2701729"/>
            <a:ext cx="16856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416921" y="2970969"/>
            <a:ext cx="1685636"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文本占位符 2"/>
          <p:cNvSpPr>
            <a:spLocks noGrp="1"/>
          </p:cNvSpPr>
          <p:nvPr>
            <p:ph type="body" sz="quarter" idx="10"/>
          </p:nvPr>
        </p:nvSpPr>
        <p:spPr>
          <a:xfrm>
            <a:off x="1984375" y="1005009"/>
            <a:ext cx="6683375" cy="358103"/>
          </a:xfrm>
        </p:spPr>
        <p:txBody>
          <a:bodyPr/>
          <a:lstStyle/>
          <a:p>
            <a:pPr>
              <a:lnSpc>
                <a:spcPct val="100000"/>
              </a:lnSpc>
            </a:pPr>
            <a:r>
              <a:rPr lang="zh-CN" altLang="en-US" dirty="0"/>
              <a:t>Scalable, high-fidelity consecutive QRAM queries</a:t>
            </a:r>
          </a:p>
        </p:txBody>
      </p:sp>
      <p:sp>
        <p:nvSpPr>
          <p:cNvPr id="2" name="标题 1"/>
          <p:cNvSpPr>
            <a:spLocks noGrp="1"/>
          </p:cNvSpPr>
          <p:nvPr>
            <p:ph type="title"/>
          </p:nvPr>
        </p:nvSpPr>
        <p:spPr/>
        <p:txBody>
          <a:bodyPr>
            <a:normAutofit/>
          </a:bodyPr>
          <a:lstStyle/>
          <a:p>
            <a:pPr>
              <a:lnSpc>
                <a:spcPct val="100000"/>
              </a:lnSpc>
            </a:pPr>
            <a:r>
              <a:rPr lang="zh-CN" altLang="en-US" sz="1800" dirty="0">
                <a:latin typeface="+mn-lt"/>
              </a:rPr>
              <a:t>Error Mitigation Method</a:t>
            </a:r>
          </a:p>
        </p:txBody>
      </p:sp>
      <p:sp>
        <p:nvSpPr>
          <p:cNvPr id="4" name="文本占位符 3"/>
          <p:cNvSpPr>
            <a:spLocks noGrp="1"/>
          </p:cNvSpPr>
          <p:nvPr>
            <p:ph type="body" sz="quarter" idx="11"/>
          </p:nvPr>
        </p:nvSpPr>
        <p:spPr>
          <a:xfrm>
            <a:off x="238125" y="993775"/>
            <a:ext cx="1195070" cy="358775"/>
          </a:xfrm>
        </p:spPr>
        <p:txBody>
          <a:bodyPr/>
          <a:lstStyle/>
          <a:p>
            <a:pPr algn="ctr">
              <a:lnSpc>
                <a:spcPct val="100000"/>
              </a:lnSpc>
            </a:pPr>
            <a:r>
              <a:rPr lang="zh-CN" altLang="en-US" dirty="0"/>
              <a:t>Results</a:t>
            </a:r>
          </a:p>
        </p:txBody>
      </p:sp>
      <p:pic>
        <p:nvPicPr>
          <p:cNvPr id="6" name="图片 5"/>
          <p:cNvPicPr>
            <a:picLocks noChangeAspect="1"/>
          </p:cNvPicPr>
          <p:nvPr/>
        </p:nvPicPr>
        <p:blipFill rotWithShape="1">
          <a:blip r:embed="rId3"/>
          <a:srcRect l="3798" t="4647" r="2695" b="5100"/>
          <a:stretch>
            <a:fillRect/>
          </a:stretch>
        </p:blipFill>
        <p:spPr>
          <a:xfrm>
            <a:off x="2526055" y="2010793"/>
            <a:ext cx="6413412" cy="2635995"/>
          </a:xfrm>
          <a:prstGeom prst="rect">
            <a:avLst/>
          </a:prstGeom>
        </p:spPr>
      </p:pic>
      <p:sp>
        <p:nvSpPr>
          <p:cNvPr id="11" name="矩形 10"/>
          <p:cNvSpPr/>
          <p:nvPr/>
        </p:nvSpPr>
        <p:spPr>
          <a:xfrm>
            <a:off x="3158987" y="2219314"/>
            <a:ext cx="2212848" cy="310901"/>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normAutofit fontScale="87500" lnSpcReduction="10000"/>
          </a:bodyPr>
          <a:lstStyle/>
          <a:p>
            <a:pPr algn="ctr">
              <a:lnSpc>
                <a:spcPct val="100000"/>
              </a:lnSpc>
            </a:pPr>
            <a:endParaRPr lang="zh-CN" altLang="en-US"/>
          </a:p>
        </p:txBody>
      </p:sp>
      <p:sp>
        <p:nvSpPr>
          <p:cNvPr id="13" name="矩形 12"/>
          <p:cNvSpPr/>
          <p:nvPr/>
        </p:nvSpPr>
        <p:spPr>
          <a:xfrm>
            <a:off x="2469297" y="1492971"/>
            <a:ext cx="3077429" cy="44071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b="1" dirty="0"/>
              <a:t>Fidelity remains stable over multiple query rounds.</a:t>
            </a:r>
          </a:p>
        </p:txBody>
      </p:sp>
      <p:sp>
        <p:nvSpPr>
          <p:cNvPr id="14" name="矩形 13"/>
          <p:cNvSpPr/>
          <p:nvPr/>
        </p:nvSpPr>
        <p:spPr>
          <a:xfrm>
            <a:off x="5932171" y="1492971"/>
            <a:ext cx="2952524" cy="44071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b="1" dirty="0"/>
              <a:t>Effective data ratio decreases logarithmically.</a:t>
            </a:r>
          </a:p>
        </p:txBody>
      </p:sp>
      <p:sp>
        <p:nvSpPr>
          <p:cNvPr id="15" name="矩形 14"/>
          <p:cNvSpPr/>
          <p:nvPr/>
        </p:nvSpPr>
        <p:spPr>
          <a:xfrm>
            <a:off x="2474595" y="2011045"/>
            <a:ext cx="300355" cy="19456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00000"/>
              </a:lnSpc>
            </a:pPr>
            <a:endParaRPr lang="zh-CN" altLang="en-US"/>
          </a:p>
        </p:txBody>
      </p:sp>
      <p:sp>
        <p:nvSpPr>
          <p:cNvPr id="12" name="文本框 11"/>
          <p:cNvSpPr txBox="1"/>
          <p:nvPr/>
        </p:nvSpPr>
        <p:spPr>
          <a:xfrm rot="16200000">
            <a:off x="1938020" y="2969260"/>
            <a:ext cx="1374140" cy="300990"/>
          </a:xfrm>
          <a:prstGeom prst="rect">
            <a:avLst/>
          </a:prstGeom>
          <a:solidFill>
            <a:schemeClr val="bg1"/>
          </a:solidFill>
          <a:ln>
            <a:solidFill>
              <a:schemeClr val="bg1"/>
            </a:solidFill>
          </a:ln>
        </p:spPr>
        <p:txBody>
          <a:bodyPr wrap="square" rtlCol="0"/>
          <a:lstStyle/>
          <a:p>
            <a:pPr algn="ctr">
              <a:lnSpc>
                <a:spcPct val="100000"/>
              </a:lnSpc>
            </a:pPr>
            <a:r>
              <a:rPr lang="zh-CN" altLang="en-US" sz="1600" dirty="0"/>
              <a:t>Accuracy</a:t>
            </a:r>
          </a:p>
        </p:txBody>
      </p:sp>
      <p:grpSp>
        <p:nvGrpSpPr>
          <p:cNvPr id="18" name="组合 17"/>
          <p:cNvGrpSpPr/>
          <p:nvPr/>
        </p:nvGrpSpPr>
        <p:grpSpPr>
          <a:xfrm>
            <a:off x="3486067" y="4391339"/>
            <a:ext cx="1574252" cy="369333"/>
            <a:chOff x="430832" y="2422960"/>
            <a:chExt cx="295132" cy="369333"/>
          </a:xfrm>
        </p:grpSpPr>
        <p:sp>
          <p:nvSpPr>
            <p:cNvPr id="19" name="矩形 18"/>
            <p:cNvSpPr/>
            <p:nvPr/>
          </p:nvSpPr>
          <p:spPr>
            <a:xfrm>
              <a:off x="440134" y="2422961"/>
              <a:ext cx="285830" cy="369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00000"/>
                </a:lnSpc>
              </a:pPr>
              <a:endParaRPr lang="zh-CN" altLang="en-US" sz="1600"/>
            </a:p>
          </p:txBody>
        </p:sp>
        <p:sp>
          <p:nvSpPr>
            <p:cNvPr id="20" name="文本框 19"/>
            <p:cNvSpPr txBox="1"/>
            <p:nvPr/>
          </p:nvSpPr>
          <p:spPr>
            <a:xfrm>
              <a:off x="430832" y="2422960"/>
              <a:ext cx="295132" cy="369332"/>
            </a:xfrm>
            <a:prstGeom prst="rect">
              <a:avLst/>
            </a:prstGeom>
            <a:solidFill>
              <a:schemeClr val="bg1"/>
            </a:solidFill>
            <a:ln>
              <a:solidFill>
                <a:schemeClr val="bg1"/>
              </a:solidFill>
            </a:ln>
          </p:spPr>
          <p:txBody>
            <a:bodyPr wrap="square" rtlCol="0">
              <a:normAutofit/>
            </a:bodyPr>
            <a:lstStyle/>
            <a:p>
              <a:pPr>
                <a:lnSpc>
                  <a:spcPct val="100000"/>
                </a:lnSpc>
              </a:pPr>
              <a:r>
                <a:rPr lang="zh-CN" altLang="en-US" dirty="0"/>
                <a:t>Query rounds</a:t>
              </a:r>
            </a:p>
          </p:txBody>
        </p:sp>
      </p:grpSp>
      <p:grpSp>
        <p:nvGrpSpPr>
          <p:cNvPr id="21" name="组合 20"/>
          <p:cNvGrpSpPr/>
          <p:nvPr/>
        </p:nvGrpSpPr>
        <p:grpSpPr>
          <a:xfrm>
            <a:off x="6939832" y="4402701"/>
            <a:ext cx="1574252" cy="369333"/>
            <a:chOff x="430832" y="2422960"/>
            <a:chExt cx="295132" cy="369333"/>
          </a:xfrm>
        </p:grpSpPr>
        <p:sp>
          <p:nvSpPr>
            <p:cNvPr id="23" name="矩形 22"/>
            <p:cNvSpPr/>
            <p:nvPr/>
          </p:nvSpPr>
          <p:spPr>
            <a:xfrm>
              <a:off x="440134" y="2422961"/>
              <a:ext cx="285830" cy="369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00000"/>
                </a:lnSpc>
              </a:pPr>
              <a:endParaRPr lang="zh-CN" altLang="en-US" sz="1600"/>
            </a:p>
          </p:txBody>
        </p:sp>
        <p:sp>
          <p:nvSpPr>
            <p:cNvPr id="24" name="文本框 23"/>
            <p:cNvSpPr txBox="1"/>
            <p:nvPr/>
          </p:nvSpPr>
          <p:spPr>
            <a:xfrm>
              <a:off x="430832" y="2422960"/>
              <a:ext cx="295132" cy="369332"/>
            </a:xfrm>
            <a:prstGeom prst="rect">
              <a:avLst/>
            </a:prstGeom>
            <a:solidFill>
              <a:schemeClr val="bg1"/>
            </a:solidFill>
            <a:ln>
              <a:solidFill>
                <a:schemeClr val="bg1"/>
              </a:solidFill>
            </a:ln>
          </p:spPr>
          <p:txBody>
            <a:bodyPr wrap="square" rtlCol="0">
              <a:normAutofit/>
            </a:bodyPr>
            <a:lstStyle/>
            <a:p>
              <a:pPr>
                <a:lnSpc>
                  <a:spcPct val="100000"/>
                </a:lnSpc>
              </a:pPr>
              <a:r>
                <a:rPr lang="zh-CN" altLang="en-US" dirty="0"/>
                <a:t>Query rounds</a:t>
              </a:r>
            </a:p>
          </p:txBody>
        </p:sp>
      </p:grpSp>
      <p:sp>
        <p:nvSpPr>
          <p:cNvPr id="26" name="矩形 25"/>
          <p:cNvSpPr/>
          <p:nvPr/>
        </p:nvSpPr>
        <p:spPr>
          <a:xfrm>
            <a:off x="5932170" y="2029460"/>
            <a:ext cx="340360" cy="20662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endParaRPr lang="zh-CN" altLang="en-US"/>
          </a:p>
        </p:txBody>
      </p:sp>
      <p:sp>
        <p:nvSpPr>
          <p:cNvPr id="27" name="文本框 26"/>
          <p:cNvSpPr txBox="1"/>
          <p:nvPr/>
        </p:nvSpPr>
        <p:spPr>
          <a:xfrm rot="16200000">
            <a:off x="5424805" y="3017520"/>
            <a:ext cx="1401445" cy="294640"/>
          </a:xfrm>
          <a:prstGeom prst="rect">
            <a:avLst/>
          </a:prstGeom>
          <a:solidFill>
            <a:schemeClr val="bg1"/>
          </a:solidFill>
          <a:ln>
            <a:solidFill>
              <a:schemeClr val="bg1"/>
            </a:solidFill>
          </a:ln>
        </p:spPr>
        <p:txBody>
          <a:bodyPr wrap="square" rtlCol="0"/>
          <a:lstStyle/>
          <a:p>
            <a:pPr>
              <a:lnSpc>
                <a:spcPct val="100000"/>
              </a:lnSpc>
            </a:pPr>
            <a:r>
              <a:rPr lang="zh-CN" altLang="en-US" sz="1600" dirty="0"/>
              <a:t>Effective ratio</a:t>
            </a:r>
          </a:p>
        </p:txBody>
      </p:sp>
      <p:cxnSp>
        <p:nvCxnSpPr>
          <p:cNvPr id="50" name="直接箭头连接符 49"/>
          <p:cNvCxnSpPr/>
          <p:nvPr/>
        </p:nvCxnSpPr>
        <p:spPr>
          <a:xfrm>
            <a:off x="536817" y="3865262"/>
            <a:ext cx="150139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a:xfrm>
            <a:off x="466831" y="3906787"/>
            <a:ext cx="1609476" cy="369332"/>
          </a:xfrm>
          <a:prstGeom prst="rect">
            <a:avLst/>
          </a:prstGeom>
          <a:noFill/>
        </p:spPr>
        <p:txBody>
          <a:bodyPr wrap="square" rtlCol="0"/>
          <a:lstStyle/>
          <a:p>
            <a:pPr algn="ctr">
              <a:lnSpc>
                <a:spcPct val="100000"/>
              </a:lnSpc>
            </a:pPr>
            <a:r>
              <a:rPr lang="zh-CN" altLang="en-US" dirty="0"/>
              <a:t>Consecutive queries</a:t>
            </a:r>
          </a:p>
        </p:txBody>
      </p:sp>
      <p:sp>
        <p:nvSpPr>
          <p:cNvPr id="52" name="矩形 51"/>
          <p:cNvSpPr/>
          <p:nvPr/>
        </p:nvSpPr>
        <p:spPr>
          <a:xfrm>
            <a:off x="280988" y="1495508"/>
            <a:ext cx="1981162" cy="4407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b="1" dirty="0">
                <a:cs typeface="+mn-ea"/>
                <a:sym typeface="+mn-lt"/>
              </a:rPr>
              <a:t>Experimental Setup</a:t>
            </a:r>
          </a:p>
        </p:txBody>
      </p:sp>
      <p:sp>
        <p:nvSpPr>
          <p:cNvPr id="54" name="文本框 53"/>
          <p:cNvSpPr txBox="1"/>
          <p:nvPr/>
        </p:nvSpPr>
        <p:spPr>
          <a:xfrm>
            <a:off x="1332206" y="3106635"/>
            <a:ext cx="447635" cy="369332"/>
          </a:xfrm>
          <a:prstGeom prst="rect">
            <a:avLst/>
          </a:prstGeom>
          <a:noFill/>
        </p:spPr>
        <p:txBody>
          <a:bodyPr wrap="square" rtlCol="0">
            <a:normAutofit fontScale="95000"/>
          </a:bodyPr>
          <a:lstStyle/>
          <a:p>
            <a:pPr>
              <a:lnSpc>
                <a:spcPct val="100000"/>
              </a:lnSpc>
            </a:pPr>
            <a:r>
              <a:rPr lang="en-US" altLang="zh-CN" dirty="0"/>
              <a:t>…</a:t>
            </a:r>
            <a:endParaRPr lang="zh-CN" altLang="en-US" dirty="0"/>
          </a:p>
        </p:txBody>
      </p:sp>
      <p:sp>
        <p:nvSpPr>
          <p:cNvPr id="5" name="矩形 4"/>
          <p:cNvSpPr/>
          <p:nvPr/>
        </p:nvSpPr>
        <p:spPr>
          <a:xfrm>
            <a:off x="536817" y="2301113"/>
            <a:ext cx="345873" cy="139123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00000"/>
              </a:lnSpc>
            </a:pPr>
            <a:r>
              <a:rPr lang="en-US" altLang="zh-CN" dirty="0">
                <a:solidFill>
                  <a:schemeClr val="accent2"/>
                </a:solidFill>
              </a:rPr>
              <a:t>QRAM</a:t>
            </a:r>
            <a:endParaRPr lang="zh-CN" altLang="en-US" dirty="0">
              <a:solidFill>
                <a:schemeClr val="accent2"/>
              </a:solidFill>
            </a:endParaRPr>
          </a:p>
        </p:txBody>
      </p:sp>
      <p:sp>
        <p:nvSpPr>
          <p:cNvPr id="7" name="矩形 6"/>
          <p:cNvSpPr/>
          <p:nvPr/>
        </p:nvSpPr>
        <p:spPr>
          <a:xfrm>
            <a:off x="987032" y="2301113"/>
            <a:ext cx="345873" cy="139123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00000"/>
              </a:lnSpc>
            </a:pPr>
            <a:r>
              <a:rPr lang="en-US" altLang="zh-CN" dirty="0">
                <a:solidFill>
                  <a:schemeClr val="accent2"/>
                </a:solidFill>
              </a:rPr>
              <a:t>QRAM</a:t>
            </a:r>
            <a:endParaRPr lang="zh-CN" altLang="en-US" dirty="0">
              <a:solidFill>
                <a:schemeClr val="accent2"/>
              </a:solidFill>
            </a:endParaRPr>
          </a:p>
        </p:txBody>
      </p:sp>
      <p:sp>
        <p:nvSpPr>
          <p:cNvPr id="8" name="矩形 7"/>
          <p:cNvSpPr/>
          <p:nvPr/>
        </p:nvSpPr>
        <p:spPr>
          <a:xfrm>
            <a:off x="1693152" y="2301113"/>
            <a:ext cx="345873" cy="139123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00000"/>
              </a:lnSpc>
            </a:pPr>
            <a:r>
              <a:rPr lang="en-US" altLang="zh-CN" dirty="0">
                <a:solidFill>
                  <a:schemeClr val="accent2"/>
                </a:solidFill>
              </a:rPr>
              <a:t>QRAM</a:t>
            </a:r>
            <a:endParaRPr lang="zh-CN" altLang="en-US" dirty="0">
              <a:solidFill>
                <a:schemeClr val="accent2"/>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组合 78"/>
          <p:cNvGrpSpPr/>
          <p:nvPr/>
        </p:nvGrpSpPr>
        <p:grpSpPr>
          <a:xfrm>
            <a:off x="258837" y="1812519"/>
            <a:ext cx="2543887" cy="1660742"/>
            <a:chOff x="255151" y="1920484"/>
            <a:chExt cx="1875668" cy="1224504"/>
          </a:xfrm>
        </p:grpSpPr>
        <p:pic>
          <p:nvPicPr>
            <p:cNvPr id="69" name="图片 68"/>
            <p:cNvPicPr>
              <a:picLocks noChangeAspect="1"/>
            </p:cNvPicPr>
            <p:nvPr/>
          </p:nvPicPr>
          <p:blipFill>
            <a:blip r:embed="rId3"/>
            <a:stretch>
              <a:fillRect/>
            </a:stretch>
          </p:blipFill>
          <p:spPr>
            <a:xfrm>
              <a:off x="389113" y="2008637"/>
              <a:ext cx="1391141" cy="1008591"/>
            </a:xfrm>
            <a:prstGeom prst="rect">
              <a:avLst/>
            </a:prstGeom>
          </p:spPr>
        </p:pic>
        <p:sp>
          <p:nvSpPr>
            <p:cNvPr id="72" name="文本框 71"/>
            <p:cNvSpPr txBox="1"/>
            <p:nvPr/>
          </p:nvSpPr>
          <p:spPr>
            <a:xfrm>
              <a:off x="596924" y="2052314"/>
              <a:ext cx="1533895" cy="260637"/>
            </a:xfrm>
            <a:prstGeom prst="rect">
              <a:avLst/>
            </a:prstGeom>
            <a:solidFill>
              <a:schemeClr val="bg1">
                <a:alpha val="17000"/>
              </a:schemeClr>
            </a:solidFill>
          </p:spPr>
          <p:txBody>
            <a:bodyPr wrap="square" rtlCol="0">
              <a:noAutofit/>
            </a:bodyPr>
            <a:lstStyle/>
            <a:p>
              <a:pPr>
                <a:lnSpc>
                  <a:spcPct val="100000"/>
                </a:lnSpc>
              </a:pPr>
              <a:r>
                <a:rPr kumimoji="1" lang="zh-CN" altLang="en-US" sz="1400" dirty="0"/>
                <a:t>Traditional routing strategy</a:t>
              </a:r>
            </a:p>
          </p:txBody>
        </p:sp>
        <p:sp>
          <p:nvSpPr>
            <p:cNvPr id="73" name="文本框 72"/>
            <p:cNvSpPr txBox="1"/>
            <p:nvPr/>
          </p:nvSpPr>
          <p:spPr>
            <a:xfrm rot="16200000">
              <a:off x="-174578" y="2350213"/>
              <a:ext cx="1086390" cy="226931"/>
            </a:xfrm>
            <a:prstGeom prst="rect">
              <a:avLst/>
            </a:prstGeom>
            <a:solidFill>
              <a:schemeClr val="bg1"/>
            </a:solidFill>
          </p:spPr>
          <p:txBody>
            <a:bodyPr wrap="square" rtlCol="0">
              <a:normAutofit fontScale="72500" lnSpcReduction="20000"/>
            </a:bodyPr>
            <a:lstStyle/>
            <a:p>
              <a:pPr>
                <a:lnSpc>
                  <a:spcPct val="100000"/>
                </a:lnSpc>
              </a:pPr>
              <a:r>
                <a:rPr kumimoji="1" lang="zh-CN" altLang="en-US" sz="1600" dirty="0"/>
                <a:t>Circuit depth (1000)</a:t>
              </a:r>
            </a:p>
          </p:txBody>
        </p:sp>
        <p:sp>
          <p:nvSpPr>
            <p:cNvPr id="74" name="文本框 73"/>
            <p:cNvSpPr txBox="1"/>
            <p:nvPr/>
          </p:nvSpPr>
          <p:spPr>
            <a:xfrm>
              <a:off x="714540" y="2918057"/>
              <a:ext cx="936801" cy="226931"/>
            </a:xfrm>
            <a:prstGeom prst="rect">
              <a:avLst/>
            </a:prstGeom>
            <a:solidFill>
              <a:schemeClr val="bg1"/>
            </a:solidFill>
          </p:spPr>
          <p:txBody>
            <a:bodyPr wrap="square" rtlCol="0">
              <a:normAutofit fontScale="87500"/>
            </a:bodyPr>
            <a:lstStyle/>
            <a:p>
              <a:pPr>
                <a:lnSpc>
                  <a:spcPct val="100000"/>
                </a:lnSpc>
              </a:pPr>
              <a:r>
                <a:rPr kumimoji="1" lang="en-US" altLang="zh-CN" sz="1600" dirty="0"/>
                <a:t>QRAM Layers</a:t>
              </a:r>
              <a:endParaRPr kumimoji="1" lang="zh-CN" altLang="en-US" sz="1600" dirty="0"/>
            </a:p>
          </p:txBody>
        </p:sp>
        <p:sp>
          <p:nvSpPr>
            <p:cNvPr id="76" name="文本框 75"/>
            <p:cNvSpPr txBox="1"/>
            <p:nvPr/>
          </p:nvSpPr>
          <p:spPr>
            <a:xfrm>
              <a:off x="619429" y="2250545"/>
              <a:ext cx="904860" cy="226931"/>
            </a:xfrm>
            <a:prstGeom prst="rect">
              <a:avLst/>
            </a:prstGeom>
            <a:solidFill>
              <a:schemeClr val="bg1"/>
            </a:solidFill>
          </p:spPr>
          <p:txBody>
            <a:bodyPr wrap="square" rtlCol="0">
              <a:normAutofit fontScale="95000" lnSpcReduction="10000"/>
            </a:bodyPr>
            <a:lstStyle/>
            <a:p>
              <a:pPr>
                <a:lnSpc>
                  <a:spcPct val="100000"/>
                </a:lnSpc>
              </a:pPr>
              <a:endParaRPr kumimoji="1" lang="zh-CN" altLang="en-US" sz="1600" dirty="0"/>
            </a:p>
          </p:txBody>
        </p:sp>
        <p:sp>
          <p:nvSpPr>
            <p:cNvPr id="77" name="文本框 76"/>
            <p:cNvSpPr txBox="1"/>
            <p:nvPr/>
          </p:nvSpPr>
          <p:spPr>
            <a:xfrm>
              <a:off x="596925" y="2347216"/>
              <a:ext cx="1310422" cy="443081"/>
            </a:xfrm>
            <a:prstGeom prst="rect">
              <a:avLst/>
            </a:prstGeom>
            <a:solidFill>
              <a:schemeClr val="bg1">
                <a:alpha val="17000"/>
              </a:schemeClr>
            </a:solidFill>
          </p:spPr>
          <p:txBody>
            <a:bodyPr wrap="square" rtlCol="0">
              <a:normAutofit fontScale="95000"/>
            </a:bodyPr>
            <a:lstStyle/>
            <a:p>
              <a:pPr>
                <a:lnSpc>
                  <a:spcPct val="100000"/>
                </a:lnSpc>
              </a:pPr>
              <a:r>
                <a:rPr kumimoji="1" lang="zh-CN" altLang="en-US" sz="1400" dirty="0"/>
                <a:t>Circuit depth grows exponentially</a:t>
              </a:r>
            </a:p>
          </p:txBody>
        </p:sp>
      </p:grpSp>
      <p:sp>
        <p:nvSpPr>
          <p:cNvPr id="34" name="文本占位符 33"/>
          <p:cNvSpPr>
            <a:spLocks noGrp="1"/>
          </p:cNvSpPr>
          <p:nvPr>
            <p:ph type="body" sz="quarter" idx="10"/>
          </p:nvPr>
        </p:nvSpPr>
        <p:spPr>
          <a:xfrm>
            <a:off x="1383896" y="920518"/>
            <a:ext cx="7531677" cy="393913"/>
          </a:xfrm>
        </p:spPr>
        <p:txBody>
          <a:bodyPr/>
          <a:lstStyle/>
          <a:p>
            <a:pPr>
              <a:lnSpc>
                <a:spcPct val="100000"/>
              </a:lnSpc>
            </a:pPr>
            <a:r>
              <a:rPr lang="zh-CN" altLang="en-US" sz="1600" dirty="0"/>
              <a:t>First QRAM implementation on superconducting hardware, with noise-mechanism analysis.</a:t>
            </a:r>
          </a:p>
        </p:txBody>
      </p:sp>
      <p:sp>
        <p:nvSpPr>
          <p:cNvPr id="5" name="标题 4"/>
          <p:cNvSpPr>
            <a:spLocks noGrp="1"/>
          </p:cNvSpPr>
          <p:nvPr>
            <p:ph type="title"/>
          </p:nvPr>
        </p:nvSpPr>
        <p:spPr/>
        <p:txBody>
          <a:bodyPr>
            <a:normAutofit/>
          </a:bodyPr>
          <a:lstStyle/>
          <a:p>
            <a:pPr>
              <a:lnSpc>
                <a:spcPct val="100000"/>
              </a:lnSpc>
            </a:pPr>
            <a:r>
              <a:rPr lang="zh-CN" altLang="en-US" sz="1800" dirty="0">
                <a:latin typeface="+mn-lt"/>
              </a:rPr>
              <a:t>Summary</a:t>
            </a:r>
            <a:endParaRPr lang="zh-CN" altLang="en-US" sz="1600" dirty="0">
              <a:latin typeface="+mn-lt"/>
            </a:endParaRPr>
          </a:p>
        </p:txBody>
      </p:sp>
      <p:sp>
        <p:nvSpPr>
          <p:cNvPr id="35" name="文本占位符 34"/>
          <p:cNvSpPr>
            <a:spLocks noGrp="1"/>
          </p:cNvSpPr>
          <p:nvPr>
            <p:ph type="body" sz="quarter" idx="11"/>
          </p:nvPr>
        </p:nvSpPr>
        <p:spPr>
          <a:xfrm>
            <a:off x="167640" y="856813"/>
            <a:ext cx="1445029" cy="671173"/>
          </a:xfrm>
        </p:spPr>
        <p:txBody>
          <a:bodyPr/>
          <a:lstStyle/>
          <a:p>
            <a:pPr algn="ctr">
              <a:lnSpc>
                <a:spcPct val="100000"/>
              </a:lnSpc>
            </a:pPr>
            <a:r>
              <a:rPr lang="zh-CN" altLang="en-US" sz="1600" dirty="0"/>
              <a:t>Main Contributions</a:t>
            </a:r>
          </a:p>
        </p:txBody>
      </p:sp>
      <p:sp>
        <p:nvSpPr>
          <p:cNvPr id="66" name="矩形 65"/>
          <p:cNvSpPr/>
          <p:nvPr/>
        </p:nvSpPr>
        <p:spPr>
          <a:xfrm>
            <a:off x="280494" y="1466902"/>
            <a:ext cx="2148381" cy="36449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r>
              <a:rPr lang="zh-CN" altLang="en-US" sz="1600" b="1" dirty="0">
                <a:ea typeface="微软雅黑" panose="020B0503020204020204" pitchFamily="34" charset="-122"/>
                <a:cs typeface="微软雅黑" panose="020B0503020204020204" pitchFamily="34" charset="-122"/>
              </a:rPr>
              <a:t>Key Issue</a:t>
            </a:r>
          </a:p>
        </p:txBody>
      </p:sp>
      <p:sp>
        <p:nvSpPr>
          <p:cNvPr id="67" name="矩形 66"/>
          <p:cNvSpPr/>
          <p:nvPr/>
        </p:nvSpPr>
        <p:spPr>
          <a:xfrm>
            <a:off x="2756185" y="1466902"/>
            <a:ext cx="6107321" cy="36449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r>
              <a:rPr lang="zh-CN" altLang="en-US" sz="1600" b="1" dirty="0">
                <a:ea typeface="微软雅黑" panose="020B0503020204020204" pitchFamily="34" charset="-122"/>
                <a:cs typeface="微软雅黑" panose="020B0503020204020204" pitchFamily="34" charset="-122"/>
              </a:rPr>
              <a:t>Technical Solution</a:t>
            </a:r>
          </a:p>
        </p:txBody>
      </p:sp>
      <p:pic>
        <p:nvPicPr>
          <p:cNvPr id="71" name="Picture 14" descr="Flag fault-tolerant error correction with arbitrary distance codes – Quant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614" y="3507459"/>
            <a:ext cx="1750424" cy="875212"/>
          </a:xfrm>
          <a:prstGeom prst="rect">
            <a:avLst/>
          </a:prstGeom>
          <a:noFill/>
          <a:extLst>
            <a:ext uri="{909E8E84-426E-40DD-AFC4-6F175D3DCCD1}">
              <a14:hiddenFill xmlns:a14="http://schemas.microsoft.com/office/drawing/2010/main">
                <a:solidFill>
                  <a:srgbClr val="FFFFFF"/>
                </a:solidFill>
              </a14:hiddenFill>
            </a:ext>
          </a:extLst>
        </p:spPr>
      </p:pic>
      <p:sp>
        <p:nvSpPr>
          <p:cNvPr id="78" name="文本框 77"/>
          <p:cNvSpPr txBox="1"/>
          <p:nvPr/>
        </p:nvSpPr>
        <p:spPr>
          <a:xfrm>
            <a:off x="167640" y="4417060"/>
            <a:ext cx="2665095" cy="338455"/>
          </a:xfrm>
          <a:prstGeom prst="rect">
            <a:avLst/>
          </a:prstGeom>
          <a:noFill/>
        </p:spPr>
        <p:txBody>
          <a:bodyPr wrap="square" rtlCol="0"/>
          <a:lstStyle/>
          <a:p>
            <a:pPr>
              <a:lnSpc>
                <a:spcPct val="100000"/>
              </a:lnSpc>
            </a:pPr>
            <a:r>
              <a:rPr kumimoji="1" lang="zh-CN" altLang="en-US" sz="1600" dirty="0"/>
              <a:t>Noise disrupts addressing results</a:t>
            </a:r>
          </a:p>
        </p:txBody>
      </p:sp>
      <p:sp>
        <p:nvSpPr>
          <p:cNvPr id="80" name="矩形 79"/>
          <p:cNvSpPr/>
          <p:nvPr/>
        </p:nvSpPr>
        <p:spPr>
          <a:xfrm>
            <a:off x="2812568" y="2292756"/>
            <a:ext cx="1261242" cy="668405"/>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dirty="0">
                <a:solidFill>
                  <a:schemeClr val="tx1"/>
                </a:solidFill>
              </a:rPr>
              <a:t>Exponential depth</a:t>
            </a:r>
          </a:p>
        </p:txBody>
      </p:sp>
      <p:cxnSp>
        <p:nvCxnSpPr>
          <p:cNvPr id="82" name="直接箭头连接符 81"/>
          <p:cNvCxnSpPr>
            <a:stCxn id="80" idx="3"/>
            <a:endCxn id="83" idx="1"/>
          </p:cNvCxnSpPr>
          <p:nvPr/>
        </p:nvCxnSpPr>
        <p:spPr>
          <a:xfrm>
            <a:off x="4073810" y="2626959"/>
            <a:ext cx="99638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83" name="矩形 82"/>
          <p:cNvSpPr/>
          <p:nvPr/>
        </p:nvSpPr>
        <p:spPr>
          <a:xfrm>
            <a:off x="5070192" y="2292756"/>
            <a:ext cx="1261242" cy="668405"/>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r>
              <a:rPr lang="zh-CN" altLang="en-US" sz="1600" dirty="0">
                <a:solidFill>
                  <a:schemeClr val="tx1"/>
                </a:solidFill>
              </a:rPr>
              <a:t>Linear depth</a:t>
            </a:r>
          </a:p>
        </p:txBody>
      </p:sp>
      <p:sp>
        <p:nvSpPr>
          <p:cNvPr id="84" name="矩形 83"/>
          <p:cNvSpPr/>
          <p:nvPr/>
        </p:nvSpPr>
        <p:spPr>
          <a:xfrm>
            <a:off x="7274338" y="2259335"/>
            <a:ext cx="1589168" cy="735246"/>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lnSpcReduction="10000"/>
          </a:bodyPr>
          <a:lstStyle/>
          <a:p>
            <a:pPr algn="ctr">
              <a:lnSpc>
                <a:spcPct val="100000"/>
              </a:lnSpc>
            </a:pPr>
            <a:r>
              <a:rPr lang="zh-CN" altLang="en-US" sz="1600" dirty="0">
                <a:solidFill>
                  <a:schemeClr val="tx1"/>
                </a:solidFill>
              </a:rPr>
              <a:t>Depth further reduced by over 30%</a:t>
            </a:r>
          </a:p>
        </p:txBody>
      </p:sp>
      <p:cxnSp>
        <p:nvCxnSpPr>
          <p:cNvPr id="86" name="直接箭头连接符 85"/>
          <p:cNvCxnSpPr>
            <a:stCxn id="83" idx="3"/>
            <a:endCxn id="84" idx="1"/>
          </p:cNvCxnSpPr>
          <p:nvPr/>
        </p:nvCxnSpPr>
        <p:spPr>
          <a:xfrm flipV="1">
            <a:off x="6331434" y="2626958"/>
            <a:ext cx="942904"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91" name="文本框 90"/>
          <p:cNvSpPr txBox="1"/>
          <p:nvPr/>
        </p:nvSpPr>
        <p:spPr>
          <a:xfrm>
            <a:off x="3901440" y="2125345"/>
            <a:ext cx="1330325" cy="576580"/>
          </a:xfrm>
          <a:prstGeom prst="rect">
            <a:avLst/>
          </a:prstGeom>
          <a:noFill/>
        </p:spPr>
        <p:txBody>
          <a:bodyPr wrap="square" rtlCol="0"/>
          <a:lstStyle/>
          <a:p>
            <a:pPr algn="ctr">
              <a:lnSpc>
                <a:spcPct val="100000"/>
              </a:lnSpc>
            </a:pPr>
            <a:r>
              <a:rPr lang="zh-CN" altLang="en-US" sz="1400" dirty="0"/>
              <a:t>Teleportation routing</a:t>
            </a:r>
          </a:p>
        </p:txBody>
      </p:sp>
      <p:sp>
        <p:nvSpPr>
          <p:cNvPr id="93" name="矩形 92"/>
          <p:cNvSpPr/>
          <p:nvPr/>
        </p:nvSpPr>
        <p:spPr>
          <a:xfrm>
            <a:off x="2812567" y="3651690"/>
            <a:ext cx="1261242" cy="734228"/>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lnSpcReduction="10000"/>
          </a:bodyPr>
          <a:lstStyle/>
          <a:p>
            <a:pPr algn="ctr">
              <a:lnSpc>
                <a:spcPct val="100000"/>
              </a:lnSpc>
            </a:pPr>
            <a:r>
              <a:rPr lang="zh-CN" altLang="en-US" sz="1600" dirty="0">
                <a:solidFill>
                  <a:schemeClr val="tx1"/>
                </a:solidFill>
              </a:rPr>
              <a:t>Complex noise mechanism</a:t>
            </a:r>
          </a:p>
        </p:txBody>
      </p:sp>
      <p:sp>
        <p:nvSpPr>
          <p:cNvPr id="94" name="矩形 93"/>
          <p:cNvSpPr/>
          <p:nvPr/>
        </p:nvSpPr>
        <p:spPr>
          <a:xfrm>
            <a:off x="5070192" y="3629851"/>
            <a:ext cx="1261242" cy="734228"/>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r>
              <a:rPr lang="en-US" altLang="zh-CN" sz="1600" dirty="0">
                <a:solidFill>
                  <a:schemeClr val="tx1"/>
                </a:solidFill>
              </a:rPr>
              <a:t>QRAM branch noise</a:t>
            </a:r>
            <a:endParaRPr lang="zh-CN" altLang="en-US" sz="1600" dirty="0">
              <a:solidFill>
                <a:schemeClr val="tx1"/>
              </a:solidFill>
            </a:endParaRPr>
          </a:p>
        </p:txBody>
      </p:sp>
      <p:cxnSp>
        <p:nvCxnSpPr>
          <p:cNvPr id="95" name="直接箭头连接符 94"/>
          <p:cNvCxnSpPr>
            <a:stCxn id="93" idx="3"/>
          </p:cNvCxnSpPr>
          <p:nvPr/>
        </p:nvCxnSpPr>
        <p:spPr>
          <a:xfrm>
            <a:off x="4073809" y="4018804"/>
            <a:ext cx="996383"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98" name="文本框 97"/>
          <p:cNvSpPr txBox="1"/>
          <p:nvPr/>
        </p:nvSpPr>
        <p:spPr>
          <a:xfrm>
            <a:off x="3928109" y="3334426"/>
            <a:ext cx="1276985" cy="874395"/>
          </a:xfrm>
          <a:prstGeom prst="rect">
            <a:avLst/>
          </a:prstGeom>
          <a:noFill/>
        </p:spPr>
        <p:txBody>
          <a:bodyPr wrap="square" rtlCol="0">
            <a:normAutofit/>
          </a:bodyPr>
          <a:lstStyle/>
          <a:p>
            <a:pPr algn="ctr">
              <a:lnSpc>
                <a:spcPct val="100000"/>
              </a:lnSpc>
            </a:pPr>
            <a:r>
              <a:rPr lang="zh-CN" altLang="en-US" sz="1400" dirty="0"/>
              <a:t>Noise propagation analysis</a:t>
            </a:r>
          </a:p>
        </p:txBody>
      </p:sp>
      <p:sp>
        <p:nvSpPr>
          <p:cNvPr id="99" name="矩形 98"/>
          <p:cNvSpPr/>
          <p:nvPr/>
        </p:nvSpPr>
        <p:spPr>
          <a:xfrm>
            <a:off x="7274338" y="3628179"/>
            <a:ext cx="1589168" cy="734228"/>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r>
              <a:rPr lang="zh-CN" altLang="en-US" sz="1600" dirty="0">
                <a:solidFill>
                  <a:schemeClr val="tx1"/>
                </a:solidFill>
              </a:rPr>
              <a:t>Fidelity improved by over 20%</a:t>
            </a:r>
          </a:p>
        </p:txBody>
      </p:sp>
      <p:sp>
        <p:nvSpPr>
          <p:cNvPr id="100" name="文本框 99"/>
          <p:cNvSpPr txBox="1"/>
          <p:nvPr/>
        </p:nvSpPr>
        <p:spPr>
          <a:xfrm>
            <a:off x="6279515" y="3546475"/>
            <a:ext cx="949960" cy="874395"/>
          </a:xfrm>
          <a:prstGeom prst="rect">
            <a:avLst/>
          </a:prstGeom>
          <a:noFill/>
        </p:spPr>
        <p:txBody>
          <a:bodyPr wrap="square" rtlCol="0">
            <a:normAutofit/>
          </a:bodyPr>
          <a:lstStyle/>
          <a:p>
            <a:pPr algn="ctr">
              <a:lnSpc>
                <a:spcPct val="100000"/>
              </a:lnSpc>
            </a:pPr>
            <a:r>
              <a:rPr lang="zh-CN" altLang="en-US" sz="1400" dirty="0"/>
              <a:t>Error mitigation</a:t>
            </a:r>
          </a:p>
        </p:txBody>
      </p:sp>
      <p:cxnSp>
        <p:nvCxnSpPr>
          <p:cNvPr id="104" name="直接箭头连接符 103"/>
          <p:cNvCxnSpPr>
            <a:stCxn id="94" idx="3"/>
            <a:endCxn id="99" idx="1"/>
          </p:cNvCxnSpPr>
          <p:nvPr/>
        </p:nvCxnSpPr>
        <p:spPr>
          <a:xfrm flipV="1">
            <a:off x="6331434" y="3995293"/>
            <a:ext cx="942904" cy="167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6006465" y="2091690"/>
            <a:ext cx="1496060" cy="523220"/>
          </a:xfrm>
          <a:prstGeom prst="rect">
            <a:avLst/>
          </a:prstGeom>
          <a:noFill/>
        </p:spPr>
        <p:txBody>
          <a:bodyPr wrap="square" rtlCol="0">
            <a:spAutoFit/>
          </a:bodyPr>
          <a:lstStyle/>
          <a:p>
            <a:pPr algn="ctr"/>
            <a:r>
              <a:rPr lang="zh-CN" altLang="en-US" sz="1400" dirty="0">
                <a:sym typeface="+mn-ea"/>
              </a:rPr>
              <a:t>Subspace </a:t>
            </a:r>
          </a:p>
          <a:p>
            <a:pPr algn="ctr"/>
            <a:r>
              <a:rPr lang="zh-CN" altLang="en-US" sz="1400" dirty="0">
                <a:sym typeface="+mn-ea"/>
              </a:rPr>
              <a:t>routing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1480" y="281940"/>
            <a:ext cx="3048000" cy="369332"/>
          </a:xfrm>
          <a:prstGeom prst="rect">
            <a:avLst/>
          </a:prstGeom>
          <a:noFill/>
        </p:spPr>
        <p:txBody>
          <a:bodyPr wrap="square" rtlCol="0">
            <a:spAutoFit/>
          </a:bodyPr>
          <a:lstStyle/>
          <a:p>
            <a:r>
              <a:rPr lang="en-US" b="1" dirty="0" err="1">
                <a:solidFill>
                  <a:schemeClr val="bg1"/>
                </a:solidFill>
                <a:sym typeface="+mn-ea"/>
              </a:rPr>
              <a:t>Outline of Presentation</a:t>
            </a:r>
          </a:p>
        </p:txBody>
      </p:sp>
      <p:sp>
        <p:nvSpPr>
          <p:cNvPr id="28" name="文本框 27"/>
          <p:cNvSpPr txBox="1"/>
          <p:nvPr/>
        </p:nvSpPr>
        <p:spPr>
          <a:xfrm>
            <a:off x="401287" y="898333"/>
            <a:ext cx="7791450" cy="2120004"/>
          </a:xfrm>
          <a:prstGeom prst="rect">
            <a:avLst/>
          </a:prstGeom>
          <a:noFill/>
        </p:spPr>
        <p:txBody>
          <a:bodyPr wrap="square" rtlCol="0">
            <a:spAutoFit/>
          </a:bodyPr>
          <a:lstStyle/>
          <a:p>
            <a:pPr marL="342900" indent="-285750" fontAlgn="auto">
              <a:lnSpc>
                <a:spcPct val="150000"/>
              </a:lnSpc>
              <a:buFont typeface="Arial" panose="020B0604020202020204" pitchFamily="34" charset="0"/>
              <a:buChar char="•"/>
            </a:pPr>
            <a:r>
              <a:rPr kumimoji="1" lang="en-US" dirty="0">
                <a:solidFill>
                  <a:schemeClr val="bg1">
                    <a:lumMod val="75000"/>
                  </a:schemeClr>
                </a:solidFill>
                <a:ea typeface="华文楷体" panose="02010600040101010101" pitchFamily="2" charset="-122"/>
                <a:cs typeface="Arial" panose="020B0604020202020204" pitchFamily="34" charset="0"/>
              </a:rPr>
              <a:t>Background and challenges</a:t>
            </a: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Overview of QRAM</a:t>
            </a: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QRAM optimization</a:t>
            </a: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Experiment</a:t>
            </a:r>
          </a:p>
          <a:p>
            <a:pPr marL="342900" indent="-285750" fontAlgn="auto">
              <a:lnSpc>
                <a:spcPct val="150000"/>
              </a:lnSpc>
              <a:buFont typeface="Arial" panose="020B0604020202020204" pitchFamily="34" charset="0"/>
              <a:buChar char="•"/>
            </a:pPr>
            <a:r>
              <a:rPr kumimoji="1" lang="en-US" altLang="zh-CN" b="1" dirty="0">
                <a:ea typeface="华文楷体" panose="02010600040101010101" pitchFamily="2" charset="-122"/>
                <a:cs typeface="Arial" panose="020B0604020202020204" pitchFamily="34" charset="0"/>
              </a:rPr>
              <a:t>API of QRAM</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268088" y="243141"/>
            <a:ext cx="8859402" cy="481927"/>
          </a:xfrm>
          <a:prstGeom prst="rect">
            <a:avLst/>
          </a:prstGeom>
          <a:noFill/>
        </p:spPr>
        <p:txBody>
          <a:bodyPr wrap="square" lIns="95250" tIns="95250" rIns="95250" bIns="95250" rtlCol="0" anchor="t"/>
          <a:lstStyle/>
          <a:p>
            <a:pPr marL="0" indent="0">
              <a:lnSpc>
                <a:spcPct val="100000"/>
              </a:lnSpc>
              <a:spcBef>
                <a:spcPts val="375"/>
              </a:spcBef>
              <a:buNone/>
            </a:pPr>
            <a:r>
              <a:rPr lang="en-US" b="1" dirty="0" err="1">
                <a:solidFill>
                  <a:schemeClr val="bg1"/>
                </a:solidFill>
              </a:rPr>
              <a:t>API of QRAM</a:t>
            </a:r>
          </a:p>
        </p:txBody>
      </p:sp>
      <p:pic>
        <p:nvPicPr>
          <p:cNvPr id="2" name="图片 1"/>
          <p:cNvPicPr>
            <a:picLocks noChangeAspect="1"/>
          </p:cNvPicPr>
          <p:nvPr/>
        </p:nvPicPr>
        <p:blipFill>
          <a:blip r:embed="rId9"/>
          <a:srcRect b="30955"/>
          <a:stretch>
            <a:fillRect/>
          </a:stretch>
        </p:blipFill>
        <p:spPr>
          <a:xfrm>
            <a:off x="2647315" y="969010"/>
            <a:ext cx="5915025" cy="2617470"/>
          </a:xfrm>
          <a:prstGeom prst="rect">
            <a:avLst/>
          </a:prstGeom>
        </p:spPr>
      </p:pic>
      <p:sp>
        <p:nvSpPr>
          <p:cNvPr id="14" name="右大括号 13"/>
          <p:cNvSpPr/>
          <p:nvPr>
            <p:custDataLst>
              <p:tags r:id="rId1"/>
            </p:custDataLst>
          </p:nvPr>
        </p:nvSpPr>
        <p:spPr>
          <a:xfrm flipH="1">
            <a:off x="2171065" y="2233930"/>
            <a:ext cx="288290" cy="1118235"/>
          </a:xfrm>
          <a:prstGeom prst="rightBrace">
            <a:avLst>
              <a:gd name="adj1" fmla="val 28312"/>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7" name="文本框 6"/>
          <p:cNvSpPr txBox="1"/>
          <p:nvPr>
            <p:custDataLst>
              <p:tags r:id="rId2"/>
            </p:custDataLst>
          </p:nvPr>
        </p:nvSpPr>
        <p:spPr>
          <a:xfrm>
            <a:off x="541655" y="2304415"/>
            <a:ext cx="1567180" cy="829945"/>
          </a:xfrm>
          <a:prstGeom prst="rect">
            <a:avLst/>
          </a:prstGeom>
          <a:noFill/>
        </p:spPr>
        <p:txBody>
          <a:bodyPr wrap="square" rtlCol="0">
            <a:spAutoFit/>
          </a:bodyPr>
          <a:lstStyle/>
          <a:p>
            <a:pPr algn="ctr"/>
            <a:r>
              <a:rPr kumimoji="1" lang="en-US" altLang="zh-CN" sz="1600" dirty="0">
                <a:latin typeface="Arial" panose="020B0604020202020204" pitchFamily="34" charset="0"/>
                <a:cs typeface="Arial" panose="020B0604020202020204" pitchFamily="34" charset="0"/>
              </a:rPr>
              <a:t>construct bucket-brigade QRAM circuit</a:t>
            </a:r>
          </a:p>
        </p:txBody>
      </p:sp>
      <p:sp>
        <p:nvSpPr>
          <p:cNvPr id="18" name="文本框 17"/>
          <p:cNvSpPr txBox="1"/>
          <p:nvPr>
            <p:custDataLst>
              <p:tags r:id="rId3"/>
            </p:custDataLst>
          </p:nvPr>
        </p:nvSpPr>
        <p:spPr>
          <a:xfrm>
            <a:off x="542290" y="3705860"/>
            <a:ext cx="1566545" cy="583565"/>
          </a:xfrm>
          <a:prstGeom prst="rect">
            <a:avLst/>
          </a:prstGeom>
          <a:noFill/>
        </p:spPr>
        <p:txBody>
          <a:bodyPr wrap="square" rtlCol="0">
            <a:spAutoFit/>
          </a:bodyPr>
          <a:lstStyle/>
          <a:p>
            <a:pPr algn="ctr"/>
            <a:r>
              <a:rPr kumimoji="1" lang="en-US" altLang="zh-CN" sz="1600" dirty="0">
                <a:latin typeface="Arial" panose="020B0604020202020204" pitchFamily="34" charset="0"/>
                <a:cs typeface="Arial" panose="020B0604020202020204" pitchFamily="34" charset="0"/>
              </a:rPr>
              <a:t>inspect resources</a:t>
            </a:r>
          </a:p>
        </p:txBody>
      </p:sp>
      <p:sp>
        <p:nvSpPr>
          <p:cNvPr id="19" name="右大括号 18"/>
          <p:cNvSpPr/>
          <p:nvPr>
            <p:custDataLst>
              <p:tags r:id="rId4"/>
            </p:custDataLst>
          </p:nvPr>
        </p:nvSpPr>
        <p:spPr>
          <a:xfrm flipH="1">
            <a:off x="2171065" y="3549650"/>
            <a:ext cx="288290" cy="739775"/>
          </a:xfrm>
          <a:prstGeom prst="rightBrace">
            <a:avLst>
              <a:gd name="adj1" fmla="val 28312"/>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1" name="右大括号 10"/>
          <p:cNvSpPr/>
          <p:nvPr>
            <p:custDataLst>
              <p:tags r:id="rId5"/>
            </p:custDataLst>
          </p:nvPr>
        </p:nvSpPr>
        <p:spPr>
          <a:xfrm flipH="1">
            <a:off x="2171065" y="1192530"/>
            <a:ext cx="288290" cy="928370"/>
          </a:xfrm>
          <a:prstGeom prst="rightBrace">
            <a:avLst>
              <a:gd name="adj1" fmla="val 28312"/>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20" name="文本框 19"/>
          <p:cNvSpPr txBox="1"/>
          <p:nvPr>
            <p:custDataLst>
              <p:tags r:id="rId6"/>
            </p:custDataLst>
          </p:nvPr>
        </p:nvSpPr>
        <p:spPr>
          <a:xfrm>
            <a:off x="541655" y="1188085"/>
            <a:ext cx="1661160" cy="583565"/>
          </a:xfrm>
          <a:prstGeom prst="rect">
            <a:avLst/>
          </a:prstGeom>
          <a:noFill/>
        </p:spPr>
        <p:txBody>
          <a:bodyPr wrap="square" rtlCol="0">
            <a:spAutoFit/>
          </a:bodyPr>
          <a:lstStyle/>
          <a:p>
            <a:pPr algn="ctr"/>
            <a:r>
              <a:rPr kumimoji="1" lang="en-US" altLang="zh-CN" sz="1600" dirty="0">
                <a:latin typeface="Arial" panose="020B0604020202020204" pitchFamily="34" charset="0"/>
                <a:cs typeface="Arial" panose="020B0604020202020204" pitchFamily="34" charset="0"/>
              </a:rPr>
              <a:t>configure QRAM instance</a:t>
            </a:r>
          </a:p>
        </p:txBody>
      </p:sp>
      <p:pic>
        <p:nvPicPr>
          <p:cNvPr id="3" name="图片 2"/>
          <p:cNvPicPr>
            <a:picLocks noChangeAspect="1"/>
          </p:cNvPicPr>
          <p:nvPr/>
        </p:nvPicPr>
        <p:blipFill>
          <a:blip r:embed="rId9"/>
          <a:srcRect t="80117"/>
          <a:stretch>
            <a:fillRect/>
          </a:stretch>
        </p:blipFill>
        <p:spPr>
          <a:xfrm>
            <a:off x="2647315" y="3586480"/>
            <a:ext cx="5915025" cy="75374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268088" y="243141"/>
            <a:ext cx="8859402" cy="481927"/>
          </a:xfrm>
          <a:prstGeom prst="rect">
            <a:avLst/>
          </a:prstGeom>
          <a:noFill/>
        </p:spPr>
        <p:txBody>
          <a:bodyPr wrap="square" lIns="95250" tIns="95250" rIns="95250" bIns="95250" rtlCol="0" anchor="t"/>
          <a:lstStyle/>
          <a:p>
            <a:pPr marL="0" indent="0">
              <a:lnSpc>
                <a:spcPct val="100000"/>
              </a:lnSpc>
              <a:spcBef>
                <a:spcPts val="375"/>
              </a:spcBef>
              <a:buNone/>
            </a:pPr>
            <a:r>
              <a:rPr lang="en-US" sz="1600" b="1" dirty="0" err="1">
                <a:solidFill>
                  <a:schemeClr val="bg1"/>
                </a:solidFill>
              </a:rPr>
              <a:t>API of QRAM</a:t>
            </a:r>
          </a:p>
        </p:txBody>
      </p:sp>
      <p:sp>
        <p:nvSpPr>
          <p:cNvPr id="14" name="右大括号 13"/>
          <p:cNvSpPr/>
          <p:nvPr>
            <p:custDataLst>
              <p:tags r:id="rId1"/>
            </p:custDataLst>
          </p:nvPr>
        </p:nvSpPr>
        <p:spPr>
          <a:xfrm flipH="1">
            <a:off x="1563370" y="2233930"/>
            <a:ext cx="288290" cy="2465705"/>
          </a:xfrm>
          <a:prstGeom prst="rightBrace">
            <a:avLst>
              <a:gd name="adj1" fmla="val 28312"/>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7" name="文本框 6"/>
          <p:cNvSpPr txBox="1"/>
          <p:nvPr>
            <p:custDataLst>
              <p:tags r:id="rId2"/>
            </p:custDataLst>
          </p:nvPr>
        </p:nvSpPr>
        <p:spPr>
          <a:xfrm>
            <a:off x="-108585" y="3051810"/>
            <a:ext cx="1609725" cy="829945"/>
          </a:xfrm>
          <a:prstGeom prst="rect">
            <a:avLst/>
          </a:prstGeom>
          <a:noFill/>
        </p:spPr>
        <p:txBody>
          <a:bodyPr wrap="square" rtlCol="0">
            <a:spAutoFit/>
          </a:bodyPr>
          <a:lstStyle/>
          <a:p>
            <a:pPr algn="ctr"/>
            <a:r>
              <a:rPr kumimoji="1" lang="en-US" altLang="zh-CN" sz="1600" dirty="0">
                <a:latin typeface="Arial" panose="020B0604020202020204" pitchFamily="34" charset="0"/>
                <a:cs typeface="Arial" panose="020B0604020202020204" pitchFamily="34" charset="0"/>
              </a:rPr>
              <a:t>query one classical address</a:t>
            </a:r>
          </a:p>
        </p:txBody>
      </p:sp>
      <p:sp>
        <p:nvSpPr>
          <p:cNvPr id="11" name="右大括号 10"/>
          <p:cNvSpPr/>
          <p:nvPr>
            <p:custDataLst>
              <p:tags r:id="rId3"/>
            </p:custDataLst>
          </p:nvPr>
        </p:nvSpPr>
        <p:spPr>
          <a:xfrm flipH="1">
            <a:off x="1563370" y="969010"/>
            <a:ext cx="288290" cy="1151890"/>
          </a:xfrm>
          <a:prstGeom prst="rightBrace">
            <a:avLst>
              <a:gd name="adj1" fmla="val 28312"/>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20" name="文本框 19"/>
          <p:cNvSpPr txBox="1"/>
          <p:nvPr>
            <p:custDataLst>
              <p:tags r:id="rId4"/>
            </p:custDataLst>
          </p:nvPr>
        </p:nvSpPr>
        <p:spPr>
          <a:xfrm>
            <a:off x="46355" y="1173162"/>
            <a:ext cx="1661160" cy="583565"/>
          </a:xfrm>
          <a:prstGeom prst="rect">
            <a:avLst/>
          </a:prstGeom>
          <a:noFill/>
        </p:spPr>
        <p:txBody>
          <a:bodyPr wrap="square" rtlCol="0">
            <a:spAutoFit/>
          </a:bodyPr>
          <a:lstStyle/>
          <a:p>
            <a:pPr algn="ctr"/>
            <a:r>
              <a:rPr kumimoji="1" lang="en-US" altLang="zh-CN" sz="1600" dirty="0">
                <a:latin typeface="Arial" panose="020B0604020202020204" pitchFamily="34" charset="0"/>
                <a:cs typeface="Arial" panose="020B0604020202020204" pitchFamily="34" charset="0"/>
                <a:sym typeface="+mn-ea"/>
              </a:rPr>
              <a:t>simulate QRAM readout</a:t>
            </a:r>
            <a:endParaRPr kumimoji="1" lang="en-US" altLang="zh-CN" sz="1600" dirty="0">
              <a:latin typeface="Arial" panose="020B0604020202020204" pitchFamily="34" charset="0"/>
              <a:cs typeface="Arial" panose="020B0604020202020204" pitchFamily="34" charset="0"/>
            </a:endParaRPr>
          </a:p>
        </p:txBody>
      </p:sp>
      <p:pic>
        <p:nvPicPr>
          <p:cNvPr id="6" name="图片 5"/>
          <p:cNvPicPr>
            <a:picLocks noChangeAspect="1"/>
          </p:cNvPicPr>
          <p:nvPr/>
        </p:nvPicPr>
        <p:blipFill>
          <a:blip r:embed="rId9"/>
          <a:srcRect b="67321"/>
          <a:stretch>
            <a:fillRect/>
          </a:stretch>
        </p:blipFill>
        <p:spPr>
          <a:xfrm>
            <a:off x="2101850" y="725170"/>
            <a:ext cx="4242435" cy="1680845"/>
          </a:xfrm>
          <a:prstGeom prst="rect">
            <a:avLst/>
          </a:prstGeom>
        </p:spPr>
      </p:pic>
      <p:pic>
        <p:nvPicPr>
          <p:cNvPr id="8" name="图片 7"/>
          <p:cNvPicPr>
            <a:picLocks noChangeAspect="1"/>
          </p:cNvPicPr>
          <p:nvPr/>
        </p:nvPicPr>
        <p:blipFill>
          <a:blip r:embed="rId9"/>
          <a:srcRect t="53790"/>
          <a:stretch>
            <a:fillRect/>
          </a:stretch>
        </p:blipFill>
        <p:spPr>
          <a:xfrm>
            <a:off x="2101850" y="2402205"/>
            <a:ext cx="4242435" cy="2376805"/>
          </a:xfrm>
          <a:prstGeom prst="rect">
            <a:avLst/>
          </a:prstGeom>
        </p:spPr>
      </p:pic>
      <p:pic>
        <p:nvPicPr>
          <p:cNvPr id="9" name="图片 8"/>
          <p:cNvPicPr>
            <a:picLocks noChangeAspect="1"/>
          </p:cNvPicPr>
          <p:nvPr/>
        </p:nvPicPr>
        <p:blipFill>
          <a:blip r:embed="rId10"/>
          <a:stretch>
            <a:fillRect/>
          </a:stretch>
        </p:blipFill>
        <p:spPr>
          <a:xfrm>
            <a:off x="6449695" y="1392555"/>
            <a:ext cx="2571115" cy="728345"/>
          </a:xfrm>
          <a:prstGeom prst="rect">
            <a:avLst/>
          </a:prstGeom>
        </p:spPr>
      </p:pic>
      <p:pic>
        <p:nvPicPr>
          <p:cNvPr id="10" name="图片 9"/>
          <p:cNvPicPr>
            <a:picLocks noChangeAspect="1"/>
          </p:cNvPicPr>
          <p:nvPr/>
        </p:nvPicPr>
        <p:blipFill>
          <a:blip r:embed="rId11"/>
          <a:stretch>
            <a:fillRect/>
          </a:stretch>
        </p:blipFill>
        <p:spPr>
          <a:xfrm>
            <a:off x="6645910" y="3152140"/>
            <a:ext cx="2124075" cy="628650"/>
          </a:xfrm>
          <a:prstGeom prst="rect">
            <a:avLst/>
          </a:prstGeom>
        </p:spPr>
      </p:pic>
      <p:sp>
        <p:nvSpPr>
          <p:cNvPr id="12" name="文本框 11"/>
          <p:cNvSpPr txBox="1"/>
          <p:nvPr>
            <p:custDataLst>
              <p:tags r:id="rId5"/>
            </p:custDataLst>
          </p:nvPr>
        </p:nvSpPr>
        <p:spPr>
          <a:xfrm>
            <a:off x="6851015" y="969010"/>
            <a:ext cx="1661160" cy="337185"/>
          </a:xfrm>
          <a:prstGeom prst="rect">
            <a:avLst/>
          </a:prstGeom>
          <a:noFill/>
        </p:spPr>
        <p:txBody>
          <a:bodyPr wrap="square" rtlCol="0">
            <a:spAutoFit/>
          </a:bodyPr>
          <a:lstStyle/>
          <a:p>
            <a:pPr algn="ctr"/>
            <a:r>
              <a:rPr kumimoji="1" lang="en-US" altLang="zh-CN" sz="1600" dirty="0">
                <a:latin typeface="Arial" panose="020B0604020202020204" pitchFamily="34" charset="0"/>
                <a:cs typeface="Arial" panose="020B0604020202020204" pitchFamily="34" charset="0"/>
                <a:sym typeface="+mn-ea"/>
              </a:rPr>
              <a:t>expected data</a:t>
            </a:r>
            <a:endParaRPr kumimoji="1" lang="en-US" altLang="zh-CN" sz="1600" dirty="0">
              <a:latin typeface="Arial" panose="020B0604020202020204" pitchFamily="34" charset="0"/>
              <a:cs typeface="Arial" panose="020B0604020202020204" pitchFamily="34" charset="0"/>
            </a:endParaRPr>
          </a:p>
        </p:txBody>
      </p:sp>
      <p:sp>
        <p:nvSpPr>
          <p:cNvPr id="13" name="文本框 12"/>
          <p:cNvSpPr txBox="1"/>
          <p:nvPr>
            <p:custDataLst>
              <p:tags r:id="rId6"/>
            </p:custDataLst>
          </p:nvPr>
        </p:nvSpPr>
        <p:spPr>
          <a:xfrm>
            <a:off x="6851015" y="2788285"/>
            <a:ext cx="1661160" cy="337185"/>
          </a:xfrm>
          <a:prstGeom prst="rect">
            <a:avLst/>
          </a:prstGeom>
          <a:noFill/>
        </p:spPr>
        <p:txBody>
          <a:bodyPr wrap="square" rtlCol="0">
            <a:spAutoFit/>
          </a:bodyPr>
          <a:lstStyle/>
          <a:p>
            <a:pPr algn="ctr"/>
            <a:r>
              <a:rPr kumimoji="1" lang="en-US" altLang="zh-CN" sz="1600" dirty="0">
                <a:latin typeface="Arial" panose="020B0604020202020204" pitchFamily="34" charset="0"/>
                <a:cs typeface="Arial" panose="020B0604020202020204" pitchFamily="34" charset="0"/>
                <a:sym typeface="+mn-ea"/>
              </a:rPr>
              <a:t>query result</a:t>
            </a:r>
            <a:endParaRPr kumimoji="1" lang="en-US" altLang="zh-CN" sz="1600" dirty="0">
              <a:latin typeface="Arial" panose="020B0604020202020204" pitchFamily="34" charset="0"/>
              <a:cs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287733"/>
            <a:ext cx="9144000" cy="4849961"/>
            <a:chOff x="-1" y="382110"/>
            <a:chExt cx="12192000" cy="6466615"/>
          </a:xfrm>
        </p:grpSpPr>
        <p:pic>
          <p:nvPicPr>
            <p:cNvPr id="5" name="图片 4"/>
            <p:cNvPicPr>
              <a:picLocks noChangeAspect="1"/>
            </p:cNvPicPr>
            <p:nvPr/>
          </p:nvPicPr>
          <p:blipFill rotWithShape="1">
            <a:blip r:embed="rId3">
              <a:extLst>
                <a:ext uri="{28A0092B-C50C-407E-A947-70E740481C1C}">
                  <a14:useLocalDpi xmlns:a14="http://schemas.microsoft.com/office/drawing/2010/main" val="0"/>
                </a:ext>
              </a:extLst>
            </a:blip>
            <a:srcRect l="52978" t="10561" r="2412" b="26928"/>
            <a:stretch>
              <a:fillRect/>
            </a:stretch>
          </p:blipFill>
          <p:spPr>
            <a:xfrm>
              <a:off x="-1" y="382110"/>
              <a:ext cx="12192000" cy="6466615"/>
            </a:xfrm>
            <a:prstGeom prst="rect">
              <a:avLst/>
            </a:prstGeom>
          </p:spPr>
        </p:pic>
        <p:sp>
          <p:nvSpPr>
            <p:cNvPr id="6" name="任意多边形: 形状 10"/>
            <p:cNvSpPr/>
            <p:nvPr/>
          </p:nvSpPr>
          <p:spPr>
            <a:xfrm>
              <a:off x="1238911" y="548368"/>
              <a:ext cx="9434423" cy="4385901"/>
            </a:xfrm>
            <a:custGeom>
              <a:avLst/>
              <a:gdLst>
                <a:gd name="connsiteX0" fmla="*/ 132689 w 9434423"/>
                <a:gd name="connsiteY0" fmla="*/ 737847 h 4654525"/>
                <a:gd name="connsiteX1" fmla="*/ 180314 w 9434423"/>
                <a:gd name="connsiteY1" fmla="*/ 861672 h 4654525"/>
                <a:gd name="connsiteX2" fmla="*/ 1961489 w 9434423"/>
                <a:gd name="connsiteY2" fmla="*/ 3052422 h 4654525"/>
                <a:gd name="connsiteX3" fmla="*/ 3695039 w 9434423"/>
                <a:gd name="connsiteY3" fmla="*/ 3547722 h 4654525"/>
                <a:gd name="connsiteX4" fmla="*/ 6409664 w 9434423"/>
                <a:gd name="connsiteY4" fmla="*/ 3881097 h 4654525"/>
                <a:gd name="connsiteX5" fmla="*/ 6676364 w 9434423"/>
                <a:gd name="connsiteY5" fmla="*/ 3633447 h 4654525"/>
                <a:gd name="connsiteX6" fmla="*/ 8438489 w 9434423"/>
                <a:gd name="connsiteY6" fmla="*/ 4652622 h 4654525"/>
                <a:gd name="connsiteX7" fmla="*/ 9371939 w 9434423"/>
                <a:gd name="connsiteY7" fmla="*/ 3842997 h 4654525"/>
                <a:gd name="connsiteX8" fmla="*/ 9248114 w 9434423"/>
                <a:gd name="connsiteY8" fmla="*/ 2299947 h 4654525"/>
                <a:gd name="connsiteX9" fmla="*/ 8438489 w 9434423"/>
                <a:gd name="connsiteY9" fmla="*/ 1214097 h 4654525"/>
                <a:gd name="connsiteX10" fmla="*/ 6314414 w 9434423"/>
                <a:gd name="connsiteY10" fmla="*/ 194922 h 4654525"/>
                <a:gd name="connsiteX11" fmla="*/ 5761964 w 9434423"/>
                <a:gd name="connsiteY11" fmla="*/ 4422 h 4654525"/>
                <a:gd name="connsiteX12" fmla="*/ 4742789 w 9434423"/>
                <a:gd name="connsiteY12" fmla="*/ 271122 h 4654525"/>
                <a:gd name="connsiteX13" fmla="*/ 3866489 w 9434423"/>
                <a:gd name="connsiteY13" fmla="*/ 852147 h 4654525"/>
                <a:gd name="connsiteX14" fmla="*/ 2523464 w 9434423"/>
                <a:gd name="connsiteY14" fmla="*/ 623547 h 4654525"/>
                <a:gd name="connsiteX15" fmla="*/ 818489 w 9434423"/>
                <a:gd name="connsiteY15" fmla="*/ 480672 h 4654525"/>
                <a:gd name="connsiteX16" fmla="*/ 132689 w 9434423"/>
                <a:gd name="connsiteY16" fmla="*/ 737847 h 465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434423" h="4654525">
                  <a:moveTo>
                    <a:pt x="132689" y="737847"/>
                  </a:moveTo>
                  <a:cubicBezTo>
                    <a:pt x="26327" y="801347"/>
                    <a:pt x="-124486" y="475910"/>
                    <a:pt x="180314" y="861672"/>
                  </a:cubicBezTo>
                  <a:cubicBezTo>
                    <a:pt x="485114" y="1247434"/>
                    <a:pt x="1375702" y="2604747"/>
                    <a:pt x="1961489" y="3052422"/>
                  </a:cubicBezTo>
                  <a:cubicBezTo>
                    <a:pt x="2547277" y="3500097"/>
                    <a:pt x="2953677" y="3409610"/>
                    <a:pt x="3695039" y="3547722"/>
                  </a:cubicBezTo>
                  <a:cubicBezTo>
                    <a:pt x="4436401" y="3685834"/>
                    <a:pt x="5912777" y="3866810"/>
                    <a:pt x="6409664" y="3881097"/>
                  </a:cubicBezTo>
                  <a:cubicBezTo>
                    <a:pt x="6906552" y="3895385"/>
                    <a:pt x="6338226" y="3504859"/>
                    <a:pt x="6676364" y="3633447"/>
                  </a:cubicBezTo>
                  <a:cubicBezTo>
                    <a:pt x="7014502" y="3762035"/>
                    <a:pt x="7989227" y="4617697"/>
                    <a:pt x="8438489" y="4652622"/>
                  </a:cubicBezTo>
                  <a:cubicBezTo>
                    <a:pt x="8887751" y="4687547"/>
                    <a:pt x="9237001" y="4235110"/>
                    <a:pt x="9371939" y="3842997"/>
                  </a:cubicBezTo>
                  <a:cubicBezTo>
                    <a:pt x="9506877" y="3450884"/>
                    <a:pt x="9403689" y="2738097"/>
                    <a:pt x="9248114" y="2299947"/>
                  </a:cubicBezTo>
                  <a:cubicBezTo>
                    <a:pt x="9092539" y="1861797"/>
                    <a:pt x="8927439" y="1564935"/>
                    <a:pt x="8438489" y="1214097"/>
                  </a:cubicBezTo>
                  <a:cubicBezTo>
                    <a:pt x="7949539" y="863260"/>
                    <a:pt x="6760502" y="396535"/>
                    <a:pt x="6314414" y="194922"/>
                  </a:cubicBezTo>
                  <a:cubicBezTo>
                    <a:pt x="5868326" y="-6691"/>
                    <a:pt x="6023901" y="-8278"/>
                    <a:pt x="5761964" y="4422"/>
                  </a:cubicBezTo>
                  <a:cubicBezTo>
                    <a:pt x="5500027" y="17122"/>
                    <a:pt x="5058702" y="129834"/>
                    <a:pt x="4742789" y="271122"/>
                  </a:cubicBezTo>
                  <a:cubicBezTo>
                    <a:pt x="4426876" y="412410"/>
                    <a:pt x="4236377" y="793409"/>
                    <a:pt x="3866489" y="852147"/>
                  </a:cubicBezTo>
                  <a:cubicBezTo>
                    <a:pt x="3496601" y="910885"/>
                    <a:pt x="3031464" y="685459"/>
                    <a:pt x="2523464" y="623547"/>
                  </a:cubicBezTo>
                  <a:cubicBezTo>
                    <a:pt x="2015464" y="561634"/>
                    <a:pt x="1213776" y="466385"/>
                    <a:pt x="818489" y="480672"/>
                  </a:cubicBezTo>
                  <a:cubicBezTo>
                    <a:pt x="423202" y="494959"/>
                    <a:pt x="239051" y="674347"/>
                    <a:pt x="132689" y="73784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ea typeface="华文楷体" panose="02010600040101010101" pitchFamily="2" charset="-122"/>
                <a:cs typeface="Arial" panose="020B0604020202020204" pitchFamily="34" charset="0"/>
                <a:sym typeface="+mn-lt"/>
              </a:endParaRPr>
            </a:p>
          </p:txBody>
        </p:sp>
      </p:grpSp>
      <p:sp>
        <p:nvSpPr>
          <p:cNvPr id="3" name="Title 3"/>
          <p:cNvSpPr txBox="1"/>
          <p:nvPr/>
        </p:nvSpPr>
        <p:spPr bwMode="auto">
          <a:xfrm>
            <a:off x="713586" y="1064141"/>
            <a:ext cx="7716829" cy="1193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01155" tIns="50577" rIns="101155" bIns="50577" numCol="1" anchor="ctr" anchorCtr="1" compatLnSpc="1">
            <a:noAutofit/>
          </a:bodyPr>
          <a:lstStyle>
            <a:lvl1pPr algn="ctr" rtl="0" eaLnBrk="0" fontAlgn="base" hangingPunct="0">
              <a:spcBef>
                <a:spcPct val="0"/>
              </a:spcBef>
              <a:spcAft>
                <a:spcPct val="0"/>
              </a:spcAft>
              <a:defRPr lang="zh-CN" altLang="en-US" sz="4300" b="1">
                <a:solidFill>
                  <a:srgbClr val="C00000"/>
                </a:solidFill>
                <a:effectLst>
                  <a:outerShdw blurRad="38100" dist="38100" dir="2700000" algn="tl">
                    <a:srgbClr val="000000">
                      <a:alpha val="43137"/>
                    </a:srgbClr>
                  </a:outerShdw>
                </a:effectLst>
                <a:latin typeface="+mn-ea"/>
                <a:ea typeface="+mn-ea"/>
                <a:cs typeface="+mj-cs"/>
              </a:defRPr>
            </a:lvl1pPr>
            <a:lvl2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2pPr>
            <a:lvl3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3pPr>
            <a:lvl4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4pPr>
            <a:lvl5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5pPr>
            <a:lvl6pPr marL="4572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6pPr>
            <a:lvl7pPr marL="9144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7pPr>
            <a:lvl8pPr marL="13716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8pPr>
            <a:lvl9pPr marL="18288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9pPr>
          </a:lstStyle>
          <a:p>
            <a:pPr lvl="0">
              <a:lnSpc>
                <a:spcPct val="110000"/>
              </a:lnSpc>
              <a:spcBef>
                <a:spcPct val="20000"/>
              </a:spcBef>
              <a:buSzPct val="120000"/>
              <a:defRPr/>
            </a:pPr>
            <a:r>
              <a:rPr lang="en-US" altLang="zh-CN" sz="4500" kern="0" dirty="0">
                <a:solidFill>
                  <a:srgbClr val="000000"/>
                </a:solidFill>
                <a:effectLst/>
                <a:latin typeface="+mj-lt"/>
                <a:ea typeface="华文楷体" panose="02010600040101010101" pitchFamily="2" charset="-122"/>
                <a:cs typeface="Arial" panose="020B0604020202020204" pitchFamily="34" charset="0"/>
              </a:rPr>
              <a:t>Thanks</a:t>
            </a:r>
            <a:r>
              <a:rPr lang="zh-CN" altLang="en-US" sz="4500" kern="0" dirty="0">
                <a:solidFill>
                  <a:srgbClr val="000000"/>
                </a:solidFill>
                <a:effectLst/>
                <a:latin typeface="+mj-lt"/>
                <a:ea typeface="华文楷体" panose="02010600040101010101" pitchFamily="2" charset="-122"/>
                <a:cs typeface="Arial" panose="020B0604020202020204" pitchFamily="34" charset="0"/>
              </a:rPr>
              <a:t> </a:t>
            </a:r>
            <a:r>
              <a:rPr lang="en-US" altLang="zh-CN" sz="4500" kern="0" dirty="0">
                <a:solidFill>
                  <a:srgbClr val="000000"/>
                </a:solidFill>
                <a:effectLst/>
                <a:latin typeface="+mj-lt"/>
                <a:ea typeface="华文楷体" panose="02010600040101010101" pitchFamily="2" charset="-122"/>
                <a:cs typeface="Arial" panose="020B0604020202020204" pitchFamily="34" charset="0"/>
              </a:rPr>
              <a:t>for</a:t>
            </a:r>
            <a:r>
              <a:rPr lang="zh-CN" altLang="en-US" sz="4500" kern="0" dirty="0">
                <a:solidFill>
                  <a:srgbClr val="000000"/>
                </a:solidFill>
                <a:effectLst/>
                <a:latin typeface="+mj-lt"/>
                <a:ea typeface="华文楷体" panose="02010600040101010101" pitchFamily="2" charset="-122"/>
                <a:cs typeface="Arial" panose="020B0604020202020204" pitchFamily="34" charset="0"/>
              </a:rPr>
              <a:t> </a:t>
            </a:r>
            <a:r>
              <a:rPr lang="en-US" altLang="zh-CN" sz="4500" kern="0" dirty="0">
                <a:solidFill>
                  <a:srgbClr val="000000"/>
                </a:solidFill>
                <a:effectLst/>
                <a:latin typeface="+mj-lt"/>
                <a:ea typeface="华文楷体" panose="02010600040101010101" pitchFamily="2" charset="-122"/>
                <a:cs typeface="Arial" panose="020B0604020202020204" pitchFamily="34" charset="0"/>
              </a:rPr>
              <a:t>listening</a:t>
            </a:r>
            <a:endParaRPr lang="en-US" altLang="en-US" sz="4500" kern="0" dirty="0">
              <a:solidFill>
                <a:srgbClr val="000000"/>
              </a:solidFill>
              <a:effectLst/>
              <a:latin typeface="+mj-lt"/>
              <a:ea typeface="华文楷体" panose="02010600040101010101" pitchFamily="2" charset="-122"/>
              <a:cs typeface="Arial" panose="020B0604020202020204" pitchFamily="34" charset="0"/>
            </a:endParaRPr>
          </a:p>
        </p:txBody>
      </p:sp>
      <p:sp>
        <p:nvSpPr>
          <p:cNvPr id="4" name="副标题 4"/>
          <p:cNvSpPr txBox="1"/>
          <p:nvPr/>
        </p:nvSpPr>
        <p:spPr>
          <a:xfrm>
            <a:off x="1792420" y="3168002"/>
            <a:ext cx="5559161" cy="651523"/>
          </a:xfrm>
          <a:prstGeom prst="rect">
            <a:avLst/>
          </a:prstGeom>
        </p:spPr>
        <p:txBody>
          <a:bodyPr vert="horz" lIns="101155" tIns="50577" rIns="101155" bIns="50577" rtlCol="0" anchor="ctr">
            <a:normAutofit/>
          </a:bodyPr>
          <a:lstStyle>
            <a:lvl1pPr marL="0" marR="0" indent="0" algn="ctr" defTabSz="342900" rtl="0" eaLnBrk="1" fontAlgn="auto" latinLnBrk="0" hangingPunct="1">
              <a:lnSpc>
                <a:spcPct val="100000"/>
              </a:lnSpc>
              <a:spcBef>
                <a:spcPts val="1500"/>
              </a:spcBef>
              <a:spcAft>
                <a:spcPts val="0"/>
              </a:spcAft>
              <a:buClr>
                <a:srgbClr val="549E39"/>
              </a:buClr>
              <a:buSzTx/>
              <a:buFont typeface="Wingdings 3" panose="05040102010807070707" charset="2"/>
              <a:buNone/>
              <a:defRPr lang="zh-CN" altLang="en-US" sz="2400" b="0" i="0" kern="1200" baseline="0">
                <a:solidFill>
                  <a:schemeClr val="accent1">
                    <a:lumMod val="75000"/>
                  </a:schemeClr>
                </a:solidFill>
                <a:latin typeface="Calibri" panose="020F0502020204030204" charset="0"/>
                <a:ea typeface="微软雅黑" panose="020B0503020204020204" pitchFamily="34" charset="-122"/>
                <a:cs typeface="+mn-cs"/>
              </a:defRPr>
            </a:lvl1pPr>
            <a:lvl2pPr marL="457200" marR="0" indent="0" algn="ctr" defTabSz="342900" rtl="0" eaLnBrk="1" fontAlgn="auto" latinLnBrk="0" hangingPunct="1">
              <a:lnSpc>
                <a:spcPct val="100000"/>
              </a:lnSpc>
              <a:spcBef>
                <a:spcPts val="750"/>
              </a:spcBef>
              <a:spcAft>
                <a:spcPts val="0"/>
              </a:spcAft>
              <a:buClr>
                <a:srgbClr val="549E39"/>
              </a:buClr>
              <a:buSzTx/>
              <a:buFont typeface="Arial" panose="020B0604020202020204" pitchFamily="34" charset="0"/>
              <a:buNone/>
              <a:defRPr lang="zh-CN" altLang="en-US" sz="2000" b="0" i="0" kern="1200" baseline="0">
                <a:solidFill>
                  <a:schemeClr val="tx1">
                    <a:lumMod val="75000"/>
                    <a:lumOff val="25000"/>
                  </a:schemeClr>
                </a:solidFill>
                <a:latin typeface="Calibri" panose="020F0502020204030204" charset="0"/>
                <a:ea typeface="微软雅黑" panose="020B0503020204020204" pitchFamily="34" charset="-122"/>
                <a:cs typeface="+mn-cs"/>
              </a:defRPr>
            </a:lvl2pPr>
            <a:lvl3pPr marL="914400" marR="0" indent="0" algn="ctr" defTabSz="342900" rtl="0" eaLnBrk="1" fontAlgn="auto" latinLnBrk="0" hangingPunct="1">
              <a:lnSpc>
                <a:spcPct val="100000"/>
              </a:lnSpc>
              <a:spcBef>
                <a:spcPts val="750"/>
              </a:spcBef>
              <a:spcAft>
                <a:spcPts val="0"/>
              </a:spcAft>
              <a:buClr>
                <a:srgbClr val="549E39"/>
              </a:buClr>
              <a:buSzTx/>
              <a:buFont typeface="Arial" panose="020B0604020202020204" pitchFamily="34" charset="0"/>
              <a:buNone/>
              <a:defRPr lang="zh-CN" altLang="en-US" sz="1800" kern="1200" baseline="0">
                <a:solidFill>
                  <a:schemeClr val="tx1">
                    <a:lumMod val="75000"/>
                    <a:lumOff val="25000"/>
                  </a:schemeClr>
                </a:solidFill>
                <a:latin typeface="Calibri" panose="020F0502020204030204" charset="0"/>
                <a:ea typeface="微软雅黑" panose="020B0503020204020204" pitchFamily="34" charset="-122"/>
                <a:cs typeface="+mn-cs"/>
              </a:defRPr>
            </a:lvl3pPr>
            <a:lvl4pPr marL="1371600" marR="0" indent="0" algn="ctr" defTabSz="342900" rtl="0" eaLnBrk="1" fontAlgn="auto" latinLnBrk="0" hangingPunct="1">
              <a:lnSpc>
                <a:spcPct val="100000"/>
              </a:lnSpc>
              <a:spcBef>
                <a:spcPts val="750"/>
              </a:spcBef>
              <a:spcAft>
                <a:spcPts val="0"/>
              </a:spcAft>
              <a:buClr>
                <a:srgbClr val="549E39"/>
              </a:buClr>
              <a:buSzTx/>
              <a:buFont typeface="Arial" panose="020B0604020202020204" pitchFamily="34" charset="0"/>
              <a:buNone/>
              <a:defRPr lang="zh-CN" altLang="en-US" sz="1600" kern="1200" baseline="0">
                <a:solidFill>
                  <a:schemeClr val="tx1">
                    <a:lumMod val="75000"/>
                    <a:lumOff val="25000"/>
                  </a:schemeClr>
                </a:solidFill>
                <a:latin typeface="Calibri" panose="020F0502020204030204" charset="0"/>
                <a:ea typeface="微软雅黑" panose="020B0503020204020204" pitchFamily="34" charset="-122"/>
                <a:cs typeface="+mn-cs"/>
              </a:defRPr>
            </a:lvl4pPr>
            <a:lvl5pPr marL="1828800" marR="0" indent="0" algn="ctr" defTabSz="342900" rtl="0" eaLnBrk="1" fontAlgn="auto" latinLnBrk="0" hangingPunct="1">
              <a:lnSpc>
                <a:spcPct val="100000"/>
              </a:lnSpc>
              <a:spcBef>
                <a:spcPts val="750"/>
              </a:spcBef>
              <a:spcAft>
                <a:spcPts val="0"/>
              </a:spcAft>
              <a:buClr>
                <a:srgbClr val="549E39"/>
              </a:buClr>
              <a:buSzTx/>
              <a:buFont typeface="Wingdings 3" panose="05040102010807070707" charset="2"/>
              <a:buNone/>
              <a:defRPr sz="1600" kern="1200">
                <a:solidFill>
                  <a:schemeClr val="tx1">
                    <a:lumMod val="75000"/>
                    <a:lumOff val="25000"/>
                  </a:schemeClr>
                </a:solidFill>
                <a:latin typeface="+mn-lt"/>
                <a:ea typeface="+mn-ea"/>
                <a:cs typeface="+mn-cs"/>
              </a:defRPr>
            </a:lvl5pPr>
            <a:lvl6pPr marL="2286000" indent="0" algn="ctr" defTabSz="342900" rtl="0" eaLnBrk="1" latinLnBrk="0" hangingPunct="1">
              <a:spcBef>
                <a:spcPts val="750"/>
              </a:spcBef>
              <a:spcAft>
                <a:spcPts val="0"/>
              </a:spcAft>
              <a:buClr>
                <a:schemeClr val="accent1"/>
              </a:buClr>
              <a:buFont typeface="Wingdings 3" panose="05040102010807070707" charset="2"/>
              <a:buNone/>
              <a:defRPr sz="1600" kern="1200">
                <a:solidFill>
                  <a:schemeClr val="tx1">
                    <a:lumMod val="75000"/>
                    <a:lumOff val="25000"/>
                  </a:schemeClr>
                </a:solidFill>
                <a:latin typeface="+mn-lt"/>
                <a:ea typeface="+mn-ea"/>
                <a:cs typeface="+mn-cs"/>
              </a:defRPr>
            </a:lvl6pPr>
            <a:lvl7pPr marL="2743200" indent="0" algn="ctr" defTabSz="342900" rtl="0" eaLnBrk="1" latinLnBrk="0" hangingPunct="1">
              <a:spcBef>
                <a:spcPts val="750"/>
              </a:spcBef>
              <a:spcAft>
                <a:spcPts val="0"/>
              </a:spcAft>
              <a:buClr>
                <a:schemeClr val="accent1"/>
              </a:buClr>
              <a:buFont typeface="Wingdings 3" panose="05040102010807070707" charset="2"/>
              <a:buNone/>
              <a:defRPr sz="1600" kern="1200">
                <a:solidFill>
                  <a:schemeClr val="tx1">
                    <a:lumMod val="75000"/>
                    <a:lumOff val="25000"/>
                  </a:schemeClr>
                </a:solidFill>
                <a:latin typeface="+mn-lt"/>
                <a:ea typeface="+mn-ea"/>
                <a:cs typeface="+mn-cs"/>
              </a:defRPr>
            </a:lvl7pPr>
            <a:lvl8pPr marL="3200400" indent="0" algn="ctr" defTabSz="342900" rtl="0" eaLnBrk="1" latinLnBrk="0" hangingPunct="1">
              <a:spcBef>
                <a:spcPts val="750"/>
              </a:spcBef>
              <a:spcAft>
                <a:spcPts val="0"/>
              </a:spcAft>
              <a:buClr>
                <a:schemeClr val="accent1"/>
              </a:buClr>
              <a:buFont typeface="Wingdings 3" panose="05040102010807070707" charset="2"/>
              <a:buNone/>
              <a:defRPr sz="1600" kern="1200">
                <a:solidFill>
                  <a:schemeClr val="tx1">
                    <a:lumMod val="75000"/>
                    <a:lumOff val="25000"/>
                  </a:schemeClr>
                </a:solidFill>
                <a:latin typeface="+mn-lt"/>
                <a:ea typeface="+mn-ea"/>
                <a:cs typeface="+mn-cs"/>
              </a:defRPr>
            </a:lvl8pPr>
            <a:lvl9pPr marL="3657600" indent="0" algn="ctr" defTabSz="342900" rtl="0" eaLnBrk="1" latinLnBrk="0" hangingPunct="1">
              <a:spcBef>
                <a:spcPts val="750"/>
              </a:spcBef>
              <a:spcAft>
                <a:spcPts val="0"/>
              </a:spcAft>
              <a:buClr>
                <a:schemeClr val="accent1"/>
              </a:buClr>
              <a:buFont typeface="Wingdings 3" panose="05040102010807070707" charset="2"/>
              <a:buNone/>
              <a:defRPr sz="1600" kern="1200">
                <a:solidFill>
                  <a:schemeClr val="tx1">
                    <a:lumMod val="75000"/>
                    <a:lumOff val="25000"/>
                  </a:schemeClr>
                </a:solidFill>
                <a:latin typeface="+mn-lt"/>
                <a:ea typeface="+mn-ea"/>
                <a:cs typeface="+mn-cs"/>
              </a:defRPr>
            </a:lvl9pPr>
          </a:lstStyle>
          <a:p>
            <a:endParaRPr lang="en-US" altLang="zh-CN" sz="1350" dirty="0">
              <a:solidFill>
                <a:srgbClr val="404040"/>
              </a:solidFill>
              <a:latin typeface="华文楷体" panose="02010600040101010101" pitchFamily="2" charset="-122"/>
              <a:ea typeface="华文楷体" panose="02010600040101010101" pitchFamily="2" charset="-122"/>
            </a:endParaRPr>
          </a:p>
        </p:txBody>
      </p:sp>
      <p:sp>
        <p:nvSpPr>
          <p:cNvPr id="12" name="Title 3"/>
          <p:cNvSpPr txBox="1"/>
          <p:nvPr/>
        </p:nvSpPr>
        <p:spPr bwMode="auto">
          <a:xfrm>
            <a:off x="1666677" y="2283188"/>
            <a:ext cx="5810646" cy="859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01155" tIns="50577" rIns="101155" bIns="50577" numCol="1" anchor="ctr" anchorCtr="1" compatLnSpc="1">
            <a:noAutofit/>
          </a:bodyPr>
          <a:lstStyle>
            <a:lvl1pPr algn="ctr" rtl="0" eaLnBrk="0" fontAlgn="base" hangingPunct="0">
              <a:spcBef>
                <a:spcPct val="0"/>
              </a:spcBef>
              <a:spcAft>
                <a:spcPct val="0"/>
              </a:spcAft>
              <a:defRPr lang="zh-CN" altLang="en-US" sz="4300" b="1">
                <a:solidFill>
                  <a:srgbClr val="C00000"/>
                </a:solidFill>
                <a:effectLst>
                  <a:outerShdw blurRad="38100" dist="38100" dir="2700000" algn="tl">
                    <a:srgbClr val="000000">
                      <a:alpha val="43137"/>
                    </a:srgbClr>
                  </a:outerShdw>
                </a:effectLst>
                <a:latin typeface="+mn-ea"/>
                <a:ea typeface="+mn-ea"/>
                <a:cs typeface="+mj-cs"/>
              </a:defRPr>
            </a:lvl1pPr>
            <a:lvl2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2pPr>
            <a:lvl3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3pPr>
            <a:lvl4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4pPr>
            <a:lvl5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5pPr>
            <a:lvl6pPr marL="4572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6pPr>
            <a:lvl7pPr marL="9144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7pPr>
            <a:lvl8pPr marL="13716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8pPr>
            <a:lvl9pPr marL="18288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9pPr>
          </a:lstStyle>
          <a:p>
            <a:pPr lvl="0">
              <a:lnSpc>
                <a:spcPct val="110000"/>
              </a:lnSpc>
              <a:spcBef>
                <a:spcPct val="20000"/>
              </a:spcBef>
              <a:buSzPct val="120000"/>
              <a:defRPr/>
            </a:pPr>
            <a:r>
              <a:rPr lang="en-US" altLang="zh-CN" sz="1800" kern="0" dirty="0">
                <a:solidFill>
                  <a:srgbClr val="000000"/>
                </a:solidFill>
                <a:effectLst/>
                <a:latin typeface="+mj-lt"/>
                <a:ea typeface="华文楷体" panose="02010600040101010101" pitchFamily="2" charset="-122"/>
                <a:cs typeface="Arial" panose="020B0604020202020204" pitchFamily="34" charset="0"/>
              </a:rPr>
              <a:t>Experimental realization of the bucket-brigade quantum random access memory</a:t>
            </a:r>
          </a:p>
        </p:txBody>
      </p:sp>
      <p:pic>
        <p:nvPicPr>
          <p:cNvPr id="10" name="图片 9"/>
          <p:cNvPicPr>
            <a:picLocks noChangeAspect="1"/>
          </p:cNvPicPr>
          <p:nvPr/>
        </p:nvPicPr>
        <p:blipFill>
          <a:blip r:embed="rId4"/>
          <a:stretch>
            <a:fillRect/>
          </a:stretch>
        </p:blipFill>
        <p:spPr>
          <a:xfrm>
            <a:off x="7048954" y="52570"/>
            <a:ext cx="2019892" cy="590638"/>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42.65,&quot;top&quot;:76.3,&quot;width&quot;:151}"/>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42.65,&quot;top&quot;:76.3,&quot;width&quot;:151}"/>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42.65,&quot;top&quot;:76.3,&quot;width&quot;:151}"/>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42.65,&quot;top&quot;:76.3,&quot;width&quot;:151}"/>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42.65,&quot;top&quot;:76.3,&quot;width&quot;:151}"/>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42.65,&quot;top&quot;:76.3,&quot;width&quot;:151}"/>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39.3,&quot;top&quot;:76.3,&quot;width&quot;:154.35}"/>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39.3,&quot;top&quot;:76.3,&quot;width&quot;:154.35}"/>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39.3,&quot;top&quot;:76.3,&quot;width&quot;:154.35}"/>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39.3,&quot;top&quot;:76.3,&quot;width&quot;:154.35}"/>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39.3,&quot;top&quot;:76.3,&quot;width&quot;:154.35}"/>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39.3,&quot;top&quot;:76.3,&quot;width&quot;:154.35}"/>
</p:tagLst>
</file>

<file path=ppt/theme/theme1.xml><?xml version="1.0" encoding="utf-8"?>
<a:theme xmlns:a="http://schemas.openxmlformats.org/drawingml/2006/main" name="Office Theme">
  <a:themeElements>
    <a:clrScheme name="蓝色​​">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烟灰色玻璃">
      <a:fillStyleLst>
        <a:solidFill>
          <a:schemeClr val="phClr"/>
        </a:solidFill>
        <a:gradFill rotWithShape="1">
          <a:gsLst>
            <a:gs pos="0">
              <a:schemeClr val="phClr">
                <a:tint val="83000"/>
                <a:shade val="100000"/>
                <a:satMod val="100000"/>
              </a:schemeClr>
            </a:gs>
            <a:gs pos="100000">
              <a:schemeClr val="phClr">
                <a:tint val="61000"/>
                <a:alpha val="100000"/>
                <a:satMod val="180000"/>
              </a:schemeClr>
            </a:gs>
          </a:gsLst>
          <a:path path="circle">
            <a:fillToRect l="100000" t="100000" r="100000" b="100000"/>
          </a:path>
        </a:gradFill>
        <a:gradFill rotWithShape="1">
          <a:gsLst>
            <a:gs pos="0">
              <a:schemeClr val="phClr">
                <a:shade val="85000"/>
              </a:schemeClr>
            </a:gs>
            <a:gs pos="100000">
              <a:schemeClr val="phClr">
                <a:tint val="90000"/>
                <a:alpha val="100000"/>
                <a:satMod val="18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effectStyle>
        <a:effectStyle>
          <a:effectLst/>
        </a:effectStyle>
        <a:effectStyle>
          <a:effectLst>
            <a:outerShdw blurRad="44450" dist="21590" dir="5400000" rotWithShape="0">
              <a:srgbClr val="000000">
                <a:alpha val="40000"/>
              </a:srgbClr>
            </a:outerShdw>
          </a:effectLst>
          <a:scene3d>
            <a:camera prst="orthographicFront">
              <a:rot lat="0" lon="0" rev="0"/>
            </a:camera>
            <a:lightRig rig="flat" dir="t">
              <a:rot lat="0" lon="0" rev="3600000"/>
            </a:lightRig>
          </a:scene3d>
          <a:sp3d prstMaterial="flat">
            <a:bevelT w="28575" h="41275"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407</TotalTime>
  <Words>4181</Words>
  <Application>Microsoft Macintosh PowerPoint</Application>
  <PresentationFormat>全屏显示(16:9)</PresentationFormat>
  <Paragraphs>491</Paragraphs>
  <Slides>34</Slides>
  <Notes>34</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34</vt:i4>
      </vt:variant>
    </vt:vector>
  </HeadingPairs>
  <TitlesOfParts>
    <vt:vector size="40" baseType="lpstr">
      <vt:lpstr>华文楷体</vt:lpstr>
      <vt:lpstr>微软雅黑</vt:lpstr>
      <vt:lpstr>Arial</vt:lpstr>
      <vt:lpstr>Cambria Math</vt:lpstr>
      <vt:lpstr>Times New Roman</vt:lpstr>
      <vt:lpstr>Office Theme</vt:lpstr>
      <vt:lpstr>PowerPoint 演示文稿</vt:lpstr>
      <vt:lpstr>PowerPoint 演示文稿</vt:lpstr>
      <vt:lpstr>PowerPoint 演示文稿</vt:lpstr>
      <vt:lpstr>PowerPoint 演示文稿</vt:lpstr>
      <vt:lpstr>PowerPoint 演示文稿</vt:lpstr>
      <vt:lpstr>Challenges in Theory and Experiment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Teleportation-Based Routing Implementation</vt:lpstr>
      <vt:lpstr>Teleportation-Based Routing Implementation</vt:lpstr>
      <vt:lpstr>Routing Depth Optimization</vt:lpstr>
      <vt:lpstr>Routing Architecture Depth Optimization</vt:lpstr>
      <vt:lpstr>Routing Architecture Depth Optimization</vt:lpstr>
      <vt:lpstr>PowerPoint 演示文稿</vt:lpstr>
      <vt:lpstr>Experimental Platform</vt:lpstr>
      <vt:lpstr>Error Propagation Mechanism Study</vt:lpstr>
      <vt:lpstr>Error Mitigation Method</vt:lpstr>
      <vt:lpstr>Error Mitigation Method</vt:lpstr>
      <vt:lpstr>Error Mitigation Method</vt:lpstr>
      <vt:lpstr>Error Mitigation Method</vt:lpstr>
      <vt:lpstr>Summary</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Debin Xiang</cp:lastModifiedBy>
  <cp:revision>155</cp:revision>
  <dcterms:created xsi:type="dcterms:W3CDTF">2025-06-03T06:28:00Z</dcterms:created>
  <dcterms:modified xsi:type="dcterms:W3CDTF">2026-06-22T11:20:03Z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47EA53C739F94716AB28EF6C456FE760_13</vt:lpwstr>
  </property>
</Properties>
</file>